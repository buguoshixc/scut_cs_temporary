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317" r:id="rId2"/>
    <p:sldId id="320" r:id="rId3"/>
    <p:sldId id="322" r:id="rId4"/>
    <p:sldId id="324" r:id="rId5"/>
    <p:sldId id="321" r:id="rId6"/>
    <p:sldId id="323" r:id="rId7"/>
    <p:sldId id="326" r:id="rId8"/>
    <p:sldId id="327" r:id="rId9"/>
    <p:sldId id="328" r:id="rId10"/>
    <p:sldId id="329" r:id="rId11"/>
    <p:sldId id="330" r:id="rId12"/>
    <p:sldId id="331" r:id="rId13"/>
    <p:sldId id="332" r:id="rId14"/>
    <p:sldId id="333" r:id="rId15"/>
    <p:sldId id="334" r:id="rId16"/>
    <p:sldId id="335" r:id="rId17"/>
    <p:sldId id="336" r:id="rId18"/>
    <p:sldId id="337" r:id="rId19"/>
    <p:sldId id="339" r:id="rId20"/>
    <p:sldId id="338" r:id="rId21"/>
    <p:sldId id="340" r:id="rId22"/>
    <p:sldId id="341" r:id="rId23"/>
    <p:sldId id="342" r:id="rId24"/>
    <p:sldId id="343" r:id="rId25"/>
    <p:sldId id="345" r:id="rId26"/>
    <p:sldId id="344" r:id="rId27"/>
    <p:sldId id="346" r:id="rId28"/>
    <p:sldId id="347" r:id="rId29"/>
    <p:sldId id="348" r:id="rId30"/>
    <p:sldId id="349" r:id="rId31"/>
    <p:sldId id="350" r:id="rId32"/>
    <p:sldId id="351" r:id="rId33"/>
    <p:sldId id="352" r:id="rId34"/>
    <p:sldId id="353" r:id="rId35"/>
    <p:sldId id="354" r:id="rId36"/>
    <p:sldId id="355" r:id="rId37"/>
    <p:sldId id="356" r:id="rId38"/>
    <p:sldId id="357" r:id="rId39"/>
    <p:sldId id="358" r:id="rId40"/>
    <p:sldId id="359" r:id="rId41"/>
    <p:sldId id="360" r:id="rId42"/>
    <p:sldId id="361" r:id="rId43"/>
    <p:sldId id="362" r:id="rId44"/>
    <p:sldId id="363" r:id="rId45"/>
    <p:sldId id="364" r:id="rId46"/>
    <p:sldId id="365" r:id="rId47"/>
    <p:sldId id="366" r:id="rId48"/>
    <p:sldId id="367" r:id="rId49"/>
    <p:sldId id="368" r:id="rId50"/>
    <p:sldId id="369" r:id="rId51"/>
    <p:sldId id="370" r:id="rId52"/>
    <p:sldId id="371" r:id="rId53"/>
    <p:sldId id="372" r:id="rId54"/>
    <p:sldId id="373" r:id="rId55"/>
    <p:sldId id="259" r:id="rId56"/>
    <p:sldId id="261" r:id="rId57"/>
    <p:sldId id="262" r:id="rId58"/>
    <p:sldId id="263" r:id="rId59"/>
    <p:sldId id="264" r:id="rId60"/>
    <p:sldId id="265" r:id="rId61"/>
    <p:sldId id="266" r:id="rId62"/>
    <p:sldId id="267" r:id="rId63"/>
    <p:sldId id="268" r:id="rId64"/>
    <p:sldId id="269" r:id="rId65"/>
    <p:sldId id="270" r:id="rId66"/>
    <p:sldId id="271" r:id="rId67"/>
    <p:sldId id="278" r:id="rId68"/>
    <p:sldId id="279" r:id="rId69"/>
    <p:sldId id="280" r:id="rId70"/>
    <p:sldId id="427" r:id="rId71"/>
    <p:sldId id="281" r:id="rId72"/>
    <p:sldId id="293" r:id="rId73"/>
    <p:sldId id="294" r:id="rId74"/>
    <p:sldId id="295" r:id="rId75"/>
    <p:sldId id="296" r:id="rId76"/>
    <p:sldId id="404" r:id="rId77"/>
    <p:sldId id="405" r:id="rId78"/>
    <p:sldId id="406" r:id="rId79"/>
    <p:sldId id="407" r:id="rId80"/>
    <p:sldId id="390" r:id="rId81"/>
    <p:sldId id="391" r:id="rId82"/>
    <p:sldId id="392" r:id="rId83"/>
    <p:sldId id="393" r:id="rId84"/>
    <p:sldId id="394" r:id="rId85"/>
    <p:sldId id="409" r:id="rId86"/>
    <p:sldId id="410" r:id="rId87"/>
    <p:sldId id="411" r:id="rId88"/>
    <p:sldId id="412" r:id="rId89"/>
    <p:sldId id="413" r:id="rId90"/>
    <p:sldId id="418" r:id="rId91"/>
    <p:sldId id="419" r:id="rId92"/>
    <p:sldId id="420" r:id="rId93"/>
    <p:sldId id="421" r:id="rId94"/>
    <p:sldId id="422" r:id="rId95"/>
    <p:sldId id="423" r:id="rId96"/>
    <p:sldId id="424" r:id="rId97"/>
    <p:sldId id="425" r:id="rId98"/>
    <p:sldId id="426" r:id="rId99"/>
    <p:sldId id="397" r:id="rId100"/>
    <p:sldId id="398" r:id="rId101"/>
    <p:sldId id="399" r:id="rId102"/>
    <p:sldId id="400" r:id="rId103"/>
    <p:sldId id="401" r:id="rId104"/>
    <p:sldId id="417" r:id="rId105"/>
    <p:sldId id="414" r:id="rId106"/>
    <p:sldId id="415" r:id="rId107"/>
    <p:sldId id="416" r:id="rId108"/>
    <p:sldId id="316" r:id="rId109"/>
    <p:sldId id="318" r:id="rId11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915" autoAdjust="0"/>
  </p:normalViewPr>
  <p:slideViewPr>
    <p:cSldViewPr>
      <p:cViewPr>
        <p:scale>
          <a:sx n="87" d="100"/>
          <a:sy n="87" d="100"/>
        </p:scale>
        <p:origin x="682"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940DE4-34C5-400C-B814-872AF11DBA85}" type="datetimeFigureOut">
              <a:rPr lang="zh-CN" altLang="en-US" smtClean="0"/>
              <a:t>2021/4/8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DBA8C9-FE13-4340-9F6D-5F2A83BDED90}" type="slidenum">
              <a:rPr lang="zh-CN" altLang="en-US" smtClean="0"/>
              <a:t>‹#›</a:t>
            </a:fld>
            <a:endParaRPr lang="zh-CN" altLang="en-US"/>
          </a:p>
        </p:txBody>
      </p:sp>
    </p:spTree>
    <p:extLst>
      <p:ext uri="{BB962C8B-B14F-4D97-AF65-F5344CB8AC3E}">
        <p14:creationId xmlns:p14="http://schemas.microsoft.com/office/powerpoint/2010/main" val="207397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5</a:t>
            </a:fld>
            <a:endParaRPr lang="zh-CN" altLang="en-US"/>
          </a:p>
        </p:txBody>
      </p:sp>
    </p:spTree>
    <p:extLst>
      <p:ext uri="{BB962C8B-B14F-4D97-AF65-F5344CB8AC3E}">
        <p14:creationId xmlns:p14="http://schemas.microsoft.com/office/powerpoint/2010/main" val="133384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9</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10</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11</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12</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13</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14</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15</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16</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17</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18</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19</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20</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21</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22</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23</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24</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25</a:t>
            </a:fld>
            <a:endParaRPr lang="zh-CN" altLang="en-US"/>
          </a:p>
        </p:txBody>
      </p:sp>
    </p:spTree>
    <p:extLst>
      <p:ext uri="{BB962C8B-B14F-4D97-AF65-F5344CB8AC3E}">
        <p14:creationId xmlns:p14="http://schemas.microsoft.com/office/powerpoint/2010/main" val="2077543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DBA8C9-FE13-4340-9F6D-5F2A83BDED90}" type="slidenum">
              <a:rPr lang="zh-CN" altLang="en-US" smtClean="0"/>
              <a:t>109</a:t>
            </a:fld>
            <a:endParaRPr lang="zh-CN" altLang="en-US"/>
          </a:p>
        </p:txBody>
      </p:sp>
    </p:spTree>
    <p:extLst>
      <p:ext uri="{BB962C8B-B14F-4D97-AF65-F5344CB8AC3E}">
        <p14:creationId xmlns:p14="http://schemas.microsoft.com/office/powerpoint/2010/main" val="1960487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271463" y="455422"/>
            <a:ext cx="8229600" cy="1141943"/>
          </a:xfrm>
        </p:spPr>
        <p:txBody>
          <a:bodyPr/>
          <a:lstStyle>
            <a:lvl1pPr algn="l">
              <a:defRPr>
                <a:solidFill>
                  <a:srgbClr val="0070C0"/>
                </a:solidFill>
              </a:defRPr>
            </a:lvl1pPr>
          </a:lstStyle>
          <a:p>
            <a:r>
              <a:rPr lang="zh-CN" altLang="en-US" dirty="0"/>
              <a:t>单击此处编辑母版标题样式</a:t>
            </a:r>
          </a:p>
        </p:txBody>
      </p:sp>
      <p:sp>
        <p:nvSpPr>
          <p:cNvPr id="3" name="灯片编号占位符 5"/>
          <p:cNvSpPr>
            <a:spLocks noGrp="1" noChangeArrowheads="1"/>
          </p:cNvSpPr>
          <p:nvPr>
            <p:ph type="sldNum" sz="quarter" idx="10"/>
          </p:nvPr>
        </p:nvSpPr>
        <p:spPr>
          <a:ln/>
        </p:spPr>
        <p:txBody>
          <a:bodyPr/>
          <a:lstStyle>
            <a:lvl1pPr>
              <a:defRPr/>
            </a:lvl1pPr>
          </a:lstStyle>
          <a:p>
            <a:pPr>
              <a:defRPr/>
            </a:pPr>
            <a:fld id="{8FFE5CAA-32DF-4A5C-9AE6-53C94219757E}" type="slidenum">
              <a:rPr lang="zh-CN" altLang="en-US"/>
              <a:pPr>
                <a:defRPr/>
              </a:pPr>
              <a:t>‹#›</a:t>
            </a:fld>
            <a:endParaRPr lang="zh-CN" altLang="en-US"/>
          </a:p>
        </p:txBody>
      </p:sp>
    </p:spTree>
    <p:extLst>
      <p:ext uri="{BB962C8B-B14F-4D97-AF65-F5344CB8AC3E}">
        <p14:creationId xmlns:p14="http://schemas.microsoft.com/office/powerpoint/2010/main" val="1611232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5" name="标题 1"/>
          <p:cNvSpPr>
            <a:spLocks noGrp="1"/>
          </p:cNvSpPr>
          <p:nvPr>
            <p:ph type="title"/>
          </p:nvPr>
        </p:nvSpPr>
        <p:spPr>
          <a:xfrm>
            <a:off x="271463" y="455422"/>
            <a:ext cx="8229600" cy="1141943"/>
          </a:xfrm>
        </p:spPr>
        <p:txBody>
          <a:bodyPr/>
          <a:lstStyle>
            <a:lvl1pPr algn="l">
              <a:defRPr>
                <a:solidFill>
                  <a:srgbClr val="0070C0"/>
                </a:solidFill>
              </a:defRPr>
            </a:lvl1pPr>
          </a:lstStyle>
          <a:p>
            <a:r>
              <a:rPr lang="zh-CN" altLang="en-US" dirty="0"/>
              <a:t>单击此处编辑母版标题样式</a:t>
            </a:r>
          </a:p>
        </p:txBody>
      </p:sp>
      <p:sp>
        <p:nvSpPr>
          <p:cNvPr id="3" name="灯片编号占位符 5"/>
          <p:cNvSpPr>
            <a:spLocks noGrp="1" noChangeArrowheads="1"/>
          </p:cNvSpPr>
          <p:nvPr>
            <p:ph type="sldNum" sz="quarter" idx="10"/>
          </p:nvPr>
        </p:nvSpPr>
        <p:spPr>
          <a:ln/>
        </p:spPr>
        <p:txBody>
          <a:bodyPr/>
          <a:lstStyle>
            <a:lvl1pPr>
              <a:defRPr/>
            </a:lvl1pPr>
          </a:lstStyle>
          <a:p>
            <a:pPr>
              <a:defRPr/>
            </a:pPr>
            <a:fld id="{8FFE5CAA-32DF-4A5C-9AE6-53C94219757E}" type="slidenum">
              <a:rPr lang="zh-CN" altLang="en-US"/>
              <a:pPr>
                <a:defRPr/>
              </a:pPr>
              <a:t>‹#›</a:t>
            </a:fld>
            <a:endParaRPr lang="zh-CN" altLang="en-US"/>
          </a:p>
        </p:txBody>
      </p:sp>
    </p:spTree>
    <p:extLst>
      <p:ext uri="{BB962C8B-B14F-4D97-AF65-F5344CB8AC3E}">
        <p14:creationId xmlns:p14="http://schemas.microsoft.com/office/powerpoint/2010/main" val="3695815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2021/4/8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image" Target="../media/image1.wmf"/><Relationship Id="rId7" Type="http://schemas.openxmlformats.org/officeDocument/2006/relationships/image" Target="../media/image3.wmf"/><Relationship Id="rId12" Type="http://schemas.openxmlformats.org/officeDocument/2006/relationships/image" Target="../media/image8.png"/><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2.wmf"/><Relationship Id="rId10" Type="http://schemas.openxmlformats.org/officeDocument/2006/relationships/image" Target="../media/image6.wmf"/><Relationship Id="rId4" Type="http://schemas.openxmlformats.org/officeDocument/2006/relationships/oleObject" Target="../embeddings/oleObject2.bin"/><Relationship Id="rId9" Type="http://schemas.openxmlformats.org/officeDocument/2006/relationships/image" Target="../media/image5.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txBox="1">
            <a:spLocks noGrp="1" noChangeArrowheads="1"/>
          </p:cNvSpPr>
          <p:nvPr/>
        </p:nvSpPr>
        <p:spPr bwMode="auto">
          <a:xfrm>
            <a:off x="8027988" y="6729003"/>
            <a:ext cx="946150" cy="12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r" eaLnBrk="1" hangingPunct="1">
              <a:spcBef>
                <a:spcPct val="0"/>
              </a:spcBef>
              <a:buFont typeface="Arial" pitchFamily="34" charset="0"/>
              <a:buNone/>
            </a:pPr>
            <a:fld id="{0E4A2505-D85D-4646-86B3-513AE59C1CD6}" type="slidenum">
              <a:rPr lang="zh-CN" altLang="zh-CN" sz="600" b="1">
                <a:solidFill>
                  <a:schemeClr val="bg1"/>
                </a:solidFill>
                <a:latin typeface="微软雅黑" pitchFamily="34" charset="-122"/>
                <a:ea typeface="微软雅黑" pitchFamily="34" charset="-122"/>
              </a:rPr>
              <a:pPr algn="r" eaLnBrk="1" hangingPunct="1">
                <a:spcBef>
                  <a:spcPct val="0"/>
                </a:spcBef>
                <a:buFont typeface="Arial" pitchFamily="34" charset="0"/>
                <a:buNone/>
              </a:pPr>
              <a:t>1</a:t>
            </a:fld>
            <a:endParaRPr lang="zh-CN" altLang="zh-CN" sz="600" b="1">
              <a:solidFill>
                <a:schemeClr val="bg1"/>
              </a:solidFill>
              <a:latin typeface="微软雅黑" pitchFamily="34" charset="-122"/>
              <a:ea typeface="微软雅黑" pitchFamily="34" charset="-122"/>
            </a:endParaRPr>
          </a:p>
        </p:txBody>
      </p:sp>
      <p:sp>
        <p:nvSpPr>
          <p:cNvPr id="8195" name="矩形 6"/>
          <p:cNvSpPr>
            <a:spLocks noChangeArrowheads="1"/>
          </p:cNvSpPr>
          <p:nvPr/>
        </p:nvSpPr>
        <p:spPr bwMode="auto">
          <a:xfrm>
            <a:off x="539750" y="1127140"/>
            <a:ext cx="8143875" cy="5183150"/>
          </a:xfrm>
          <a:prstGeom prst="rect">
            <a:avLst/>
          </a:prstGeom>
          <a:solidFill>
            <a:srgbClr val="F2F2F2"/>
          </a:solidFill>
          <a:ln>
            <a:noFill/>
          </a:ln>
          <a:effectLst>
            <a:outerShdw dist="38100" dir="2700000" algn="ctr" rotWithShape="0">
              <a:srgbClr val="000000">
                <a:alpha val="29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r>
              <a:rPr lang="en-US" altLang="zh-CN" sz="1800">
                <a:solidFill>
                  <a:srgbClr val="FFFFFF"/>
                </a:solidFill>
                <a:latin typeface="微软雅黑" pitchFamily="34" charset="-122"/>
                <a:ea typeface="微软雅黑" pitchFamily="34" charset="-122"/>
              </a:rPr>
              <a:t>2010</a:t>
            </a:r>
            <a:r>
              <a:rPr lang="zh-CN" altLang="en-US" sz="1800">
                <a:solidFill>
                  <a:srgbClr val="FFFFFF"/>
                </a:solidFill>
                <a:latin typeface="微软雅黑" pitchFamily="34" charset="-122"/>
                <a:ea typeface="微软雅黑" pitchFamily="34" charset="-122"/>
              </a:rPr>
              <a:t>年度广州市电子商务发展专项资金</a:t>
            </a:r>
          </a:p>
          <a:p>
            <a:pPr eaLnBrk="1" hangingPunct="1">
              <a:spcBef>
                <a:spcPct val="0"/>
              </a:spcBef>
              <a:buFont typeface="Arial" pitchFamily="34" charset="0"/>
              <a:buNone/>
            </a:pPr>
            <a:r>
              <a:rPr lang="zh-CN" altLang="en-US" sz="1800">
                <a:solidFill>
                  <a:srgbClr val="FFFFFF"/>
                </a:solidFill>
                <a:latin typeface="微软雅黑" pitchFamily="34" charset="-122"/>
                <a:ea typeface="微软雅黑" pitchFamily="34" charset="-122"/>
              </a:rPr>
              <a:t>扶持项目</a:t>
            </a:r>
          </a:p>
        </p:txBody>
      </p:sp>
      <p:sp>
        <p:nvSpPr>
          <p:cNvPr id="8196" name="TextBox 6"/>
          <p:cNvSpPr txBox="1">
            <a:spLocks noChangeArrowheads="1"/>
          </p:cNvSpPr>
          <p:nvPr/>
        </p:nvSpPr>
        <p:spPr bwMode="auto">
          <a:xfrm>
            <a:off x="468313" y="1484526"/>
            <a:ext cx="82153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spcBef>
                <a:spcPct val="0"/>
              </a:spcBef>
              <a:buFont typeface="Arial" pitchFamily="34" charset="0"/>
              <a:buNone/>
            </a:pPr>
            <a:r>
              <a:rPr lang="zh-CN" altLang="en-US" sz="2800" b="1">
                <a:solidFill>
                  <a:srgbClr val="0070C0"/>
                </a:solidFill>
                <a:latin typeface="微软雅黑" pitchFamily="34" charset="-122"/>
                <a:ea typeface="微软雅黑" pitchFamily="34" charset="-122"/>
              </a:rPr>
              <a:t>软件测试与质量保障</a:t>
            </a:r>
            <a:endParaRPr lang="en-US" altLang="zh-CN" sz="2800" b="1">
              <a:solidFill>
                <a:srgbClr val="0070C0"/>
              </a:solidFill>
              <a:latin typeface="微软雅黑" pitchFamily="34" charset="-122"/>
              <a:ea typeface="微软雅黑" pitchFamily="34" charset="-122"/>
            </a:endParaRPr>
          </a:p>
        </p:txBody>
      </p:sp>
      <p:sp>
        <p:nvSpPr>
          <p:cNvPr id="8197" name="TextBox 10"/>
          <p:cNvSpPr txBox="1">
            <a:spLocks noChangeArrowheads="1"/>
          </p:cNvSpPr>
          <p:nvPr/>
        </p:nvSpPr>
        <p:spPr bwMode="auto">
          <a:xfrm>
            <a:off x="1403350" y="4868059"/>
            <a:ext cx="67691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lnSpc>
                <a:spcPts val="2400"/>
              </a:lnSpc>
              <a:spcBef>
                <a:spcPct val="0"/>
              </a:spcBef>
              <a:buFont typeface="Arial" pitchFamily="34" charset="0"/>
              <a:buNone/>
            </a:pPr>
            <a:r>
              <a:rPr lang="zh-CN" altLang="en-US" sz="2000" b="1" dirty="0">
                <a:solidFill>
                  <a:srgbClr val="0070C0"/>
                </a:solidFill>
                <a:latin typeface="微软雅黑" pitchFamily="34" charset="-122"/>
                <a:ea typeface="微软雅黑" pitchFamily="34" charset="-122"/>
              </a:rPr>
              <a:t>华南理工大学计算机科学与工程学院</a:t>
            </a:r>
            <a:endParaRPr lang="en-US" altLang="zh-CN" sz="2000" b="1" dirty="0">
              <a:solidFill>
                <a:srgbClr val="0070C0"/>
              </a:solidFill>
              <a:latin typeface="微软雅黑" pitchFamily="34" charset="-122"/>
              <a:ea typeface="微软雅黑" pitchFamily="34" charset="-122"/>
            </a:endParaRPr>
          </a:p>
          <a:p>
            <a:pPr eaLnBrk="1" hangingPunct="1">
              <a:lnSpc>
                <a:spcPts val="2400"/>
              </a:lnSpc>
              <a:spcBef>
                <a:spcPct val="0"/>
              </a:spcBef>
              <a:buFont typeface="Arial" pitchFamily="34" charset="0"/>
              <a:buNone/>
            </a:pPr>
            <a:r>
              <a:rPr lang="zh-CN" altLang="en-US" sz="2000" b="1" dirty="0">
                <a:solidFill>
                  <a:srgbClr val="0070C0"/>
                </a:solidFill>
                <a:latin typeface="微软雅黑" pitchFamily="34" charset="-122"/>
                <a:ea typeface="微软雅黑" pitchFamily="34" charset="-122"/>
              </a:rPr>
              <a:t>聂勇伟 副教授           </a:t>
            </a:r>
            <a:endParaRPr lang="en-US" altLang="zh-CN" sz="2000" b="1" dirty="0">
              <a:solidFill>
                <a:srgbClr val="0070C0"/>
              </a:solidFill>
              <a:latin typeface="微软雅黑" pitchFamily="34" charset="-122"/>
              <a:ea typeface="微软雅黑" pitchFamily="34" charset="-122"/>
            </a:endParaRPr>
          </a:p>
          <a:p>
            <a:pPr eaLnBrk="1" hangingPunct="1">
              <a:lnSpc>
                <a:spcPts val="2400"/>
              </a:lnSpc>
              <a:spcBef>
                <a:spcPct val="0"/>
              </a:spcBef>
              <a:buFont typeface="Arial" pitchFamily="34" charset="0"/>
              <a:buNone/>
            </a:pPr>
            <a:r>
              <a:rPr lang="en-US" altLang="zh-CN" sz="2000" b="1" dirty="0">
                <a:solidFill>
                  <a:srgbClr val="0070C0"/>
                </a:solidFill>
                <a:latin typeface="微软雅黑" pitchFamily="34" charset="-122"/>
                <a:ea typeface="微软雅黑" pitchFamily="34" charset="-122"/>
              </a:rPr>
              <a:t>nieyongwei@scut.edu.cn</a:t>
            </a:r>
            <a:endParaRPr lang="zh-CN" altLang="en-US" sz="2000" dirty="0">
              <a:solidFill>
                <a:srgbClr val="0070C0"/>
              </a:solidFill>
              <a:latin typeface="微软雅黑" pitchFamily="34" charset="-122"/>
              <a:ea typeface="微软雅黑" pitchFamily="34" charset="-122"/>
            </a:endParaRPr>
          </a:p>
        </p:txBody>
      </p:sp>
      <p:sp>
        <p:nvSpPr>
          <p:cNvPr id="8198" name="矩形 8"/>
          <p:cNvSpPr>
            <a:spLocks noChangeArrowheads="1"/>
          </p:cNvSpPr>
          <p:nvPr/>
        </p:nvSpPr>
        <p:spPr bwMode="auto">
          <a:xfrm>
            <a:off x="539750" y="2662419"/>
            <a:ext cx="8143875" cy="1822879"/>
          </a:xfrm>
          <a:prstGeom prst="rect">
            <a:avLst/>
          </a:prstGeom>
          <a:solidFill>
            <a:srgbClr val="0033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ctr">
              <a:lnSpc>
                <a:spcPct val="120000"/>
              </a:lnSpc>
              <a:spcBef>
                <a:spcPct val="0"/>
              </a:spcBef>
              <a:buFont typeface="Arial" pitchFamily="34" charset="0"/>
              <a:buNone/>
            </a:pPr>
            <a:r>
              <a:rPr lang="zh-CN" altLang="en-US" b="1" dirty="0">
                <a:solidFill>
                  <a:srgbClr val="FFFFFF"/>
                </a:solidFill>
                <a:ea typeface="微软雅黑" pitchFamily="34" charset="-122"/>
              </a:rPr>
              <a:t>第四章 </a:t>
            </a:r>
            <a:r>
              <a:rPr lang="en-US" altLang="zh-CN" b="1" dirty="0">
                <a:solidFill>
                  <a:srgbClr val="FFFFFF"/>
                </a:solidFill>
                <a:ea typeface="微软雅黑" pitchFamily="34" charset="-122"/>
              </a:rPr>
              <a:t>– </a:t>
            </a:r>
            <a:r>
              <a:rPr lang="zh-CN" altLang="en-US" b="1" dirty="0">
                <a:solidFill>
                  <a:srgbClr val="FFFFFF"/>
                </a:solidFill>
                <a:ea typeface="微软雅黑" pitchFamily="34" charset="-122"/>
              </a:rPr>
              <a:t>运用测试技术</a:t>
            </a:r>
            <a:r>
              <a:rPr lang="en-US" altLang="zh-CN" b="1" dirty="0">
                <a:solidFill>
                  <a:srgbClr val="FFFFFF"/>
                </a:solidFill>
                <a:ea typeface="微软雅黑" pitchFamily="34" charset="-122"/>
              </a:rPr>
              <a:t>-</a:t>
            </a:r>
            <a:r>
              <a:rPr lang="zh-CN" altLang="en-US" b="1" dirty="0">
                <a:solidFill>
                  <a:srgbClr val="FFFFFF"/>
                </a:solidFill>
                <a:ea typeface="微软雅黑" pitchFamily="34" charset="-122"/>
              </a:rPr>
              <a:t>测试类型</a:t>
            </a:r>
            <a:endParaRPr lang="en-US" altLang="zh-CN" b="1" dirty="0">
              <a:solidFill>
                <a:srgbClr val="FFFFFF"/>
              </a:solidFill>
              <a:ea typeface="微软雅黑" pitchFamily="34" charset="-122"/>
            </a:endParaRPr>
          </a:p>
        </p:txBody>
      </p:sp>
    </p:spTree>
    <p:extLst>
      <p:ext uri="{BB962C8B-B14F-4D97-AF65-F5344CB8AC3E}">
        <p14:creationId xmlns:p14="http://schemas.microsoft.com/office/powerpoint/2010/main" val="2263107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运用测试技术</a:t>
            </a:r>
            <a:r>
              <a:rPr lang="en-US" altLang="zh-CN" dirty="0"/>
              <a:t>-</a:t>
            </a:r>
            <a:r>
              <a:rPr lang="zh-CN" altLang="en-US" dirty="0"/>
              <a:t>概览</a:t>
            </a:r>
          </a:p>
        </p:txBody>
      </p:sp>
      <p:sp>
        <p:nvSpPr>
          <p:cNvPr id="3" name="内容占位符 2"/>
          <p:cNvSpPr>
            <a:spLocks noGrp="1"/>
          </p:cNvSpPr>
          <p:nvPr>
            <p:ph idx="1"/>
          </p:nvPr>
        </p:nvSpPr>
        <p:spPr/>
        <p:txBody>
          <a:bodyPr/>
          <a:lstStyle/>
          <a:p>
            <a:r>
              <a:rPr lang="zh-CN" altLang="en-US" dirty="0"/>
              <a:t>配置测试</a:t>
            </a:r>
            <a:endParaRPr lang="en-US" altLang="zh-CN" dirty="0"/>
          </a:p>
          <a:p>
            <a:r>
              <a:rPr lang="zh-CN" altLang="en-US" dirty="0"/>
              <a:t>兼容性测试</a:t>
            </a:r>
            <a:endParaRPr lang="en-US" altLang="zh-CN" dirty="0"/>
          </a:p>
          <a:p>
            <a:r>
              <a:rPr lang="zh-CN" altLang="en-US" dirty="0"/>
              <a:t>外国语言测试</a:t>
            </a:r>
            <a:endParaRPr lang="en-US" altLang="zh-CN" dirty="0"/>
          </a:p>
          <a:p>
            <a:r>
              <a:rPr lang="zh-CN" altLang="en-US" dirty="0"/>
              <a:t>易用性测试</a:t>
            </a:r>
            <a:endParaRPr lang="en-US" altLang="zh-CN" dirty="0"/>
          </a:p>
          <a:p>
            <a:r>
              <a:rPr lang="zh-CN" altLang="en-US" dirty="0"/>
              <a:t>软件安全性测试</a:t>
            </a:r>
            <a:endParaRPr lang="en-US" altLang="zh-CN" dirty="0"/>
          </a:p>
          <a:p>
            <a:r>
              <a:rPr lang="zh-CN" altLang="en-US" dirty="0"/>
              <a:t>网站测试</a:t>
            </a:r>
            <a:endParaRPr lang="en-US" altLang="zh-CN" dirty="0"/>
          </a:p>
          <a:p>
            <a:r>
              <a:rPr lang="zh-CN" altLang="en-US" dirty="0"/>
              <a:t>性能测试</a:t>
            </a:r>
            <a:endParaRPr lang="en-US" altLang="zh-CN" dirty="0"/>
          </a:p>
        </p:txBody>
      </p:sp>
    </p:spTree>
    <p:extLst>
      <p:ext uri="{BB962C8B-B14F-4D97-AF65-F5344CB8AC3E}">
        <p14:creationId xmlns:p14="http://schemas.microsoft.com/office/powerpoint/2010/main" val="4081024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lnSpcReduction="10000"/>
          </a:bodyPr>
          <a:lstStyle/>
          <a:p>
            <a:r>
              <a:rPr lang="zh-CN" altLang="en-US" dirty="0"/>
              <a:t>为什么进行配置测试？</a:t>
            </a:r>
            <a:endParaRPr lang="en-US" altLang="zh-CN" dirty="0"/>
          </a:p>
          <a:p>
            <a:pPr lvl="1"/>
            <a:r>
              <a:rPr lang="zh-CN" altLang="en-US" b="1" dirty="0">
                <a:solidFill>
                  <a:schemeClr val="accent6">
                    <a:lumMod val="50000"/>
                  </a:schemeClr>
                </a:solidFill>
              </a:rPr>
              <a:t>个人计算机：</a:t>
            </a:r>
            <a:r>
              <a:rPr lang="zh-CN" altLang="en-US" dirty="0"/>
              <a:t>戴尔，惠普，联想</a:t>
            </a:r>
            <a:r>
              <a:rPr lang="en-US" altLang="zh-CN" dirty="0"/>
              <a:t>……</a:t>
            </a:r>
            <a:r>
              <a:rPr lang="zh-CN" altLang="en-US" dirty="0"/>
              <a:t>甚至自己组装</a:t>
            </a:r>
            <a:endParaRPr lang="en-US" altLang="zh-CN" dirty="0"/>
          </a:p>
          <a:p>
            <a:pPr lvl="1"/>
            <a:r>
              <a:rPr lang="zh-CN" altLang="en-US" b="1" dirty="0">
                <a:solidFill>
                  <a:schemeClr val="accent6">
                    <a:lumMod val="50000"/>
                  </a:schemeClr>
                </a:solidFill>
              </a:rPr>
              <a:t>计算机模块化部件：</a:t>
            </a:r>
            <a:r>
              <a:rPr lang="zh-CN" altLang="en-US" dirty="0"/>
              <a:t>主板，板卡，磁盘驱动器，视频卡，声卡，网卡，调制解调器</a:t>
            </a:r>
            <a:r>
              <a:rPr lang="en-US" altLang="zh-CN" dirty="0"/>
              <a:t>……</a:t>
            </a:r>
          </a:p>
          <a:p>
            <a:pPr lvl="1"/>
            <a:r>
              <a:rPr lang="zh-CN" altLang="en-US" b="1" dirty="0">
                <a:solidFill>
                  <a:schemeClr val="accent6">
                    <a:lumMod val="50000"/>
                  </a:schemeClr>
                </a:solidFill>
              </a:rPr>
              <a:t>外设：</a:t>
            </a:r>
            <a:r>
              <a:rPr lang="zh-CN" altLang="en-US" dirty="0"/>
              <a:t>打印机，扫描仪，鼠标，键盘，显示器，数码相机</a:t>
            </a:r>
            <a:r>
              <a:rPr lang="en-US" altLang="zh-CN" dirty="0"/>
              <a:t>……</a:t>
            </a:r>
          </a:p>
          <a:p>
            <a:pPr lvl="1"/>
            <a:r>
              <a:rPr lang="zh-CN" altLang="en-US" b="1" dirty="0">
                <a:solidFill>
                  <a:schemeClr val="accent6">
                    <a:lumMod val="50000"/>
                  </a:schemeClr>
                </a:solidFill>
              </a:rPr>
              <a:t>接口：</a:t>
            </a:r>
            <a:r>
              <a:rPr lang="en-US" altLang="zh-CN" dirty="0"/>
              <a:t>USB</a:t>
            </a:r>
            <a:r>
              <a:rPr lang="zh-CN" altLang="en-US" dirty="0"/>
              <a:t>接口，</a:t>
            </a:r>
            <a:r>
              <a:rPr lang="en-US" altLang="zh-CN" dirty="0"/>
              <a:t>DisplayPort</a:t>
            </a:r>
            <a:r>
              <a:rPr lang="zh-CN" altLang="en-US" dirty="0"/>
              <a:t>接口</a:t>
            </a:r>
            <a:r>
              <a:rPr lang="en-US" altLang="zh-CN" dirty="0"/>
              <a:t>……</a:t>
            </a:r>
          </a:p>
          <a:p>
            <a:pPr lvl="1"/>
            <a:r>
              <a:rPr lang="zh-CN" altLang="en-US" b="1" dirty="0">
                <a:solidFill>
                  <a:schemeClr val="accent6">
                    <a:lumMod val="50000"/>
                  </a:schemeClr>
                </a:solidFill>
              </a:rPr>
              <a:t>可选项和内存</a:t>
            </a:r>
            <a:endParaRPr lang="en-US" altLang="zh-CN" b="1" dirty="0">
              <a:solidFill>
                <a:schemeClr val="accent6">
                  <a:lumMod val="50000"/>
                </a:schemeClr>
              </a:solidFill>
            </a:endParaRPr>
          </a:p>
          <a:p>
            <a:pPr lvl="1"/>
            <a:r>
              <a:rPr lang="zh-CN" altLang="en-US" b="1" dirty="0">
                <a:solidFill>
                  <a:schemeClr val="accent6">
                    <a:lumMod val="50000"/>
                  </a:schemeClr>
                </a:solidFill>
              </a:rPr>
              <a:t>设备驱动程序</a:t>
            </a:r>
          </a:p>
          <a:p>
            <a:pPr marL="0" indent="0">
              <a:buNone/>
            </a:pPr>
            <a:endParaRPr lang="en-US" altLang="zh-CN" dirty="0"/>
          </a:p>
        </p:txBody>
      </p:sp>
    </p:spTree>
    <p:extLst>
      <p:ext uri="{BB962C8B-B14F-4D97-AF65-F5344CB8AC3E}">
        <p14:creationId xmlns:p14="http://schemas.microsoft.com/office/powerpoint/2010/main" val="2692876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为什么进行配置测试？</a:t>
            </a:r>
            <a:endParaRPr lang="en-US" altLang="zh-CN" dirty="0"/>
          </a:p>
          <a:p>
            <a:pPr lvl="1"/>
            <a:r>
              <a:rPr lang="zh-CN" altLang="en-US" dirty="0"/>
              <a:t>理想情况下，各生产厂商应遵照一条标准来设计硬件</a:t>
            </a:r>
            <a:endParaRPr lang="en-US" altLang="zh-CN" dirty="0"/>
          </a:p>
          <a:p>
            <a:pPr lvl="1"/>
            <a:r>
              <a:rPr lang="zh-CN" altLang="en-US" dirty="0"/>
              <a:t>实际情况下，激烈竞争导致标准并没有被遵守</a:t>
            </a:r>
            <a:endParaRPr lang="en-US" altLang="zh-CN" dirty="0"/>
          </a:p>
          <a:p>
            <a:pPr lvl="1"/>
            <a:r>
              <a:rPr lang="zh-CN" altLang="en-US" dirty="0"/>
              <a:t>标准是松散的</a:t>
            </a:r>
            <a:r>
              <a:rPr lang="en-US" altLang="zh-CN" dirty="0"/>
              <a:t>——</a:t>
            </a:r>
            <a:r>
              <a:rPr lang="zh-CN" altLang="en-US" dirty="0"/>
              <a:t>称为“规范”</a:t>
            </a:r>
            <a:endParaRPr lang="en-US" altLang="zh-CN" dirty="0"/>
          </a:p>
          <a:p>
            <a:pPr lvl="1"/>
            <a:endParaRPr lang="en-US" altLang="zh-CN" dirty="0"/>
          </a:p>
        </p:txBody>
      </p:sp>
    </p:spTree>
    <p:extLst>
      <p:ext uri="{BB962C8B-B14F-4D97-AF65-F5344CB8AC3E}">
        <p14:creationId xmlns:p14="http://schemas.microsoft.com/office/powerpoint/2010/main" val="2709314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lstStyle/>
          <a:p>
            <a:r>
              <a:rPr lang="zh-CN" altLang="en-US" dirty="0"/>
              <a:t>为什么要进行配置测试？</a:t>
            </a:r>
            <a:endParaRPr lang="en-US" altLang="zh-CN" dirty="0"/>
          </a:p>
          <a:p>
            <a:pPr lvl="1"/>
            <a:r>
              <a:rPr lang="zh-CN" altLang="en-US" dirty="0"/>
              <a:t>保证被测试的软件在尽可能多的硬件平台上运行</a:t>
            </a:r>
            <a:endParaRPr lang="en-US" altLang="zh-CN" dirty="0"/>
          </a:p>
          <a:p>
            <a:pPr lvl="1"/>
            <a:r>
              <a:rPr lang="zh-CN" altLang="en-US" dirty="0"/>
              <a:t>配置测试是指：使用各种硬件来测试软件运行的过程</a:t>
            </a:r>
            <a:endParaRPr lang="en-US" altLang="zh-CN" dirty="0"/>
          </a:p>
        </p:txBody>
      </p:sp>
    </p:spTree>
    <p:extLst>
      <p:ext uri="{BB962C8B-B14F-4D97-AF65-F5344CB8AC3E}">
        <p14:creationId xmlns:p14="http://schemas.microsoft.com/office/powerpoint/2010/main" val="2663324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lstStyle/>
          <a:p>
            <a:r>
              <a:rPr lang="zh-CN" altLang="en-US" dirty="0"/>
              <a:t>第一步：考虑哪些配置与程序的关系最密切</a:t>
            </a:r>
            <a:endParaRPr lang="en-US" altLang="zh-CN" dirty="0"/>
          </a:p>
          <a:p>
            <a:pPr lvl="1"/>
            <a:r>
              <a:rPr lang="zh-CN" altLang="en-US" b="1" dirty="0">
                <a:solidFill>
                  <a:schemeClr val="accent6">
                    <a:lumMod val="50000"/>
                  </a:schemeClr>
                </a:solidFill>
              </a:rPr>
              <a:t>计算机游戏：</a:t>
            </a:r>
            <a:r>
              <a:rPr lang="zh-CN" altLang="en-US" dirty="0"/>
              <a:t>视频和声音部分</a:t>
            </a:r>
            <a:endParaRPr lang="en-US" altLang="zh-CN" dirty="0"/>
          </a:p>
          <a:p>
            <a:pPr lvl="1"/>
            <a:r>
              <a:rPr lang="zh-CN" altLang="en-US" b="1" dirty="0">
                <a:solidFill>
                  <a:schemeClr val="accent6">
                    <a:lumMod val="50000"/>
                  </a:schemeClr>
                </a:solidFill>
              </a:rPr>
              <a:t>贺卡程序：</a:t>
            </a:r>
            <a:r>
              <a:rPr lang="zh-CN" altLang="en-US" dirty="0"/>
              <a:t>打印机</a:t>
            </a:r>
            <a:endParaRPr lang="en-US" altLang="zh-CN" dirty="0"/>
          </a:p>
          <a:p>
            <a:pPr lvl="1"/>
            <a:r>
              <a:rPr lang="zh-CN" altLang="en-US" b="1" dirty="0">
                <a:solidFill>
                  <a:schemeClr val="accent6">
                    <a:lumMod val="50000"/>
                  </a:schemeClr>
                </a:solidFill>
              </a:rPr>
              <a:t>传真和通信程序：</a:t>
            </a:r>
            <a:r>
              <a:rPr lang="zh-CN" altLang="en-US" dirty="0"/>
              <a:t>应注意多种调制解调器和网络配置</a:t>
            </a:r>
          </a:p>
        </p:txBody>
      </p:sp>
    </p:spTree>
    <p:extLst>
      <p:ext uri="{BB962C8B-B14F-4D97-AF65-F5344CB8AC3E}">
        <p14:creationId xmlns:p14="http://schemas.microsoft.com/office/powerpoint/2010/main" val="3223723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lstStyle/>
          <a:p>
            <a:r>
              <a:rPr lang="zh-CN" altLang="en-US" dirty="0"/>
              <a:t>第二步：分离配置缺陷</a:t>
            </a:r>
            <a:endParaRPr lang="en-US" altLang="zh-CN" dirty="0"/>
          </a:p>
          <a:p>
            <a:pPr lvl="1"/>
            <a:r>
              <a:rPr lang="zh-CN" altLang="en-US" b="1" dirty="0">
                <a:solidFill>
                  <a:schemeClr val="accent6">
                    <a:lumMod val="50000"/>
                  </a:schemeClr>
                </a:solidFill>
              </a:rPr>
              <a:t>什么是配置缺陷</a:t>
            </a:r>
            <a:endParaRPr lang="en-US" altLang="zh-CN" b="1" dirty="0">
              <a:solidFill>
                <a:schemeClr val="accent6">
                  <a:lumMod val="50000"/>
                </a:schemeClr>
              </a:solidFill>
            </a:endParaRPr>
          </a:p>
          <a:p>
            <a:pPr lvl="1">
              <a:buFont typeface="Wingdings" panose="05000000000000000000" pitchFamily="2" charset="2"/>
              <a:buChar char="l"/>
            </a:pPr>
            <a:r>
              <a:rPr lang="zh-CN" altLang="en-US" dirty="0"/>
              <a:t>软件在极少数，但非常流行的硬件配置上不能发声</a:t>
            </a:r>
            <a:endParaRPr lang="en-US" altLang="zh-CN" dirty="0"/>
          </a:p>
          <a:p>
            <a:pPr lvl="1">
              <a:buFont typeface="Wingdings" panose="05000000000000000000" pitchFamily="2" charset="2"/>
              <a:buChar char="l"/>
            </a:pPr>
            <a:r>
              <a:rPr lang="zh-CN" altLang="en-US" dirty="0"/>
              <a:t>玩游戏时，颜色突然变花或无法拖动部分窗口</a:t>
            </a:r>
            <a:endParaRPr lang="en-US" altLang="zh-CN" dirty="0"/>
          </a:p>
          <a:p>
            <a:pPr lvl="1">
              <a:buFont typeface="Wingdings" panose="05000000000000000000" pitchFamily="2" charset="2"/>
              <a:buChar char="l"/>
            </a:pPr>
            <a:r>
              <a:rPr lang="zh-CN" altLang="en-US" dirty="0"/>
              <a:t>花费数小时才能使老程序正常使用新打印机</a:t>
            </a:r>
            <a:endParaRPr lang="en-US" altLang="zh-CN" dirty="0"/>
          </a:p>
        </p:txBody>
      </p:sp>
    </p:spTree>
    <p:extLst>
      <p:ext uri="{BB962C8B-B14F-4D97-AF65-F5344CB8AC3E}">
        <p14:creationId xmlns:p14="http://schemas.microsoft.com/office/powerpoint/2010/main" val="2032747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lstStyle/>
          <a:p>
            <a:r>
              <a:rPr lang="zh-CN" altLang="en-US" dirty="0"/>
              <a:t>第二步：分离配置缺陷</a:t>
            </a:r>
            <a:endParaRPr lang="en-US" altLang="zh-CN" dirty="0"/>
          </a:p>
          <a:p>
            <a:pPr lvl="1"/>
            <a:r>
              <a:rPr lang="zh-CN" altLang="en-US" b="1" dirty="0">
                <a:solidFill>
                  <a:schemeClr val="accent6">
                    <a:lumMod val="50000"/>
                  </a:schemeClr>
                </a:solidFill>
              </a:rPr>
              <a:t>最简单的配置缺陷判断方法</a:t>
            </a:r>
            <a:endParaRPr lang="en-US" altLang="zh-CN" b="1" dirty="0">
              <a:solidFill>
                <a:schemeClr val="accent6">
                  <a:lumMod val="50000"/>
                </a:schemeClr>
              </a:solidFill>
            </a:endParaRPr>
          </a:p>
          <a:p>
            <a:pPr lvl="1">
              <a:buFont typeface="Wingdings" panose="05000000000000000000" pitchFamily="2" charset="2"/>
              <a:buChar char="ü"/>
            </a:pPr>
            <a:r>
              <a:rPr lang="zh-CN" altLang="en-US" dirty="0"/>
              <a:t>在另外一台有完全不同配置的计算机上运行软件，若能成功，说明极有可能是配置缺陷</a:t>
            </a:r>
            <a:endParaRPr lang="en-US" altLang="zh-CN" dirty="0"/>
          </a:p>
        </p:txBody>
      </p:sp>
    </p:spTree>
    <p:extLst>
      <p:ext uri="{BB962C8B-B14F-4D97-AF65-F5344CB8AC3E}">
        <p14:creationId xmlns:p14="http://schemas.microsoft.com/office/powerpoint/2010/main" val="3519643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第二步：分离配置缺陷</a:t>
            </a:r>
            <a:endParaRPr lang="en-US" altLang="zh-CN" dirty="0"/>
          </a:p>
          <a:p>
            <a:pPr lvl="1"/>
            <a:r>
              <a:rPr lang="zh-CN" altLang="en-US" b="1" dirty="0">
                <a:solidFill>
                  <a:schemeClr val="accent6">
                    <a:lumMod val="50000"/>
                  </a:schemeClr>
                </a:solidFill>
              </a:rPr>
              <a:t>由谁来负责解决配置缺陷</a:t>
            </a:r>
            <a:endParaRPr lang="en-US" altLang="zh-CN" b="1" dirty="0">
              <a:solidFill>
                <a:schemeClr val="accent6">
                  <a:lumMod val="50000"/>
                </a:schemeClr>
              </a:solidFill>
            </a:endParaRPr>
          </a:p>
          <a:p>
            <a:pPr lvl="1">
              <a:buFont typeface="Wingdings" panose="05000000000000000000" pitchFamily="2" charset="2"/>
              <a:buChar char="u"/>
            </a:pPr>
            <a:r>
              <a:rPr lang="zh-CN" altLang="en-US" dirty="0"/>
              <a:t>情况</a:t>
            </a:r>
            <a:r>
              <a:rPr lang="en-US" altLang="zh-CN" dirty="0"/>
              <a:t>1</a:t>
            </a:r>
            <a:r>
              <a:rPr lang="zh-CN" altLang="en-US" dirty="0"/>
              <a:t>：软件在多中配置中都出现问题</a:t>
            </a:r>
            <a:endParaRPr lang="en-US" altLang="zh-CN" dirty="0"/>
          </a:p>
          <a:p>
            <a:pPr lvl="1">
              <a:buFont typeface="Wingdings" panose="05000000000000000000" pitchFamily="2" charset="2"/>
              <a:buChar char="u"/>
            </a:pPr>
            <a:r>
              <a:rPr lang="zh-CN" altLang="en-US" dirty="0"/>
              <a:t>情况</a:t>
            </a:r>
            <a:r>
              <a:rPr lang="en-US" altLang="zh-CN" dirty="0"/>
              <a:t>2</a:t>
            </a:r>
            <a:r>
              <a:rPr lang="zh-CN" altLang="en-US" dirty="0"/>
              <a:t>：软件只在一种特殊配置中出问题</a:t>
            </a:r>
            <a:endParaRPr lang="en-US" altLang="zh-CN" dirty="0"/>
          </a:p>
          <a:p>
            <a:pPr lvl="1">
              <a:buFont typeface="Wingdings" panose="05000000000000000000" pitchFamily="2" charset="2"/>
              <a:buChar char="u"/>
            </a:pPr>
            <a:r>
              <a:rPr lang="zh-CN" altLang="en-US" dirty="0"/>
              <a:t>情况</a:t>
            </a:r>
            <a:r>
              <a:rPr lang="en-US" altLang="zh-CN" dirty="0"/>
              <a:t>3</a:t>
            </a:r>
            <a:r>
              <a:rPr lang="zh-CN" altLang="en-US" dirty="0"/>
              <a:t>：硬件及驱动程序在软件用到其某个功能时出现问题</a:t>
            </a:r>
            <a:endParaRPr lang="en-US" altLang="zh-CN" dirty="0"/>
          </a:p>
          <a:p>
            <a:pPr lvl="1">
              <a:buFont typeface="Wingdings" panose="05000000000000000000" pitchFamily="2" charset="2"/>
              <a:buChar char="u"/>
            </a:pPr>
            <a:r>
              <a:rPr lang="zh-CN" altLang="en-US" dirty="0"/>
              <a:t>情况</a:t>
            </a:r>
            <a:r>
              <a:rPr lang="en-US" altLang="zh-CN" dirty="0"/>
              <a:t>4</a:t>
            </a:r>
            <a:r>
              <a:rPr lang="zh-CN" altLang="en-US" dirty="0"/>
              <a:t>：硬件及驱动程序本身包含一个缺陷</a:t>
            </a:r>
            <a:endParaRPr lang="en-US" altLang="zh-CN" dirty="0"/>
          </a:p>
          <a:p>
            <a:pPr lvl="1"/>
            <a:r>
              <a:rPr lang="zh-CN" altLang="en-US" b="1" dirty="0">
                <a:solidFill>
                  <a:schemeClr val="accent6">
                    <a:lumMod val="50000"/>
                  </a:schemeClr>
                </a:solidFill>
              </a:rPr>
              <a:t>第</a:t>
            </a:r>
            <a:r>
              <a:rPr lang="en-US" altLang="zh-CN" b="1" dirty="0">
                <a:solidFill>
                  <a:schemeClr val="accent6">
                    <a:lumMod val="50000"/>
                  </a:schemeClr>
                </a:solidFill>
              </a:rPr>
              <a:t>1</a:t>
            </a:r>
            <a:r>
              <a:rPr lang="zh-CN" altLang="en-US" b="1" dirty="0">
                <a:solidFill>
                  <a:schemeClr val="accent6">
                    <a:lumMod val="50000"/>
                  </a:schemeClr>
                </a:solidFill>
              </a:rPr>
              <a:t>、</a:t>
            </a:r>
            <a:r>
              <a:rPr lang="en-US" altLang="zh-CN" b="1" dirty="0">
                <a:solidFill>
                  <a:schemeClr val="accent6">
                    <a:lumMod val="50000"/>
                  </a:schemeClr>
                </a:solidFill>
              </a:rPr>
              <a:t>2</a:t>
            </a:r>
            <a:r>
              <a:rPr lang="zh-CN" altLang="en-US" b="1" dirty="0">
                <a:solidFill>
                  <a:schemeClr val="accent6">
                    <a:lumMod val="50000"/>
                  </a:schemeClr>
                </a:solidFill>
              </a:rPr>
              <a:t>种情况显然是开发小组的责任，第</a:t>
            </a:r>
            <a:r>
              <a:rPr lang="en-US" altLang="zh-CN" b="1" dirty="0">
                <a:solidFill>
                  <a:schemeClr val="accent6">
                    <a:lumMod val="50000"/>
                  </a:schemeClr>
                </a:solidFill>
              </a:rPr>
              <a:t>3</a:t>
            </a:r>
            <a:r>
              <a:rPr lang="zh-CN" altLang="en-US" b="1" dirty="0">
                <a:solidFill>
                  <a:schemeClr val="accent6">
                    <a:lumMod val="50000"/>
                  </a:schemeClr>
                </a:solidFill>
              </a:rPr>
              <a:t>、</a:t>
            </a:r>
            <a:r>
              <a:rPr lang="en-US" altLang="zh-CN" b="1" dirty="0">
                <a:solidFill>
                  <a:schemeClr val="accent6">
                    <a:lumMod val="50000"/>
                  </a:schemeClr>
                </a:solidFill>
              </a:rPr>
              <a:t>4</a:t>
            </a:r>
            <a:r>
              <a:rPr lang="zh-CN" altLang="en-US" b="1" dirty="0">
                <a:solidFill>
                  <a:schemeClr val="accent6">
                    <a:lumMod val="50000"/>
                  </a:schemeClr>
                </a:solidFill>
              </a:rPr>
              <a:t>种仍然是开发小组的责任</a:t>
            </a:r>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2782234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lnSpcReduction="10000"/>
          </a:bodyPr>
          <a:lstStyle/>
          <a:p>
            <a:r>
              <a:rPr lang="zh-CN" altLang="en-US" dirty="0"/>
              <a:t>第三步：计算工作量</a:t>
            </a:r>
            <a:endParaRPr lang="en-US" altLang="zh-CN" dirty="0"/>
          </a:p>
          <a:p>
            <a:pPr lvl="1"/>
            <a:r>
              <a:rPr lang="zh-CN" altLang="en-US" b="1" dirty="0">
                <a:solidFill>
                  <a:schemeClr val="accent6">
                    <a:lumMod val="50000"/>
                  </a:schemeClr>
                </a:solidFill>
              </a:rPr>
              <a:t>配置测试工作量可能非常大</a:t>
            </a:r>
            <a:endParaRPr lang="en-US" altLang="zh-CN" b="1" dirty="0">
              <a:solidFill>
                <a:schemeClr val="accent6">
                  <a:lumMod val="50000"/>
                </a:schemeClr>
              </a:solidFill>
            </a:endParaRPr>
          </a:p>
          <a:p>
            <a:pPr lvl="1">
              <a:buFont typeface="Wingdings" panose="05000000000000000000" pitchFamily="2" charset="2"/>
              <a:buChar char="p"/>
            </a:pPr>
            <a:r>
              <a:rPr lang="zh-CN" altLang="en-US" b="1" dirty="0">
                <a:solidFill>
                  <a:schemeClr val="accent6">
                    <a:lumMod val="50000"/>
                  </a:schemeClr>
                </a:solidFill>
              </a:rPr>
              <a:t>例子：</a:t>
            </a:r>
            <a:r>
              <a:rPr lang="zh-CN" altLang="en-US" dirty="0"/>
              <a:t>一款新的游戏软件，画面、音效丰富，多用户对抗，允许打印游戏细节进行游戏策划</a:t>
            </a:r>
            <a:endParaRPr lang="en-US" altLang="zh-CN" dirty="0"/>
          </a:p>
          <a:p>
            <a:pPr lvl="1">
              <a:buFont typeface="Wingdings" panose="05000000000000000000" pitchFamily="2" charset="2"/>
              <a:buChar char="p"/>
            </a:pPr>
            <a:r>
              <a:rPr lang="zh-CN" altLang="en-US" dirty="0"/>
              <a:t>至少要考虑：常见的图形卡，声卡，调制解调器，打印机</a:t>
            </a:r>
            <a:endParaRPr lang="en-US" altLang="zh-CN" dirty="0"/>
          </a:p>
          <a:p>
            <a:pPr lvl="1">
              <a:buFont typeface="Wingdings" panose="05000000000000000000" pitchFamily="2" charset="2"/>
              <a:buChar char="p"/>
            </a:pPr>
            <a:r>
              <a:rPr lang="zh-CN" altLang="en-US" dirty="0"/>
              <a:t>完整、全面的配置测试，检查所有的制造者和型号，面临巨大的工作量。</a:t>
            </a:r>
            <a:endParaRPr lang="en-US" altLang="zh-CN" dirty="0"/>
          </a:p>
          <a:p>
            <a:pPr lvl="1">
              <a:buFont typeface="Wingdings" panose="05000000000000000000" pitchFamily="2" charset="2"/>
              <a:buChar char="u"/>
            </a:pPr>
            <a:r>
              <a:rPr lang="zh-CN" altLang="en-US" b="1" dirty="0">
                <a:solidFill>
                  <a:schemeClr val="accent6">
                    <a:lumMod val="50000"/>
                  </a:schemeClr>
                </a:solidFill>
              </a:rPr>
              <a:t>减少麻烦的方法是：等价划分，但存在风险（没有完全测试）</a:t>
            </a:r>
            <a:endParaRPr lang="en-US" altLang="zh-CN" b="1" dirty="0">
              <a:solidFill>
                <a:schemeClr val="accent6">
                  <a:lumMod val="50000"/>
                </a:schemeClr>
              </a:solidFill>
            </a:endParaRPr>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1001026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第四步：执行配置测试任务</a:t>
            </a:r>
            <a:endParaRPr lang="en-US" altLang="zh-CN" dirty="0"/>
          </a:p>
          <a:p>
            <a:pPr lvl="1"/>
            <a:r>
              <a:rPr lang="zh-CN" altLang="en-US" b="1" dirty="0">
                <a:solidFill>
                  <a:schemeClr val="accent6">
                    <a:lumMod val="50000"/>
                  </a:schemeClr>
                </a:solidFill>
              </a:rPr>
              <a:t>步骤一：确定所需的硬件类型</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需要打印机吗？是，就要测试打印机</a:t>
            </a:r>
            <a:endParaRPr lang="en-US" altLang="zh-CN" dirty="0"/>
          </a:p>
          <a:p>
            <a:pPr lvl="1">
              <a:buFont typeface="Wingdings" panose="05000000000000000000" pitchFamily="2" charset="2"/>
              <a:buChar char="p"/>
            </a:pPr>
            <a:r>
              <a:rPr lang="zh-CN" altLang="en-US" dirty="0"/>
              <a:t>程序要发声吗？是，就要测试声卡</a:t>
            </a:r>
            <a:endParaRPr lang="en-US" altLang="zh-CN" dirty="0"/>
          </a:p>
          <a:p>
            <a:pPr marL="457200" lvl="1" indent="0">
              <a:buNone/>
            </a:pPr>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3187056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第四步：执行配置测试任务</a:t>
            </a:r>
            <a:endParaRPr lang="en-US" altLang="zh-CN" dirty="0"/>
          </a:p>
          <a:p>
            <a:pPr lvl="1"/>
            <a:r>
              <a:rPr lang="zh-CN" altLang="en-US" b="1" dirty="0">
                <a:solidFill>
                  <a:schemeClr val="accent6">
                    <a:lumMod val="50000"/>
                  </a:schemeClr>
                </a:solidFill>
              </a:rPr>
              <a:t>步骤二：确定有哪些厂商的硬件、型号和驱动程序可用</a:t>
            </a:r>
            <a:endParaRPr lang="en-US" altLang="zh-CN" b="1" dirty="0">
              <a:solidFill>
                <a:schemeClr val="accent6">
                  <a:lumMod val="50000"/>
                </a:schemeClr>
              </a:solidFill>
            </a:endParaRPr>
          </a:p>
          <a:p>
            <a:pPr lvl="1"/>
            <a:r>
              <a:rPr lang="zh-CN" altLang="en-US" b="1" dirty="0">
                <a:solidFill>
                  <a:schemeClr val="accent6">
                    <a:lumMod val="50000"/>
                  </a:schemeClr>
                </a:solidFill>
              </a:rPr>
              <a:t>步骤三：确定可能的硬件特性、模式和选项</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比如：显示器的分辨率、色彩设置。打印机打印颜色等</a:t>
            </a:r>
            <a:endParaRPr lang="en-US" altLang="zh-CN" dirty="0"/>
          </a:p>
          <a:p>
            <a:pPr lvl="1">
              <a:buFont typeface="Wingdings" panose="05000000000000000000" pitchFamily="2" charset="2"/>
              <a:buChar char="p"/>
            </a:pPr>
            <a:r>
              <a:rPr lang="zh-CN" altLang="en-US" dirty="0"/>
              <a:t>又比如：游戏软件通常要求最小的颜色数和现实分辨率。若低于该配置，则无法运行</a:t>
            </a:r>
            <a:endParaRPr lang="en-US" altLang="zh-CN" dirty="0"/>
          </a:p>
          <a:p>
            <a:pPr marL="457200" lvl="1" indent="0">
              <a:buNone/>
            </a:pPr>
            <a:endParaRPr lang="en-US" altLang="zh-CN" b="1" dirty="0">
              <a:solidFill>
                <a:schemeClr val="accent6">
                  <a:lumMod val="50000"/>
                </a:schemeClr>
              </a:solidFill>
            </a:endParaRPr>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1677749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第四步：执行配置测试任务</a:t>
            </a:r>
            <a:endParaRPr lang="en-US" altLang="zh-CN" dirty="0"/>
          </a:p>
          <a:p>
            <a:pPr lvl="1"/>
            <a:r>
              <a:rPr lang="zh-CN" altLang="en-US" b="1" dirty="0">
                <a:solidFill>
                  <a:schemeClr val="accent6">
                    <a:lumMod val="50000"/>
                  </a:schemeClr>
                </a:solidFill>
              </a:rPr>
              <a:t>步骤四：将确定后的硬件配置缩减为可控制的范围</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是否流行？</a:t>
            </a:r>
            <a:endParaRPr lang="en-US" altLang="zh-CN" dirty="0"/>
          </a:p>
          <a:p>
            <a:pPr lvl="1">
              <a:buFont typeface="Wingdings" panose="05000000000000000000" pitchFamily="2" charset="2"/>
              <a:buChar char="p"/>
            </a:pPr>
            <a:r>
              <a:rPr lang="zh-CN" altLang="en-US" dirty="0"/>
              <a:t>发布年头？</a:t>
            </a:r>
            <a:endParaRPr lang="en-US" altLang="zh-CN" b="1" dirty="0">
              <a:solidFill>
                <a:schemeClr val="accent6">
                  <a:lumMod val="50000"/>
                </a:schemeClr>
              </a:solidFill>
            </a:endParaRPr>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1210238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第四步：执行配置测试任务</a:t>
            </a:r>
            <a:endParaRPr lang="en-US" altLang="zh-CN" dirty="0"/>
          </a:p>
          <a:p>
            <a:pPr lvl="1"/>
            <a:r>
              <a:rPr lang="zh-CN" altLang="en-US" b="1" dirty="0">
                <a:solidFill>
                  <a:schemeClr val="accent6">
                    <a:lumMod val="50000"/>
                  </a:schemeClr>
                </a:solidFill>
              </a:rPr>
              <a:t>步骤五：明确与硬件配置有关的软件唯一特性</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不应该在每一种配置中完全测试软件</a:t>
            </a:r>
            <a:endParaRPr lang="en-US" altLang="zh-CN" dirty="0"/>
          </a:p>
          <a:p>
            <a:pPr lvl="1">
              <a:buFont typeface="Wingdings" panose="05000000000000000000" pitchFamily="2" charset="2"/>
              <a:buChar char="p"/>
            </a:pPr>
            <a:r>
              <a:rPr lang="zh-CN" altLang="en-US" b="1" dirty="0">
                <a:solidFill>
                  <a:schemeClr val="accent6">
                    <a:lumMod val="50000"/>
                  </a:schemeClr>
                </a:solidFill>
              </a:rPr>
              <a:t>例如：</a:t>
            </a:r>
            <a:r>
              <a:rPr lang="zh-CN" altLang="en-US" dirty="0"/>
              <a:t>字处理程序（如</a:t>
            </a:r>
            <a:r>
              <a:rPr lang="en-US" altLang="zh-CN" dirty="0"/>
              <a:t>Word</a:t>
            </a:r>
            <a:r>
              <a:rPr lang="zh-CN" altLang="en-US" dirty="0"/>
              <a:t>）的打印部分只和打印机相关；打开和保存功能和打印机无关</a:t>
            </a:r>
            <a:endParaRPr lang="en-US" altLang="zh-CN" b="1" dirty="0">
              <a:solidFill>
                <a:schemeClr val="accent6">
                  <a:lumMod val="50000"/>
                </a:schemeClr>
              </a:solidFill>
            </a:endParaRPr>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3787727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第四步：执行配置测试任务</a:t>
            </a:r>
            <a:endParaRPr lang="en-US" altLang="zh-CN" dirty="0"/>
          </a:p>
          <a:p>
            <a:pPr lvl="1"/>
            <a:r>
              <a:rPr lang="zh-CN" altLang="en-US" b="1" dirty="0">
                <a:solidFill>
                  <a:schemeClr val="accent6">
                    <a:lumMod val="50000"/>
                  </a:schemeClr>
                </a:solidFill>
              </a:rPr>
              <a:t>步骤六：设计在每一种配置中执行的测试用例</a:t>
            </a:r>
            <a:endParaRPr lang="en-US" altLang="zh-CN" b="1" dirty="0">
              <a:solidFill>
                <a:schemeClr val="accent6">
                  <a:lumMod val="50000"/>
                </a:schemeClr>
              </a:solidFill>
            </a:endParaRPr>
          </a:p>
          <a:p>
            <a:pPr lvl="1"/>
            <a:r>
              <a:rPr lang="zh-CN" altLang="en-US" b="1" dirty="0">
                <a:solidFill>
                  <a:schemeClr val="accent6">
                    <a:lumMod val="50000"/>
                  </a:schemeClr>
                </a:solidFill>
              </a:rPr>
              <a:t>步骤七：在每种配置中执行测试</a:t>
            </a:r>
            <a:endParaRPr lang="en-US" altLang="zh-CN" b="1" dirty="0">
              <a:solidFill>
                <a:schemeClr val="accent6">
                  <a:lumMod val="50000"/>
                </a:schemeClr>
              </a:solidFill>
            </a:endParaRPr>
          </a:p>
          <a:p>
            <a:pPr lvl="1"/>
            <a:r>
              <a:rPr lang="zh-CN" altLang="en-US" b="1" dirty="0">
                <a:solidFill>
                  <a:schemeClr val="accent6">
                    <a:lumMod val="50000"/>
                  </a:schemeClr>
                </a:solidFill>
              </a:rPr>
              <a:t>步骤八：反复测试直到小组对结果满意为止</a:t>
            </a:r>
            <a:endParaRPr lang="en-US" altLang="zh-CN" b="1" dirty="0">
              <a:solidFill>
                <a:schemeClr val="accent6">
                  <a:lumMod val="50000"/>
                </a:schemeClr>
              </a:solidFill>
            </a:endParaRPr>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2452146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最后一个问题：获得硬件</a:t>
            </a:r>
            <a:endParaRPr lang="en-US" altLang="zh-CN" dirty="0"/>
          </a:p>
          <a:p>
            <a:pPr lvl="1" algn="just"/>
            <a:r>
              <a:rPr lang="zh-CN" altLang="en-US" dirty="0"/>
              <a:t>测试的配置很多，如何获得这些硬件是一个大问题！</a:t>
            </a:r>
            <a:endParaRPr lang="en-US" altLang="zh-CN" dirty="0"/>
          </a:p>
          <a:p>
            <a:pPr lvl="1" algn="just">
              <a:buFont typeface="Wingdings" panose="05000000000000000000" pitchFamily="2" charset="2"/>
              <a:buChar char="ü"/>
            </a:pPr>
            <a:r>
              <a:rPr lang="zh-CN" altLang="en-US" dirty="0"/>
              <a:t>购买？只买可以或者将会经常使用的配置。</a:t>
            </a:r>
            <a:endParaRPr lang="en-US" altLang="zh-CN" dirty="0"/>
          </a:p>
          <a:p>
            <a:pPr lvl="1" algn="just">
              <a:buFont typeface="Wingdings" panose="05000000000000000000" pitchFamily="2" charset="2"/>
              <a:buChar char="ü"/>
            </a:pPr>
            <a:r>
              <a:rPr lang="zh-CN" altLang="en-US" dirty="0"/>
              <a:t>与硬件厂商联系</a:t>
            </a:r>
            <a:endParaRPr lang="en-US" altLang="zh-CN" dirty="0"/>
          </a:p>
          <a:p>
            <a:pPr lvl="1" algn="just">
              <a:buFont typeface="Wingdings" panose="05000000000000000000" pitchFamily="2" charset="2"/>
              <a:buChar char="ü"/>
            </a:pPr>
            <a:r>
              <a:rPr lang="zh-CN" altLang="en-US" dirty="0"/>
              <a:t>利用公司员工</a:t>
            </a:r>
            <a:endParaRPr lang="en-US" altLang="zh-CN" dirty="0"/>
          </a:p>
          <a:p>
            <a:pPr lvl="1" algn="just">
              <a:buFont typeface="Wingdings" panose="05000000000000000000" pitchFamily="2" charset="2"/>
              <a:buChar char="ü"/>
            </a:pPr>
            <a:r>
              <a:rPr lang="zh-CN" altLang="en-US" dirty="0"/>
              <a:t>如果预算充足，就去买吧！</a:t>
            </a:r>
            <a:endParaRPr lang="en-US" altLang="zh-CN" dirty="0"/>
          </a:p>
          <a:p>
            <a:pPr lvl="1" algn="just"/>
            <a:endParaRPr lang="en-US" altLang="zh-CN" dirty="0"/>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1413866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配置测试</a:t>
            </a:r>
          </a:p>
        </p:txBody>
      </p:sp>
      <p:sp>
        <p:nvSpPr>
          <p:cNvPr id="3" name="内容占位符 2"/>
          <p:cNvSpPr>
            <a:spLocks noGrp="1"/>
          </p:cNvSpPr>
          <p:nvPr>
            <p:ph idx="1"/>
          </p:nvPr>
        </p:nvSpPr>
        <p:spPr/>
        <p:txBody>
          <a:bodyPr>
            <a:normAutofit/>
          </a:bodyPr>
          <a:lstStyle/>
          <a:p>
            <a:r>
              <a:rPr lang="zh-CN" altLang="en-US" dirty="0"/>
              <a:t>其他</a:t>
            </a:r>
            <a:endParaRPr lang="en-US" altLang="zh-CN" dirty="0"/>
          </a:p>
          <a:p>
            <a:pPr lvl="1">
              <a:buFont typeface="Wingdings" panose="05000000000000000000" pitchFamily="2" charset="2"/>
              <a:buChar char="Ø"/>
            </a:pPr>
            <a:r>
              <a:rPr lang="zh-CN" altLang="en-US" dirty="0"/>
              <a:t>了解和明确硬件标准</a:t>
            </a:r>
            <a:endParaRPr lang="en-US" altLang="zh-CN" dirty="0"/>
          </a:p>
          <a:p>
            <a:pPr lvl="1">
              <a:buFont typeface="Wingdings" panose="05000000000000000000" pitchFamily="2" charset="2"/>
              <a:buChar char="Ø"/>
            </a:pPr>
            <a:r>
              <a:rPr lang="zh-CN" altLang="en-US" dirty="0"/>
              <a:t>不在</a:t>
            </a:r>
            <a:r>
              <a:rPr lang="en-US" altLang="zh-CN" dirty="0"/>
              <a:t>PC</a:t>
            </a:r>
            <a:r>
              <a:rPr lang="zh-CN" altLang="en-US" dirty="0"/>
              <a:t>上运行，而是在专用设备上运行的软件的配置测试</a:t>
            </a:r>
            <a:endParaRPr lang="en-US" altLang="zh-CN" dirty="0"/>
          </a:p>
          <a:p>
            <a:pPr lvl="1" algn="just"/>
            <a:endParaRPr lang="en-US" altLang="zh-CN" dirty="0"/>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2247489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为什么要进行软件兼容性测试？</a:t>
            </a:r>
            <a:endParaRPr lang="en-US" altLang="zh-CN" dirty="0"/>
          </a:p>
          <a:p>
            <a:pPr lvl="1"/>
            <a:r>
              <a:rPr lang="zh-CN" altLang="en-US" b="1" dirty="0">
                <a:solidFill>
                  <a:schemeClr val="accent6">
                    <a:lumMod val="50000"/>
                  </a:schemeClr>
                </a:solidFill>
              </a:rPr>
              <a:t>软件兼容性测试是指：检查软件之间是否能够正确地交互和共享信息</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同一台机器上运行的两个程序</a:t>
            </a:r>
            <a:endParaRPr lang="en-US" altLang="zh-CN" dirty="0"/>
          </a:p>
          <a:p>
            <a:pPr lvl="1">
              <a:buFont typeface="Wingdings" panose="05000000000000000000" pitchFamily="2" charset="2"/>
              <a:buChar char="p"/>
            </a:pPr>
            <a:r>
              <a:rPr lang="zh-CN" altLang="en-US" dirty="0"/>
              <a:t>不同机器上运行的两个程序</a:t>
            </a:r>
            <a:endParaRPr lang="en-US" altLang="zh-CN" dirty="0"/>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2378565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为什么要进行软件兼容性测试？</a:t>
            </a:r>
            <a:endParaRPr lang="en-US" altLang="zh-CN" dirty="0"/>
          </a:p>
          <a:p>
            <a:pPr lvl="1">
              <a:buFont typeface="Wingdings" panose="05000000000000000000" pitchFamily="2" charset="2"/>
              <a:buChar char="Ø"/>
            </a:pPr>
            <a:r>
              <a:rPr lang="zh-CN" altLang="en-US" dirty="0"/>
              <a:t>从</a:t>
            </a:r>
            <a:r>
              <a:rPr lang="en-US" altLang="zh-CN" dirty="0"/>
              <a:t>Web</a:t>
            </a:r>
            <a:r>
              <a:rPr lang="zh-CN" altLang="en-US" dirty="0"/>
              <a:t>页面上剪切文字，在</a:t>
            </a:r>
            <a:r>
              <a:rPr lang="en-US" altLang="zh-CN" dirty="0"/>
              <a:t>Word</a:t>
            </a:r>
            <a:r>
              <a:rPr lang="zh-CN" altLang="en-US" dirty="0"/>
              <a:t>中粘贴</a:t>
            </a:r>
            <a:endParaRPr lang="en-US" altLang="zh-CN" dirty="0"/>
          </a:p>
          <a:p>
            <a:pPr lvl="1">
              <a:buFont typeface="Wingdings" panose="05000000000000000000" pitchFamily="2" charset="2"/>
              <a:buChar char="Ø"/>
            </a:pPr>
            <a:r>
              <a:rPr lang="en-US" altLang="zh-CN" dirty="0"/>
              <a:t>Excel</a:t>
            </a:r>
            <a:r>
              <a:rPr lang="zh-CN" altLang="en-US" dirty="0"/>
              <a:t>表格，在</a:t>
            </a:r>
            <a:r>
              <a:rPr lang="en-US" altLang="zh-CN" dirty="0"/>
              <a:t>WPS</a:t>
            </a:r>
            <a:r>
              <a:rPr lang="zh-CN" altLang="en-US" dirty="0"/>
              <a:t>中打开</a:t>
            </a:r>
            <a:endParaRPr lang="en-US" altLang="zh-CN" dirty="0"/>
          </a:p>
          <a:p>
            <a:pPr lvl="1">
              <a:buFont typeface="Wingdings" panose="05000000000000000000" pitchFamily="2" charset="2"/>
              <a:buChar char="Ø"/>
            </a:pPr>
            <a:r>
              <a:rPr lang="en-US" altLang="zh-CN" dirty="0"/>
              <a:t>Photoshop</a:t>
            </a:r>
            <a:r>
              <a:rPr lang="zh-CN" altLang="en-US" dirty="0"/>
              <a:t>的更新版本打开老旧版本保存的数据</a:t>
            </a:r>
            <a:endParaRPr lang="en-US" altLang="zh-CN" dirty="0"/>
          </a:p>
          <a:p>
            <a:pPr lvl="1">
              <a:buFont typeface="Wingdings" panose="05000000000000000000" pitchFamily="2" charset="2"/>
              <a:buChar char="Ø"/>
            </a:pPr>
            <a:r>
              <a:rPr lang="zh-CN" altLang="en-US" dirty="0"/>
              <a:t>升级数据库，读取现存所有数据库</a:t>
            </a:r>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3080766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兼容性测试需要考虑什么问题？</a:t>
            </a:r>
            <a:endParaRPr lang="en-US" altLang="zh-CN" dirty="0"/>
          </a:p>
          <a:p>
            <a:pPr lvl="1"/>
            <a:r>
              <a:rPr lang="zh-CN" altLang="en-US" dirty="0"/>
              <a:t>软件设计要求与何种其他平台（操作系统，浏览器，或者操作环境）和应用软件保持兼容？</a:t>
            </a:r>
            <a:endParaRPr lang="en-US" altLang="zh-CN" dirty="0"/>
          </a:p>
          <a:p>
            <a:pPr lvl="1"/>
            <a:r>
              <a:rPr lang="zh-CN" altLang="en-US" dirty="0"/>
              <a:t>若测试平台，设计要求什么应用程序在其上运行？</a:t>
            </a:r>
            <a:endParaRPr lang="en-US" altLang="zh-CN" dirty="0"/>
          </a:p>
          <a:p>
            <a:pPr lvl="1"/>
            <a:r>
              <a:rPr lang="zh-CN" altLang="en-US" dirty="0"/>
              <a:t>应该遵守何种定义软件之间交互的标准或规范？</a:t>
            </a:r>
            <a:endParaRPr lang="en-US" altLang="zh-CN" dirty="0"/>
          </a:p>
          <a:p>
            <a:pPr lvl="1"/>
            <a:r>
              <a:rPr lang="zh-CN" altLang="en-US" dirty="0"/>
              <a:t>软件使用何种数据与其他平台和软件交互和共享信息？</a:t>
            </a:r>
            <a:endParaRPr lang="en-US" altLang="zh-CN" dirty="0"/>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334656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问题</a:t>
            </a:r>
            <a:r>
              <a:rPr lang="en-US" altLang="zh-CN" dirty="0"/>
              <a:t>1</a:t>
            </a:r>
            <a:r>
              <a:rPr lang="zh-CN" altLang="en-US" dirty="0"/>
              <a:t>：平台和应用程序版本</a:t>
            </a:r>
            <a:endParaRPr lang="en-US" altLang="zh-CN" dirty="0"/>
          </a:p>
          <a:p>
            <a:pPr lvl="1"/>
            <a:r>
              <a:rPr lang="zh-CN" altLang="en-US" dirty="0"/>
              <a:t>由程序管理和市场定位决定</a:t>
            </a:r>
            <a:endParaRPr lang="en-US" altLang="zh-CN" dirty="0"/>
          </a:p>
          <a:p>
            <a:pPr lvl="1"/>
            <a:r>
              <a:rPr lang="zh-CN" altLang="en-US" dirty="0"/>
              <a:t>由熟悉客户基本情况的人决定</a:t>
            </a:r>
            <a:endParaRPr lang="en-US" altLang="zh-CN" dirty="0"/>
          </a:p>
          <a:p>
            <a:pPr lvl="1"/>
            <a:r>
              <a:rPr lang="zh-CN" altLang="en-US" dirty="0"/>
              <a:t>在软件包装或启动画面上可能有如下通告：</a:t>
            </a:r>
            <a:endParaRPr lang="en-US" altLang="zh-CN" dirty="0"/>
          </a:p>
          <a:p>
            <a:pPr marL="457200" lvl="1" indent="0">
              <a:buNone/>
            </a:pPr>
            <a:endParaRPr lang="en-US" altLang="zh-CN" i="1" dirty="0"/>
          </a:p>
          <a:p>
            <a:pPr marL="457200" lvl="1" indent="0">
              <a:buNone/>
            </a:pPr>
            <a:r>
              <a:rPr lang="en-US" altLang="zh-CN" i="1" dirty="0"/>
              <a:t>		Works best with AOL9.0</a:t>
            </a:r>
          </a:p>
          <a:p>
            <a:pPr marL="457200" lvl="1" indent="0">
              <a:buNone/>
            </a:pPr>
            <a:r>
              <a:rPr lang="en-US" altLang="zh-CN" i="1" dirty="0"/>
              <a:t>		Requires Windows XP or greater</a:t>
            </a:r>
          </a:p>
          <a:p>
            <a:pPr marL="457200" lvl="1" indent="0">
              <a:buNone/>
            </a:pPr>
            <a:r>
              <a:rPr lang="en-US" altLang="zh-CN" i="1" dirty="0"/>
              <a:t>		For use with Linux 2.6.10</a:t>
            </a:r>
          </a:p>
          <a:p>
            <a:pPr lvl="1"/>
            <a:endParaRPr lang="en-US" altLang="zh-CN" b="1" dirty="0">
              <a:solidFill>
                <a:schemeClr val="accent6">
                  <a:lumMod val="50000"/>
                </a:schemeClr>
              </a:solidFill>
            </a:endParaRPr>
          </a:p>
          <a:p>
            <a:pPr lvl="1"/>
            <a:endParaRPr lang="en-US" altLang="zh-CN" dirty="0"/>
          </a:p>
          <a:p>
            <a:pPr lvl="1"/>
            <a:endParaRPr lang="en-US" altLang="zh-CN" dirty="0"/>
          </a:p>
        </p:txBody>
      </p:sp>
    </p:spTree>
    <p:extLst>
      <p:ext uri="{BB962C8B-B14F-4D97-AF65-F5344CB8AC3E}">
        <p14:creationId xmlns:p14="http://schemas.microsoft.com/office/powerpoint/2010/main" val="27581473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问题</a:t>
            </a:r>
            <a:r>
              <a:rPr lang="en-US" altLang="zh-CN" dirty="0"/>
              <a:t>1</a:t>
            </a:r>
            <a:r>
              <a:rPr lang="zh-CN" altLang="en-US" dirty="0"/>
              <a:t>：平台和应用程序版本</a:t>
            </a:r>
            <a:endParaRPr lang="en-US" altLang="zh-CN" dirty="0"/>
          </a:p>
          <a:p>
            <a:pPr lvl="1"/>
            <a:r>
              <a:rPr lang="zh-CN" altLang="en-US" b="1" dirty="0">
                <a:solidFill>
                  <a:schemeClr val="accent6">
                    <a:lumMod val="50000"/>
                  </a:schemeClr>
                </a:solidFill>
              </a:rPr>
              <a:t>应用程序版本向前向后兼容</a:t>
            </a:r>
            <a:endParaRPr lang="en-US" altLang="zh-CN" b="1" dirty="0">
              <a:solidFill>
                <a:schemeClr val="accent6">
                  <a:lumMod val="50000"/>
                </a:schemeClr>
              </a:solidFill>
            </a:endParaRPr>
          </a:p>
          <a:p>
            <a:pPr lvl="1"/>
            <a:r>
              <a:rPr lang="zh-CN" altLang="en-US" b="1" dirty="0">
                <a:solidFill>
                  <a:schemeClr val="accent6">
                    <a:lumMod val="50000"/>
                  </a:schemeClr>
                </a:solidFill>
              </a:rPr>
              <a:t>应用程序和平台上其他程序的兼容</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是一个庞大的任务</a:t>
            </a:r>
            <a:endParaRPr lang="en-US" altLang="zh-CN" dirty="0"/>
          </a:p>
          <a:p>
            <a:pPr lvl="1">
              <a:buFont typeface="Wingdings" panose="05000000000000000000" pitchFamily="2" charset="2"/>
              <a:buChar char="p"/>
            </a:pPr>
            <a:r>
              <a:rPr lang="zh-CN" altLang="en-US" dirty="0"/>
              <a:t>按照重要性决定是否进行兼容以及等价类划分：流行程度，年头，类型，生产厂商</a:t>
            </a:r>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2257763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问题</a:t>
            </a:r>
            <a:r>
              <a:rPr lang="en-US" altLang="zh-CN" dirty="0"/>
              <a:t>2</a:t>
            </a:r>
            <a:r>
              <a:rPr lang="zh-CN" altLang="en-US" dirty="0"/>
              <a:t>：标准和规范</a:t>
            </a:r>
            <a:endParaRPr lang="en-US" altLang="zh-CN" dirty="0"/>
          </a:p>
          <a:p>
            <a:pPr lvl="1"/>
            <a:r>
              <a:rPr lang="zh-CN" altLang="en-US" b="1" dirty="0">
                <a:solidFill>
                  <a:schemeClr val="accent6">
                    <a:lumMod val="50000"/>
                  </a:schemeClr>
                </a:solidFill>
              </a:rPr>
              <a:t>高级标准和规范：普遍遵守的规则（外观等）</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例如，软件要在</a:t>
            </a:r>
            <a:r>
              <a:rPr lang="en-US" altLang="zh-CN" dirty="0"/>
              <a:t>Windows</a:t>
            </a:r>
            <a:r>
              <a:rPr lang="zh-CN" altLang="en-US" dirty="0"/>
              <a:t>上运行，比如支持三键以上的鼠标；支持在</a:t>
            </a:r>
            <a:r>
              <a:rPr lang="en-US" altLang="zh-CN" dirty="0"/>
              <a:t>C</a:t>
            </a:r>
            <a:r>
              <a:rPr lang="zh-CN" altLang="en-US" dirty="0"/>
              <a:t>：和</a:t>
            </a:r>
            <a:r>
              <a:rPr lang="en-US" altLang="zh-CN" dirty="0"/>
              <a:t>D</a:t>
            </a:r>
            <a:r>
              <a:rPr lang="zh-CN" altLang="en-US" dirty="0"/>
              <a:t>：以外的磁盘上安装；等</a:t>
            </a:r>
            <a:endParaRPr lang="en-US" altLang="zh-CN" dirty="0"/>
          </a:p>
          <a:p>
            <a:pPr lvl="1"/>
            <a:r>
              <a:rPr lang="zh-CN" altLang="en-US" b="1" dirty="0">
                <a:solidFill>
                  <a:schemeClr val="accent6">
                    <a:lumMod val="50000"/>
                  </a:schemeClr>
                </a:solidFill>
              </a:rPr>
              <a:t>低级标准和规范：指本质细节（如文件格式网络通信协议等）</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例如：</a:t>
            </a:r>
            <a:r>
              <a:rPr lang="en-US" altLang="zh-CN" dirty="0"/>
              <a:t>.bmp, .jpg, .</a:t>
            </a:r>
            <a:r>
              <a:rPr lang="en-US" altLang="zh-CN" dirty="0" err="1"/>
              <a:t>png</a:t>
            </a:r>
            <a:r>
              <a:rPr lang="zh-CN" altLang="en-US" dirty="0"/>
              <a:t>格式等</a:t>
            </a:r>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150047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问题</a:t>
            </a:r>
            <a:r>
              <a:rPr lang="en-US" altLang="zh-CN" dirty="0"/>
              <a:t>3</a:t>
            </a:r>
            <a:r>
              <a:rPr lang="zh-CN" altLang="en-US" dirty="0"/>
              <a:t>：数据共享兼容性</a:t>
            </a:r>
            <a:endParaRPr lang="en-US" altLang="zh-CN" dirty="0"/>
          </a:p>
          <a:p>
            <a:pPr lvl="1">
              <a:buFont typeface="Wingdings" panose="05000000000000000000" pitchFamily="2" charset="2"/>
              <a:buChar char="p"/>
            </a:pPr>
            <a:r>
              <a:rPr lang="zh-CN" altLang="en-US" dirty="0"/>
              <a:t>文件保存和文件读取是人人共知的数据共享方法。文件的数据格式只有符合标准，才能在两台计算机上保持兼容</a:t>
            </a:r>
            <a:endParaRPr lang="en-US" altLang="zh-CN" dirty="0"/>
          </a:p>
          <a:p>
            <a:pPr lvl="1">
              <a:buFont typeface="Wingdings" panose="05000000000000000000" pitchFamily="2" charset="2"/>
              <a:buChar char="p"/>
            </a:pPr>
            <a:r>
              <a:rPr lang="zh-CN" altLang="en-US" dirty="0"/>
              <a:t>文件导入和文件导出是许多程序与自身以前保本、其他程序保持兼容的方式</a:t>
            </a:r>
            <a:endParaRPr lang="en-US" altLang="zh-CN" dirty="0"/>
          </a:p>
          <a:p>
            <a:pPr lvl="1">
              <a:buFont typeface="Wingdings" panose="05000000000000000000" pitchFamily="2" charset="2"/>
              <a:buChar char="p"/>
            </a:pPr>
            <a:r>
              <a:rPr lang="zh-CN" altLang="en-US" dirty="0"/>
              <a:t>剪切、复制、粘贴是程序之间无需借助磁盘传输数据的最常见的数据共享方式</a:t>
            </a:r>
            <a:endParaRPr lang="en-US" altLang="zh-CN" dirty="0"/>
          </a:p>
          <a:p>
            <a:pPr lvl="1">
              <a:buFont typeface="Wingdings" panose="05000000000000000000" pitchFamily="2" charset="2"/>
              <a:buChar char="p"/>
            </a:pPr>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2352732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兼容性测试</a:t>
            </a:r>
          </a:p>
        </p:txBody>
      </p:sp>
      <p:sp>
        <p:nvSpPr>
          <p:cNvPr id="3" name="内容占位符 2"/>
          <p:cNvSpPr>
            <a:spLocks noGrp="1"/>
          </p:cNvSpPr>
          <p:nvPr>
            <p:ph idx="1"/>
          </p:nvPr>
        </p:nvSpPr>
        <p:spPr/>
        <p:txBody>
          <a:bodyPr>
            <a:normAutofit/>
          </a:bodyPr>
          <a:lstStyle/>
          <a:p>
            <a:r>
              <a:rPr lang="zh-CN" altLang="en-US" dirty="0"/>
              <a:t>数据共享兼容性在做兼容性测试时，记住以下</a:t>
            </a:r>
            <a:r>
              <a:rPr lang="en-US" altLang="zh-CN" dirty="0"/>
              <a:t>3</a:t>
            </a:r>
            <a:r>
              <a:rPr lang="zh-CN" altLang="en-US" dirty="0"/>
              <a:t>点</a:t>
            </a:r>
            <a:endParaRPr lang="en-US" altLang="zh-CN" dirty="0"/>
          </a:p>
          <a:p>
            <a:pPr lvl="1">
              <a:buFont typeface="Wingdings" panose="05000000000000000000" pitchFamily="2" charset="2"/>
              <a:buChar char="p"/>
            </a:pPr>
            <a:r>
              <a:rPr lang="zh-CN" altLang="en-US" dirty="0"/>
              <a:t>对兼容软件的所有可能选择进行等价类划分</a:t>
            </a:r>
            <a:endParaRPr lang="en-US" altLang="zh-CN" dirty="0"/>
          </a:p>
          <a:p>
            <a:pPr lvl="1">
              <a:buFont typeface="Wingdings" panose="05000000000000000000" pitchFamily="2" charset="2"/>
              <a:buChar char="p"/>
            </a:pPr>
            <a:r>
              <a:rPr lang="zh-CN" altLang="en-US" dirty="0"/>
              <a:t>研究适用于测试软件的高级</a:t>
            </a:r>
            <a:r>
              <a:rPr lang="en-US" altLang="zh-CN" dirty="0"/>
              <a:t>/</a:t>
            </a:r>
            <a:r>
              <a:rPr lang="zh-CN" altLang="en-US" dirty="0"/>
              <a:t>低级标准和规范</a:t>
            </a:r>
            <a:endParaRPr lang="en-US" altLang="zh-CN" dirty="0"/>
          </a:p>
          <a:p>
            <a:pPr lvl="1">
              <a:buFont typeface="Wingdings" panose="05000000000000000000" pitchFamily="2" charset="2"/>
              <a:buChar char="p"/>
            </a:pPr>
            <a:r>
              <a:rPr lang="zh-CN" altLang="en-US" dirty="0"/>
              <a:t>测试软件程序之间不同的数据流动方式</a:t>
            </a:r>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3717743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lstStyle/>
          <a:p>
            <a:r>
              <a:rPr lang="zh-CN" altLang="en-US" dirty="0"/>
              <a:t>为什么要进行外国语言测试</a:t>
            </a:r>
            <a:endParaRPr lang="en-US" altLang="zh-CN" dirty="0"/>
          </a:p>
          <a:p>
            <a:pPr lvl="1"/>
            <a:r>
              <a:rPr lang="zh-CN" altLang="en-US" dirty="0"/>
              <a:t>大多数软件发布范围是全世界</a:t>
            </a:r>
            <a:endParaRPr lang="en-US" altLang="zh-CN" dirty="0"/>
          </a:p>
          <a:p>
            <a:pPr lvl="1">
              <a:buFont typeface="Wingdings" panose="05000000000000000000" pitchFamily="2" charset="2"/>
              <a:buChar char="Ø"/>
            </a:pPr>
            <a:r>
              <a:rPr lang="en-US" altLang="zh-CN" dirty="0"/>
              <a:t>Windows</a:t>
            </a:r>
            <a:r>
              <a:rPr lang="zh-CN" altLang="en-US" dirty="0"/>
              <a:t>支持</a:t>
            </a:r>
            <a:r>
              <a:rPr lang="en-US" altLang="zh-CN" dirty="0"/>
              <a:t>106</a:t>
            </a:r>
            <a:r>
              <a:rPr lang="zh-CN" altLang="en-US" dirty="0"/>
              <a:t>种不同语言和方言</a:t>
            </a:r>
            <a:endParaRPr lang="en-US" altLang="zh-CN" dirty="0"/>
          </a:p>
        </p:txBody>
      </p:sp>
    </p:spTree>
    <p:extLst>
      <p:ext uri="{BB962C8B-B14F-4D97-AF65-F5344CB8AC3E}">
        <p14:creationId xmlns:p14="http://schemas.microsoft.com/office/powerpoint/2010/main" val="130609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lstStyle/>
          <a:p>
            <a:r>
              <a:rPr lang="zh-CN" altLang="en-US" dirty="0"/>
              <a:t>外国语言测试的三大问题</a:t>
            </a:r>
            <a:endParaRPr lang="en-US" altLang="zh-CN" dirty="0"/>
          </a:p>
          <a:p>
            <a:pPr lvl="1"/>
            <a:r>
              <a:rPr lang="zh-CN" altLang="en-US" dirty="0"/>
              <a:t>翻译问题</a:t>
            </a:r>
            <a:endParaRPr lang="en-US" altLang="zh-CN" dirty="0"/>
          </a:p>
          <a:p>
            <a:pPr lvl="1"/>
            <a:r>
              <a:rPr lang="zh-CN" altLang="en-US" dirty="0"/>
              <a:t>本地化问题</a:t>
            </a:r>
            <a:endParaRPr lang="en-US" altLang="zh-CN" dirty="0"/>
          </a:p>
          <a:p>
            <a:pPr lvl="1"/>
            <a:r>
              <a:rPr lang="zh-CN" altLang="en-US" dirty="0"/>
              <a:t>配置和兼容性问题</a:t>
            </a:r>
            <a:endParaRPr lang="en-US" altLang="zh-CN" dirty="0"/>
          </a:p>
        </p:txBody>
      </p:sp>
    </p:spTree>
    <p:extLst>
      <p:ext uri="{BB962C8B-B14F-4D97-AF65-F5344CB8AC3E}">
        <p14:creationId xmlns:p14="http://schemas.microsoft.com/office/powerpoint/2010/main" val="42466482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normAutofit/>
          </a:bodyPr>
          <a:lstStyle/>
          <a:p>
            <a:r>
              <a:rPr lang="zh-CN" altLang="en-US" dirty="0"/>
              <a:t>问题</a:t>
            </a:r>
            <a:r>
              <a:rPr lang="en-US" altLang="zh-CN" dirty="0"/>
              <a:t>1</a:t>
            </a:r>
            <a:r>
              <a:rPr lang="zh-CN" altLang="en-US" dirty="0"/>
              <a:t>：翻译问题</a:t>
            </a:r>
            <a:endParaRPr lang="en-US" altLang="zh-CN" dirty="0"/>
          </a:p>
          <a:p>
            <a:pPr lvl="1"/>
            <a:r>
              <a:rPr lang="zh-CN" altLang="en-US" b="1" dirty="0">
                <a:solidFill>
                  <a:schemeClr val="accent6">
                    <a:lumMod val="50000"/>
                  </a:schemeClr>
                </a:solidFill>
              </a:rPr>
              <a:t>文本扩展：</a:t>
            </a:r>
            <a:r>
              <a:rPr lang="zh-CN" altLang="en-US" dirty="0"/>
              <a:t>英语和汉字，表达同一个意思时长度不同（影响按钮长度，甚至程序崩溃）</a:t>
            </a:r>
            <a:endParaRPr lang="en-US" altLang="zh-CN" dirty="0"/>
          </a:p>
          <a:p>
            <a:pPr lvl="1"/>
            <a:r>
              <a:rPr lang="en-US" altLang="zh-CN" b="1" dirty="0">
                <a:solidFill>
                  <a:schemeClr val="accent6">
                    <a:lumMod val="50000"/>
                  </a:schemeClr>
                </a:solidFill>
              </a:rPr>
              <a:t>ACCII</a:t>
            </a:r>
            <a:r>
              <a:rPr lang="zh-CN" altLang="en-US" b="1" dirty="0">
                <a:solidFill>
                  <a:schemeClr val="accent6">
                    <a:lumMod val="50000"/>
                  </a:schemeClr>
                </a:solidFill>
              </a:rPr>
              <a:t>，</a:t>
            </a:r>
            <a:r>
              <a:rPr lang="en-US" altLang="zh-CN" b="1" dirty="0">
                <a:solidFill>
                  <a:schemeClr val="accent6">
                    <a:lumMod val="50000"/>
                  </a:schemeClr>
                </a:solidFill>
              </a:rPr>
              <a:t>DBCS</a:t>
            </a:r>
            <a:r>
              <a:rPr lang="zh-CN" altLang="en-US" b="1" dirty="0">
                <a:solidFill>
                  <a:schemeClr val="accent6">
                    <a:lumMod val="50000"/>
                  </a:schemeClr>
                </a:solidFill>
              </a:rPr>
              <a:t>（双字节字符集），</a:t>
            </a:r>
            <a:r>
              <a:rPr lang="en-US" altLang="zh-CN" b="1" dirty="0">
                <a:solidFill>
                  <a:schemeClr val="accent6">
                    <a:lumMod val="50000"/>
                  </a:schemeClr>
                </a:solidFill>
              </a:rPr>
              <a:t>Unicode</a:t>
            </a:r>
          </a:p>
          <a:p>
            <a:pPr marL="457200" lvl="1" indent="0">
              <a:buNone/>
            </a:pPr>
            <a:r>
              <a:rPr lang="en-US" altLang="zh-CN" sz="1900" dirty="0"/>
              <a:t> 	</a:t>
            </a:r>
          </a:p>
          <a:p>
            <a:pPr marL="457200" lvl="1" indent="0">
              <a:buNone/>
            </a:pPr>
            <a:r>
              <a:rPr lang="en-US" altLang="zh-CN" sz="1900" i="1" dirty="0"/>
              <a:t>	</a:t>
            </a:r>
            <a:r>
              <a:rPr lang="en-US" altLang="zh-CN" sz="1900" i="1" dirty="0">
                <a:solidFill>
                  <a:srgbClr val="0070C0"/>
                </a:solidFill>
              </a:rPr>
              <a:t>Unicode</a:t>
            </a:r>
            <a:r>
              <a:rPr lang="zh-CN" altLang="en-US" sz="1900" i="1" dirty="0">
                <a:solidFill>
                  <a:srgbClr val="0070C0"/>
                </a:solidFill>
              </a:rPr>
              <a:t>为每一个字符提供唯一编号</a:t>
            </a:r>
            <a:endParaRPr lang="en-US" altLang="zh-CN" sz="1900" i="1" dirty="0">
              <a:solidFill>
                <a:srgbClr val="0070C0"/>
              </a:solidFill>
            </a:endParaRPr>
          </a:p>
          <a:p>
            <a:pPr marL="457200" lvl="1" indent="0">
              <a:buNone/>
            </a:pPr>
            <a:r>
              <a:rPr lang="en-US" altLang="zh-CN" sz="1900" i="1" dirty="0">
                <a:solidFill>
                  <a:srgbClr val="0070C0"/>
                </a:solidFill>
              </a:rPr>
              <a:t>	</a:t>
            </a:r>
            <a:r>
              <a:rPr lang="zh-CN" altLang="en-US" sz="1900" i="1" dirty="0">
                <a:solidFill>
                  <a:srgbClr val="0070C0"/>
                </a:solidFill>
              </a:rPr>
              <a:t>无论何种平台</a:t>
            </a:r>
            <a:endParaRPr lang="en-US" altLang="zh-CN" sz="1900" i="1" dirty="0">
              <a:solidFill>
                <a:srgbClr val="0070C0"/>
              </a:solidFill>
            </a:endParaRPr>
          </a:p>
          <a:p>
            <a:pPr marL="457200" lvl="1" indent="0">
              <a:buNone/>
            </a:pPr>
            <a:r>
              <a:rPr lang="en-US" altLang="zh-CN" sz="1900" i="1" dirty="0">
                <a:solidFill>
                  <a:srgbClr val="0070C0"/>
                </a:solidFill>
              </a:rPr>
              <a:t>	</a:t>
            </a:r>
            <a:r>
              <a:rPr lang="zh-CN" altLang="en-US" sz="1900" i="1" dirty="0">
                <a:solidFill>
                  <a:srgbClr val="0070C0"/>
                </a:solidFill>
              </a:rPr>
              <a:t>无论何种程序</a:t>
            </a:r>
            <a:endParaRPr lang="en-US" altLang="zh-CN" sz="1900" i="1" dirty="0">
              <a:solidFill>
                <a:srgbClr val="0070C0"/>
              </a:solidFill>
            </a:endParaRPr>
          </a:p>
          <a:p>
            <a:pPr marL="457200" lvl="1" indent="0">
              <a:buNone/>
            </a:pPr>
            <a:r>
              <a:rPr lang="en-US" altLang="zh-CN" sz="1900" i="1" dirty="0">
                <a:solidFill>
                  <a:srgbClr val="0070C0"/>
                </a:solidFill>
              </a:rPr>
              <a:t>	</a:t>
            </a:r>
            <a:r>
              <a:rPr lang="zh-CN" altLang="en-US" sz="1900" i="1" dirty="0">
                <a:solidFill>
                  <a:srgbClr val="0070C0"/>
                </a:solidFill>
              </a:rPr>
              <a:t>无论何种语言</a:t>
            </a:r>
            <a:endParaRPr lang="en-US" altLang="zh-CN" sz="1900" i="1" dirty="0">
              <a:solidFill>
                <a:srgbClr val="0070C0"/>
              </a:solidFill>
            </a:endParaRPr>
          </a:p>
          <a:p>
            <a:pPr marL="457200" lvl="1" indent="0">
              <a:buNone/>
            </a:pPr>
            <a:r>
              <a:rPr lang="en-US" altLang="zh-CN" sz="1900" i="1" dirty="0">
                <a:solidFill>
                  <a:srgbClr val="0070C0"/>
                </a:solidFill>
              </a:rPr>
              <a:t>		---</a:t>
            </a:r>
            <a:r>
              <a:rPr lang="zh-CN" altLang="en-US" sz="1900" i="1" dirty="0">
                <a:solidFill>
                  <a:srgbClr val="0070C0"/>
                </a:solidFill>
              </a:rPr>
              <a:t>“</a:t>
            </a:r>
            <a:r>
              <a:rPr lang="en-US" altLang="zh-CN" sz="1900" i="1" dirty="0">
                <a:solidFill>
                  <a:srgbClr val="0070C0"/>
                </a:solidFill>
              </a:rPr>
              <a:t>Unicode</a:t>
            </a:r>
            <a:r>
              <a:rPr lang="zh-CN" altLang="en-US" sz="1900" i="1" dirty="0">
                <a:solidFill>
                  <a:srgbClr val="0070C0"/>
                </a:solidFill>
              </a:rPr>
              <a:t>是什么”引自</a:t>
            </a:r>
            <a:r>
              <a:rPr lang="en-US" altLang="zh-CN" sz="1900" i="1" dirty="0">
                <a:solidFill>
                  <a:srgbClr val="0070C0"/>
                </a:solidFill>
              </a:rPr>
              <a:t>Unicode</a:t>
            </a:r>
            <a:r>
              <a:rPr lang="zh-CN" altLang="en-US" sz="1900" i="1" dirty="0">
                <a:solidFill>
                  <a:srgbClr val="0070C0"/>
                </a:solidFill>
              </a:rPr>
              <a:t>学会网站</a:t>
            </a:r>
            <a:r>
              <a:rPr lang="en-US" altLang="zh-CN" sz="1900" i="1" dirty="0">
                <a:solidFill>
                  <a:srgbClr val="0070C0"/>
                </a:solidFill>
              </a:rPr>
              <a:t>www.unicode.org</a:t>
            </a:r>
          </a:p>
        </p:txBody>
      </p:sp>
    </p:spTree>
    <p:extLst>
      <p:ext uri="{BB962C8B-B14F-4D97-AF65-F5344CB8AC3E}">
        <p14:creationId xmlns:p14="http://schemas.microsoft.com/office/powerpoint/2010/main" val="1500507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normAutofit/>
          </a:bodyPr>
          <a:lstStyle/>
          <a:p>
            <a:r>
              <a:rPr lang="zh-CN" altLang="en-US" dirty="0"/>
              <a:t>问题</a:t>
            </a:r>
            <a:r>
              <a:rPr lang="en-US" altLang="zh-CN" dirty="0"/>
              <a:t>1</a:t>
            </a:r>
            <a:r>
              <a:rPr lang="zh-CN" altLang="en-US" dirty="0"/>
              <a:t>：翻译问题</a:t>
            </a:r>
            <a:endParaRPr lang="en-US" altLang="zh-CN" dirty="0"/>
          </a:p>
          <a:p>
            <a:pPr lvl="1"/>
            <a:r>
              <a:rPr lang="zh-CN" altLang="en-US" b="1" dirty="0">
                <a:solidFill>
                  <a:schemeClr val="accent6">
                    <a:lumMod val="50000"/>
                  </a:schemeClr>
                </a:solidFill>
              </a:rPr>
              <a:t>热键和快捷键</a:t>
            </a:r>
            <a:endParaRPr lang="en-US" altLang="zh-CN" b="1" dirty="0">
              <a:solidFill>
                <a:schemeClr val="accent6">
                  <a:lumMod val="50000"/>
                </a:schemeClr>
              </a:solidFill>
            </a:endParaRPr>
          </a:p>
          <a:p>
            <a:pPr lvl="1"/>
            <a:r>
              <a:rPr lang="zh-CN" altLang="en-US" b="1" dirty="0">
                <a:solidFill>
                  <a:schemeClr val="accent6">
                    <a:lumMod val="50000"/>
                  </a:schemeClr>
                </a:solidFill>
              </a:rPr>
              <a:t>扩展字符：</a:t>
            </a:r>
            <a:r>
              <a:rPr lang="zh-CN" altLang="en-US" dirty="0"/>
              <a:t>重音字符，象形字符</a:t>
            </a:r>
            <a:endParaRPr lang="en-US" altLang="zh-CN" dirty="0"/>
          </a:p>
          <a:p>
            <a:pPr marL="457200" lvl="1" indent="0">
              <a:buNone/>
            </a:pPr>
            <a:r>
              <a:rPr lang="en-US" altLang="zh-CN" dirty="0">
                <a:sym typeface="Wingdings" panose="05000000000000000000" pitchFamily="2" charset="2"/>
              </a:rPr>
              <a:t>		 	</a:t>
            </a:r>
            <a:r>
              <a:rPr lang="en-US" altLang="zh-CN" dirty="0"/>
              <a:t>México</a:t>
            </a:r>
            <a:r>
              <a:rPr lang="en-US" altLang="zh-CN" dirty="0">
                <a:sym typeface="Wingdings" panose="05000000000000000000" pitchFamily="2" charset="2"/>
              </a:rPr>
              <a:t> 	</a:t>
            </a:r>
            <a:r>
              <a:rPr lang="zh-CN" altLang="en-US" dirty="0">
                <a:sym typeface="Wingdings" panose="05000000000000000000" pitchFamily="2" charset="2"/>
              </a:rPr>
              <a:t></a:t>
            </a:r>
            <a:endParaRPr lang="en-US" altLang="zh-CN" dirty="0"/>
          </a:p>
          <a:p>
            <a:pPr lvl="1"/>
            <a:r>
              <a:rPr lang="zh-CN" altLang="en-US" b="1" dirty="0">
                <a:solidFill>
                  <a:schemeClr val="accent6">
                    <a:lumMod val="50000"/>
                  </a:schemeClr>
                </a:solidFill>
              </a:rPr>
              <a:t>字符计算：</a:t>
            </a:r>
            <a:r>
              <a:rPr lang="zh-CN" altLang="en-US" dirty="0"/>
              <a:t>比如英文和汉字的排序问题</a:t>
            </a:r>
            <a:endParaRPr lang="en-US" altLang="zh-CN" b="1" dirty="0">
              <a:solidFill>
                <a:schemeClr val="accent6">
                  <a:lumMod val="50000"/>
                </a:schemeClr>
              </a:solidFill>
            </a:endParaRPr>
          </a:p>
          <a:p>
            <a:pPr lvl="1"/>
            <a:r>
              <a:rPr lang="zh-CN" altLang="en-US" b="1" dirty="0">
                <a:solidFill>
                  <a:schemeClr val="accent6">
                    <a:lumMod val="50000"/>
                  </a:schemeClr>
                </a:solidFill>
              </a:rPr>
              <a:t>从左向右和从右向左读</a:t>
            </a:r>
            <a:endParaRPr lang="en-US" altLang="zh-CN" b="1" dirty="0">
              <a:solidFill>
                <a:schemeClr val="accent6">
                  <a:lumMod val="50000"/>
                </a:schemeClr>
              </a:solidFill>
            </a:endParaRPr>
          </a:p>
          <a:p>
            <a:pPr lvl="1"/>
            <a:r>
              <a:rPr lang="zh-CN" altLang="en-US" b="1" dirty="0">
                <a:solidFill>
                  <a:schemeClr val="accent6">
                    <a:lumMod val="50000"/>
                  </a:schemeClr>
                </a:solidFill>
              </a:rPr>
              <a:t>图形中的文字：</a:t>
            </a:r>
            <a:r>
              <a:rPr lang="zh-CN" altLang="en-US" dirty="0"/>
              <a:t>如</a:t>
            </a:r>
            <a:r>
              <a:rPr lang="en-US" altLang="zh-CN" dirty="0"/>
              <a:t>Word</a:t>
            </a:r>
            <a:r>
              <a:rPr lang="zh-CN" altLang="en-US" dirty="0"/>
              <a:t>中加粗，斜体等对日本人毫无意义</a:t>
            </a:r>
            <a:endParaRPr lang="en-US" altLang="zh-CN" dirty="0"/>
          </a:p>
          <a:p>
            <a:pPr lvl="1"/>
            <a:endParaRPr lang="en-US" altLang="zh-CN" dirty="0"/>
          </a:p>
        </p:txBody>
      </p:sp>
    </p:spTree>
    <p:extLst>
      <p:ext uri="{BB962C8B-B14F-4D97-AF65-F5344CB8AC3E}">
        <p14:creationId xmlns:p14="http://schemas.microsoft.com/office/powerpoint/2010/main" val="3087744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normAutofit/>
          </a:bodyPr>
          <a:lstStyle/>
          <a:p>
            <a:r>
              <a:rPr lang="zh-CN" altLang="en-US" dirty="0"/>
              <a:t>问题</a:t>
            </a:r>
            <a:r>
              <a:rPr lang="en-US" altLang="zh-CN" dirty="0"/>
              <a:t>1</a:t>
            </a:r>
            <a:r>
              <a:rPr lang="zh-CN" altLang="en-US" dirty="0"/>
              <a:t>：翻译问题</a:t>
            </a:r>
            <a:endParaRPr lang="en-US" altLang="zh-CN" dirty="0"/>
          </a:p>
          <a:p>
            <a:pPr lvl="1"/>
            <a:r>
              <a:rPr lang="zh-CN" altLang="en-US" b="1" dirty="0">
                <a:solidFill>
                  <a:schemeClr val="accent6">
                    <a:lumMod val="50000"/>
                  </a:schemeClr>
                </a:solidFill>
              </a:rPr>
              <a:t>让文本与代码脱离</a:t>
            </a:r>
            <a:endParaRPr lang="en-US" altLang="zh-CN" b="1" dirty="0">
              <a:solidFill>
                <a:schemeClr val="accent6">
                  <a:lumMod val="50000"/>
                </a:schemeClr>
              </a:solidFill>
            </a:endParaRPr>
          </a:p>
          <a:p>
            <a:pPr lvl="1">
              <a:buFont typeface="Wingdings" panose="05000000000000000000" pitchFamily="2" charset="2"/>
              <a:buChar char="l"/>
            </a:pPr>
            <a:r>
              <a:rPr lang="zh-CN" altLang="en-US" dirty="0"/>
              <a:t>修改资源文件（</a:t>
            </a:r>
            <a:r>
              <a:rPr lang="en-US" altLang="zh-CN" dirty="0"/>
              <a:t>resource file</a:t>
            </a:r>
            <a:r>
              <a:rPr lang="zh-CN" altLang="en-US" dirty="0"/>
              <a:t>）好于修改代码</a:t>
            </a:r>
            <a:endParaRPr lang="en-US" altLang="zh-CN" dirty="0"/>
          </a:p>
        </p:txBody>
      </p:sp>
    </p:spTree>
    <p:extLst>
      <p:ext uri="{BB962C8B-B14F-4D97-AF65-F5344CB8AC3E}">
        <p14:creationId xmlns:p14="http://schemas.microsoft.com/office/powerpoint/2010/main" val="294538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normAutofit/>
          </a:bodyPr>
          <a:lstStyle/>
          <a:p>
            <a:r>
              <a:rPr lang="zh-CN" altLang="en-US" dirty="0"/>
              <a:t>问题</a:t>
            </a:r>
            <a:r>
              <a:rPr lang="en-US" altLang="zh-CN" dirty="0"/>
              <a:t>2</a:t>
            </a:r>
            <a:r>
              <a:rPr lang="zh-CN" altLang="en-US" dirty="0"/>
              <a:t>：本地化问题</a:t>
            </a:r>
            <a:endParaRPr lang="en-US" altLang="zh-CN" dirty="0"/>
          </a:p>
          <a:p>
            <a:pPr lvl="1"/>
            <a:r>
              <a:rPr lang="zh-CN" altLang="en-US" b="1" dirty="0">
                <a:solidFill>
                  <a:schemeClr val="accent6">
                    <a:lumMod val="50000"/>
                  </a:schemeClr>
                </a:solidFill>
              </a:rPr>
              <a:t>内容的本地化</a:t>
            </a:r>
            <a:endParaRPr lang="en-US" altLang="zh-CN" b="1" dirty="0">
              <a:solidFill>
                <a:schemeClr val="accent6">
                  <a:lumMod val="50000"/>
                </a:schemeClr>
              </a:solidFill>
            </a:endParaRPr>
          </a:p>
          <a:p>
            <a:pPr lvl="1">
              <a:buFont typeface="Wingdings" panose="05000000000000000000" pitchFamily="2" charset="2"/>
              <a:buChar char="p"/>
            </a:pPr>
            <a:r>
              <a:rPr lang="en-US" altLang="zh-CN" dirty="0"/>
              <a:t>Soccer ball</a:t>
            </a:r>
            <a:r>
              <a:rPr lang="zh-CN" altLang="en-US" dirty="0"/>
              <a:t>与</a:t>
            </a:r>
            <a:r>
              <a:rPr lang="en-US" altLang="zh-CN" dirty="0"/>
              <a:t>football</a:t>
            </a:r>
          </a:p>
          <a:p>
            <a:pPr lvl="1">
              <a:buFont typeface="Wingdings" panose="05000000000000000000" pitchFamily="2" charset="2"/>
              <a:buChar char="p"/>
            </a:pPr>
            <a:r>
              <a:rPr lang="zh-CN" altLang="en-US" dirty="0"/>
              <a:t>汽车左侧行驶与右侧行驶</a:t>
            </a:r>
            <a:endParaRPr lang="en-US" altLang="zh-CN" dirty="0"/>
          </a:p>
          <a:p>
            <a:pPr lvl="1"/>
            <a:r>
              <a:rPr lang="zh-CN" altLang="en-US" b="1" dirty="0">
                <a:solidFill>
                  <a:schemeClr val="accent6">
                    <a:lumMod val="50000"/>
                  </a:schemeClr>
                </a:solidFill>
              </a:rPr>
              <a:t>数据格式的本地化</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时间和度量衡</a:t>
            </a:r>
            <a:endParaRPr lang="en-US" altLang="zh-CN" dirty="0"/>
          </a:p>
          <a:p>
            <a:pPr lvl="1"/>
            <a:endParaRPr lang="en-US" altLang="zh-CN" dirty="0"/>
          </a:p>
        </p:txBody>
      </p:sp>
    </p:spTree>
    <p:extLst>
      <p:ext uri="{BB962C8B-B14F-4D97-AF65-F5344CB8AC3E}">
        <p14:creationId xmlns:p14="http://schemas.microsoft.com/office/powerpoint/2010/main" val="830298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normAutofit/>
          </a:bodyPr>
          <a:lstStyle/>
          <a:p>
            <a:r>
              <a:rPr lang="zh-CN" altLang="en-US" dirty="0"/>
              <a:t>问题</a:t>
            </a:r>
            <a:r>
              <a:rPr lang="en-US" altLang="zh-CN" dirty="0"/>
              <a:t>3</a:t>
            </a:r>
            <a:r>
              <a:rPr lang="zh-CN" altLang="en-US" dirty="0"/>
              <a:t>：配置和兼容性问题</a:t>
            </a:r>
            <a:endParaRPr lang="en-US" altLang="zh-CN" dirty="0"/>
          </a:p>
          <a:p>
            <a:pPr lvl="1"/>
            <a:r>
              <a:rPr lang="zh-CN" altLang="en-US" b="1" dirty="0">
                <a:solidFill>
                  <a:schemeClr val="accent6">
                    <a:lumMod val="50000"/>
                  </a:schemeClr>
                </a:solidFill>
              </a:rPr>
              <a:t>国外平台配置</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选择语言，时间，键盘等</a:t>
            </a:r>
            <a:endParaRPr lang="en-US" altLang="zh-CN" dirty="0"/>
          </a:p>
          <a:p>
            <a:pPr lvl="1"/>
            <a:r>
              <a:rPr lang="zh-CN" altLang="en-US" b="1" dirty="0">
                <a:solidFill>
                  <a:schemeClr val="accent6">
                    <a:lumMod val="50000"/>
                  </a:schemeClr>
                </a:solidFill>
              </a:rPr>
              <a:t>数据兼容性</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在应用程序之间移动数据时需要改变格式，怎么办？</a:t>
            </a:r>
            <a:endParaRPr lang="en-US" altLang="zh-CN" dirty="0"/>
          </a:p>
          <a:p>
            <a:pPr lvl="1"/>
            <a:endParaRPr lang="en-US" altLang="zh-CN" dirty="0"/>
          </a:p>
        </p:txBody>
      </p:sp>
    </p:spTree>
    <p:extLst>
      <p:ext uri="{BB962C8B-B14F-4D97-AF65-F5344CB8AC3E}">
        <p14:creationId xmlns:p14="http://schemas.microsoft.com/office/powerpoint/2010/main" val="960136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外国语言测试</a:t>
            </a:r>
          </a:p>
        </p:txBody>
      </p:sp>
      <p:sp>
        <p:nvSpPr>
          <p:cNvPr id="3" name="内容占位符 2"/>
          <p:cNvSpPr>
            <a:spLocks noGrp="1"/>
          </p:cNvSpPr>
          <p:nvPr>
            <p:ph idx="1"/>
          </p:nvPr>
        </p:nvSpPr>
        <p:spPr/>
        <p:txBody>
          <a:bodyPr>
            <a:normAutofit/>
          </a:bodyPr>
          <a:lstStyle/>
          <a:p>
            <a:r>
              <a:rPr lang="zh-CN" altLang="en-US" dirty="0"/>
              <a:t>外国语言测试的测试量有多大</a:t>
            </a:r>
            <a:endParaRPr lang="en-US" altLang="zh-CN" dirty="0"/>
          </a:p>
          <a:p>
            <a:pPr lvl="1"/>
            <a:r>
              <a:rPr lang="zh-CN" altLang="en-US" b="1" dirty="0">
                <a:solidFill>
                  <a:schemeClr val="accent6">
                    <a:lumMod val="50000"/>
                  </a:schemeClr>
                </a:solidFill>
              </a:rPr>
              <a:t>取决于</a:t>
            </a:r>
            <a:endParaRPr lang="en-US" altLang="zh-CN" b="1" dirty="0">
              <a:solidFill>
                <a:schemeClr val="accent6">
                  <a:lumMod val="50000"/>
                </a:schemeClr>
              </a:solidFill>
            </a:endParaRPr>
          </a:p>
          <a:p>
            <a:pPr lvl="1">
              <a:buFont typeface="Wingdings" panose="05000000000000000000" pitchFamily="2" charset="2"/>
              <a:buChar char="p"/>
            </a:pPr>
            <a:r>
              <a:rPr lang="zh-CN" altLang="en-US" dirty="0"/>
              <a:t>项目一开始就计划本地化了吗？</a:t>
            </a:r>
            <a:endParaRPr lang="en-US" altLang="zh-CN" dirty="0"/>
          </a:p>
          <a:p>
            <a:pPr lvl="1">
              <a:buFont typeface="Wingdings" panose="05000000000000000000" pitchFamily="2" charset="2"/>
              <a:buChar char="p"/>
            </a:pPr>
            <a:r>
              <a:rPr lang="zh-CN" altLang="en-US" dirty="0"/>
              <a:t>本地化版本中更改程序代码了吗？</a:t>
            </a:r>
            <a:endParaRPr lang="en-US" altLang="zh-CN" dirty="0"/>
          </a:p>
        </p:txBody>
      </p:sp>
    </p:spTree>
    <p:extLst>
      <p:ext uri="{BB962C8B-B14F-4D97-AF65-F5344CB8AC3E}">
        <p14:creationId xmlns:p14="http://schemas.microsoft.com/office/powerpoint/2010/main" val="2642599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易用性测试</a:t>
            </a:r>
          </a:p>
        </p:txBody>
      </p:sp>
      <p:sp>
        <p:nvSpPr>
          <p:cNvPr id="3" name="内容占位符 2"/>
          <p:cNvSpPr>
            <a:spLocks noGrp="1"/>
          </p:cNvSpPr>
          <p:nvPr>
            <p:ph idx="1"/>
          </p:nvPr>
        </p:nvSpPr>
        <p:spPr/>
        <p:txBody>
          <a:bodyPr>
            <a:normAutofit/>
          </a:bodyPr>
          <a:lstStyle/>
          <a:p>
            <a:r>
              <a:rPr lang="zh-CN" altLang="en-US" dirty="0"/>
              <a:t>为什么要进行易用性测试？</a:t>
            </a:r>
            <a:endParaRPr lang="en-US" altLang="zh-CN" dirty="0"/>
          </a:p>
          <a:p>
            <a:pPr lvl="1">
              <a:buFont typeface="Wingdings" panose="05000000000000000000" pitchFamily="2" charset="2"/>
              <a:buChar char="p"/>
            </a:pPr>
            <a:r>
              <a:rPr lang="zh-CN" altLang="en-US" dirty="0"/>
              <a:t>软件编出来是要用的！</a:t>
            </a:r>
            <a:endParaRPr lang="en-US" altLang="zh-CN" dirty="0"/>
          </a:p>
          <a:p>
            <a:pPr lvl="1">
              <a:buFont typeface="Wingdings" panose="05000000000000000000" pitchFamily="2" charset="2"/>
              <a:buChar char="p"/>
            </a:pPr>
            <a:r>
              <a:rPr lang="zh-CN" altLang="en-US" dirty="0"/>
              <a:t>软件难以理解、不易使用、运行缓慢，也是一种缺陷</a:t>
            </a:r>
            <a:endParaRPr lang="en-US" altLang="zh-CN" dirty="0"/>
          </a:p>
        </p:txBody>
      </p:sp>
    </p:spTree>
    <p:extLst>
      <p:ext uri="{BB962C8B-B14F-4D97-AF65-F5344CB8AC3E}">
        <p14:creationId xmlns:p14="http://schemas.microsoft.com/office/powerpoint/2010/main" val="2085196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易用性测试</a:t>
            </a:r>
          </a:p>
        </p:txBody>
      </p:sp>
      <p:sp>
        <p:nvSpPr>
          <p:cNvPr id="3" name="内容占位符 2"/>
          <p:cNvSpPr>
            <a:spLocks noGrp="1"/>
          </p:cNvSpPr>
          <p:nvPr>
            <p:ph idx="1"/>
          </p:nvPr>
        </p:nvSpPr>
        <p:spPr/>
        <p:txBody>
          <a:bodyPr>
            <a:normAutofit lnSpcReduction="10000"/>
          </a:bodyPr>
          <a:lstStyle/>
          <a:p>
            <a:r>
              <a:rPr lang="zh-CN" altLang="en-US" dirty="0"/>
              <a:t>易用性测试包括什么？</a:t>
            </a:r>
            <a:endParaRPr lang="en-US" altLang="zh-CN" dirty="0"/>
          </a:p>
          <a:p>
            <a:pPr lvl="1"/>
            <a:r>
              <a:rPr lang="zh-CN" altLang="en-US" b="1" dirty="0">
                <a:solidFill>
                  <a:schemeClr val="accent6">
                    <a:lumMod val="50000"/>
                  </a:schemeClr>
                </a:solidFill>
              </a:rPr>
              <a:t>用户界面测试：</a:t>
            </a:r>
            <a:r>
              <a:rPr lang="zh-CN" altLang="en-US" dirty="0"/>
              <a:t>优秀的</a:t>
            </a:r>
            <a:r>
              <a:rPr lang="en-US" altLang="zh-CN" dirty="0"/>
              <a:t>UI</a:t>
            </a:r>
          </a:p>
          <a:p>
            <a:pPr lvl="1">
              <a:buFont typeface="Wingdings" panose="05000000000000000000" pitchFamily="2" charset="2"/>
              <a:buChar char="p"/>
            </a:pPr>
            <a:r>
              <a:rPr lang="zh-CN" altLang="en-US" dirty="0"/>
              <a:t>符合标准和规范</a:t>
            </a:r>
            <a:endParaRPr lang="en-US" altLang="zh-CN" dirty="0"/>
          </a:p>
          <a:p>
            <a:pPr lvl="1">
              <a:buFont typeface="Wingdings" panose="05000000000000000000" pitchFamily="2" charset="2"/>
              <a:buChar char="p"/>
            </a:pPr>
            <a:r>
              <a:rPr lang="zh-CN" altLang="en-US" dirty="0"/>
              <a:t>直观</a:t>
            </a:r>
            <a:endParaRPr lang="en-US" altLang="zh-CN" dirty="0"/>
          </a:p>
          <a:p>
            <a:pPr lvl="1">
              <a:buFont typeface="Wingdings" panose="05000000000000000000" pitchFamily="2" charset="2"/>
              <a:buChar char="p"/>
            </a:pPr>
            <a:r>
              <a:rPr lang="zh-CN" altLang="en-US" dirty="0"/>
              <a:t>一致</a:t>
            </a:r>
            <a:endParaRPr lang="en-US" altLang="zh-CN" dirty="0"/>
          </a:p>
          <a:p>
            <a:pPr lvl="1">
              <a:buFont typeface="Wingdings" panose="05000000000000000000" pitchFamily="2" charset="2"/>
              <a:buChar char="p"/>
            </a:pPr>
            <a:r>
              <a:rPr lang="zh-CN" altLang="en-US" dirty="0"/>
              <a:t>灵活</a:t>
            </a:r>
            <a:endParaRPr lang="en-US" altLang="zh-CN" dirty="0"/>
          </a:p>
          <a:p>
            <a:pPr lvl="1">
              <a:buFont typeface="Wingdings" panose="05000000000000000000" pitchFamily="2" charset="2"/>
              <a:buChar char="p"/>
            </a:pPr>
            <a:r>
              <a:rPr lang="zh-CN" altLang="en-US" dirty="0"/>
              <a:t>舒适</a:t>
            </a:r>
            <a:endParaRPr lang="en-US" altLang="zh-CN" dirty="0"/>
          </a:p>
          <a:p>
            <a:pPr lvl="1">
              <a:buFont typeface="Wingdings" panose="05000000000000000000" pitchFamily="2" charset="2"/>
              <a:buChar char="p"/>
            </a:pPr>
            <a:r>
              <a:rPr lang="zh-CN" altLang="en-US" dirty="0"/>
              <a:t>正确</a:t>
            </a:r>
            <a:endParaRPr lang="en-US" altLang="zh-CN" dirty="0"/>
          </a:p>
          <a:p>
            <a:pPr lvl="1">
              <a:buFont typeface="Wingdings" panose="05000000000000000000" pitchFamily="2" charset="2"/>
              <a:buChar char="p"/>
            </a:pPr>
            <a:r>
              <a:rPr lang="zh-CN" altLang="en-US" dirty="0"/>
              <a:t>实用</a:t>
            </a:r>
            <a:endParaRPr lang="en-US" altLang="zh-CN" dirty="0"/>
          </a:p>
        </p:txBody>
      </p:sp>
    </p:spTree>
    <p:extLst>
      <p:ext uri="{BB962C8B-B14F-4D97-AF65-F5344CB8AC3E}">
        <p14:creationId xmlns:p14="http://schemas.microsoft.com/office/powerpoint/2010/main" val="3001427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易用性测试</a:t>
            </a:r>
          </a:p>
        </p:txBody>
      </p:sp>
      <p:sp>
        <p:nvSpPr>
          <p:cNvPr id="3" name="内容占位符 2"/>
          <p:cNvSpPr>
            <a:spLocks noGrp="1"/>
          </p:cNvSpPr>
          <p:nvPr>
            <p:ph idx="1"/>
          </p:nvPr>
        </p:nvSpPr>
        <p:spPr/>
        <p:txBody>
          <a:bodyPr>
            <a:normAutofit/>
          </a:bodyPr>
          <a:lstStyle/>
          <a:p>
            <a:r>
              <a:rPr lang="zh-CN" altLang="en-US" dirty="0"/>
              <a:t>易用性测试包括什么？</a:t>
            </a:r>
            <a:endParaRPr lang="en-US" altLang="zh-CN" dirty="0"/>
          </a:p>
          <a:p>
            <a:pPr lvl="1"/>
            <a:r>
              <a:rPr lang="zh-CN" altLang="en-US" b="1" dirty="0">
                <a:solidFill>
                  <a:schemeClr val="accent6">
                    <a:lumMod val="50000"/>
                  </a:schemeClr>
                </a:solidFill>
              </a:rPr>
              <a:t>为有残疾障碍的人员测试：辅助选项测试（法律要求的）</a:t>
            </a:r>
            <a:endParaRPr lang="en-US" altLang="zh-CN" dirty="0"/>
          </a:p>
          <a:p>
            <a:pPr lvl="1">
              <a:buFont typeface="Wingdings" panose="05000000000000000000" pitchFamily="2" charset="2"/>
              <a:buChar char="p"/>
            </a:pPr>
            <a:r>
              <a:rPr lang="zh-CN" altLang="en-US" dirty="0"/>
              <a:t>视觉损伤</a:t>
            </a:r>
            <a:endParaRPr lang="en-US" altLang="zh-CN" dirty="0"/>
          </a:p>
          <a:p>
            <a:pPr lvl="1">
              <a:buFont typeface="Wingdings" panose="05000000000000000000" pitchFamily="2" charset="2"/>
              <a:buChar char="p"/>
            </a:pPr>
            <a:r>
              <a:rPr lang="zh-CN" altLang="en-US" dirty="0"/>
              <a:t>听力损伤</a:t>
            </a:r>
            <a:endParaRPr lang="en-US" altLang="zh-CN" dirty="0"/>
          </a:p>
          <a:p>
            <a:pPr lvl="1">
              <a:buFont typeface="Wingdings" panose="05000000000000000000" pitchFamily="2" charset="2"/>
              <a:buChar char="p"/>
            </a:pPr>
            <a:r>
              <a:rPr lang="zh-CN" altLang="en-US" dirty="0"/>
              <a:t>运动损伤</a:t>
            </a:r>
            <a:endParaRPr lang="en-US" altLang="zh-CN" dirty="0"/>
          </a:p>
          <a:p>
            <a:pPr lvl="1">
              <a:buFont typeface="Wingdings" panose="05000000000000000000" pitchFamily="2" charset="2"/>
              <a:buChar char="p"/>
            </a:pPr>
            <a:r>
              <a:rPr lang="zh-CN" altLang="en-US" dirty="0"/>
              <a:t>认知和语言障碍</a:t>
            </a:r>
            <a:endParaRPr lang="en-US" altLang="zh-CN" dirty="0"/>
          </a:p>
        </p:txBody>
      </p:sp>
    </p:spTree>
    <p:extLst>
      <p:ext uri="{BB962C8B-B14F-4D97-AF65-F5344CB8AC3E}">
        <p14:creationId xmlns:p14="http://schemas.microsoft.com/office/powerpoint/2010/main" val="3647018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易用性测试</a:t>
            </a:r>
          </a:p>
        </p:txBody>
      </p:sp>
      <p:sp>
        <p:nvSpPr>
          <p:cNvPr id="3" name="内容占位符 2"/>
          <p:cNvSpPr>
            <a:spLocks noGrp="1"/>
          </p:cNvSpPr>
          <p:nvPr>
            <p:ph idx="1"/>
          </p:nvPr>
        </p:nvSpPr>
        <p:spPr/>
        <p:txBody>
          <a:bodyPr>
            <a:normAutofit fontScale="92500" lnSpcReduction="10000"/>
          </a:bodyPr>
          <a:lstStyle/>
          <a:p>
            <a:r>
              <a:rPr lang="zh-CN" altLang="en-US" dirty="0"/>
              <a:t>易用性测试包括什么？</a:t>
            </a:r>
            <a:endParaRPr lang="en-US" altLang="zh-CN" dirty="0"/>
          </a:p>
          <a:p>
            <a:pPr lvl="1"/>
            <a:r>
              <a:rPr lang="zh-CN" altLang="en-US" b="1" dirty="0">
                <a:solidFill>
                  <a:schemeClr val="accent6">
                    <a:lumMod val="50000"/>
                  </a:schemeClr>
                </a:solidFill>
              </a:rPr>
              <a:t>为有残疾障碍的人员测试：辅助选项测试（法律要求的）</a:t>
            </a:r>
            <a:endParaRPr lang="en-US" altLang="zh-CN" b="1" dirty="0">
              <a:solidFill>
                <a:schemeClr val="accent6">
                  <a:lumMod val="50000"/>
                </a:schemeClr>
              </a:solidFill>
            </a:endParaRPr>
          </a:p>
          <a:p>
            <a:pPr lvl="1"/>
            <a:r>
              <a:rPr lang="zh-CN" altLang="en-US" b="1" dirty="0">
                <a:solidFill>
                  <a:schemeClr val="accent6">
                    <a:lumMod val="50000"/>
                  </a:schemeClr>
                </a:solidFill>
              </a:rPr>
              <a:t>软件中的辅助特性</a:t>
            </a:r>
            <a:endParaRPr lang="en-US" altLang="zh-CN" dirty="0"/>
          </a:p>
          <a:p>
            <a:pPr lvl="1">
              <a:buFont typeface="Wingdings" panose="05000000000000000000" pitchFamily="2" charset="2"/>
              <a:buChar char="p"/>
            </a:pPr>
            <a:r>
              <a:rPr lang="zh-CN" altLang="en-US" dirty="0"/>
              <a:t>粘滞键　　　　</a:t>
            </a:r>
            <a:endParaRPr lang="en-US" altLang="zh-CN" dirty="0"/>
          </a:p>
          <a:p>
            <a:pPr lvl="1">
              <a:buFont typeface="Wingdings" panose="05000000000000000000" pitchFamily="2" charset="2"/>
              <a:buChar char="p"/>
            </a:pPr>
            <a:r>
              <a:rPr lang="zh-CN" altLang="en-US" dirty="0"/>
              <a:t>筛选键</a:t>
            </a:r>
            <a:endParaRPr lang="en-US" altLang="zh-CN" dirty="0"/>
          </a:p>
          <a:p>
            <a:pPr lvl="1">
              <a:buFont typeface="Wingdings" panose="05000000000000000000" pitchFamily="2" charset="2"/>
              <a:buChar char="p"/>
            </a:pPr>
            <a:r>
              <a:rPr lang="zh-CN" altLang="en-US" dirty="0"/>
              <a:t>切换键</a:t>
            </a:r>
            <a:endParaRPr lang="en-US" altLang="zh-CN" dirty="0"/>
          </a:p>
          <a:p>
            <a:pPr lvl="1">
              <a:buFont typeface="Wingdings" panose="05000000000000000000" pitchFamily="2" charset="2"/>
              <a:buChar char="p"/>
            </a:pPr>
            <a:r>
              <a:rPr lang="zh-CN" altLang="en-US" dirty="0"/>
              <a:t>声音卫士</a:t>
            </a:r>
            <a:endParaRPr lang="en-US" altLang="zh-CN" dirty="0"/>
          </a:p>
          <a:p>
            <a:pPr lvl="1">
              <a:buFont typeface="Wingdings" panose="05000000000000000000" pitchFamily="2" charset="2"/>
              <a:buChar char="p"/>
            </a:pPr>
            <a:r>
              <a:rPr lang="zh-CN" altLang="en-US" dirty="0"/>
              <a:t>声音显示</a:t>
            </a:r>
            <a:endParaRPr lang="en-US" altLang="zh-CN" dirty="0"/>
          </a:p>
          <a:p>
            <a:pPr lvl="1">
              <a:buFont typeface="Wingdings" panose="05000000000000000000" pitchFamily="2" charset="2"/>
              <a:buChar char="p"/>
            </a:pPr>
            <a:r>
              <a:rPr lang="zh-CN" altLang="en-US" dirty="0"/>
              <a:t>高对比度</a:t>
            </a:r>
            <a:endParaRPr lang="en-US" altLang="zh-CN" dirty="0"/>
          </a:p>
        </p:txBody>
      </p:sp>
      <p:sp>
        <p:nvSpPr>
          <p:cNvPr id="4" name="内容占位符 2"/>
          <p:cNvSpPr txBox="1">
            <a:spLocks/>
          </p:cNvSpPr>
          <p:nvPr/>
        </p:nvSpPr>
        <p:spPr>
          <a:xfrm>
            <a:off x="3707904" y="1235419"/>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buFont typeface="Wingdings" panose="05000000000000000000" pitchFamily="2" charset="2"/>
              <a:buChar char="p"/>
            </a:pPr>
            <a:endParaRPr lang="en-US" altLang="zh-CN" dirty="0"/>
          </a:p>
          <a:p>
            <a:pPr lvl="1">
              <a:buFont typeface="Wingdings" panose="05000000000000000000" pitchFamily="2" charset="2"/>
              <a:buChar char="p"/>
            </a:pPr>
            <a:endParaRPr lang="en-US" altLang="zh-CN" dirty="0"/>
          </a:p>
          <a:p>
            <a:pPr lvl="1">
              <a:buFont typeface="Wingdings" panose="05000000000000000000" pitchFamily="2" charset="2"/>
              <a:buChar char="p"/>
            </a:pPr>
            <a:endParaRPr lang="en-US" altLang="zh-CN" dirty="0"/>
          </a:p>
          <a:p>
            <a:pPr lvl="1">
              <a:buFont typeface="Wingdings" panose="05000000000000000000" pitchFamily="2" charset="2"/>
              <a:buChar char="p"/>
            </a:pPr>
            <a:endParaRPr lang="en-US" altLang="zh-CN" dirty="0"/>
          </a:p>
          <a:p>
            <a:pPr lvl="1">
              <a:buFont typeface="Wingdings" panose="05000000000000000000" pitchFamily="2" charset="2"/>
              <a:buChar char="p"/>
            </a:pPr>
            <a:r>
              <a:rPr lang="zh-CN" altLang="en-US" dirty="0"/>
              <a:t>鼠标键　　　　</a:t>
            </a:r>
            <a:endParaRPr lang="en-US" altLang="zh-CN" dirty="0"/>
          </a:p>
          <a:p>
            <a:pPr lvl="1">
              <a:buFont typeface="Wingdings" panose="05000000000000000000" pitchFamily="2" charset="2"/>
              <a:buChar char="p"/>
            </a:pPr>
            <a:r>
              <a:rPr lang="zh-CN" altLang="en-US" dirty="0"/>
              <a:t>串行键</a:t>
            </a:r>
            <a:endParaRPr lang="en-US" altLang="zh-CN" dirty="0"/>
          </a:p>
        </p:txBody>
      </p:sp>
    </p:spTree>
    <p:extLst>
      <p:ext uri="{BB962C8B-B14F-4D97-AF65-F5344CB8AC3E}">
        <p14:creationId xmlns:p14="http://schemas.microsoft.com/office/powerpoint/2010/main" val="1201816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文档测试</a:t>
            </a:r>
          </a:p>
        </p:txBody>
      </p:sp>
      <p:sp>
        <p:nvSpPr>
          <p:cNvPr id="3" name="内容占位符 2"/>
          <p:cNvSpPr>
            <a:spLocks noGrp="1"/>
          </p:cNvSpPr>
          <p:nvPr>
            <p:ph idx="1"/>
          </p:nvPr>
        </p:nvSpPr>
        <p:spPr/>
        <p:txBody>
          <a:bodyPr>
            <a:normAutofit/>
          </a:bodyPr>
          <a:lstStyle/>
          <a:p>
            <a:r>
              <a:rPr lang="zh-CN" altLang="en-US" dirty="0"/>
              <a:t>软件产品由大量工作和为数不少的非软件部分组成</a:t>
            </a:r>
            <a:endParaRPr lang="en-US" altLang="zh-CN" dirty="0"/>
          </a:p>
          <a:p>
            <a:r>
              <a:rPr lang="zh-CN" altLang="en-US" dirty="0"/>
              <a:t>非软件部分主要是文档</a:t>
            </a:r>
            <a:endParaRPr lang="en-US" altLang="zh-CN" dirty="0"/>
          </a:p>
          <a:p>
            <a:r>
              <a:rPr lang="zh-CN" altLang="en-US" dirty="0"/>
              <a:t>软件测试员不仅要测试软件，还要负责组成整个软件产品的各个部分，保证文档的正确性也是职责范围之内的事情</a:t>
            </a:r>
            <a:endParaRPr lang="en-US" altLang="zh-CN" dirty="0"/>
          </a:p>
        </p:txBody>
      </p:sp>
    </p:spTree>
    <p:extLst>
      <p:ext uri="{BB962C8B-B14F-4D97-AF65-F5344CB8AC3E}">
        <p14:creationId xmlns:p14="http://schemas.microsoft.com/office/powerpoint/2010/main" val="22376189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文档测试</a:t>
            </a:r>
          </a:p>
        </p:txBody>
      </p:sp>
      <p:sp>
        <p:nvSpPr>
          <p:cNvPr id="3" name="内容占位符 2"/>
          <p:cNvSpPr>
            <a:spLocks noGrp="1"/>
          </p:cNvSpPr>
          <p:nvPr>
            <p:ph idx="1"/>
          </p:nvPr>
        </p:nvSpPr>
        <p:spPr/>
        <p:txBody>
          <a:bodyPr>
            <a:normAutofit fontScale="85000" lnSpcReduction="20000"/>
          </a:bodyPr>
          <a:lstStyle/>
          <a:p>
            <a:r>
              <a:rPr lang="zh-CN" altLang="en-US" dirty="0"/>
              <a:t>软件文档类型</a:t>
            </a:r>
            <a:endParaRPr lang="en-US" altLang="zh-CN" dirty="0"/>
          </a:p>
          <a:p>
            <a:pPr lvl="1"/>
            <a:r>
              <a:rPr lang="zh-CN" altLang="en-US" dirty="0"/>
              <a:t>包装文字和图形</a:t>
            </a:r>
            <a:endParaRPr lang="en-US" altLang="zh-CN" dirty="0"/>
          </a:p>
          <a:p>
            <a:pPr lvl="1"/>
            <a:r>
              <a:rPr lang="zh-CN" altLang="en-US" dirty="0"/>
              <a:t>市场宣传材料、广告以及其他插页</a:t>
            </a:r>
            <a:endParaRPr lang="en-US" altLang="zh-CN" dirty="0"/>
          </a:p>
          <a:p>
            <a:pPr lvl="1"/>
            <a:r>
              <a:rPr lang="zh-CN" altLang="en-US" dirty="0"/>
              <a:t>授权／注册登记表</a:t>
            </a:r>
            <a:endParaRPr lang="en-US" altLang="zh-CN" dirty="0"/>
          </a:p>
          <a:p>
            <a:pPr lvl="1"/>
            <a:r>
              <a:rPr lang="en-US" altLang="zh-CN" dirty="0"/>
              <a:t>EULA</a:t>
            </a:r>
            <a:r>
              <a:rPr lang="zh-CN" altLang="en-US" dirty="0"/>
              <a:t>，最终用户许可协议</a:t>
            </a:r>
            <a:endParaRPr lang="en-US" altLang="zh-CN" dirty="0"/>
          </a:p>
          <a:p>
            <a:pPr lvl="1"/>
            <a:r>
              <a:rPr lang="zh-CN" altLang="en-US" dirty="0"/>
              <a:t>标签和不干胶条</a:t>
            </a:r>
            <a:endParaRPr lang="en-US" altLang="zh-CN" dirty="0"/>
          </a:p>
          <a:p>
            <a:pPr lvl="1"/>
            <a:r>
              <a:rPr lang="zh-CN" altLang="en-US" dirty="0"/>
              <a:t>安装和设置向导</a:t>
            </a:r>
            <a:endParaRPr lang="en-US" altLang="zh-CN" dirty="0"/>
          </a:p>
          <a:p>
            <a:pPr lvl="1"/>
            <a:r>
              <a:rPr lang="zh-CN" altLang="en-US" dirty="0"/>
              <a:t>用户手册</a:t>
            </a:r>
            <a:endParaRPr lang="en-US" altLang="zh-CN" dirty="0"/>
          </a:p>
          <a:p>
            <a:pPr lvl="1"/>
            <a:r>
              <a:rPr lang="zh-CN" altLang="en-US" dirty="0"/>
              <a:t>联机帮助</a:t>
            </a:r>
            <a:endParaRPr lang="en-US" altLang="zh-CN" dirty="0"/>
          </a:p>
          <a:p>
            <a:pPr lvl="1"/>
            <a:r>
              <a:rPr lang="zh-CN" altLang="en-US" dirty="0"/>
              <a:t>指南、向导和</a:t>
            </a:r>
            <a:r>
              <a:rPr lang="en-US" altLang="zh-CN" dirty="0"/>
              <a:t>CBT</a:t>
            </a:r>
            <a:r>
              <a:rPr lang="zh-CN" altLang="en-US" dirty="0"/>
              <a:t>（计算机基础训练）</a:t>
            </a:r>
            <a:endParaRPr lang="en-US" altLang="zh-CN" dirty="0"/>
          </a:p>
          <a:p>
            <a:pPr lvl="1"/>
            <a:r>
              <a:rPr lang="zh-CN" altLang="en-US" dirty="0"/>
              <a:t>样例、示例和模板</a:t>
            </a:r>
            <a:endParaRPr lang="en-US" altLang="zh-CN" dirty="0"/>
          </a:p>
          <a:p>
            <a:pPr lvl="1"/>
            <a:r>
              <a:rPr lang="zh-CN" altLang="en-US" dirty="0"/>
              <a:t>错误提示信息</a:t>
            </a:r>
            <a:endParaRPr lang="en-US" altLang="zh-CN" dirty="0"/>
          </a:p>
        </p:txBody>
      </p:sp>
    </p:spTree>
    <p:extLst>
      <p:ext uri="{BB962C8B-B14F-4D97-AF65-F5344CB8AC3E}">
        <p14:creationId xmlns:p14="http://schemas.microsoft.com/office/powerpoint/2010/main" val="1426185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文档测试</a:t>
            </a:r>
          </a:p>
        </p:txBody>
      </p:sp>
      <p:sp>
        <p:nvSpPr>
          <p:cNvPr id="3" name="内容占位符 2"/>
          <p:cNvSpPr>
            <a:spLocks noGrp="1"/>
          </p:cNvSpPr>
          <p:nvPr>
            <p:ph idx="1"/>
          </p:nvPr>
        </p:nvSpPr>
        <p:spPr/>
        <p:txBody>
          <a:bodyPr>
            <a:normAutofit/>
          </a:bodyPr>
          <a:lstStyle/>
          <a:p>
            <a:r>
              <a:rPr lang="zh-CN" altLang="en-US" dirty="0"/>
              <a:t>文档测试的重要性</a:t>
            </a:r>
            <a:endParaRPr lang="en-US" altLang="zh-CN" dirty="0"/>
          </a:p>
          <a:p>
            <a:pPr lvl="1"/>
            <a:r>
              <a:rPr lang="zh-CN" altLang="en-US" dirty="0"/>
              <a:t>提高易用性</a:t>
            </a:r>
            <a:endParaRPr lang="en-US" altLang="zh-CN" dirty="0"/>
          </a:p>
          <a:p>
            <a:pPr lvl="1"/>
            <a:r>
              <a:rPr lang="zh-CN" altLang="en-US" dirty="0"/>
              <a:t>提高可靠性</a:t>
            </a:r>
            <a:endParaRPr lang="en-US" altLang="zh-CN" dirty="0"/>
          </a:p>
          <a:p>
            <a:pPr lvl="1"/>
            <a:r>
              <a:rPr lang="zh-CN" altLang="en-US" dirty="0"/>
              <a:t>降低支付费用</a:t>
            </a:r>
            <a:endParaRPr lang="en-US" altLang="zh-CN" dirty="0"/>
          </a:p>
        </p:txBody>
      </p:sp>
    </p:spTree>
    <p:extLst>
      <p:ext uri="{BB962C8B-B14F-4D97-AF65-F5344CB8AC3E}">
        <p14:creationId xmlns:p14="http://schemas.microsoft.com/office/powerpoint/2010/main" val="15257576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文档测试</a:t>
            </a:r>
          </a:p>
        </p:txBody>
      </p:sp>
      <p:sp>
        <p:nvSpPr>
          <p:cNvPr id="3" name="内容占位符 2"/>
          <p:cNvSpPr>
            <a:spLocks noGrp="1"/>
          </p:cNvSpPr>
          <p:nvPr>
            <p:ph idx="1"/>
          </p:nvPr>
        </p:nvSpPr>
        <p:spPr/>
        <p:txBody>
          <a:bodyPr>
            <a:normAutofit fontScale="92500" lnSpcReduction="20000"/>
          </a:bodyPr>
          <a:lstStyle/>
          <a:p>
            <a:r>
              <a:rPr lang="zh-CN" altLang="en-US" dirty="0"/>
              <a:t>审查文档时要找什么</a:t>
            </a:r>
            <a:endParaRPr lang="en-US" altLang="zh-CN" dirty="0"/>
          </a:p>
          <a:p>
            <a:pPr lvl="1"/>
            <a:r>
              <a:rPr lang="zh-CN" altLang="en-US" dirty="0"/>
              <a:t>通用部分</a:t>
            </a:r>
            <a:endParaRPr lang="en-US" altLang="zh-CN" dirty="0"/>
          </a:p>
          <a:p>
            <a:pPr lvl="2"/>
            <a:r>
              <a:rPr lang="zh-CN" altLang="en-US" dirty="0"/>
              <a:t>听众</a:t>
            </a:r>
            <a:endParaRPr lang="en-US" altLang="zh-CN" dirty="0"/>
          </a:p>
          <a:p>
            <a:pPr lvl="2"/>
            <a:r>
              <a:rPr lang="zh-CN" altLang="en-US" dirty="0"/>
              <a:t>术语</a:t>
            </a:r>
            <a:endParaRPr lang="en-US" altLang="zh-CN" dirty="0"/>
          </a:p>
          <a:p>
            <a:pPr lvl="2"/>
            <a:r>
              <a:rPr lang="zh-CN" altLang="en-US" dirty="0"/>
              <a:t>内容和主题</a:t>
            </a:r>
            <a:endParaRPr lang="en-US" altLang="zh-CN" dirty="0"/>
          </a:p>
          <a:p>
            <a:pPr lvl="1"/>
            <a:r>
              <a:rPr lang="zh-CN" altLang="en-US" dirty="0"/>
              <a:t>正确性</a:t>
            </a:r>
            <a:endParaRPr lang="en-US" altLang="zh-CN" dirty="0"/>
          </a:p>
          <a:p>
            <a:pPr lvl="2"/>
            <a:r>
              <a:rPr lang="zh-CN" altLang="en-US" dirty="0"/>
              <a:t>紧扣事实</a:t>
            </a:r>
            <a:endParaRPr lang="en-US" altLang="zh-CN" dirty="0"/>
          </a:p>
          <a:p>
            <a:pPr lvl="2"/>
            <a:r>
              <a:rPr lang="zh-CN" altLang="en-US" dirty="0"/>
              <a:t>逐步执行</a:t>
            </a:r>
            <a:endParaRPr lang="en-US" altLang="zh-CN" dirty="0"/>
          </a:p>
          <a:p>
            <a:pPr lvl="1"/>
            <a:r>
              <a:rPr lang="zh-CN" altLang="en-US" dirty="0"/>
              <a:t>检查的内容</a:t>
            </a:r>
            <a:endParaRPr lang="en-US" altLang="zh-CN" dirty="0"/>
          </a:p>
          <a:p>
            <a:pPr lvl="2"/>
            <a:r>
              <a:rPr lang="zh-CN" altLang="en-US" dirty="0"/>
              <a:t>图标和屏幕抓图</a:t>
            </a:r>
            <a:endParaRPr lang="en-US" altLang="zh-CN" dirty="0"/>
          </a:p>
          <a:p>
            <a:pPr lvl="2"/>
            <a:r>
              <a:rPr lang="zh-CN" altLang="en-US" dirty="0"/>
              <a:t>样例和示例</a:t>
            </a:r>
            <a:endParaRPr lang="en-US" altLang="zh-CN" dirty="0"/>
          </a:p>
          <a:p>
            <a:pPr lvl="2"/>
            <a:r>
              <a:rPr lang="zh-CN" altLang="en-US" dirty="0"/>
              <a:t>拼写和语法</a:t>
            </a:r>
            <a:endParaRPr lang="en-US" altLang="zh-CN" dirty="0"/>
          </a:p>
        </p:txBody>
      </p:sp>
    </p:spTree>
    <p:extLst>
      <p:ext uri="{BB962C8B-B14F-4D97-AF65-F5344CB8AC3E}">
        <p14:creationId xmlns:p14="http://schemas.microsoft.com/office/powerpoint/2010/main" val="22640519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软件安全性测试</a:t>
            </a:r>
          </a:p>
        </p:txBody>
      </p:sp>
      <p:sp>
        <p:nvSpPr>
          <p:cNvPr id="3" name="内容占位符 2"/>
          <p:cNvSpPr>
            <a:spLocks noGrp="1"/>
          </p:cNvSpPr>
          <p:nvPr>
            <p:ph idx="1"/>
          </p:nvPr>
        </p:nvSpPr>
        <p:spPr/>
        <p:txBody>
          <a:bodyPr>
            <a:normAutofit/>
          </a:bodyPr>
          <a:lstStyle/>
          <a:p>
            <a:r>
              <a:rPr lang="zh-CN" altLang="en-US" dirty="0"/>
              <a:t>为什么要进行软件安全性测试？</a:t>
            </a:r>
            <a:endParaRPr lang="en-US" altLang="zh-CN" dirty="0"/>
          </a:p>
          <a:p>
            <a:pPr lvl="1"/>
            <a:r>
              <a:rPr lang="zh-CN" altLang="en-US" dirty="0"/>
              <a:t>黑客、病毒、蠕虫、间谍软件、后面程序、木马</a:t>
            </a:r>
            <a:r>
              <a:rPr lang="en-US" altLang="zh-CN" dirty="0"/>
              <a:t>……</a:t>
            </a:r>
          </a:p>
        </p:txBody>
      </p:sp>
    </p:spTree>
    <p:extLst>
      <p:ext uri="{BB962C8B-B14F-4D97-AF65-F5344CB8AC3E}">
        <p14:creationId xmlns:p14="http://schemas.microsoft.com/office/powerpoint/2010/main" val="768474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软件安全性测试</a:t>
            </a:r>
          </a:p>
        </p:txBody>
      </p:sp>
      <p:sp>
        <p:nvSpPr>
          <p:cNvPr id="3" name="内容占位符 2"/>
          <p:cNvSpPr>
            <a:spLocks noGrp="1"/>
          </p:cNvSpPr>
          <p:nvPr>
            <p:ph idx="1"/>
          </p:nvPr>
        </p:nvSpPr>
        <p:spPr/>
        <p:txBody>
          <a:bodyPr>
            <a:normAutofit/>
          </a:bodyPr>
          <a:lstStyle/>
          <a:p>
            <a:r>
              <a:rPr lang="zh-CN" altLang="en-US" dirty="0"/>
              <a:t>为什么有人想攻击计算机？</a:t>
            </a:r>
            <a:endParaRPr lang="en-US" altLang="zh-CN" dirty="0"/>
          </a:p>
          <a:p>
            <a:pPr lvl="1"/>
            <a:r>
              <a:rPr lang="zh-CN" altLang="en-US" dirty="0"/>
              <a:t>挑战、成名</a:t>
            </a:r>
            <a:endParaRPr lang="en-US" altLang="zh-CN" dirty="0"/>
          </a:p>
          <a:p>
            <a:pPr lvl="1"/>
            <a:r>
              <a:rPr lang="zh-CN" altLang="en-US" dirty="0"/>
              <a:t>好奇</a:t>
            </a:r>
            <a:endParaRPr lang="en-US" altLang="zh-CN" dirty="0"/>
          </a:p>
          <a:p>
            <a:pPr lvl="1"/>
            <a:r>
              <a:rPr lang="zh-CN" altLang="en-US" dirty="0"/>
              <a:t>使用／借用</a:t>
            </a:r>
            <a:endParaRPr lang="en-US" altLang="zh-CN" dirty="0"/>
          </a:p>
          <a:p>
            <a:pPr lvl="1"/>
            <a:r>
              <a:rPr lang="zh-CN" altLang="en-US" dirty="0"/>
              <a:t>恶意破坏</a:t>
            </a:r>
            <a:endParaRPr lang="en-US" altLang="zh-CN" dirty="0"/>
          </a:p>
          <a:p>
            <a:pPr lvl="1"/>
            <a:r>
              <a:rPr lang="zh-CN" altLang="en-US" dirty="0"/>
              <a:t>偷窃</a:t>
            </a:r>
            <a:endParaRPr lang="en-US" altLang="zh-CN" dirty="0"/>
          </a:p>
        </p:txBody>
      </p:sp>
    </p:spTree>
    <p:extLst>
      <p:ext uri="{BB962C8B-B14F-4D97-AF65-F5344CB8AC3E}">
        <p14:creationId xmlns:p14="http://schemas.microsoft.com/office/powerpoint/2010/main" val="2814164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软件安全性测试</a:t>
            </a:r>
          </a:p>
        </p:txBody>
      </p:sp>
      <p:sp>
        <p:nvSpPr>
          <p:cNvPr id="3" name="内容占位符 2"/>
          <p:cNvSpPr>
            <a:spLocks noGrp="1"/>
          </p:cNvSpPr>
          <p:nvPr>
            <p:ph idx="1"/>
          </p:nvPr>
        </p:nvSpPr>
        <p:spPr/>
        <p:txBody>
          <a:bodyPr>
            <a:normAutofit/>
          </a:bodyPr>
          <a:lstStyle/>
          <a:p>
            <a:r>
              <a:rPr lang="zh-CN" altLang="en-US" dirty="0"/>
              <a:t>软件安全是一项功能吗？</a:t>
            </a:r>
            <a:endParaRPr lang="en-US" altLang="zh-CN" dirty="0"/>
          </a:p>
          <a:p>
            <a:pPr lvl="1"/>
            <a:r>
              <a:rPr lang="zh-CN" altLang="en-US" dirty="0"/>
              <a:t>是的！</a:t>
            </a:r>
            <a:endParaRPr lang="en-US" altLang="zh-CN" dirty="0"/>
          </a:p>
          <a:p>
            <a:r>
              <a:rPr lang="zh-CN" altLang="en-US" dirty="0"/>
              <a:t>软件漏洞是一个缺陷吗？</a:t>
            </a:r>
            <a:endParaRPr lang="en-US" altLang="zh-CN" dirty="0"/>
          </a:p>
          <a:p>
            <a:pPr lvl="1"/>
            <a:r>
              <a:rPr lang="zh-CN" altLang="en-US" dirty="0"/>
              <a:t>是的！</a:t>
            </a:r>
            <a:endParaRPr lang="en-US" altLang="zh-CN" dirty="0"/>
          </a:p>
        </p:txBody>
      </p:sp>
    </p:spTree>
    <p:extLst>
      <p:ext uri="{BB962C8B-B14F-4D97-AF65-F5344CB8AC3E}">
        <p14:creationId xmlns:p14="http://schemas.microsoft.com/office/powerpoint/2010/main" val="4036806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软件安全性测试</a:t>
            </a:r>
          </a:p>
        </p:txBody>
      </p:sp>
      <p:sp>
        <p:nvSpPr>
          <p:cNvPr id="3" name="内容占位符 2"/>
          <p:cNvSpPr>
            <a:spLocks noGrp="1"/>
          </p:cNvSpPr>
          <p:nvPr>
            <p:ph idx="1"/>
          </p:nvPr>
        </p:nvSpPr>
        <p:spPr>
          <a:xfrm>
            <a:off x="457200" y="1600200"/>
            <a:ext cx="8229600" cy="4925144"/>
          </a:xfrm>
        </p:spPr>
        <p:txBody>
          <a:bodyPr>
            <a:normAutofit fontScale="70000" lnSpcReduction="20000"/>
          </a:bodyPr>
          <a:lstStyle/>
          <a:p>
            <a:r>
              <a:rPr lang="zh-CN" altLang="en-US" dirty="0"/>
              <a:t>最常见的安全漏洞：了解缓冲区溢出</a:t>
            </a:r>
            <a:endParaRPr lang="en-US" altLang="zh-CN" dirty="0"/>
          </a:p>
          <a:p>
            <a:pPr lvl="1"/>
            <a:r>
              <a:rPr lang="zh-CN" altLang="en-US" dirty="0"/>
              <a:t>使用没有被正确申明和初始化的变量、常数、字符串或记录引起的缺陷</a:t>
            </a:r>
            <a:endParaRPr lang="en-US" altLang="zh-CN" dirty="0"/>
          </a:p>
          <a:p>
            <a:pPr lvl="1">
              <a:buFont typeface="Wingdings" panose="05000000000000000000" pitchFamily="2" charset="2"/>
              <a:buChar char="p"/>
            </a:pPr>
            <a:r>
              <a:rPr lang="zh-CN" altLang="en-US" sz="3600" b="1" dirty="0">
                <a:solidFill>
                  <a:schemeClr val="accent6">
                    <a:lumMod val="50000"/>
                  </a:schemeClr>
                </a:solidFill>
              </a:rPr>
              <a:t>举例解释：程序接受一个字符串作为输入，该字符串在用户电脑内存中，由于字符串长度不受限，黑客可以提交一个足够长的字符串，覆盖用户内存。有经验的黑客，可以提交一段汇编代码，从而实现入侵</a:t>
            </a:r>
            <a:endParaRPr lang="en-US" altLang="zh-CN" sz="3600" b="1" dirty="0">
              <a:solidFill>
                <a:schemeClr val="accent6">
                  <a:lumMod val="50000"/>
                </a:schemeClr>
              </a:solidFill>
            </a:endParaRPr>
          </a:p>
          <a:p>
            <a:pPr lvl="1">
              <a:buFont typeface="Wingdings" panose="05000000000000000000" pitchFamily="2" charset="2"/>
              <a:buChar char="p"/>
            </a:pPr>
            <a:r>
              <a:rPr lang="zh-CN" altLang="en-US" dirty="0"/>
              <a:t>导致的原因有：</a:t>
            </a:r>
            <a:endParaRPr lang="en-US" altLang="zh-CN" dirty="0"/>
          </a:p>
          <a:p>
            <a:pPr lvl="2">
              <a:buFont typeface="Wingdings" panose="05000000000000000000" pitchFamily="2" charset="2"/>
              <a:buChar char="p"/>
            </a:pPr>
            <a:r>
              <a:rPr lang="zh-CN" altLang="en-US" dirty="0"/>
              <a:t>编程质量低下</a:t>
            </a:r>
            <a:endParaRPr lang="en-US" altLang="zh-CN" dirty="0"/>
          </a:p>
          <a:p>
            <a:pPr lvl="2">
              <a:buFont typeface="Wingdings" panose="05000000000000000000" pitchFamily="2" charset="2"/>
              <a:buChar char="p"/>
            </a:pPr>
            <a:r>
              <a:rPr lang="zh-CN" altLang="en-US" dirty="0"/>
              <a:t>被广泛使用的</a:t>
            </a:r>
            <a:r>
              <a:rPr lang="en-US" altLang="zh-CN" dirty="0"/>
              <a:t>C</a:t>
            </a:r>
            <a:r>
              <a:rPr lang="zh-CN" altLang="en-US" dirty="0"/>
              <a:t>语言缺少安全字符串处理函数</a:t>
            </a:r>
            <a:endParaRPr lang="en-US" altLang="zh-CN" dirty="0"/>
          </a:p>
          <a:p>
            <a:r>
              <a:rPr lang="zh-CN" altLang="en-US" dirty="0"/>
              <a:t>使用安全的字符串函数</a:t>
            </a:r>
            <a:endParaRPr lang="en-US" altLang="zh-CN" dirty="0"/>
          </a:p>
          <a:p>
            <a:pPr lvl="1"/>
            <a:r>
              <a:rPr lang="en-US" altLang="zh-CN" dirty="0" err="1"/>
              <a:t>strcat</a:t>
            </a:r>
            <a:r>
              <a:rPr lang="en-US" altLang="zh-CN" dirty="0"/>
              <a:t> -&gt; </a:t>
            </a:r>
            <a:r>
              <a:rPr lang="en-US" altLang="zh-CN" dirty="0" err="1"/>
              <a:t>RtlStringCbCat</a:t>
            </a:r>
            <a:endParaRPr lang="en-US" altLang="zh-CN" dirty="0"/>
          </a:p>
          <a:p>
            <a:pPr lvl="1"/>
            <a:r>
              <a:rPr lang="en-US" altLang="zh-CN" dirty="0" err="1"/>
              <a:t>strcpy</a:t>
            </a:r>
            <a:r>
              <a:rPr lang="en-US" altLang="zh-CN" dirty="0"/>
              <a:t>-&gt; </a:t>
            </a:r>
            <a:r>
              <a:rPr lang="en-US" altLang="zh-CN" dirty="0" err="1"/>
              <a:t>RtlStringCbCopyN</a:t>
            </a:r>
            <a:endParaRPr lang="en-US" altLang="zh-CN" dirty="0"/>
          </a:p>
          <a:p>
            <a:pPr lvl="1"/>
            <a:r>
              <a:rPr lang="en-US" altLang="zh-CN" dirty="0"/>
              <a:t>……</a:t>
            </a:r>
          </a:p>
        </p:txBody>
      </p:sp>
    </p:spTree>
    <p:extLst>
      <p:ext uri="{BB962C8B-B14F-4D97-AF65-F5344CB8AC3E}">
        <p14:creationId xmlns:p14="http://schemas.microsoft.com/office/powerpoint/2010/main" val="3989206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软件安全性测试</a:t>
            </a:r>
          </a:p>
        </p:txBody>
      </p:sp>
      <p:sp>
        <p:nvSpPr>
          <p:cNvPr id="3" name="内容占位符 2"/>
          <p:cNvSpPr>
            <a:spLocks noGrp="1"/>
          </p:cNvSpPr>
          <p:nvPr>
            <p:ph idx="1"/>
          </p:nvPr>
        </p:nvSpPr>
        <p:spPr/>
        <p:txBody>
          <a:bodyPr>
            <a:normAutofit fontScale="70000" lnSpcReduction="20000"/>
          </a:bodyPr>
          <a:lstStyle/>
          <a:p>
            <a:r>
              <a:rPr lang="zh-CN" altLang="en-US" sz="4600" dirty="0"/>
              <a:t>应对之道：</a:t>
            </a:r>
            <a:endParaRPr lang="en-US" altLang="zh-CN" sz="4600" dirty="0"/>
          </a:p>
          <a:p>
            <a:pPr lvl="1"/>
            <a:r>
              <a:rPr lang="zh-CN" altLang="en-US" sz="3600" b="1" dirty="0">
                <a:solidFill>
                  <a:schemeClr val="accent6">
                    <a:lumMod val="50000"/>
                  </a:schemeClr>
                </a:solidFill>
              </a:rPr>
              <a:t>威胁模式分析（相当于静态测试中的正式评审）</a:t>
            </a:r>
            <a:endParaRPr lang="en-US" altLang="zh-CN" sz="3600" b="1" dirty="0">
              <a:solidFill>
                <a:schemeClr val="accent6">
                  <a:lumMod val="50000"/>
                </a:schemeClr>
              </a:solidFill>
            </a:endParaRPr>
          </a:p>
          <a:p>
            <a:pPr lvl="1">
              <a:buFont typeface="Wingdings" panose="05000000000000000000" pitchFamily="2" charset="2"/>
              <a:buChar char="p"/>
            </a:pPr>
            <a:r>
              <a:rPr lang="zh-CN" altLang="en-US" dirty="0"/>
              <a:t>构建威胁模型分析小组</a:t>
            </a:r>
            <a:endParaRPr lang="en-US" altLang="zh-CN" dirty="0"/>
          </a:p>
          <a:p>
            <a:pPr lvl="1">
              <a:buFont typeface="Wingdings" panose="05000000000000000000" pitchFamily="2" charset="2"/>
              <a:buChar char="p"/>
            </a:pPr>
            <a:r>
              <a:rPr lang="zh-CN" altLang="en-US" dirty="0"/>
              <a:t>确认价值</a:t>
            </a:r>
            <a:endParaRPr lang="en-US" altLang="zh-CN" dirty="0"/>
          </a:p>
          <a:p>
            <a:pPr lvl="1">
              <a:buFont typeface="Wingdings" panose="05000000000000000000" pitchFamily="2" charset="2"/>
              <a:buChar char="p"/>
            </a:pPr>
            <a:r>
              <a:rPr lang="zh-CN" altLang="en-US" dirty="0"/>
              <a:t>创建一个体系结构总体图</a:t>
            </a:r>
            <a:endParaRPr lang="en-US" altLang="zh-CN" dirty="0"/>
          </a:p>
          <a:p>
            <a:pPr lvl="1">
              <a:buFont typeface="Wingdings" panose="05000000000000000000" pitchFamily="2" charset="2"/>
              <a:buChar char="p"/>
            </a:pPr>
            <a:r>
              <a:rPr lang="zh-CN" altLang="en-US" dirty="0"/>
              <a:t>分解应用程序</a:t>
            </a:r>
            <a:endParaRPr lang="en-US" altLang="zh-CN" dirty="0"/>
          </a:p>
          <a:p>
            <a:pPr lvl="1">
              <a:buFont typeface="Wingdings" panose="05000000000000000000" pitchFamily="2" charset="2"/>
              <a:buChar char="p"/>
            </a:pPr>
            <a:r>
              <a:rPr lang="zh-CN" altLang="en-US" dirty="0"/>
              <a:t>确认威胁</a:t>
            </a:r>
            <a:endParaRPr lang="en-US" altLang="zh-CN" dirty="0"/>
          </a:p>
          <a:p>
            <a:pPr lvl="1">
              <a:buFont typeface="Wingdings" panose="05000000000000000000" pitchFamily="2" charset="2"/>
              <a:buChar char="p"/>
            </a:pPr>
            <a:r>
              <a:rPr lang="zh-CN" altLang="en-US" dirty="0"/>
              <a:t>记录威胁</a:t>
            </a:r>
            <a:endParaRPr lang="en-US" altLang="zh-CN" dirty="0"/>
          </a:p>
          <a:p>
            <a:pPr lvl="1">
              <a:buFont typeface="Wingdings" panose="05000000000000000000" pitchFamily="2" charset="2"/>
              <a:buChar char="p"/>
            </a:pPr>
            <a:r>
              <a:rPr lang="zh-CN" altLang="en-US" dirty="0"/>
              <a:t>威胁等级评定</a:t>
            </a:r>
            <a:endParaRPr lang="en-US" altLang="zh-CN" dirty="0"/>
          </a:p>
          <a:p>
            <a:pPr lvl="1">
              <a:buFont typeface="Wingdings" panose="05000000000000000000" pitchFamily="2" charset="2"/>
              <a:buChar char="p"/>
            </a:pPr>
            <a:r>
              <a:rPr lang="zh-CN" altLang="en-US" dirty="0"/>
              <a:t>潜在的损害</a:t>
            </a:r>
            <a:endParaRPr lang="en-US" altLang="zh-CN" dirty="0"/>
          </a:p>
          <a:p>
            <a:pPr lvl="1">
              <a:buFont typeface="Wingdings" panose="05000000000000000000" pitchFamily="2" charset="2"/>
              <a:buChar char="p"/>
            </a:pPr>
            <a:r>
              <a:rPr lang="zh-CN" altLang="en-US" dirty="0"/>
              <a:t>可反复性</a:t>
            </a:r>
            <a:endParaRPr lang="en-US" altLang="zh-CN" dirty="0"/>
          </a:p>
          <a:p>
            <a:pPr lvl="1">
              <a:buFont typeface="Wingdings" panose="05000000000000000000" pitchFamily="2" charset="2"/>
              <a:buChar char="p"/>
            </a:pPr>
            <a:r>
              <a:rPr lang="zh-CN" altLang="en-US" dirty="0"/>
              <a:t>可利用性</a:t>
            </a:r>
            <a:endParaRPr lang="en-US" altLang="zh-CN" dirty="0"/>
          </a:p>
          <a:p>
            <a:pPr lvl="1">
              <a:buFont typeface="Wingdings" panose="05000000000000000000" pitchFamily="2" charset="2"/>
              <a:buChar char="p"/>
            </a:pPr>
            <a:r>
              <a:rPr lang="zh-CN" altLang="en-US" dirty="0"/>
              <a:t>受影响的用用</a:t>
            </a:r>
            <a:endParaRPr lang="en-US" altLang="zh-CN" dirty="0"/>
          </a:p>
          <a:p>
            <a:pPr lvl="1">
              <a:buFont typeface="Wingdings" panose="05000000000000000000" pitchFamily="2" charset="2"/>
              <a:buChar char="p"/>
            </a:pPr>
            <a:r>
              <a:rPr lang="zh-CN" altLang="en-US" dirty="0"/>
              <a:t>可发现性</a:t>
            </a:r>
            <a:endParaRPr lang="en-US" altLang="zh-CN" dirty="0"/>
          </a:p>
        </p:txBody>
      </p:sp>
    </p:spTree>
    <p:extLst>
      <p:ext uri="{BB962C8B-B14F-4D97-AF65-F5344CB8AC3E}">
        <p14:creationId xmlns:p14="http://schemas.microsoft.com/office/powerpoint/2010/main" val="28570458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软件安全性测试</a:t>
            </a:r>
          </a:p>
        </p:txBody>
      </p:sp>
      <p:sp>
        <p:nvSpPr>
          <p:cNvPr id="3" name="内容占位符 2"/>
          <p:cNvSpPr>
            <a:spLocks noGrp="1"/>
          </p:cNvSpPr>
          <p:nvPr>
            <p:ph idx="1"/>
          </p:nvPr>
        </p:nvSpPr>
        <p:spPr/>
        <p:txBody>
          <a:bodyPr>
            <a:normAutofit/>
          </a:bodyPr>
          <a:lstStyle/>
          <a:p>
            <a:r>
              <a:rPr lang="zh-CN" altLang="en-US" dirty="0"/>
              <a:t>应对之道：</a:t>
            </a:r>
            <a:endParaRPr lang="en-US" altLang="zh-CN" dirty="0"/>
          </a:p>
          <a:p>
            <a:pPr lvl="1"/>
            <a:r>
              <a:rPr lang="zh-CN" altLang="en-US" sz="3600" b="1" dirty="0">
                <a:solidFill>
                  <a:schemeClr val="accent6">
                    <a:lumMod val="50000"/>
                  </a:schemeClr>
                </a:solidFill>
              </a:rPr>
              <a:t>威胁模式分析（相当于静态测试中的正式评审）</a:t>
            </a:r>
            <a:endParaRPr lang="en-US" altLang="zh-CN" sz="3600" b="1" dirty="0">
              <a:solidFill>
                <a:schemeClr val="accent6">
                  <a:lumMod val="50000"/>
                </a:schemeClr>
              </a:solidFill>
            </a:endParaRPr>
          </a:p>
          <a:p>
            <a:pPr lvl="1"/>
            <a:r>
              <a:rPr lang="zh-CN" altLang="en-US" sz="3600" b="1" dirty="0">
                <a:solidFill>
                  <a:schemeClr val="accent6">
                    <a:lumMod val="50000"/>
                  </a:schemeClr>
                </a:solidFill>
              </a:rPr>
              <a:t>计算机取证</a:t>
            </a:r>
            <a:endParaRPr lang="en-US" altLang="zh-CN" sz="3600" b="1" dirty="0">
              <a:solidFill>
                <a:schemeClr val="accent6">
                  <a:lumMod val="50000"/>
                </a:schemeClr>
              </a:solidFill>
            </a:endParaRPr>
          </a:p>
          <a:p>
            <a:pPr lvl="1">
              <a:buFont typeface="Wingdings" panose="05000000000000000000" pitchFamily="2" charset="2"/>
              <a:buChar char="p"/>
            </a:pPr>
            <a:r>
              <a:rPr lang="zh-CN" altLang="en-US" sz="3600" dirty="0"/>
              <a:t>公共计算机上浏览器保存的信息</a:t>
            </a:r>
            <a:endParaRPr lang="en-US" altLang="zh-CN" sz="3600" dirty="0"/>
          </a:p>
          <a:p>
            <a:pPr lvl="1">
              <a:buFont typeface="Wingdings" panose="05000000000000000000" pitchFamily="2" charset="2"/>
              <a:buChar char="p"/>
            </a:pPr>
            <a:r>
              <a:rPr lang="en-US" altLang="zh-CN" sz="3600" dirty="0"/>
              <a:t>Google</a:t>
            </a:r>
            <a:r>
              <a:rPr lang="zh-CN" altLang="en-US" sz="3600" dirty="0"/>
              <a:t>工具条的自动填充功能</a:t>
            </a:r>
            <a:endParaRPr lang="en-US" altLang="zh-CN" sz="3600" dirty="0"/>
          </a:p>
          <a:p>
            <a:pPr lvl="1">
              <a:buFont typeface="Wingdings" panose="05000000000000000000" pitchFamily="2" charset="2"/>
              <a:buChar char="p"/>
            </a:pPr>
            <a:r>
              <a:rPr lang="zh-CN" altLang="en-US" sz="3600" dirty="0"/>
              <a:t>内存、磁盘中的隐藏和遗留信息</a:t>
            </a:r>
            <a:endParaRPr lang="en-US" altLang="zh-CN" sz="3600" dirty="0"/>
          </a:p>
        </p:txBody>
      </p:sp>
    </p:spTree>
    <p:extLst>
      <p:ext uri="{BB962C8B-B14F-4D97-AF65-F5344CB8AC3E}">
        <p14:creationId xmlns:p14="http://schemas.microsoft.com/office/powerpoint/2010/main" val="8099400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网站测试</a:t>
            </a:r>
          </a:p>
        </p:txBody>
      </p:sp>
      <p:sp>
        <p:nvSpPr>
          <p:cNvPr id="3" name="内容占位符 2"/>
          <p:cNvSpPr>
            <a:spLocks noGrp="1"/>
          </p:cNvSpPr>
          <p:nvPr>
            <p:ph idx="1"/>
          </p:nvPr>
        </p:nvSpPr>
        <p:spPr/>
        <p:txBody>
          <a:bodyPr>
            <a:normAutofit/>
          </a:bodyPr>
          <a:lstStyle/>
          <a:p>
            <a:r>
              <a:rPr lang="zh-CN" altLang="en-US" sz="3600" dirty="0"/>
              <a:t>网页基础</a:t>
            </a:r>
            <a:endParaRPr lang="en-US" altLang="zh-CN" sz="3600" dirty="0"/>
          </a:p>
          <a:p>
            <a:pPr lvl="1"/>
            <a:r>
              <a:rPr lang="zh-CN" altLang="en-US" sz="3600" b="1" dirty="0">
                <a:solidFill>
                  <a:schemeClr val="accent6">
                    <a:lumMod val="50000"/>
                  </a:schemeClr>
                </a:solidFill>
              </a:rPr>
              <a:t>可见部分</a:t>
            </a:r>
            <a:endParaRPr lang="en-US" altLang="zh-CN" sz="3600" b="1" dirty="0">
              <a:solidFill>
                <a:schemeClr val="accent6">
                  <a:lumMod val="50000"/>
                </a:schemeClr>
              </a:solidFill>
            </a:endParaRPr>
          </a:p>
          <a:p>
            <a:pPr lvl="1">
              <a:buFont typeface="Wingdings" panose="05000000000000000000" pitchFamily="2" charset="2"/>
              <a:buChar char="p"/>
            </a:pPr>
            <a:r>
              <a:rPr lang="zh-CN" altLang="en-US" dirty="0"/>
              <a:t>不同大小、字体和颜色的文字</a:t>
            </a:r>
            <a:endParaRPr lang="en-US" altLang="zh-CN" dirty="0"/>
          </a:p>
          <a:p>
            <a:pPr lvl="1">
              <a:buFont typeface="Wingdings" panose="05000000000000000000" pitchFamily="2" charset="2"/>
              <a:buChar char="p"/>
            </a:pPr>
            <a:r>
              <a:rPr lang="zh-CN" altLang="en-US" dirty="0"/>
              <a:t>图片和照片</a:t>
            </a:r>
            <a:endParaRPr lang="en-US" altLang="zh-CN" dirty="0"/>
          </a:p>
          <a:p>
            <a:pPr lvl="1">
              <a:buFont typeface="Wingdings" panose="05000000000000000000" pitchFamily="2" charset="2"/>
              <a:buChar char="p"/>
            </a:pPr>
            <a:r>
              <a:rPr lang="zh-CN" altLang="en-US" dirty="0"/>
              <a:t>超链接文字和图片</a:t>
            </a:r>
            <a:endParaRPr lang="en-US" altLang="zh-CN" dirty="0"/>
          </a:p>
          <a:p>
            <a:pPr lvl="1">
              <a:buFont typeface="Wingdings" panose="05000000000000000000" pitchFamily="2" charset="2"/>
              <a:buChar char="p"/>
            </a:pPr>
            <a:r>
              <a:rPr lang="zh-CN" altLang="en-US" dirty="0"/>
              <a:t>不断滚动的广告</a:t>
            </a:r>
            <a:endParaRPr lang="en-US" altLang="zh-CN" dirty="0"/>
          </a:p>
          <a:p>
            <a:pPr lvl="1">
              <a:buFont typeface="Wingdings" panose="05000000000000000000" pitchFamily="2" charset="2"/>
              <a:buChar char="p"/>
            </a:pPr>
            <a:r>
              <a:rPr lang="zh-CN" altLang="en-US" dirty="0"/>
              <a:t>用户输入数据的区域</a:t>
            </a:r>
            <a:endParaRPr lang="en-US" altLang="zh-CN" dirty="0"/>
          </a:p>
        </p:txBody>
      </p:sp>
    </p:spTree>
    <p:extLst>
      <p:ext uri="{BB962C8B-B14F-4D97-AF65-F5344CB8AC3E}">
        <p14:creationId xmlns:p14="http://schemas.microsoft.com/office/powerpoint/2010/main" val="17990602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网站测试</a:t>
            </a:r>
          </a:p>
        </p:txBody>
      </p:sp>
      <p:sp>
        <p:nvSpPr>
          <p:cNvPr id="3" name="内容占位符 2"/>
          <p:cNvSpPr>
            <a:spLocks noGrp="1"/>
          </p:cNvSpPr>
          <p:nvPr>
            <p:ph idx="1"/>
          </p:nvPr>
        </p:nvSpPr>
        <p:spPr/>
        <p:txBody>
          <a:bodyPr>
            <a:normAutofit fontScale="92500" lnSpcReduction="10000"/>
          </a:bodyPr>
          <a:lstStyle/>
          <a:p>
            <a:r>
              <a:rPr lang="zh-CN" altLang="en-US" sz="3600" dirty="0"/>
              <a:t>网页基础</a:t>
            </a:r>
            <a:endParaRPr lang="en-US" altLang="zh-CN" sz="3600" dirty="0"/>
          </a:p>
          <a:p>
            <a:pPr lvl="1"/>
            <a:r>
              <a:rPr lang="zh-CN" altLang="en-US" sz="3600" b="1" dirty="0">
                <a:solidFill>
                  <a:schemeClr val="accent6">
                    <a:lumMod val="50000"/>
                  </a:schemeClr>
                </a:solidFill>
              </a:rPr>
              <a:t>不明显部分</a:t>
            </a:r>
            <a:endParaRPr lang="en-US" altLang="zh-CN" sz="3600" b="1" dirty="0">
              <a:solidFill>
                <a:schemeClr val="accent6">
                  <a:lumMod val="50000"/>
                </a:schemeClr>
              </a:solidFill>
            </a:endParaRPr>
          </a:p>
          <a:p>
            <a:pPr lvl="1">
              <a:buFont typeface="Wingdings" panose="05000000000000000000" pitchFamily="2" charset="2"/>
              <a:buChar char="p"/>
            </a:pPr>
            <a:r>
              <a:rPr lang="zh-CN" altLang="en-US" dirty="0"/>
              <a:t>自定义布局，允许用户更改信息出现在屏幕上的位置</a:t>
            </a:r>
            <a:endParaRPr lang="en-US" altLang="zh-CN" dirty="0"/>
          </a:p>
          <a:p>
            <a:pPr lvl="1">
              <a:buFont typeface="Wingdings" panose="05000000000000000000" pitchFamily="2" charset="2"/>
              <a:buChar char="p"/>
            </a:pPr>
            <a:r>
              <a:rPr lang="zh-CN" altLang="en-US" dirty="0"/>
              <a:t>自定义内容，允许用户选择想看的新闻和信息</a:t>
            </a:r>
            <a:endParaRPr lang="en-US" altLang="zh-CN" dirty="0"/>
          </a:p>
          <a:p>
            <a:pPr lvl="1">
              <a:buFont typeface="Wingdings" panose="05000000000000000000" pitchFamily="2" charset="2"/>
              <a:buChar char="p"/>
            </a:pPr>
            <a:r>
              <a:rPr lang="zh-CN" altLang="en-US" dirty="0"/>
              <a:t>动态下拉式选择框</a:t>
            </a:r>
            <a:endParaRPr lang="en-US" altLang="zh-CN" dirty="0"/>
          </a:p>
          <a:p>
            <a:pPr lvl="1">
              <a:buFont typeface="Wingdings" panose="05000000000000000000" pitchFamily="2" charset="2"/>
              <a:buChar char="p"/>
            </a:pPr>
            <a:r>
              <a:rPr lang="zh-CN" altLang="en-US" dirty="0"/>
              <a:t>动态变化的文字</a:t>
            </a:r>
            <a:endParaRPr lang="en-US" altLang="zh-CN" dirty="0"/>
          </a:p>
          <a:p>
            <a:pPr lvl="1">
              <a:buFont typeface="Wingdings" panose="05000000000000000000" pitchFamily="2" charset="2"/>
              <a:buChar char="p"/>
            </a:pPr>
            <a:r>
              <a:rPr lang="zh-CN" altLang="en-US" dirty="0"/>
              <a:t>取决于屏幕分辨率的动态布局和可选信息</a:t>
            </a:r>
            <a:endParaRPr lang="en-US" altLang="zh-CN" dirty="0"/>
          </a:p>
          <a:p>
            <a:pPr lvl="1">
              <a:buFont typeface="Wingdings" panose="05000000000000000000" pitchFamily="2" charset="2"/>
              <a:buChar char="p"/>
            </a:pPr>
            <a:r>
              <a:rPr lang="zh-CN" altLang="en-US" dirty="0"/>
              <a:t>与不同浏览器及版本，以及软硬件平台的兼容性</a:t>
            </a:r>
            <a:endParaRPr lang="en-US" altLang="zh-CN" dirty="0"/>
          </a:p>
          <a:p>
            <a:pPr lvl="1">
              <a:buFont typeface="Wingdings" panose="05000000000000000000" pitchFamily="2" charset="2"/>
              <a:buChar char="p"/>
            </a:pPr>
            <a:r>
              <a:rPr lang="zh-CN" altLang="en-US" dirty="0"/>
              <a:t>大量加强网页易用性的隐藏格式、标记和嵌入信息</a:t>
            </a:r>
            <a:endParaRPr lang="en-US" altLang="zh-CN" dirty="0"/>
          </a:p>
          <a:p>
            <a:pPr lvl="1">
              <a:buFont typeface="Wingdings" panose="05000000000000000000" pitchFamily="2" charset="2"/>
              <a:buChar char="p"/>
            </a:pPr>
            <a:endParaRPr lang="en-US" altLang="zh-CN" dirty="0"/>
          </a:p>
        </p:txBody>
      </p:sp>
    </p:spTree>
    <p:extLst>
      <p:ext uri="{BB962C8B-B14F-4D97-AF65-F5344CB8AC3E}">
        <p14:creationId xmlns:p14="http://schemas.microsoft.com/office/powerpoint/2010/main" val="721816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网站测试</a:t>
            </a:r>
          </a:p>
        </p:txBody>
      </p:sp>
      <p:sp>
        <p:nvSpPr>
          <p:cNvPr id="3" name="内容占位符 2"/>
          <p:cNvSpPr>
            <a:spLocks noGrp="1"/>
          </p:cNvSpPr>
          <p:nvPr>
            <p:ph idx="1"/>
          </p:nvPr>
        </p:nvSpPr>
        <p:spPr/>
        <p:txBody>
          <a:bodyPr>
            <a:normAutofit/>
          </a:bodyPr>
          <a:lstStyle/>
          <a:p>
            <a:r>
              <a:rPr lang="zh-CN" altLang="en-US" sz="3600" dirty="0"/>
              <a:t>网页测试方法</a:t>
            </a:r>
            <a:endParaRPr lang="en-US" altLang="zh-CN" sz="3600" dirty="0"/>
          </a:p>
          <a:p>
            <a:pPr lvl="1"/>
            <a:r>
              <a:rPr lang="zh-CN" altLang="en-US" sz="3600" b="1" dirty="0">
                <a:solidFill>
                  <a:schemeClr val="accent6">
                    <a:lumMod val="50000"/>
                  </a:schemeClr>
                </a:solidFill>
              </a:rPr>
              <a:t>黑盒测试</a:t>
            </a:r>
            <a:endParaRPr lang="en-US" altLang="zh-CN" sz="3600" b="1" dirty="0">
              <a:solidFill>
                <a:schemeClr val="accent6">
                  <a:lumMod val="50000"/>
                </a:schemeClr>
              </a:solidFill>
            </a:endParaRPr>
          </a:p>
          <a:p>
            <a:pPr lvl="1">
              <a:buFont typeface="Wingdings" panose="05000000000000000000" pitchFamily="2" charset="2"/>
              <a:buChar char="p"/>
            </a:pPr>
            <a:r>
              <a:rPr lang="zh-CN" altLang="en-US" dirty="0"/>
              <a:t>文本：例如拼写</a:t>
            </a:r>
            <a:endParaRPr lang="en-US" altLang="zh-CN" dirty="0"/>
          </a:p>
          <a:p>
            <a:pPr lvl="1">
              <a:buFont typeface="Wingdings" panose="05000000000000000000" pitchFamily="2" charset="2"/>
              <a:buChar char="p"/>
            </a:pPr>
            <a:r>
              <a:rPr lang="zh-CN" altLang="en-US" dirty="0"/>
              <a:t>超级链接</a:t>
            </a:r>
            <a:endParaRPr lang="en-US" altLang="zh-CN" dirty="0"/>
          </a:p>
          <a:p>
            <a:pPr lvl="1">
              <a:buFont typeface="Wingdings" panose="05000000000000000000" pitchFamily="2" charset="2"/>
              <a:buChar char="p"/>
            </a:pPr>
            <a:r>
              <a:rPr lang="zh-CN" altLang="en-US" dirty="0"/>
              <a:t>图片：是否被正确载入，载入时网页性能如何？</a:t>
            </a:r>
            <a:endParaRPr lang="en-US" altLang="zh-CN" dirty="0"/>
          </a:p>
          <a:p>
            <a:pPr lvl="1">
              <a:buFont typeface="Wingdings" panose="05000000000000000000" pitchFamily="2" charset="2"/>
              <a:buChar char="p"/>
            </a:pPr>
            <a:r>
              <a:rPr lang="zh-CN" altLang="en-US" dirty="0"/>
              <a:t>表单：拒绝错误数据</a:t>
            </a:r>
            <a:endParaRPr lang="en-US" altLang="zh-CN" dirty="0"/>
          </a:p>
          <a:p>
            <a:pPr lvl="1">
              <a:buFont typeface="Wingdings" panose="05000000000000000000" pitchFamily="2" charset="2"/>
              <a:buChar char="p"/>
            </a:pPr>
            <a:r>
              <a:rPr lang="zh-CN" altLang="en-US" dirty="0"/>
              <a:t>对象和其他各种简单功能</a:t>
            </a:r>
            <a:endParaRPr lang="en-US" altLang="zh-CN" dirty="0"/>
          </a:p>
          <a:p>
            <a:pPr lvl="1">
              <a:buFont typeface="Wingdings" panose="05000000000000000000" pitchFamily="2" charset="2"/>
              <a:buChar char="p"/>
            </a:pPr>
            <a:endParaRPr lang="en-US" altLang="zh-CN" dirty="0"/>
          </a:p>
        </p:txBody>
      </p:sp>
    </p:spTree>
    <p:extLst>
      <p:ext uri="{BB962C8B-B14F-4D97-AF65-F5344CB8AC3E}">
        <p14:creationId xmlns:p14="http://schemas.microsoft.com/office/powerpoint/2010/main" val="1267791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网站测试</a:t>
            </a:r>
          </a:p>
        </p:txBody>
      </p:sp>
      <p:sp>
        <p:nvSpPr>
          <p:cNvPr id="3" name="内容占位符 2"/>
          <p:cNvSpPr>
            <a:spLocks noGrp="1"/>
          </p:cNvSpPr>
          <p:nvPr>
            <p:ph idx="1"/>
          </p:nvPr>
        </p:nvSpPr>
        <p:spPr/>
        <p:txBody>
          <a:bodyPr>
            <a:normAutofit/>
          </a:bodyPr>
          <a:lstStyle/>
          <a:p>
            <a:r>
              <a:rPr lang="zh-CN" altLang="en-US" sz="3600" dirty="0"/>
              <a:t>网页测试方法</a:t>
            </a:r>
            <a:endParaRPr lang="en-US" altLang="zh-CN" sz="3600" dirty="0"/>
          </a:p>
          <a:p>
            <a:pPr lvl="1"/>
            <a:r>
              <a:rPr lang="zh-CN" altLang="en-US" sz="3600" b="1" dirty="0">
                <a:solidFill>
                  <a:schemeClr val="accent6">
                    <a:lumMod val="50000"/>
                  </a:schemeClr>
                </a:solidFill>
              </a:rPr>
              <a:t>灰盒测试</a:t>
            </a:r>
            <a:endParaRPr lang="en-US" altLang="zh-CN" sz="3600" b="1" dirty="0">
              <a:solidFill>
                <a:schemeClr val="accent6">
                  <a:lumMod val="50000"/>
                </a:schemeClr>
              </a:solidFill>
            </a:endParaRPr>
          </a:p>
          <a:p>
            <a:pPr lvl="1">
              <a:buFont typeface="Wingdings" panose="05000000000000000000" pitchFamily="2" charset="2"/>
              <a:buChar char="p"/>
            </a:pPr>
            <a:r>
              <a:rPr lang="zh-CN" altLang="en-US" dirty="0"/>
              <a:t>仍然将软件当作黑盒来测试，但是通过简单查看（不像白盒那样完整地查看）软件内部工作机制</a:t>
            </a:r>
            <a:endParaRPr lang="en-US" altLang="zh-CN" dirty="0"/>
          </a:p>
          <a:p>
            <a:pPr lvl="1">
              <a:buFont typeface="Wingdings" panose="05000000000000000000" pitchFamily="2" charset="2"/>
              <a:buChar char="p"/>
            </a:pPr>
            <a:r>
              <a:rPr lang="zh-CN" altLang="en-US" dirty="0"/>
              <a:t>网页特点使其非常适合进行灰盒测试，因为网页是</a:t>
            </a:r>
            <a:r>
              <a:rPr lang="en-US" altLang="zh-CN" dirty="0"/>
              <a:t>HTML</a:t>
            </a:r>
            <a:r>
              <a:rPr lang="zh-CN" altLang="en-US" dirty="0"/>
              <a:t>语言编写而成，而</a:t>
            </a:r>
            <a:r>
              <a:rPr lang="en-US" altLang="zh-CN" dirty="0"/>
              <a:t>HTML</a:t>
            </a:r>
            <a:r>
              <a:rPr lang="zh-CN" altLang="en-US" dirty="0"/>
              <a:t>语言是标记语言，无法运行或执行，只能确定文字和图片在屏幕上的显示方式</a:t>
            </a:r>
            <a:endParaRPr lang="en-US" altLang="zh-CN" dirty="0"/>
          </a:p>
        </p:txBody>
      </p:sp>
    </p:spTree>
    <p:extLst>
      <p:ext uri="{BB962C8B-B14F-4D97-AF65-F5344CB8AC3E}">
        <p14:creationId xmlns:p14="http://schemas.microsoft.com/office/powerpoint/2010/main" val="721454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网站测试</a:t>
            </a:r>
          </a:p>
        </p:txBody>
      </p:sp>
      <p:sp>
        <p:nvSpPr>
          <p:cNvPr id="3" name="内容占位符 2"/>
          <p:cNvSpPr>
            <a:spLocks noGrp="1"/>
          </p:cNvSpPr>
          <p:nvPr>
            <p:ph idx="1"/>
          </p:nvPr>
        </p:nvSpPr>
        <p:spPr/>
        <p:txBody>
          <a:bodyPr>
            <a:normAutofit fontScale="92500" lnSpcReduction="10000"/>
          </a:bodyPr>
          <a:lstStyle/>
          <a:p>
            <a:r>
              <a:rPr lang="zh-CN" altLang="en-US" sz="3600" dirty="0"/>
              <a:t>网页测试方法</a:t>
            </a:r>
            <a:endParaRPr lang="en-US" altLang="zh-CN" sz="3600" dirty="0"/>
          </a:p>
          <a:p>
            <a:pPr lvl="1"/>
            <a:r>
              <a:rPr lang="zh-CN" altLang="en-US" sz="3600" b="1" dirty="0">
                <a:solidFill>
                  <a:schemeClr val="accent6">
                    <a:lumMod val="50000"/>
                  </a:schemeClr>
                </a:solidFill>
              </a:rPr>
              <a:t>白盒测试</a:t>
            </a:r>
            <a:endParaRPr lang="en-US" altLang="zh-CN" sz="3600" b="1" dirty="0">
              <a:solidFill>
                <a:schemeClr val="accent6">
                  <a:lumMod val="50000"/>
                </a:schemeClr>
              </a:solidFill>
            </a:endParaRPr>
          </a:p>
          <a:p>
            <a:pPr lvl="1">
              <a:buFont typeface="Wingdings" panose="05000000000000000000" pitchFamily="2" charset="2"/>
              <a:buChar char="p"/>
            </a:pPr>
            <a:r>
              <a:rPr lang="zh-CN" altLang="en-US" dirty="0"/>
              <a:t>静态内容由</a:t>
            </a:r>
            <a:r>
              <a:rPr lang="en-US" altLang="zh-CN" dirty="0"/>
              <a:t>HTML</a:t>
            </a:r>
            <a:r>
              <a:rPr lang="zh-CN" altLang="en-US" dirty="0"/>
              <a:t>直接创建</a:t>
            </a:r>
            <a:endParaRPr lang="en-US" altLang="zh-CN" dirty="0"/>
          </a:p>
          <a:p>
            <a:pPr lvl="1">
              <a:buFont typeface="Wingdings" panose="05000000000000000000" pitchFamily="2" charset="2"/>
              <a:buChar char="p"/>
            </a:pPr>
            <a:r>
              <a:rPr lang="zh-CN" altLang="en-US" dirty="0"/>
              <a:t>动态内容则由</a:t>
            </a:r>
            <a:r>
              <a:rPr lang="en-US" altLang="zh-CN" dirty="0"/>
              <a:t>JavaScript</a:t>
            </a:r>
            <a:r>
              <a:rPr lang="zh-CN" altLang="en-US" dirty="0"/>
              <a:t>等语言创建</a:t>
            </a:r>
            <a:endParaRPr lang="en-US" altLang="zh-CN" dirty="0"/>
          </a:p>
          <a:p>
            <a:pPr lvl="1">
              <a:buFont typeface="Wingdings" panose="05000000000000000000" pitchFamily="2" charset="2"/>
              <a:buChar char="p"/>
            </a:pPr>
            <a:r>
              <a:rPr lang="zh-CN" altLang="en-US" dirty="0"/>
              <a:t>白盒测试需要有网站的系统结构和编程知识基础：</a:t>
            </a:r>
            <a:endParaRPr lang="en-US" altLang="zh-CN" dirty="0"/>
          </a:p>
          <a:p>
            <a:pPr lvl="2">
              <a:buFont typeface="Wingdings" panose="05000000000000000000" pitchFamily="2" charset="2"/>
              <a:buChar char="p"/>
            </a:pPr>
            <a:r>
              <a:rPr lang="zh-CN" altLang="en-US" dirty="0"/>
              <a:t>动态内容：</a:t>
            </a:r>
            <a:r>
              <a:rPr lang="en-US" altLang="zh-CN" dirty="0"/>
              <a:t>JavaScript</a:t>
            </a:r>
            <a:r>
              <a:rPr lang="zh-CN" altLang="en-US" dirty="0"/>
              <a:t>等</a:t>
            </a:r>
            <a:endParaRPr lang="en-US" altLang="zh-CN" dirty="0"/>
          </a:p>
          <a:p>
            <a:pPr lvl="2">
              <a:buFont typeface="Wingdings" panose="05000000000000000000" pitchFamily="2" charset="2"/>
              <a:buChar char="p"/>
            </a:pPr>
            <a:r>
              <a:rPr lang="zh-CN" altLang="en-US" dirty="0"/>
              <a:t>数据库驱动的网页</a:t>
            </a:r>
            <a:endParaRPr lang="en-US" altLang="zh-CN" dirty="0"/>
          </a:p>
          <a:p>
            <a:pPr lvl="2">
              <a:buFont typeface="Wingdings" panose="05000000000000000000" pitchFamily="2" charset="2"/>
              <a:buChar char="p"/>
            </a:pPr>
            <a:r>
              <a:rPr lang="zh-CN" altLang="en-US" dirty="0"/>
              <a:t>用编程方法创建的网页</a:t>
            </a:r>
            <a:endParaRPr lang="en-US" altLang="zh-CN" dirty="0"/>
          </a:p>
          <a:p>
            <a:pPr lvl="2">
              <a:buFont typeface="Wingdings" panose="05000000000000000000" pitchFamily="2" charset="2"/>
              <a:buChar char="p"/>
            </a:pPr>
            <a:r>
              <a:rPr lang="zh-CN" altLang="en-US" dirty="0"/>
              <a:t>服务器性能和加载：测试性能和负载能力</a:t>
            </a:r>
            <a:endParaRPr lang="en-US" altLang="zh-CN" dirty="0"/>
          </a:p>
          <a:p>
            <a:pPr lvl="2">
              <a:buFont typeface="Wingdings" panose="05000000000000000000" pitchFamily="2" charset="2"/>
              <a:buChar char="p"/>
            </a:pPr>
            <a:r>
              <a:rPr lang="zh-CN" altLang="en-US" dirty="0"/>
              <a:t>安全性</a:t>
            </a:r>
            <a:endParaRPr lang="en-US" altLang="zh-CN" dirty="0"/>
          </a:p>
        </p:txBody>
      </p:sp>
    </p:spTree>
    <p:extLst>
      <p:ext uri="{BB962C8B-B14F-4D97-AF65-F5344CB8AC3E}">
        <p14:creationId xmlns:p14="http://schemas.microsoft.com/office/powerpoint/2010/main" val="36174599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网站测试</a:t>
            </a:r>
          </a:p>
        </p:txBody>
      </p:sp>
      <p:sp>
        <p:nvSpPr>
          <p:cNvPr id="3" name="内容占位符 2"/>
          <p:cNvSpPr>
            <a:spLocks noGrp="1"/>
          </p:cNvSpPr>
          <p:nvPr>
            <p:ph idx="1"/>
          </p:nvPr>
        </p:nvSpPr>
        <p:spPr/>
        <p:txBody>
          <a:bodyPr>
            <a:normAutofit/>
          </a:bodyPr>
          <a:lstStyle/>
          <a:p>
            <a:r>
              <a:rPr lang="zh-CN" altLang="en-US" sz="3600" dirty="0"/>
              <a:t>网页配置和兼容性测试</a:t>
            </a:r>
            <a:endParaRPr lang="en-US" altLang="zh-CN" sz="3600" dirty="0"/>
          </a:p>
          <a:p>
            <a:pPr lvl="1"/>
            <a:r>
              <a:rPr lang="zh-CN" altLang="en-US" dirty="0"/>
              <a:t>硬件平台</a:t>
            </a:r>
            <a:endParaRPr lang="en-US" altLang="zh-CN" dirty="0"/>
          </a:p>
          <a:p>
            <a:pPr lvl="1"/>
            <a:r>
              <a:rPr lang="zh-CN" altLang="en-US" dirty="0"/>
              <a:t>浏览器软件和版本</a:t>
            </a:r>
            <a:endParaRPr lang="en-US" altLang="zh-CN" dirty="0"/>
          </a:p>
          <a:p>
            <a:pPr lvl="1"/>
            <a:r>
              <a:rPr lang="zh-CN" altLang="en-US" dirty="0"/>
              <a:t>浏览器插件</a:t>
            </a:r>
            <a:endParaRPr lang="en-US" altLang="zh-CN" dirty="0"/>
          </a:p>
          <a:p>
            <a:pPr lvl="1"/>
            <a:r>
              <a:rPr lang="zh-CN" altLang="en-US" dirty="0"/>
              <a:t>视频分辨率和色深</a:t>
            </a:r>
            <a:endParaRPr lang="en-US" altLang="zh-CN" dirty="0"/>
          </a:p>
          <a:p>
            <a:pPr lvl="1"/>
            <a:r>
              <a:rPr lang="zh-CN" altLang="en-US" dirty="0"/>
              <a:t>文字大小</a:t>
            </a:r>
            <a:endParaRPr lang="en-US" altLang="zh-CN" dirty="0"/>
          </a:p>
          <a:p>
            <a:pPr lvl="1"/>
            <a:r>
              <a:rPr lang="zh-CN" altLang="en-US" dirty="0"/>
              <a:t>调制解调器速率</a:t>
            </a:r>
            <a:endParaRPr lang="en-US" altLang="zh-CN" dirty="0"/>
          </a:p>
          <a:p>
            <a:pPr marL="457200" lvl="1" indent="0">
              <a:buNone/>
            </a:pPr>
            <a:endParaRPr lang="en-US" altLang="zh-CN" dirty="0"/>
          </a:p>
        </p:txBody>
      </p:sp>
    </p:spTree>
    <p:extLst>
      <p:ext uri="{BB962C8B-B14F-4D97-AF65-F5344CB8AC3E}">
        <p14:creationId xmlns:p14="http://schemas.microsoft.com/office/powerpoint/2010/main" val="26716715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just"/>
            <a:r>
              <a:rPr lang="zh-CN" altLang="en-US" dirty="0"/>
              <a:t>网站测试</a:t>
            </a:r>
          </a:p>
        </p:txBody>
      </p:sp>
      <p:sp>
        <p:nvSpPr>
          <p:cNvPr id="3" name="内容占位符 2"/>
          <p:cNvSpPr>
            <a:spLocks noGrp="1"/>
          </p:cNvSpPr>
          <p:nvPr>
            <p:ph idx="1"/>
          </p:nvPr>
        </p:nvSpPr>
        <p:spPr/>
        <p:txBody>
          <a:bodyPr>
            <a:normAutofit fontScale="92500" lnSpcReduction="20000"/>
          </a:bodyPr>
          <a:lstStyle/>
          <a:p>
            <a:r>
              <a:rPr lang="zh-CN" altLang="en-US" sz="3600" dirty="0"/>
              <a:t>网页易用性测试</a:t>
            </a:r>
            <a:endParaRPr lang="en-US" altLang="zh-CN" sz="3600" dirty="0"/>
          </a:p>
          <a:p>
            <a:pPr lvl="1"/>
            <a:r>
              <a:rPr lang="zh-CN" altLang="en-US" dirty="0"/>
              <a:t>盲目使用不成熟的新技术</a:t>
            </a:r>
            <a:endParaRPr lang="en-US" altLang="zh-CN" dirty="0"/>
          </a:p>
          <a:p>
            <a:pPr lvl="1"/>
            <a:r>
              <a:rPr lang="zh-CN" altLang="en-US" dirty="0"/>
              <a:t>滚动文字、滚动块和不停运行的动画</a:t>
            </a:r>
            <a:endParaRPr lang="en-US" altLang="zh-CN" dirty="0"/>
          </a:p>
          <a:p>
            <a:pPr lvl="1"/>
            <a:r>
              <a:rPr lang="zh-CN" altLang="en-US" dirty="0"/>
              <a:t>滚动显示的长页面</a:t>
            </a:r>
            <a:endParaRPr lang="en-US" altLang="zh-CN" dirty="0"/>
          </a:p>
          <a:p>
            <a:pPr lvl="1"/>
            <a:r>
              <a:rPr lang="zh-CN" altLang="en-US" dirty="0"/>
              <a:t>非标准的链接颜色</a:t>
            </a:r>
            <a:endParaRPr lang="en-US" altLang="zh-CN" dirty="0"/>
          </a:p>
          <a:p>
            <a:pPr lvl="1"/>
            <a:r>
              <a:rPr lang="zh-CN" altLang="en-US" dirty="0"/>
              <a:t>过期信息</a:t>
            </a:r>
            <a:endParaRPr lang="en-US" altLang="zh-CN" dirty="0"/>
          </a:p>
          <a:p>
            <a:pPr lvl="1"/>
            <a:r>
              <a:rPr lang="zh-CN" altLang="en-US" dirty="0"/>
              <a:t>下载时间过长</a:t>
            </a:r>
            <a:endParaRPr lang="en-US" altLang="zh-CN" dirty="0"/>
          </a:p>
          <a:p>
            <a:pPr lvl="1"/>
            <a:r>
              <a:rPr lang="zh-CN" altLang="en-US" dirty="0"/>
              <a:t>缺少导航支持</a:t>
            </a:r>
            <a:endParaRPr lang="en-US" altLang="zh-CN" dirty="0"/>
          </a:p>
          <a:p>
            <a:pPr lvl="1"/>
            <a:r>
              <a:rPr lang="zh-CN" altLang="en-US" dirty="0"/>
              <a:t>孤页</a:t>
            </a:r>
            <a:endParaRPr lang="en-US" altLang="zh-CN" dirty="0"/>
          </a:p>
          <a:p>
            <a:pPr lvl="1"/>
            <a:r>
              <a:rPr lang="zh-CN" altLang="en-US" dirty="0"/>
              <a:t>复杂的网站地址</a:t>
            </a:r>
            <a:endParaRPr lang="en-US" altLang="zh-CN" dirty="0"/>
          </a:p>
          <a:p>
            <a:pPr lvl="1"/>
            <a:r>
              <a:rPr lang="zh-CN" altLang="en-US" dirty="0"/>
              <a:t>使用框架</a:t>
            </a:r>
            <a:endParaRPr lang="en-US" altLang="zh-CN" dirty="0"/>
          </a:p>
        </p:txBody>
      </p:sp>
    </p:spTree>
    <p:extLst>
      <p:ext uri="{BB962C8B-B14F-4D97-AF65-F5344CB8AC3E}">
        <p14:creationId xmlns:p14="http://schemas.microsoft.com/office/powerpoint/2010/main" val="1145295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4098" descr="Large confetti"/>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其他</a:t>
            </a:r>
            <a:r>
              <a:rPr lang="zh-CN" altLang="en-US" dirty="0">
                <a:ea typeface="楷体_GB2312"/>
                <a:cs typeface="楷体_GB2312"/>
              </a:rPr>
              <a:t>典型类型</a:t>
            </a:r>
          </a:p>
        </p:txBody>
      </p:sp>
      <p:sp>
        <p:nvSpPr>
          <p:cNvPr id="267267" name="Rectangle 4099"/>
          <p:cNvSpPr>
            <a:spLocks noGrp="1" noChangeArrowheads="1"/>
          </p:cNvSpPr>
          <p:nvPr>
            <p:ph idx="1"/>
          </p:nvPr>
        </p:nvSpPr>
        <p:spPr>
          <a:xfrm>
            <a:off x="590872" y="1783844"/>
            <a:ext cx="8229600" cy="4525476"/>
          </a:xfrm>
        </p:spPr>
        <p:txBody>
          <a:bodyPr>
            <a:noAutofit/>
          </a:bodyPr>
          <a:lstStyle/>
          <a:p>
            <a:r>
              <a:rPr lang="zh-CN" altLang="en-US" sz="2400" dirty="0"/>
              <a:t>功能测试</a:t>
            </a:r>
            <a:endParaRPr lang="en-US" altLang="zh-CN" sz="2400" dirty="0"/>
          </a:p>
          <a:p>
            <a:r>
              <a:rPr lang="zh-CN" altLang="en-US" sz="2400" dirty="0"/>
              <a:t>性能测试</a:t>
            </a:r>
            <a:endParaRPr lang="en-US" altLang="zh-CN" sz="2400" dirty="0"/>
          </a:p>
          <a:p>
            <a:r>
              <a:rPr lang="zh-CN" altLang="en-US" sz="2400" dirty="0"/>
              <a:t>压力测试</a:t>
            </a:r>
            <a:endParaRPr lang="en-US" altLang="zh-CN" sz="2400" dirty="0"/>
          </a:p>
          <a:p>
            <a:r>
              <a:rPr lang="zh-CN" altLang="en-US" sz="2400" dirty="0"/>
              <a:t>接口测试</a:t>
            </a:r>
            <a:endParaRPr lang="en-US" altLang="zh-CN" sz="2400" dirty="0"/>
          </a:p>
          <a:p>
            <a:r>
              <a:rPr lang="zh-CN" altLang="en-US" sz="2400" dirty="0"/>
              <a:t>人机交互界面测试</a:t>
            </a:r>
            <a:endParaRPr lang="en-US" altLang="zh-CN" sz="2400" dirty="0"/>
          </a:p>
          <a:p>
            <a:r>
              <a:rPr lang="zh-CN" altLang="en-US" sz="2400" dirty="0"/>
              <a:t>想定测试</a:t>
            </a:r>
            <a:r>
              <a:rPr lang="en-US" altLang="zh-CN" sz="2400" dirty="0"/>
              <a:t>(Scenario testing)</a:t>
            </a:r>
          </a:p>
          <a:p>
            <a:r>
              <a:rPr lang="zh-CN" altLang="en-US" sz="2400" dirty="0"/>
              <a:t>域测试</a:t>
            </a:r>
            <a:r>
              <a:rPr lang="en-US" altLang="zh-CN" sz="2400" dirty="0"/>
              <a:t>(Domain testing)</a:t>
            </a:r>
          </a:p>
          <a:p>
            <a:endParaRPr lang="en-US" altLang="zh-CN" sz="2000" dirty="0"/>
          </a:p>
        </p:txBody>
      </p:sp>
      <p:sp>
        <p:nvSpPr>
          <p:cNvPr id="26726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F0ABED75-D812-4106-A5FA-23DE83C27DCC}" type="slidenum">
              <a:rPr lang="en-US" altLang="zh-CN" sz="1800" b="0">
                <a:latin typeface="Times New Roman" pitchFamily="18" charset="0"/>
                <a:ea typeface="微软雅黑" pitchFamily="34" charset="-122"/>
              </a:rPr>
              <a:pPr algn="l" eaLnBrk="0" hangingPunct="0">
                <a:spcBef>
                  <a:spcPct val="0"/>
                </a:spcBef>
                <a:buFontTx/>
                <a:buNone/>
              </a:pPr>
              <a:t>55</a:t>
            </a:fld>
            <a:endParaRPr lang="en-US" altLang="zh-CN" sz="1800" b="0" dirty="0">
              <a:latin typeface="Times New Roman" pitchFamily="18" charset="0"/>
              <a:ea typeface="微软雅黑" pitchFamily="34" charset="-122"/>
            </a:endParaRPr>
          </a:p>
        </p:txBody>
      </p:sp>
      <p:sp>
        <p:nvSpPr>
          <p:cNvPr id="5" name="Rectangle 4099"/>
          <p:cNvSpPr txBox="1">
            <a:spLocks noChangeArrowheads="1"/>
          </p:cNvSpPr>
          <p:nvPr/>
        </p:nvSpPr>
        <p:spPr>
          <a:xfrm>
            <a:off x="4839344" y="1758295"/>
            <a:ext cx="3189040" cy="452547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探索性测试</a:t>
            </a:r>
            <a:endParaRPr lang="en-US" altLang="zh-CN" sz="2400" dirty="0"/>
          </a:p>
          <a:p>
            <a:r>
              <a:rPr lang="zh-CN" altLang="en-US" sz="2400" dirty="0"/>
              <a:t>随机测试</a:t>
            </a:r>
            <a:endParaRPr lang="en-US" altLang="zh-CN" sz="2400" dirty="0"/>
          </a:p>
          <a:p>
            <a:r>
              <a:rPr lang="zh-CN" altLang="en-US" sz="2400" dirty="0"/>
              <a:t>基于风险的测试</a:t>
            </a:r>
            <a:endParaRPr lang="en-US" altLang="zh-CN" sz="2400" dirty="0"/>
          </a:p>
          <a:p>
            <a:r>
              <a:rPr lang="zh-CN" altLang="en-US" sz="2400" dirty="0"/>
              <a:t>基于规范的测试</a:t>
            </a:r>
            <a:endParaRPr lang="en-US" altLang="zh-CN" sz="2400" dirty="0"/>
          </a:p>
          <a:p>
            <a:r>
              <a:rPr lang="zh-CN" altLang="en-US" sz="2400" dirty="0"/>
              <a:t>安装性测试</a:t>
            </a:r>
            <a:endParaRPr lang="en-US" altLang="zh-CN" sz="2400" dirty="0"/>
          </a:p>
          <a:p>
            <a:r>
              <a:rPr lang="zh-CN" altLang="en-US" sz="2400" dirty="0"/>
              <a:t>可靠性测试</a:t>
            </a:r>
            <a:endParaRPr lang="en-US" altLang="zh-CN" sz="2400" dirty="0"/>
          </a:p>
          <a:p>
            <a:r>
              <a:rPr lang="zh-CN" altLang="en-US" sz="2400" dirty="0"/>
              <a:t>恢复性测试</a:t>
            </a:r>
            <a:endParaRPr lang="en-US" altLang="zh-CN" sz="2400" dirty="0"/>
          </a:p>
          <a:p>
            <a:endParaRPr lang="en-US" altLang="zh-CN" sz="2000" dirty="0"/>
          </a:p>
        </p:txBody>
      </p:sp>
    </p:spTree>
    <p:extLst>
      <p:ext uri="{BB962C8B-B14F-4D97-AF65-F5344CB8AC3E}">
        <p14:creationId xmlns:p14="http://schemas.microsoft.com/office/powerpoint/2010/main" val="284026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ea typeface="楷体_GB2312"/>
                <a:cs typeface="楷体_GB2312"/>
              </a:rPr>
              <a:t>基本目标</a:t>
            </a:r>
          </a:p>
        </p:txBody>
      </p:sp>
      <p:sp>
        <p:nvSpPr>
          <p:cNvPr id="1158147" name="Rectangle 3"/>
          <p:cNvSpPr>
            <a:spLocks noGrp="1" noChangeArrowheads="1"/>
          </p:cNvSpPr>
          <p:nvPr>
            <p:ph idx="1"/>
          </p:nvPr>
        </p:nvSpPr>
        <p:spPr>
          <a:xfrm>
            <a:off x="468313" y="1319578"/>
            <a:ext cx="8229600" cy="4525476"/>
          </a:xfrm>
        </p:spPr>
        <p:txBody>
          <a:bodyPr/>
          <a:lstStyle/>
          <a:p>
            <a:pPr>
              <a:defRPr/>
            </a:pPr>
            <a:r>
              <a:rPr lang="zh-CN" altLang="en-US" dirty="0"/>
              <a:t>详尽测试每一个软件功能</a:t>
            </a:r>
          </a:p>
          <a:p>
            <a:pPr lvl="1">
              <a:spcAft>
                <a:spcPct val="20000"/>
              </a:spcAft>
              <a:defRPr/>
            </a:pPr>
            <a:r>
              <a:rPr lang="zh-CN" altLang="en-US" sz="2400" dirty="0">
                <a:solidFill>
                  <a:srgbClr val="000000"/>
                </a:solidFill>
              </a:rPr>
              <a:t>功能</a:t>
            </a:r>
            <a:r>
              <a:rPr lang="zh-CN" altLang="en-US" sz="2400" dirty="0">
                <a:solidFill>
                  <a:srgbClr val="000000"/>
                </a:solidFill>
                <a:ea typeface="宋体" panose="02010600030101010101" pitchFamily="2" charset="-122"/>
              </a:rPr>
              <a:t>－</a:t>
            </a:r>
            <a:r>
              <a:rPr lang="zh-CN" altLang="en-US" sz="2400" dirty="0">
                <a:solidFill>
                  <a:srgbClr val="000000"/>
                </a:solidFill>
              </a:rPr>
              <a:t>产品能够完成事情，如：特征</a:t>
            </a:r>
            <a:r>
              <a:rPr lang="en-US" altLang="zh-CN" sz="2400" dirty="0">
                <a:solidFill>
                  <a:srgbClr val="000000"/>
                </a:solidFill>
              </a:rPr>
              <a:t>/</a:t>
            </a:r>
            <a:r>
              <a:rPr lang="zh-CN" altLang="en-US" sz="2400" dirty="0">
                <a:solidFill>
                  <a:srgbClr val="000000"/>
                </a:solidFill>
              </a:rPr>
              <a:t>命令</a:t>
            </a:r>
            <a:r>
              <a:rPr lang="en-US" altLang="zh-CN" sz="2400" dirty="0">
                <a:solidFill>
                  <a:srgbClr val="000000"/>
                </a:solidFill>
              </a:rPr>
              <a:t>/</a:t>
            </a:r>
            <a:r>
              <a:rPr lang="zh-CN" altLang="en-US" sz="2400" dirty="0">
                <a:solidFill>
                  <a:srgbClr val="000000"/>
                </a:solidFill>
              </a:rPr>
              <a:t>任务标识等。</a:t>
            </a:r>
          </a:p>
          <a:p>
            <a:pPr>
              <a:defRPr/>
            </a:pPr>
            <a:r>
              <a:rPr lang="zh-CN" altLang="en-US" dirty="0"/>
              <a:t>检验功能的正确性</a:t>
            </a:r>
          </a:p>
          <a:p>
            <a:pPr>
              <a:defRPr/>
            </a:pPr>
            <a:r>
              <a:rPr lang="zh-CN" altLang="en-US" dirty="0"/>
              <a:t>测试功能的健壮性</a:t>
            </a:r>
          </a:p>
        </p:txBody>
      </p:sp>
    </p:spTree>
    <p:extLst>
      <p:ext uri="{BB962C8B-B14F-4D97-AF65-F5344CB8AC3E}">
        <p14:creationId xmlns:p14="http://schemas.microsoft.com/office/powerpoint/2010/main" val="24081611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ea typeface="楷体_GB2312"/>
                <a:cs typeface="楷体_GB2312"/>
              </a:rPr>
              <a:t>能力</a:t>
            </a:r>
          </a:p>
        </p:txBody>
      </p:sp>
      <p:sp>
        <p:nvSpPr>
          <p:cNvPr id="270339" name="Rectangle 3"/>
          <p:cNvSpPr>
            <a:spLocks noGrp="1" noChangeArrowheads="1"/>
          </p:cNvSpPr>
          <p:nvPr>
            <p:ph idx="1"/>
          </p:nvPr>
        </p:nvSpPr>
        <p:spPr>
          <a:xfrm>
            <a:off x="468313" y="1319578"/>
            <a:ext cx="8229600" cy="4525476"/>
          </a:xfrm>
        </p:spPr>
        <p:txBody>
          <a:bodyPr/>
          <a:lstStyle/>
          <a:p>
            <a:r>
              <a:rPr lang="zh-CN" altLang="en-US"/>
              <a:t>考核软件的基本能力</a:t>
            </a:r>
          </a:p>
          <a:p>
            <a:r>
              <a:rPr lang="zh-CN" altLang="en-US"/>
              <a:t>可详尽分析每个被测试的功能</a:t>
            </a:r>
          </a:p>
          <a:p>
            <a:r>
              <a:rPr lang="zh-CN" altLang="en-US"/>
              <a:t>适用于所有类型的软件</a:t>
            </a:r>
          </a:p>
        </p:txBody>
      </p:sp>
    </p:spTree>
    <p:extLst>
      <p:ext uri="{BB962C8B-B14F-4D97-AF65-F5344CB8AC3E}">
        <p14:creationId xmlns:p14="http://schemas.microsoft.com/office/powerpoint/2010/main" val="26668584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t>－</a:t>
            </a:r>
            <a:r>
              <a:rPr lang="zh-CN" altLang="en-US" dirty="0">
                <a:latin typeface="楷体_GB2312"/>
                <a:ea typeface="楷体_GB2312"/>
                <a:cs typeface="楷体_GB2312"/>
              </a:rPr>
              <a:t>基本方法</a:t>
            </a:r>
          </a:p>
        </p:txBody>
      </p:sp>
      <p:sp>
        <p:nvSpPr>
          <p:cNvPr id="1160195" name="Rectangle 3"/>
          <p:cNvSpPr>
            <a:spLocks noGrp="1" noChangeArrowheads="1"/>
          </p:cNvSpPr>
          <p:nvPr>
            <p:ph idx="1"/>
          </p:nvPr>
        </p:nvSpPr>
        <p:spPr>
          <a:xfrm>
            <a:off x="468313" y="1319578"/>
            <a:ext cx="8229600" cy="4525476"/>
          </a:xfrm>
        </p:spPr>
        <p:txBody>
          <a:bodyPr>
            <a:normAutofit lnSpcReduction="10000"/>
          </a:bodyPr>
          <a:lstStyle/>
          <a:p>
            <a:pPr marL="400423" indent="-400423">
              <a:spcAft>
                <a:spcPct val="20000"/>
              </a:spcAft>
              <a:buFont typeface="Wingdings" panose="05000000000000000000" pitchFamily="2" charset="2"/>
              <a:buAutoNum type="arabicPeriod"/>
              <a:defRPr/>
            </a:pPr>
            <a:r>
              <a:rPr lang="zh-CN" altLang="en-US" dirty="0"/>
              <a:t>识别每一项软件功能类别</a:t>
            </a:r>
          </a:p>
          <a:p>
            <a:pPr marL="400423" indent="-400423">
              <a:spcAft>
                <a:spcPct val="20000"/>
              </a:spcAft>
              <a:buFont typeface="Wingdings" panose="05000000000000000000" pitchFamily="2" charset="2"/>
              <a:buAutoNum type="arabicPeriod"/>
              <a:defRPr/>
            </a:pPr>
            <a:r>
              <a:rPr lang="zh-CN" altLang="en-US" dirty="0"/>
              <a:t>利用功能分解法获得软件子功能</a:t>
            </a:r>
          </a:p>
          <a:p>
            <a:pPr marL="400423" indent="-400423">
              <a:spcAft>
                <a:spcPct val="20000"/>
              </a:spcAft>
              <a:buFont typeface="Wingdings" panose="05000000000000000000" pitchFamily="2" charset="2"/>
              <a:buAutoNum type="arabicPeriod"/>
              <a:defRPr/>
            </a:pPr>
            <a:r>
              <a:rPr lang="zh-CN" altLang="en-US" dirty="0"/>
              <a:t>创建功能项列表（包括功能和子功能）</a:t>
            </a:r>
          </a:p>
          <a:p>
            <a:pPr marL="400423" indent="-400423">
              <a:spcAft>
                <a:spcPct val="20000"/>
              </a:spcAft>
              <a:buFont typeface="Wingdings" panose="05000000000000000000" pitchFamily="2" charset="2"/>
              <a:buAutoNum type="arabicPeriod"/>
              <a:defRPr/>
            </a:pPr>
            <a:r>
              <a:rPr lang="zh-CN" altLang="en-US" dirty="0"/>
              <a:t>针对每个子功能进行测试用例设计</a:t>
            </a:r>
          </a:p>
          <a:p>
            <a:pPr marL="400423" indent="-400423">
              <a:spcAft>
                <a:spcPct val="20000"/>
              </a:spcAft>
              <a:buFont typeface="Wingdings" panose="05000000000000000000" pitchFamily="2" charset="2"/>
              <a:buAutoNum type="arabicPeriod"/>
              <a:defRPr/>
            </a:pPr>
            <a:r>
              <a:rPr lang="zh-CN" altLang="en-US" dirty="0"/>
              <a:t>针对功能和功能组合进行测试用例设计</a:t>
            </a:r>
          </a:p>
          <a:p>
            <a:pPr marL="400423" indent="-400423">
              <a:spcAft>
                <a:spcPct val="20000"/>
              </a:spcAft>
              <a:buFont typeface="Wingdings" panose="05000000000000000000" pitchFamily="2" charset="2"/>
              <a:buAutoNum type="arabicPeriod"/>
              <a:defRPr/>
            </a:pPr>
            <a:r>
              <a:rPr lang="zh-CN" altLang="en-US" dirty="0"/>
              <a:t>利用</a:t>
            </a:r>
            <a:r>
              <a:rPr lang="en-US" altLang="zh-CN" dirty="0"/>
              <a:t>CRUD</a:t>
            </a:r>
            <a:r>
              <a:rPr lang="zh-CN" altLang="en-US" dirty="0"/>
              <a:t>覆盖分析完善测试设计</a:t>
            </a:r>
          </a:p>
          <a:p>
            <a:pPr marL="400423" indent="-400423">
              <a:spcAft>
                <a:spcPct val="20000"/>
              </a:spcAft>
              <a:buFont typeface="Arial" pitchFamily="34" charset="0"/>
              <a:buNone/>
              <a:defRPr/>
            </a:pPr>
            <a:r>
              <a:rPr lang="zh-CN" altLang="en-US" dirty="0"/>
              <a:t>	</a:t>
            </a:r>
            <a:r>
              <a:rPr lang="zh-CN" altLang="en-US" i="1" dirty="0"/>
              <a:t>     </a:t>
            </a:r>
            <a:r>
              <a:rPr lang="en-US" altLang="zh-CN" sz="3600" i="1" dirty="0"/>
              <a:t>CRUD</a:t>
            </a:r>
            <a:r>
              <a:rPr lang="zh-CN" altLang="en-US" sz="3600" i="1" dirty="0"/>
              <a:t>－</a:t>
            </a:r>
            <a:r>
              <a:rPr lang="en-US" altLang="zh-CN" sz="3600" i="1" dirty="0" err="1"/>
              <a:t>Create,Read,Update,Delete</a:t>
            </a:r>
            <a:endParaRPr lang="en-US" altLang="zh-CN" sz="1802" i="1" dirty="0"/>
          </a:p>
        </p:txBody>
      </p:sp>
    </p:spTree>
    <p:extLst>
      <p:ext uri="{BB962C8B-B14F-4D97-AF65-F5344CB8AC3E}">
        <p14:creationId xmlns:p14="http://schemas.microsoft.com/office/powerpoint/2010/main" val="4110997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t>－</a:t>
            </a:r>
            <a:r>
              <a:rPr lang="zh-CN" altLang="en-US" dirty="0">
                <a:latin typeface="楷体_GB2312"/>
                <a:ea typeface="楷体_GB2312"/>
                <a:cs typeface="楷体_GB2312"/>
              </a:rPr>
              <a:t>功能列表来源</a:t>
            </a:r>
          </a:p>
        </p:txBody>
      </p:sp>
      <p:sp>
        <p:nvSpPr>
          <p:cNvPr id="272387" name="Rectangle 3"/>
          <p:cNvSpPr>
            <a:spLocks noGrp="1" noChangeArrowheads="1"/>
          </p:cNvSpPr>
          <p:nvPr>
            <p:ph idx="1"/>
          </p:nvPr>
        </p:nvSpPr>
        <p:spPr>
          <a:xfrm>
            <a:off x="468313" y="1319578"/>
            <a:ext cx="8229600" cy="4525476"/>
          </a:xfrm>
        </p:spPr>
        <p:txBody>
          <a:bodyPr/>
          <a:lstStyle/>
          <a:p>
            <a:r>
              <a:rPr lang="zh-CN" altLang="en-US" dirty="0"/>
              <a:t>查阅需求规格说明</a:t>
            </a:r>
          </a:p>
          <a:p>
            <a:r>
              <a:rPr lang="zh-CN" altLang="en-US" dirty="0"/>
              <a:t>查阅设计规格说明</a:t>
            </a:r>
          </a:p>
          <a:p>
            <a:r>
              <a:rPr lang="zh-CN" altLang="en-US" dirty="0"/>
              <a:t>查阅用户手册</a:t>
            </a:r>
            <a:r>
              <a:rPr lang="en-US" altLang="zh-CN" dirty="0"/>
              <a:t>(</a:t>
            </a:r>
            <a:r>
              <a:rPr lang="zh-CN" altLang="en-US" dirty="0"/>
              <a:t>初稿</a:t>
            </a:r>
            <a:r>
              <a:rPr lang="en-US" altLang="zh-CN" dirty="0"/>
              <a:t>)</a:t>
            </a:r>
          </a:p>
          <a:p>
            <a:r>
              <a:rPr lang="zh-CN" altLang="en-US" dirty="0"/>
              <a:t>走查用户接口</a:t>
            </a:r>
          </a:p>
          <a:p>
            <a:r>
              <a:rPr lang="zh-CN" altLang="en-US" dirty="0"/>
              <a:t>在命令行上试验命令</a:t>
            </a:r>
          </a:p>
          <a:p>
            <a:r>
              <a:rPr lang="zh-CN" altLang="en-US" dirty="0"/>
              <a:t>观察程序或资源文件</a:t>
            </a:r>
          </a:p>
        </p:txBody>
      </p:sp>
    </p:spTree>
    <p:extLst>
      <p:ext uri="{BB962C8B-B14F-4D97-AF65-F5344CB8AC3E}">
        <p14:creationId xmlns:p14="http://schemas.microsoft.com/office/powerpoint/2010/main" val="2534565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t>－</a:t>
            </a:r>
            <a:r>
              <a:rPr lang="zh-CN" altLang="en-US" dirty="0">
                <a:latin typeface="楷体_GB2312"/>
                <a:ea typeface="楷体_GB2312"/>
                <a:cs typeface="楷体_GB2312"/>
              </a:rPr>
              <a:t>功能列表</a:t>
            </a:r>
          </a:p>
        </p:txBody>
      </p:sp>
      <p:sp>
        <p:nvSpPr>
          <p:cNvPr id="273411" name="Rectangle 3"/>
          <p:cNvSpPr>
            <a:spLocks noGrp="1" noChangeArrowheads="1"/>
          </p:cNvSpPr>
          <p:nvPr>
            <p:ph idx="1"/>
          </p:nvPr>
        </p:nvSpPr>
        <p:spPr>
          <a:xfrm>
            <a:off x="468313" y="1319578"/>
            <a:ext cx="8229600" cy="4525476"/>
          </a:xfrm>
        </p:spPr>
        <p:txBody>
          <a:bodyPr/>
          <a:lstStyle/>
          <a:p>
            <a:pPr>
              <a:lnSpc>
                <a:spcPct val="90000"/>
              </a:lnSpc>
              <a:spcAft>
                <a:spcPct val="10000"/>
              </a:spcAft>
            </a:pPr>
            <a:r>
              <a:rPr lang="zh-CN" altLang="en-US" sz="2800" dirty="0"/>
              <a:t>功能类别 </a:t>
            </a:r>
            <a:r>
              <a:rPr lang="en-US" altLang="zh-CN" sz="2800" dirty="0"/>
              <a:t>(</a:t>
            </a:r>
            <a:r>
              <a:rPr lang="zh-CN" altLang="en-US" sz="2800" dirty="0"/>
              <a:t>如</a:t>
            </a:r>
            <a:r>
              <a:rPr lang="en-US" altLang="zh-CN" sz="2800" dirty="0"/>
              <a:t>: Editing)</a:t>
            </a:r>
          </a:p>
          <a:p>
            <a:pPr lvl="1">
              <a:lnSpc>
                <a:spcPct val="90000"/>
              </a:lnSpc>
              <a:spcAft>
                <a:spcPct val="10000"/>
              </a:spcAft>
            </a:pPr>
            <a:r>
              <a:rPr lang="zh-CN" altLang="en-US" sz="2400" b="1" dirty="0">
                <a:solidFill>
                  <a:schemeClr val="accent6">
                    <a:lumMod val="50000"/>
                  </a:schemeClr>
                </a:solidFill>
              </a:rPr>
              <a:t>单个功能</a:t>
            </a:r>
            <a:r>
              <a:rPr lang="zh-CN" altLang="en-US" sz="2400" b="1" dirty="0">
                <a:ea typeface="宋体" pitchFamily="2" charset="-122"/>
              </a:rPr>
              <a:t> </a:t>
            </a:r>
            <a:r>
              <a:rPr lang="en-US" altLang="zh-CN" sz="1800" dirty="0">
                <a:ea typeface="宋体" pitchFamily="2" charset="-122"/>
              </a:rPr>
              <a:t>(</a:t>
            </a:r>
            <a:r>
              <a:rPr lang="zh-CN" altLang="en-US" sz="1800" b="1" dirty="0"/>
              <a:t>如</a:t>
            </a:r>
            <a:r>
              <a:rPr lang="en-US" altLang="zh-CN" sz="1800" dirty="0"/>
              <a:t>: </a:t>
            </a:r>
            <a:r>
              <a:rPr lang="en-US" altLang="zh-CN" sz="1800" dirty="0">
                <a:ea typeface="宋体" pitchFamily="2" charset="-122"/>
              </a:rPr>
              <a:t>Cut, Paste, Delete)</a:t>
            </a:r>
          </a:p>
          <a:p>
            <a:pPr lvl="2">
              <a:lnSpc>
                <a:spcPct val="90000"/>
              </a:lnSpc>
              <a:spcAft>
                <a:spcPct val="10000"/>
              </a:spcAft>
            </a:pPr>
            <a:r>
              <a:rPr lang="zh-CN" altLang="en-US" dirty="0"/>
              <a:t>输入</a:t>
            </a:r>
          </a:p>
          <a:p>
            <a:pPr lvl="2">
              <a:lnSpc>
                <a:spcPct val="90000"/>
              </a:lnSpc>
              <a:spcAft>
                <a:spcPct val="10000"/>
              </a:spcAft>
            </a:pPr>
            <a:r>
              <a:rPr lang="zh-CN" altLang="en-US" dirty="0"/>
              <a:t>输出</a:t>
            </a:r>
          </a:p>
          <a:p>
            <a:pPr lvl="2">
              <a:lnSpc>
                <a:spcPct val="90000"/>
              </a:lnSpc>
              <a:spcAft>
                <a:spcPct val="10000"/>
              </a:spcAft>
            </a:pPr>
            <a:r>
              <a:rPr lang="zh-CN" altLang="en-US" dirty="0"/>
              <a:t>功能范围</a:t>
            </a:r>
            <a:r>
              <a:rPr lang="en-US" altLang="zh-CN" dirty="0"/>
              <a:t>(</a:t>
            </a:r>
            <a:r>
              <a:rPr lang="zh-CN" altLang="en-US" dirty="0"/>
              <a:t>如</a:t>
            </a:r>
            <a:r>
              <a:rPr lang="en-US" altLang="zh-CN" dirty="0"/>
              <a:t>: Delete word, Delete paragraph)</a:t>
            </a:r>
          </a:p>
          <a:p>
            <a:pPr lvl="2">
              <a:lnSpc>
                <a:spcPct val="90000"/>
              </a:lnSpc>
              <a:spcAft>
                <a:spcPct val="10000"/>
              </a:spcAft>
            </a:pPr>
            <a:r>
              <a:rPr lang="zh-CN" altLang="en-US" dirty="0"/>
              <a:t>功能选项</a:t>
            </a:r>
            <a:r>
              <a:rPr lang="en-US" altLang="zh-CN" dirty="0"/>
              <a:t>(</a:t>
            </a:r>
            <a:r>
              <a:rPr lang="zh-CN" altLang="en-US" dirty="0"/>
              <a:t>如</a:t>
            </a:r>
            <a:r>
              <a:rPr lang="en-US" altLang="zh-CN" dirty="0"/>
              <a:t>: </a:t>
            </a:r>
            <a:r>
              <a:rPr lang="zh-CN" altLang="en-US" dirty="0"/>
              <a:t>设定删除功能可删除表中一行正文</a:t>
            </a:r>
            <a:r>
              <a:rPr lang="en-US" altLang="zh-CN" dirty="0"/>
              <a:t>)</a:t>
            </a:r>
          </a:p>
          <a:p>
            <a:pPr lvl="2">
              <a:lnSpc>
                <a:spcPct val="90000"/>
              </a:lnSpc>
              <a:spcAft>
                <a:spcPct val="10000"/>
              </a:spcAft>
            </a:pPr>
            <a:r>
              <a:rPr lang="zh-CN" altLang="en-US" dirty="0"/>
              <a:t>不同环境下的功能行为</a:t>
            </a:r>
            <a:r>
              <a:rPr lang="en-US" altLang="zh-CN" dirty="0"/>
              <a:t>(</a:t>
            </a:r>
            <a:r>
              <a:rPr lang="zh-CN" altLang="en-US" dirty="0"/>
              <a:t>如</a:t>
            </a:r>
            <a:r>
              <a:rPr lang="en-US" altLang="zh-CN" dirty="0"/>
              <a:t>: </a:t>
            </a:r>
            <a:r>
              <a:rPr lang="zh-CN" altLang="en-US" dirty="0"/>
              <a:t>字处理程序中</a:t>
            </a:r>
            <a:r>
              <a:rPr lang="en-US" altLang="zh-CN" dirty="0"/>
              <a:t>deleting </a:t>
            </a:r>
            <a:r>
              <a:rPr lang="zh-CN" altLang="en-US" dirty="0"/>
              <a:t>可配置成可以</a:t>
            </a:r>
            <a:r>
              <a:rPr lang="en-US" altLang="zh-CN" dirty="0"/>
              <a:t>/</a:t>
            </a:r>
            <a:r>
              <a:rPr lang="zh-CN" altLang="en-US" dirty="0"/>
              <a:t>不可以追踪和显示发生过的改变</a:t>
            </a:r>
            <a:r>
              <a:rPr lang="en-US" altLang="zh-CN" dirty="0"/>
              <a:t>)</a:t>
            </a:r>
          </a:p>
          <a:p>
            <a:pPr lvl="1">
              <a:lnSpc>
                <a:spcPct val="90000"/>
              </a:lnSpc>
              <a:spcAft>
                <a:spcPct val="10000"/>
              </a:spcAft>
            </a:pPr>
            <a:r>
              <a:rPr lang="zh-CN" altLang="en-US" sz="2400" b="1" dirty="0">
                <a:solidFill>
                  <a:schemeClr val="accent6">
                    <a:lumMod val="50000"/>
                  </a:schemeClr>
                </a:solidFill>
              </a:rPr>
              <a:t>功能组合</a:t>
            </a:r>
          </a:p>
          <a:p>
            <a:pPr lvl="2">
              <a:lnSpc>
                <a:spcPct val="90000"/>
              </a:lnSpc>
              <a:spcAft>
                <a:spcPct val="10000"/>
              </a:spcAft>
            </a:pPr>
            <a:r>
              <a:rPr lang="zh-CN" altLang="en-US" dirty="0"/>
              <a:t>用使用用例描述</a:t>
            </a:r>
          </a:p>
        </p:txBody>
      </p:sp>
    </p:spTree>
    <p:extLst>
      <p:ext uri="{BB962C8B-B14F-4D97-AF65-F5344CB8AC3E}">
        <p14:creationId xmlns:p14="http://schemas.microsoft.com/office/powerpoint/2010/main" val="42769264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t>－</a:t>
            </a:r>
            <a:r>
              <a:rPr lang="zh-CN" altLang="en-US" dirty="0">
                <a:latin typeface="楷体_GB2312"/>
                <a:ea typeface="楷体_GB2312"/>
                <a:cs typeface="楷体_GB2312"/>
              </a:rPr>
              <a:t>单一功能测试用例</a:t>
            </a:r>
          </a:p>
        </p:txBody>
      </p:sp>
      <p:sp>
        <p:nvSpPr>
          <p:cNvPr id="1163267" name="Rectangle 3"/>
          <p:cNvSpPr>
            <a:spLocks noGrp="1" noChangeArrowheads="1"/>
          </p:cNvSpPr>
          <p:nvPr>
            <p:ph idx="1"/>
          </p:nvPr>
        </p:nvSpPr>
        <p:spPr>
          <a:xfrm>
            <a:off x="468313" y="1319578"/>
            <a:ext cx="8229600" cy="4525476"/>
          </a:xfrm>
        </p:spPr>
        <p:txBody>
          <a:bodyPr/>
          <a:lstStyle/>
          <a:p>
            <a:pPr>
              <a:spcAft>
                <a:spcPct val="20000"/>
              </a:spcAft>
              <a:defRPr/>
            </a:pPr>
            <a:r>
              <a:rPr lang="zh-CN" altLang="en-US" dirty="0"/>
              <a:t>典型方法</a:t>
            </a:r>
          </a:p>
          <a:p>
            <a:pPr lvl="1">
              <a:spcAft>
                <a:spcPct val="20000"/>
              </a:spcAft>
              <a:defRPr/>
            </a:pPr>
            <a:r>
              <a:rPr lang="zh-CN" altLang="en-US" sz="2400" dirty="0"/>
              <a:t>边界值分析</a:t>
            </a:r>
          </a:p>
          <a:p>
            <a:pPr lvl="1">
              <a:spcAft>
                <a:spcPct val="20000"/>
              </a:spcAft>
              <a:defRPr/>
            </a:pPr>
            <a:r>
              <a:rPr lang="zh-CN" altLang="en-US" sz="2400" dirty="0"/>
              <a:t>等价类划分</a:t>
            </a:r>
          </a:p>
          <a:p>
            <a:pPr lvl="1">
              <a:spcAft>
                <a:spcPct val="20000"/>
              </a:spcAft>
              <a:defRPr/>
            </a:pPr>
            <a:r>
              <a:rPr lang="zh-CN" altLang="en-US" sz="2400" dirty="0"/>
              <a:t>组合逻辑分析</a:t>
            </a:r>
          </a:p>
          <a:p>
            <a:pPr>
              <a:spcAft>
                <a:spcPct val="20000"/>
              </a:spcAft>
              <a:defRPr/>
            </a:pPr>
            <a:r>
              <a:rPr lang="zh-CN" altLang="en-US" dirty="0"/>
              <a:t>重点考虑</a:t>
            </a:r>
          </a:p>
          <a:p>
            <a:pPr lvl="1">
              <a:spcAft>
                <a:spcPct val="20000"/>
              </a:spcAft>
              <a:defRPr/>
            </a:pPr>
            <a:r>
              <a:rPr lang="zh-CN" altLang="en-US" sz="2400" dirty="0"/>
              <a:t>正常值的等价类数据值</a:t>
            </a:r>
            <a:r>
              <a:rPr lang="en-US" altLang="zh-CN" sz="2400" dirty="0">
                <a:ea typeface="宋体" panose="02010600030101010101" pitchFamily="2" charset="-122"/>
              </a:rPr>
              <a:t>, </a:t>
            </a:r>
            <a:r>
              <a:rPr lang="zh-CN" altLang="en-US" sz="2400" dirty="0"/>
              <a:t>非正常值的等价类数据值 </a:t>
            </a:r>
          </a:p>
          <a:p>
            <a:pPr lvl="1">
              <a:spcAft>
                <a:spcPct val="20000"/>
              </a:spcAft>
              <a:defRPr/>
            </a:pPr>
            <a:r>
              <a:rPr lang="zh-CN" altLang="en-US" sz="2400" dirty="0"/>
              <a:t>合法边界值</a:t>
            </a:r>
            <a:r>
              <a:rPr lang="en-US" altLang="zh-CN" sz="2400" dirty="0">
                <a:ea typeface="宋体" panose="02010600030101010101" pitchFamily="2" charset="-122"/>
              </a:rPr>
              <a:t>, </a:t>
            </a:r>
            <a:r>
              <a:rPr lang="zh-CN" altLang="en-US" sz="2400" dirty="0"/>
              <a:t>非法边界值 </a:t>
            </a:r>
          </a:p>
          <a:p>
            <a:pPr lvl="1">
              <a:spcAft>
                <a:spcPct val="20000"/>
              </a:spcAft>
              <a:defRPr/>
            </a:pPr>
            <a:r>
              <a:rPr lang="zh-CN" altLang="en-US" sz="2400" dirty="0"/>
              <a:t>特定数据类型和数据值 </a:t>
            </a:r>
          </a:p>
        </p:txBody>
      </p:sp>
    </p:spTree>
    <p:extLst>
      <p:ext uri="{BB962C8B-B14F-4D97-AF65-F5344CB8AC3E}">
        <p14:creationId xmlns:p14="http://schemas.microsoft.com/office/powerpoint/2010/main" val="19530840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t>－</a:t>
            </a:r>
            <a:r>
              <a:rPr lang="zh-CN" altLang="en-US" dirty="0">
                <a:latin typeface="楷体_GB2312"/>
                <a:ea typeface="楷体_GB2312"/>
                <a:cs typeface="楷体_GB2312"/>
              </a:rPr>
              <a:t>组合功能测试用例</a:t>
            </a:r>
          </a:p>
        </p:txBody>
      </p:sp>
      <p:sp>
        <p:nvSpPr>
          <p:cNvPr id="1164291" name="Rectangle 3"/>
          <p:cNvSpPr>
            <a:spLocks noGrp="1" noChangeArrowheads="1"/>
          </p:cNvSpPr>
          <p:nvPr>
            <p:ph idx="1"/>
          </p:nvPr>
        </p:nvSpPr>
        <p:spPr>
          <a:xfrm>
            <a:off x="468313" y="1319578"/>
            <a:ext cx="8229600" cy="4525476"/>
          </a:xfrm>
        </p:spPr>
        <p:txBody>
          <a:bodyPr>
            <a:normAutofit lnSpcReduction="10000"/>
          </a:bodyPr>
          <a:lstStyle/>
          <a:p>
            <a:pPr>
              <a:defRPr/>
            </a:pPr>
            <a:r>
              <a:rPr lang="zh-CN" altLang="en-US" dirty="0"/>
              <a:t>典型方法</a:t>
            </a:r>
          </a:p>
          <a:p>
            <a:pPr lvl="1">
              <a:defRPr/>
            </a:pPr>
            <a:r>
              <a:rPr lang="zh-CN" altLang="en-US" sz="2400" dirty="0"/>
              <a:t>想定测试</a:t>
            </a:r>
            <a:r>
              <a:rPr lang="en-US" altLang="zh-CN" sz="2400" dirty="0"/>
              <a:t>(Scenario testing)</a:t>
            </a:r>
          </a:p>
          <a:p>
            <a:pPr lvl="1">
              <a:defRPr/>
            </a:pPr>
            <a:r>
              <a:rPr lang="zh-CN" altLang="en-US" sz="2400" dirty="0"/>
              <a:t>状态转换</a:t>
            </a:r>
          </a:p>
          <a:p>
            <a:pPr>
              <a:defRPr/>
            </a:pPr>
            <a:r>
              <a:rPr lang="zh-CN" altLang="en-US" dirty="0"/>
              <a:t>想定测试重点考虑</a:t>
            </a:r>
          </a:p>
          <a:p>
            <a:pPr lvl="1">
              <a:defRPr/>
            </a:pPr>
            <a:r>
              <a:rPr lang="zh-CN" altLang="en-US" sz="2400" dirty="0"/>
              <a:t>全面考虑功能类型和组合功能</a:t>
            </a:r>
          </a:p>
          <a:p>
            <a:pPr lvl="1">
              <a:defRPr/>
            </a:pPr>
            <a:r>
              <a:rPr lang="zh-CN" altLang="en-US" sz="2400" dirty="0"/>
              <a:t>构造使用用例描述软件的业务流或任务流</a:t>
            </a:r>
          </a:p>
          <a:p>
            <a:pPr lvl="1">
              <a:defRPr/>
            </a:pPr>
            <a:r>
              <a:rPr lang="zh-CN" altLang="en-US" sz="2400" dirty="0"/>
              <a:t>提取使用用例的基本流</a:t>
            </a:r>
            <a:r>
              <a:rPr lang="en-US" altLang="zh-CN" sz="2400" dirty="0"/>
              <a:t>(</a:t>
            </a:r>
            <a:r>
              <a:rPr lang="zh-CN" altLang="en-US" sz="2400" dirty="0"/>
              <a:t>用例的最简单执行路径</a:t>
            </a:r>
            <a:r>
              <a:rPr lang="en-US" altLang="zh-CN" sz="2400" dirty="0"/>
              <a:t>)</a:t>
            </a:r>
          </a:p>
          <a:p>
            <a:pPr lvl="1">
              <a:defRPr/>
            </a:pPr>
            <a:r>
              <a:rPr lang="zh-CN" altLang="en-US" sz="2400" dirty="0"/>
              <a:t>提取使用用例的备选流</a:t>
            </a:r>
            <a:r>
              <a:rPr lang="en-US" altLang="zh-CN" sz="2400" dirty="0"/>
              <a:t>(</a:t>
            </a:r>
            <a:r>
              <a:rPr lang="zh-CN" altLang="en-US" sz="2400" dirty="0"/>
              <a:t>特定条件下的执行路径</a:t>
            </a:r>
            <a:r>
              <a:rPr lang="en-US" altLang="zh-CN" sz="2400" dirty="0"/>
              <a:t>)</a:t>
            </a:r>
          </a:p>
          <a:p>
            <a:pPr lvl="1">
              <a:defRPr/>
            </a:pPr>
            <a:r>
              <a:rPr lang="zh-CN" altLang="en-US" sz="2400" dirty="0"/>
              <a:t>结合基本流和备选流</a:t>
            </a:r>
            <a:r>
              <a:rPr lang="en-US" altLang="zh-CN" sz="2400" dirty="0"/>
              <a:t>, </a:t>
            </a:r>
            <a:r>
              <a:rPr lang="zh-CN" altLang="en-US" sz="2400" dirty="0"/>
              <a:t>确定场景</a:t>
            </a:r>
          </a:p>
          <a:p>
            <a:pPr lvl="1">
              <a:defRPr/>
            </a:pPr>
            <a:r>
              <a:rPr lang="zh-CN" altLang="en-US" sz="2400" dirty="0"/>
              <a:t>通过确定某个特定条件生成测试用例</a:t>
            </a:r>
          </a:p>
        </p:txBody>
      </p:sp>
    </p:spTree>
    <p:extLst>
      <p:ext uri="{BB962C8B-B14F-4D97-AF65-F5344CB8AC3E}">
        <p14:creationId xmlns:p14="http://schemas.microsoft.com/office/powerpoint/2010/main" val="4448813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t>－</a:t>
            </a:r>
            <a:r>
              <a:rPr lang="zh-CN" altLang="en-US" dirty="0">
                <a:latin typeface="楷体_GB2312"/>
                <a:ea typeface="楷体_GB2312"/>
                <a:cs typeface="楷体_GB2312"/>
              </a:rPr>
              <a:t>典型案例</a:t>
            </a:r>
          </a:p>
        </p:txBody>
      </p:sp>
      <p:sp>
        <p:nvSpPr>
          <p:cNvPr id="276483" name="Rectangle 3"/>
          <p:cNvSpPr>
            <a:spLocks noGrp="1" noChangeArrowheads="1"/>
          </p:cNvSpPr>
          <p:nvPr>
            <p:ph idx="1"/>
          </p:nvPr>
        </p:nvSpPr>
        <p:spPr>
          <a:xfrm>
            <a:off x="468313" y="1319578"/>
            <a:ext cx="8229600" cy="4525476"/>
          </a:xfrm>
        </p:spPr>
        <p:txBody>
          <a:bodyPr/>
          <a:lstStyle/>
          <a:p>
            <a:r>
              <a:rPr lang="zh-CN" altLang="en-US"/>
              <a:t>字处理程序</a:t>
            </a:r>
            <a:r>
              <a:rPr lang="en-US" altLang="zh-CN"/>
              <a:t>, </a:t>
            </a:r>
            <a:r>
              <a:rPr lang="zh-CN" altLang="en-US"/>
              <a:t>单独测试每一个菜单项</a:t>
            </a:r>
          </a:p>
          <a:p>
            <a:r>
              <a:rPr lang="zh-CN" altLang="en-US"/>
              <a:t>数据库</a:t>
            </a:r>
            <a:r>
              <a:rPr lang="en-US" altLang="zh-CN"/>
              <a:t>, </a:t>
            </a:r>
            <a:r>
              <a:rPr lang="zh-CN" altLang="en-US"/>
              <a:t>单独测试每个数据表的处理</a:t>
            </a:r>
          </a:p>
          <a:p>
            <a:r>
              <a:rPr lang="zh-CN" altLang="en-US"/>
              <a:t>嵌入式软件</a:t>
            </a:r>
            <a:r>
              <a:rPr lang="en-US" altLang="zh-CN"/>
              <a:t>, </a:t>
            </a:r>
            <a:r>
              <a:rPr lang="zh-CN" altLang="en-US"/>
              <a:t>单独测试每一个任务</a:t>
            </a:r>
          </a:p>
        </p:txBody>
      </p:sp>
    </p:spTree>
    <p:extLst>
      <p:ext uri="{BB962C8B-B14F-4D97-AF65-F5344CB8AC3E}">
        <p14:creationId xmlns:p14="http://schemas.microsoft.com/office/powerpoint/2010/main" val="9993519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ea typeface="楷体_GB2312"/>
                <a:cs typeface="楷体_GB2312"/>
              </a:rPr>
              <a:t>盲点</a:t>
            </a:r>
          </a:p>
        </p:txBody>
      </p:sp>
      <p:sp>
        <p:nvSpPr>
          <p:cNvPr id="277507" name="Rectangle 3"/>
          <p:cNvSpPr>
            <a:spLocks noGrp="1" noChangeArrowheads="1"/>
          </p:cNvSpPr>
          <p:nvPr>
            <p:ph idx="1"/>
          </p:nvPr>
        </p:nvSpPr>
        <p:spPr>
          <a:xfrm>
            <a:off x="468313" y="1319578"/>
            <a:ext cx="8229600" cy="4525476"/>
          </a:xfrm>
        </p:spPr>
        <p:txBody>
          <a:bodyPr/>
          <a:lstStyle/>
          <a:p>
            <a:r>
              <a:rPr lang="zh-CN" altLang="en-US" dirty="0"/>
              <a:t>遗漏了交互作用</a:t>
            </a:r>
            <a:endParaRPr lang="en-US" altLang="zh-CN" dirty="0"/>
          </a:p>
          <a:p>
            <a:pPr lvl="1"/>
            <a:r>
              <a:rPr lang="zh-CN" altLang="en-US" sz="2400" dirty="0"/>
              <a:t>功能部件中常常有交互作用，功能测试很容易遗漏它们</a:t>
            </a:r>
            <a:endParaRPr lang="en-US" altLang="zh-CN" sz="2400" dirty="0"/>
          </a:p>
          <a:p>
            <a:pPr lvl="1"/>
            <a:r>
              <a:rPr lang="zh-CN" altLang="en-US" sz="2400" dirty="0"/>
              <a:t>交互作用：继承特性与新增特性的交互点</a:t>
            </a:r>
            <a:endParaRPr lang="en-US" altLang="zh-CN" sz="2400" dirty="0"/>
          </a:p>
          <a:p>
            <a:pPr lvl="1"/>
            <a:r>
              <a:rPr lang="zh-CN" altLang="en-US" sz="2400" dirty="0"/>
              <a:t>功能交互分析工程方法</a:t>
            </a:r>
          </a:p>
        </p:txBody>
      </p:sp>
      <p:grpSp>
        <p:nvGrpSpPr>
          <p:cNvPr id="277508" name="Group 4"/>
          <p:cNvGrpSpPr>
            <a:grpSpLocks/>
          </p:cNvGrpSpPr>
          <p:nvPr/>
        </p:nvGrpSpPr>
        <p:grpSpPr bwMode="auto">
          <a:xfrm>
            <a:off x="4846219" y="2836508"/>
            <a:ext cx="3282950" cy="3933358"/>
            <a:chOff x="2202" y="1407"/>
            <a:chExt cx="2526" cy="2354"/>
          </a:xfrm>
        </p:grpSpPr>
        <p:sp>
          <p:nvSpPr>
            <p:cNvPr id="1166341" name="Text Box 5"/>
            <p:cNvSpPr txBox="1">
              <a:spLocks noChangeArrowheads="1"/>
            </p:cNvSpPr>
            <p:nvPr/>
          </p:nvSpPr>
          <p:spPr bwMode="auto">
            <a:xfrm>
              <a:off x="2296" y="1407"/>
              <a:ext cx="14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endParaRPr lang="zh-CN" altLang="zh-CN" sz="2102">
                <a:solidFill>
                  <a:srgbClr val="FFFF00"/>
                </a:solidFill>
                <a:latin typeface="Arial" panose="020B0604020202020204" pitchFamily="34" charset="0"/>
              </a:endParaRPr>
            </a:p>
          </p:txBody>
        </p:sp>
        <p:sp>
          <p:nvSpPr>
            <p:cNvPr id="277510" name="Oval 6"/>
            <p:cNvSpPr>
              <a:spLocks noChangeArrowheads="1"/>
            </p:cNvSpPr>
            <p:nvPr/>
          </p:nvSpPr>
          <p:spPr bwMode="auto">
            <a:xfrm>
              <a:off x="2954" y="2206"/>
              <a:ext cx="1152" cy="1152"/>
            </a:xfrm>
            <a:prstGeom prst="ellipse">
              <a:avLst/>
            </a:prstGeom>
            <a:noFill/>
            <a:ln w="381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77511" name="Freeform 7"/>
            <p:cNvSpPr>
              <a:spLocks/>
            </p:cNvSpPr>
            <p:nvPr/>
          </p:nvSpPr>
          <p:spPr bwMode="auto">
            <a:xfrm rot="11337372" flipH="1">
              <a:off x="4006" y="2998"/>
              <a:ext cx="48" cy="126"/>
            </a:xfrm>
            <a:custGeom>
              <a:avLst/>
              <a:gdLst>
                <a:gd name="T0" fmla="*/ 48 w 48"/>
                <a:gd name="T1" fmla="*/ 126 h 126"/>
                <a:gd name="T2" fmla="*/ 0 w 48"/>
                <a:gd name="T3" fmla="*/ 0 h 126"/>
                <a:gd name="T4" fmla="*/ 0 60000 65536"/>
                <a:gd name="T5" fmla="*/ 0 60000 65536"/>
              </a:gdLst>
              <a:ahLst/>
              <a:cxnLst>
                <a:cxn ang="T4">
                  <a:pos x="T0" y="T1"/>
                </a:cxn>
                <a:cxn ang="T5">
                  <a:pos x="T2" y="T3"/>
                </a:cxn>
              </a:cxnLst>
              <a:rect l="0" t="0" r="r" b="b"/>
              <a:pathLst>
                <a:path w="48" h="126">
                  <a:moveTo>
                    <a:pt x="48" y="126"/>
                  </a:moveTo>
                  <a:cubicBezTo>
                    <a:pt x="28" y="73"/>
                    <a:pt x="8" y="21"/>
                    <a:pt x="0" y="0"/>
                  </a:cubicBezTo>
                </a:path>
              </a:pathLst>
            </a:custGeom>
            <a:noFill/>
            <a:ln w="38100" cmpd="sng">
              <a:solidFill>
                <a:srgbClr val="FF33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512" name="Line 8"/>
            <p:cNvSpPr>
              <a:spLocks noChangeShapeType="1"/>
            </p:cNvSpPr>
            <p:nvPr/>
          </p:nvSpPr>
          <p:spPr bwMode="auto">
            <a:xfrm rot="2736541" flipH="1">
              <a:off x="3012" y="3156"/>
              <a:ext cx="174" cy="1"/>
            </a:xfrm>
            <a:prstGeom prst="line">
              <a:avLst/>
            </a:prstGeom>
            <a:noFill/>
            <a:ln w="38100" cmpd="dbl">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77513" name="Group 9"/>
            <p:cNvGrpSpPr>
              <a:grpSpLocks/>
            </p:cNvGrpSpPr>
            <p:nvPr/>
          </p:nvGrpSpPr>
          <p:grpSpPr bwMode="auto">
            <a:xfrm>
              <a:off x="3338" y="3310"/>
              <a:ext cx="576" cy="451"/>
              <a:chOff x="2911" y="2928"/>
              <a:chExt cx="710" cy="556"/>
            </a:xfrm>
          </p:grpSpPr>
          <p:graphicFrame>
            <p:nvGraphicFramePr>
              <p:cNvPr id="277636" name="Object 10"/>
              <p:cNvGraphicFramePr>
                <a:graphicFrameLocks noChangeAspect="1"/>
              </p:cNvGraphicFramePr>
              <p:nvPr/>
            </p:nvGraphicFramePr>
            <p:xfrm>
              <a:off x="3120" y="2928"/>
              <a:ext cx="357" cy="384"/>
            </p:xfrm>
            <a:graphic>
              <a:graphicData uri="http://schemas.openxmlformats.org/presentationml/2006/ole">
                <mc:AlternateContent xmlns:mc="http://schemas.openxmlformats.org/markup-compatibility/2006">
                  <mc:Choice xmlns:v="urn:schemas-microsoft-com:vml" Requires="v">
                    <p:oleObj name="Clip" r:id="rId2" imgW="1279346" imgH="1368208" progId="MS_ClipArt_Gallery.2">
                      <p:embed/>
                    </p:oleObj>
                  </mc:Choice>
                  <mc:Fallback>
                    <p:oleObj name="Clip" r:id="rId2" imgW="1279346" imgH="1368208" progId="MS_ClipArt_Gallery.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2928"/>
                            <a:ext cx="35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637" name="Object 11"/>
              <p:cNvGraphicFramePr>
                <a:graphicFrameLocks noChangeAspect="1"/>
              </p:cNvGraphicFramePr>
              <p:nvPr/>
            </p:nvGraphicFramePr>
            <p:xfrm>
              <a:off x="2976" y="3120"/>
              <a:ext cx="645" cy="364"/>
            </p:xfrm>
            <a:graphic>
              <a:graphicData uri="http://schemas.openxmlformats.org/presentationml/2006/ole">
                <mc:AlternateContent xmlns:mc="http://schemas.openxmlformats.org/markup-compatibility/2006">
                  <mc:Choice xmlns:v="urn:schemas-microsoft-com:vml" Requires="v">
                    <p:oleObj name="Clip" r:id="rId4" imgW="1457581" imgH="818183" progId="MS_ClipArt_Gallery.2">
                      <p:embed/>
                    </p:oleObj>
                  </mc:Choice>
                  <mc:Fallback>
                    <p:oleObj name="Clip" r:id="rId4" imgW="1457581" imgH="818183"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6" y="3120"/>
                            <a:ext cx="645"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638" name="Object 12"/>
              <p:cNvGraphicFramePr>
                <a:graphicFrameLocks noChangeAspect="1"/>
              </p:cNvGraphicFramePr>
              <p:nvPr/>
            </p:nvGraphicFramePr>
            <p:xfrm>
              <a:off x="2911" y="3013"/>
              <a:ext cx="305" cy="347"/>
            </p:xfrm>
            <a:graphic>
              <a:graphicData uri="http://schemas.openxmlformats.org/presentationml/2006/ole">
                <mc:AlternateContent xmlns:mc="http://schemas.openxmlformats.org/markup-compatibility/2006">
                  <mc:Choice xmlns:v="urn:schemas-microsoft-com:vml" Requires="v">
                    <p:oleObj name="Clip" r:id="rId6" imgW="1198744" imgH="1373305" progId="MS_ClipArt_Gallery.2">
                      <p:embed/>
                    </p:oleObj>
                  </mc:Choice>
                  <mc:Fallback>
                    <p:oleObj name="Clip" r:id="rId6" imgW="1198744" imgH="1373305" progId="MS_ClipArt_Gallery.2">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1" y="3013"/>
                            <a:ext cx="305"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277514" name="Picture 1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50" y="2387"/>
              <a:ext cx="578" cy="4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7515" name="Picture 1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794" y="2062"/>
              <a:ext cx="248" cy="8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77516" name="Group 15"/>
            <p:cNvGrpSpPr>
              <a:grpSpLocks noChangeAspect="1"/>
            </p:cNvGrpSpPr>
            <p:nvPr/>
          </p:nvGrpSpPr>
          <p:grpSpPr bwMode="auto">
            <a:xfrm>
              <a:off x="3992" y="2120"/>
              <a:ext cx="225" cy="774"/>
              <a:chOff x="4875" y="2176"/>
              <a:chExt cx="250" cy="859"/>
            </a:xfrm>
          </p:grpSpPr>
          <p:grpSp>
            <p:nvGrpSpPr>
              <p:cNvPr id="277523" name="Group 16"/>
              <p:cNvGrpSpPr>
                <a:grpSpLocks noChangeAspect="1"/>
              </p:cNvGrpSpPr>
              <p:nvPr/>
            </p:nvGrpSpPr>
            <p:grpSpPr bwMode="auto">
              <a:xfrm>
                <a:off x="4902" y="2521"/>
                <a:ext cx="159" cy="514"/>
                <a:chOff x="4902" y="2521"/>
                <a:chExt cx="159" cy="514"/>
              </a:xfrm>
            </p:grpSpPr>
            <p:grpSp>
              <p:nvGrpSpPr>
                <p:cNvPr id="277611" name="Group 17"/>
                <p:cNvGrpSpPr>
                  <a:grpSpLocks noChangeAspect="1"/>
                </p:cNvGrpSpPr>
                <p:nvPr/>
              </p:nvGrpSpPr>
              <p:grpSpPr bwMode="auto">
                <a:xfrm>
                  <a:off x="4905" y="2933"/>
                  <a:ext cx="142" cy="102"/>
                  <a:chOff x="4905" y="2933"/>
                  <a:chExt cx="142" cy="102"/>
                </a:xfrm>
              </p:grpSpPr>
              <p:grpSp>
                <p:nvGrpSpPr>
                  <p:cNvPr id="277622" name="Group 18"/>
                  <p:cNvGrpSpPr>
                    <a:grpSpLocks noChangeAspect="1"/>
                  </p:cNvGrpSpPr>
                  <p:nvPr/>
                </p:nvGrpSpPr>
                <p:grpSpPr bwMode="auto">
                  <a:xfrm>
                    <a:off x="4905" y="2933"/>
                    <a:ext cx="76" cy="58"/>
                    <a:chOff x="4905" y="2933"/>
                    <a:chExt cx="76" cy="58"/>
                  </a:xfrm>
                </p:grpSpPr>
                <p:grpSp>
                  <p:nvGrpSpPr>
                    <p:cNvPr id="277629" name="Group 19"/>
                    <p:cNvGrpSpPr>
                      <a:grpSpLocks noChangeAspect="1"/>
                    </p:cNvGrpSpPr>
                    <p:nvPr/>
                  </p:nvGrpSpPr>
                  <p:grpSpPr bwMode="auto">
                    <a:xfrm>
                      <a:off x="4919" y="2933"/>
                      <a:ext cx="58" cy="42"/>
                      <a:chOff x="4919" y="2933"/>
                      <a:chExt cx="58" cy="42"/>
                    </a:xfrm>
                  </p:grpSpPr>
                  <p:sp>
                    <p:nvSpPr>
                      <p:cNvPr id="277633" name="Freeform 20"/>
                      <p:cNvSpPr>
                        <a:spLocks noChangeAspect="1"/>
                      </p:cNvSpPr>
                      <p:nvPr/>
                    </p:nvSpPr>
                    <p:spPr bwMode="auto">
                      <a:xfrm>
                        <a:off x="4919" y="2933"/>
                        <a:ext cx="58" cy="42"/>
                      </a:xfrm>
                      <a:custGeom>
                        <a:avLst/>
                        <a:gdLst>
                          <a:gd name="T0" fmla="*/ 21 w 58"/>
                          <a:gd name="T1" fmla="*/ 4 h 42"/>
                          <a:gd name="T2" fmla="*/ 21 w 58"/>
                          <a:gd name="T3" fmla="*/ 10 h 42"/>
                          <a:gd name="T4" fmla="*/ 16 w 58"/>
                          <a:gd name="T5" fmla="*/ 15 h 42"/>
                          <a:gd name="T6" fmla="*/ 12 w 58"/>
                          <a:gd name="T7" fmla="*/ 20 h 42"/>
                          <a:gd name="T8" fmla="*/ 4 w 58"/>
                          <a:gd name="T9" fmla="*/ 27 h 42"/>
                          <a:gd name="T10" fmla="*/ 0 w 58"/>
                          <a:gd name="T11" fmla="*/ 31 h 42"/>
                          <a:gd name="T12" fmla="*/ 1 w 58"/>
                          <a:gd name="T13" fmla="*/ 40 h 42"/>
                          <a:gd name="T14" fmla="*/ 22 w 58"/>
                          <a:gd name="T15" fmla="*/ 41 h 42"/>
                          <a:gd name="T16" fmla="*/ 48 w 58"/>
                          <a:gd name="T17" fmla="*/ 27 h 42"/>
                          <a:gd name="T18" fmla="*/ 57 w 58"/>
                          <a:gd name="T19" fmla="*/ 14 h 42"/>
                          <a:gd name="T20" fmla="*/ 50 w 58"/>
                          <a:gd name="T21" fmla="*/ 0 h 42"/>
                          <a:gd name="T22" fmla="*/ 21 w 58"/>
                          <a:gd name="T23" fmla="*/ 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 h="42">
                            <a:moveTo>
                              <a:pt x="21" y="4"/>
                            </a:moveTo>
                            <a:lnTo>
                              <a:pt x="21" y="10"/>
                            </a:lnTo>
                            <a:lnTo>
                              <a:pt x="16" y="15"/>
                            </a:lnTo>
                            <a:lnTo>
                              <a:pt x="12" y="20"/>
                            </a:lnTo>
                            <a:lnTo>
                              <a:pt x="4" y="27"/>
                            </a:lnTo>
                            <a:lnTo>
                              <a:pt x="0" y="31"/>
                            </a:lnTo>
                            <a:lnTo>
                              <a:pt x="1" y="40"/>
                            </a:lnTo>
                            <a:lnTo>
                              <a:pt x="22" y="41"/>
                            </a:lnTo>
                            <a:lnTo>
                              <a:pt x="48" y="27"/>
                            </a:lnTo>
                            <a:lnTo>
                              <a:pt x="57" y="14"/>
                            </a:lnTo>
                            <a:lnTo>
                              <a:pt x="50" y="0"/>
                            </a:lnTo>
                            <a:lnTo>
                              <a:pt x="21" y="4"/>
                            </a:lnTo>
                          </a:path>
                        </a:pathLst>
                      </a:custGeom>
                      <a:solidFill>
                        <a:srgbClr val="FF9F7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34" name="Freeform 21"/>
                      <p:cNvSpPr>
                        <a:spLocks noChangeAspect="1"/>
                      </p:cNvSpPr>
                      <p:nvPr/>
                    </p:nvSpPr>
                    <p:spPr bwMode="auto">
                      <a:xfrm>
                        <a:off x="4940" y="2938"/>
                        <a:ext cx="32" cy="33"/>
                      </a:xfrm>
                      <a:custGeom>
                        <a:avLst/>
                        <a:gdLst>
                          <a:gd name="T0" fmla="*/ 16 w 32"/>
                          <a:gd name="T1" fmla="*/ 2 h 33"/>
                          <a:gd name="T2" fmla="*/ 12 w 32"/>
                          <a:gd name="T3" fmla="*/ 5 h 33"/>
                          <a:gd name="T4" fmla="*/ 10 w 32"/>
                          <a:gd name="T5" fmla="*/ 9 h 33"/>
                          <a:gd name="T6" fmla="*/ 6 w 32"/>
                          <a:gd name="T7" fmla="*/ 15 h 33"/>
                          <a:gd name="T8" fmla="*/ 4 w 32"/>
                          <a:gd name="T9" fmla="*/ 20 h 33"/>
                          <a:gd name="T10" fmla="*/ 2 w 32"/>
                          <a:gd name="T11" fmla="*/ 25 h 33"/>
                          <a:gd name="T12" fmla="*/ 0 w 32"/>
                          <a:gd name="T13" fmla="*/ 32 h 33"/>
                          <a:gd name="T14" fmla="*/ 23 w 32"/>
                          <a:gd name="T15" fmla="*/ 24 h 33"/>
                          <a:gd name="T16" fmla="*/ 30 w 32"/>
                          <a:gd name="T17" fmla="*/ 12 h 33"/>
                          <a:gd name="T18" fmla="*/ 31 w 32"/>
                          <a:gd name="T19" fmla="*/ 0 h 33"/>
                          <a:gd name="T20" fmla="*/ 16 w 32"/>
                          <a:gd name="T21" fmla="*/ 2 h 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 h="33">
                            <a:moveTo>
                              <a:pt x="16" y="2"/>
                            </a:moveTo>
                            <a:lnTo>
                              <a:pt x="12" y="5"/>
                            </a:lnTo>
                            <a:lnTo>
                              <a:pt x="10" y="9"/>
                            </a:lnTo>
                            <a:lnTo>
                              <a:pt x="6" y="15"/>
                            </a:lnTo>
                            <a:lnTo>
                              <a:pt x="4" y="20"/>
                            </a:lnTo>
                            <a:lnTo>
                              <a:pt x="2" y="25"/>
                            </a:lnTo>
                            <a:lnTo>
                              <a:pt x="0" y="32"/>
                            </a:lnTo>
                            <a:lnTo>
                              <a:pt x="23" y="24"/>
                            </a:lnTo>
                            <a:lnTo>
                              <a:pt x="30" y="12"/>
                            </a:lnTo>
                            <a:lnTo>
                              <a:pt x="31" y="0"/>
                            </a:lnTo>
                            <a:lnTo>
                              <a:pt x="16" y="2"/>
                            </a:lnTo>
                          </a:path>
                        </a:pathLst>
                      </a:custGeom>
                      <a:solidFill>
                        <a:srgbClr val="FF7F3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35" name="Freeform 22"/>
                      <p:cNvSpPr>
                        <a:spLocks noChangeAspect="1"/>
                      </p:cNvSpPr>
                      <p:nvPr/>
                    </p:nvSpPr>
                    <p:spPr bwMode="auto">
                      <a:xfrm>
                        <a:off x="4921" y="2952"/>
                        <a:ext cx="12" cy="19"/>
                      </a:xfrm>
                      <a:custGeom>
                        <a:avLst/>
                        <a:gdLst>
                          <a:gd name="T0" fmla="*/ 11 w 12"/>
                          <a:gd name="T1" fmla="*/ 0 h 19"/>
                          <a:gd name="T2" fmla="*/ 9 w 12"/>
                          <a:gd name="T3" fmla="*/ 2 h 19"/>
                          <a:gd name="T4" fmla="*/ 7 w 12"/>
                          <a:gd name="T5" fmla="*/ 4 h 19"/>
                          <a:gd name="T6" fmla="*/ 5 w 12"/>
                          <a:gd name="T7" fmla="*/ 7 h 19"/>
                          <a:gd name="T8" fmla="*/ 3 w 12"/>
                          <a:gd name="T9" fmla="*/ 9 h 19"/>
                          <a:gd name="T10" fmla="*/ 1 w 12"/>
                          <a:gd name="T11" fmla="*/ 11 h 19"/>
                          <a:gd name="T12" fmla="*/ 0 w 12"/>
                          <a:gd name="T13" fmla="*/ 13 h 19"/>
                          <a:gd name="T14" fmla="*/ 0 w 12"/>
                          <a:gd name="T15" fmla="*/ 16 h 19"/>
                          <a:gd name="T16" fmla="*/ 1 w 12"/>
                          <a:gd name="T17" fmla="*/ 17 h 19"/>
                          <a:gd name="T18" fmla="*/ 2 w 12"/>
                          <a:gd name="T19" fmla="*/ 18 h 19"/>
                          <a:gd name="T20" fmla="*/ 5 w 12"/>
                          <a:gd name="T21" fmla="*/ 18 h 19"/>
                          <a:gd name="T22" fmla="*/ 3 w 12"/>
                          <a:gd name="T23" fmla="*/ 17 h 19"/>
                          <a:gd name="T24" fmla="*/ 2 w 12"/>
                          <a:gd name="T25" fmla="*/ 16 h 19"/>
                          <a:gd name="T26" fmla="*/ 1 w 12"/>
                          <a:gd name="T27" fmla="*/ 16 h 19"/>
                          <a:gd name="T28" fmla="*/ 1 w 12"/>
                          <a:gd name="T29" fmla="*/ 15 h 19"/>
                          <a:gd name="T30" fmla="*/ 2 w 12"/>
                          <a:gd name="T31" fmla="*/ 13 h 19"/>
                          <a:gd name="T32" fmla="*/ 3 w 12"/>
                          <a:gd name="T33" fmla="*/ 10 h 19"/>
                          <a:gd name="T34" fmla="*/ 5 w 12"/>
                          <a:gd name="T35" fmla="*/ 8 h 19"/>
                          <a:gd name="T36" fmla="*/ 8 w 12"/>
                          <a:gd name="T37" fmla="*/ 4 h 19"/>
                          <a:gd name="T38" fmla="*/ 11 w 12"/>
                          <a:gd name="T39" fmla="*/ 0 h 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 h="19">
                            <a:moveTo>
                              <a:pt x="11" y="0"/>
                            </a:moveTo>
                            <a:lnTo>
                              <a:pt x="9" y="2"/>
                            </a:lnTo>
                            <a:lnTo>
                              <a:pt x="7" y="4"/>
                            </a:lnTo>
                            <a:lnTo>
                              <a:pt x="5" y="7"/>
                            </a:lnTo>
                            <a:lnTo>
                              <a:pt x="3" y="9"/>
                            </a:lnTo>
                            <a:lnTo>
                              <a:pt x="1" y="11"/>
                            </a:lnTo>
                            <a:lnTo>
                              <a:pt x="0" y="13"/>
                            </a:lnTo>
                            <a:lnTo>
                              <a:pt x="0" y="16"/>
                            </a:lnTo>
                            <a:lnTo>
                              <a:pt x="1" y="17"/>
                            </a:lnTo>
                            <a:lnTo>
                              <a:pt x="2" y="18"/>
                            </a:lnTo>
                            <a:lnTo>
                              <a:pt x="5" y="18"/>
                            </a:lnTo>
                            <a:lnTo>
                              <a:pt x="3" y="17"/>
                            </a:lnTo>
                            <a:lnTo>
                              <a:pt x="2" y="16"/>
                            </a:lnTo>
                            <a:lnTo>
                              <a:pt x="1" y="16"/>
                            </a:lnTo>
                            <a:lnTo>
                              <a:pt x="1" y="15"/>
                            </a:lnTo>
                            <a:lnTo>
                              <a:pt x="2" y="13"/>
                            </a:lnTo>
                            <a:lnTo>
                              <a:pt x="3" y="10"/>
                            </a:lnTo>
                            <a:lnTo>
                              <a:pt x="5" y="8"/>
                            </a:lnTo>
                            <a:lnTo>
                              <a:pt x="8" y="4"/>
                            </a:lnTo>
                            <a:lnTo>
                              <a:pt x="11" y="0"/>
                            </a:lnTo>
                          </a:path>
                        </a:pathLst>
                      </a:custGeom>
                      <a:solidFill>
                        <a:srgbClr val="BF3F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630" name="Group 23"/>
                    <p:cNvGrpSpPr>
                      <a:grpSpLocks noChangeAspect="1"/>
                    </p:cNvGrpSpPr>
                    <p:nvPr/>
                  </p:nvGrpSpPr>
                  <p:grpSpPr bwMode="auto">
                    <a:xfrm>
                      <a:off x="4905" y="2937"/>
                      <a:ext cx="76" cy="54"/>
                      <a:chOff x="4905" y="2937"/>
                      <a:chExt cx="76" cy="54"/>
                    </a:xfrm>
                  </p:grpSpPr>
                  <p:sp>
                    <p:nvSpPr>
                      <p:cNvPr id="277631" name="Freeform 24"/>
                      <p:cNvSpPr>
                        <a:spLocks noChangeAspect="1"/>
                      </p:cNvSpPr>
                      <p:nvPr/>
                    </p:nvSpPr>
                    <p:spPr bwMode="auto">
                      <a:xfrm>
                        <a:off x="4905" y="2937"/>
                        <a:ext cx="76" cy="54"/>
                      </a:xfrm>
                      <a:custGeom>
                        <a:avLst/>
                        <a:gdLst>
                          <a:gd name="T0" fmla="*/ 28 w 76"/>
                          <a:gd name="T1" fmla="*/ 15 h 54"/>
                          <a:gd name="T2" fmla="*/ 21 w 76"/>
                          <a:gd name="T3" fmla="*/ 23 h 54"/>
                          <a:gd name="T4" fmla="*/ 17 w 76"/>
                          <a:gd name="T5" fmla="*/ 26 h 54"/>
                          <a:gd name="T6" fmla="*/ 16 w 76"/>
                          <a:gd name="T7" fmla="*/ 28 h 54"/>
                          <a:gd name="T8" fmla="*/ 15 w 76"/>
                          <a:gd name="T9" fmla="*/ 30 h 54"/>
                          <a:gd name="T10" fmla="*/ 15 w 76"/>
                          <a:gd name="T11" fmla="*/ 32 h 54"/>
                          <a:gd name="T12" fmla="*/ 17 w 76"/>
                          <a:gd name="T13" fmla="*/ 33 h 54"/>
                          <a:gd name="T14" fmla="*/ 19 w 76"/>
                          <a:gd name="T15" fmla="*/ 34 h 54"/>
                          <a:gd name="T16" fmla="*/ 24 w 76"/>
                          <a:gd name="T17" fmla="*/ 33 h 54"/>
                          <a:gd name="T18" fmla="*/ 30 w 76"/>
                          <a:gd name="T19" fmla="*/ 32 h 54"/>
                          <a:gd name="T20" fmla="*/ 38 w 76"/>
                          <a:gd name="T21" fmla="*/ 30 h 54"/>
                          <a:gd name="T22" fmla="*/ 48 w 76"/>
                          <a:gd name="T23" fmla="*/ 27 h 54"/>
                          <a:gd name="T24" fmla="*/ 55 w 76"/>
                          <a:gd name="T25" fmla="*/ 22 h 54"/>
                          <a:gd name="T26" fmla="*/ 60 w 76"/>
                          <a:gd name="T27" fmla="*/ 19 h 54"/>
                          <a:gd name="T28" fmla="*/ 63 w 76"/>
                          <a:gd name="T29" fmla="*/ 15 h 54"/>
                          <a:gd name="T30" fmla="*/ 64 w 76"/>
                          <a:gd name="T31" fmla="*/ 9 h 54"/>
                          <a:gd name="T32" fmla="*/ 66 w 76"/>
                          <a:gd name="T33" fmla="*/ 5 h 54"/>
                          <a:gd name="T34" fmla="*/ 68 w 76"/>
                          <a:gd name="T35" fmla="*/ 0 h 54"/>
                          <a:gd name="T36" fmla="*/ 72 w 76"/>
                          <a:gd name="T37" fmla="*/ 5 h 54"/>
                          <a:gd name="T38" fmla="*/ 74 w 76"/>
                          <a:gd name="T39" fmla="*/ 11 h 54"/>
                          <a:gd name="T40" fmla="*/ 75 w 76"/>
                          <a:gd name="T41" fmla="*/ 15 h 54"/>
                          <a:gd name="T42" fmla="*/ 75 w 76"/>
                          <a:gd name="T43" fmla="*/ 21 h 54"/>
                          <a:gd name="T44" fmla="*/ 73 w 76"/>
                          <a:gd name="T45" fmla="*/ 28 h 54"/>
                          <a:gd name="T46" fmla="*/ 69 w 76"/>
                          <a:gd name="T47" fmla="*/ 33 h 54"/>
                          <a:gd name="T48" fmla="*/ 68 w 76"/>
                          <a:gd name="T49" fmla="*/ 37 h 54"/>
                          <a:gd name="T50" fmla="*/ 67 w 76"/>
                          <a:gd name="T51" fmla="*/ 40 h 54"/>
                          <a:gd name="T52" fmla="*/ 64 w 76"/>
                          <a:gd name="T53" fmla="*/ 40 h 54"/>
                          <a:gd name="T54" fmla="*/ 55 w 76"/>
                          <a:gd name="T55" fmla="*/ 39 h 54"/>
                          <a:gd name="T56" fmla="*/ 51 w 76"/>
                          <a:gd name="T57" fmla="*/ 43 h 54"/>
                          <a:gd name="T58" fmla="*/ 46 w 76"/>
                          <a:gd name="T59" fmla="*/ 50 h 54"/>
                          <a:gd name="T60" fmla="*/ 44 w 76"/>
                          <a:gd name="T61" fmla="*/ 52 h 54"/>
                          <a:gd name="T62" fmla="*/ 42 w 76"/>
                          <a:gd name="T63" fmla="*/ 53 h 54"/>
                          <a:gd name="T64" fmla="*/ 38 w 76"/>
                          <a:gd name="T65" fmla="*/ 53 h 54"/>
                          <a:gd name="T66" fmla="*/ 15 w 76"/>
                          <a:gd name="T67" fmla="*/ 52 h 54"/>
                          <a:gd name="T68" fmla="*/ 5 w 76"/>
                          <a:gd name="T69" fmla="*/ 51 h 54"/>
                          <a:gd name="T70" fmla="*/ 2 w 76"/>
                          <a:gd name="T71" fmla="*/ 50 h 54"/>
                          <a:gd name="T72" fmla="*/ 0 w 76"/>
                          <a:gd name="T73" fmla="*/ 49 h 54"/>
                          <a:gd name="T74" fmla="*/ 0 w 76"/>
                          <a:gd name="T75" fmla="*/ 47 h 54"/>
                          <a:gd name="T76" fmla="*/ 1 w 76"/>
                          <a:gd name="T77" fmla="*/ 44 h 54"/>
                          <a:gd name="T78" fmla="*/ 3 w 76"/>
                          <a:gd name="T79" fmla="*/ 40 h 54"/>
                          <a:gd name="T80" fmla="*/ 7 w 76"/>
                          <a:gd name="T81" fmla="*/ 34 h 54"/>
                          <a:gd name="T82" fmla="*/ 12 w 76"/>
                          <a:gd name="T83" fmla="*/ 29 h 54"/>
                          <a:gd name="T84" fmla="*/ 16 w 76"/>
                          <a:gd name="T85" fmla="*/ 25 h 54"/>
                          <a:gd name="T86" fmla="*/ 21 w 76"/>
                          <a:gd name="T87" fmla="*/ 20 h 54"/>
                          <a:gd name="T88" fmla="*/ 28 w 76"/>
                          <a:gd name="T89" fmla="*/ 15 h 5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76" h="54">
                            <a:moveTo>
                              <a:pt x="28" y="15"/>
                            </a:moveTo>
                            <a:lnTo>
                              <a:pt x="21" y="23"/>
                            </a:lnTo>
                            <a:lnTo>
                              <a:pt x="17" y="26"/>
                            </a:lnTo>
                            <a:lnTo>
                              <a:pt x="16" y="28"/>
                            </a:lnTo>
                            <a:lnTo>
                              <a:pt x="15" y="30"/>
                            </a:lnTo>
                            <a:lnTo>
                              <a:pt x="15" y="32"/>
                            </a:lnTo>
                            <a:lnTo>
                              <a:pt x="17" y="33"/>
                            </a:lnTo>
                            <a:lnTo>
                              <a:pt x="19" y="34"/>
                            </a:lnTo>
                            <a:lnTo>
                              <a:pt x="24" y="33"/>
                            </a:lnTo>
                            <a:lnTo>
                              <a:pt x="30" y="32"/>
                            </a:lnTo>
                            <a:lnTo>
                              <a:pt x="38" y="30"/>
                            </a:lnTo>
                            <a:lnTo>
                              <a:pt x="48" y="27"/>
                            </a:lnTo>
                            <a:lnTo>
                              <a:pt x="55" y="22"/>
                            </a:lnTo>
                            <a:lnTo>
                              <a:pt x="60" y="19"/>
                            </a:lnTo>
                            <a:lnTo>
                              <a:pt x="63" y="15"/>
                            </a:lnTo>
                            <a:lnTo>
                              <a:pt x="64" y="9"/>
                            </a:lnTo>
                            <a:lnTo>
                              <a:pt x="66" y="5"/>
                            </a:lnTo>
                            <a:lnTo>
                              <a:pt x="68" y="0"/>
                            </a:lnTo>
                            <a:lnTo>
                              <a:pt x="72" y="5"/>
                            </a:lnTo>
                            <a:lnTo>
                              <a:pt x="74" y="11"/>
                            </a:lnTo>
                            <a:lnTo>
                              <a:pt x="75" y="15"/>
                            </a:lnTo>
                            <a:lnTo>
                              <a:pt x="75" y="21"/>
                            </a:lnTo>
                            <a:lnTo>
                              <a:pt x="73" y="28"/>
                            </a:lnTo>
                            <a:lnTo>
                              <a:pt x="69" y="33"/>
                            </a:lnTo>
                            <a:lnTo>
                              <a:pt x="68" y="37"/>
                            </a:lnTo>
                            <a:lnTo>
                              <a:pt x="67" y="40"/>
                            </a:lnTo>
                            <a:lnTo>
                              <a:pt x="64" y="40"/>
                            </a:lnTo>
                            <a:lnTo>
                              <a:pt x="55" y="39"/>
                            </a:lnTo>
                            <a:lnTo>
                              <a:pt x="51" y="43"/>
                            </a:lnTo>
                            <a:lnTo>
                              <a:pt x="46" y="50"/>
                            </a:lnTo>
                            <a:lnTo>
                              <a:pt x="44" y="52"/>
                            </a:lnTo>
                            <a:lnTo>
                              <a:pt x="42" y="53"/>
                            </a:lnTo>
                            <a:lnTo>
                              <a:pt x="38" y="53"/>
                            </a:lnTo>
                            <a:lnTo>
                              <a:pt x="15" y="52"/>
                            </a:lnTo>
                            <a:lnTo>
                              <a:pt x="5" y="51"/>
                            </a:lnTo>
                            <a:lnTo>
                              <a:pt x="2" y="50"/>
                            </a:lnTo>
                            <a:lnTo>
                              <a:pt x="0" y="49"/>
                            </a:lnTo>
                            <a:lnTo>
                              <a:pt x="0" y="47"/>
                            </a:lnTo>
                            <a:lnTo>
                              <a:pt x="1" y="44"/>
                            </a:lnTo>
                            <a:lnTo>
                              <a:pt x="3" y="40"/>
                            </a:lnTo>
                            <a:lnTo>
                              <a:pt x="7" y="34"/>
                            </a:lnTo>
                            <a:lnTo>
                              <a:pt x="12" y="29"/>
                            </a:lnTo>
                            <a:lnTo>
                              <a:pt x="16" y="25"/>
                            </a:lnTo>
                            <a:lnTo>
                              <a:pt x="21" y="20"/>
                            </a:lnTo>
                            <a:lnTo>
                              <a:pt x="28" y="15"/>
                            </a:lnTo>
                          </a:path>
                        </a:pathLst>
                      </a:custGeom>
                      <a:solidFill>
                        <a:srgbClr val="7F5F3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32" name="Freeform 25"/>
                      <p:cNvSpPr>
                        <a:spLocks noChangeAspect="1"/>
                      </p:cNvSpPr>
                      <p:nvPr/>
                    </p:nvSpPr>
                    <p:spPr bwMode="auto">
                      <a:xfrm>
                        <a:off x="4961" y="2970"/>
                        <a:ext cx="8" cy="7"/>
                      </a:xfrm>
                      <a:custGeom>
                        <a:avLst/>
                        <a:gdLst>
                          <a:gd name="T0" fmla="*/ 0 w 8"/>
                          <a:gd name="T1" fmla="*/ 6 h 7"/>
                          <a:gd name="T2" fmla="*/ 2 w 8"/>
                          <a:gd name="T3" fmla="*/ 3 h 7"/>
                          <a:gd name="T4" fmla="*/ 3 w 8"/>
                          <a:gd name="T5" fmla="*/ 2 h 7"/>
                          <a:gd name="T6" fmla="*/ 4 w 8"/>
                          <a:gd name="T7" fmla="*/ 1 h 7"/>
                          <a:gd name="T8" fmla="*/ 7 w 8"/>
                          <a:gd name="T9" fmla="*/ 0 h 7"/>
                          <a:gd name="T10" fmla="*/ 6 w 8"/>
                          <a:gd name="T11" fmla="*/ 2 h 7"/>
                          <a:gd name="T12" fmla="*/ 4 w 8"/>
                          <a:gd name="T13" fmla="*/ 2 h 7"/>
                          <a:gd name="T14" fmla="*/ 3 w 8"/>
                          <a:gd name="T15" fmla="*/ 3 h 7"/>
                          <a:gd name="T16" fmla="*/ 0 w 8"/>
                          <a:gd name="T17" fmla="*/ 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7">
                            <a:moveTo>
                              <a:pt x="0" y="6"/>
                            </a:moveTo>
                            <a:lnTo>
                              <a:pt x="2" y="3"/>
                            </a:lnTo>
                            <a:lnTo>
                              <a:pt x="3" y="2"/>
                            </a:lnTo>
                            <a:lnTo>
                              <a:pt x="4" y="1"/>
                            </a:lnTo>
                            <a:lnTo>
                              <a:pt x="7" y="0"/>
                            </a:lnTo>
                            <a:lnTo>
                              <a:pt x="6" y="2"/>
                            </a:lnTo>
                            <a:lnTo>
                              <a:pt x="4" y="2"/>
                            </a:lnTo>
                            <a:lnTo>
                              <a:pt x="3" y="3"/>
                            </a:lnTo>
                            <a:lnTo>
                              <a:pt x="0" y="6"/>
                            </a:lnTo>
                          </a:path>
                        </a:pathLst>
                      </a:custGeom>
                      <a:solidFill>
                        <a:srgbClr val="5F3F1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77623" name="Group 26"/>
                  <p:cNvGrpSpPr>
                    <a:grpSpLocks noChangeAspect="1"/>
                  </p:cNvGrpSpPr>
                  <p:nvPr/>
                </p:nvGrpSpPr>
                <p:grpSpPr bwMode="auto">
                  <a:xfrm>
                    <a:off x="4998" y="2959"/>
                    <a:ext cx="49" cy="76"/>
                    <a:chOff x="4998" y="2959"/>
                    <a:chExt cx="49" cy="76"/>
                  </a:xfrm>
                </p:grpSpPr>
                <p:grpSp>
                  <p:nvGrpSpPr>
                    <p:cNvPr id="277624" name="Group 27"/>
                    <p:cNvGrpSpPr>
                      <a:grpSpLocks noChangeAspect="1"/>
                    </p:cNvGrpSpPr>
                    <p:nvPr/>
                  </p:nvGrpSpPr>
                  <p:grpSpPr bwMode="auto">
                    <a:xfrm>
                      <a:off x="4998" y="2959"/>
                      <a:ext cx="43" cy="49"/>
                      <a:chOff x="4998" y="2959"/>
                      <a:chExt cx="43" cy="49"/>
                    </a:xfrm>
                  </p:grpSpPr>
                  <p:sp>
                    <p:nvSpPr>
                      <p:cNvPr id="277626" name="Freeform 28"/>
                      <p:cNvSpPr>
                        <a:spLocks noChangeAspect="1"/>
                      </p:cNvSpPr>
                      <p:nvPr/>
                    </p:nvSpPr>
                    <p:spPr bwMode="auto">
                      <a:xfrm>
                        <a:off x="4998" y="2959"/>
                        <a:ext cx="43" cy="47"/>
                      </a:xfrm>
                      <a:custGeom>
                        <a:avLst/>
                        <a:gdLst>
                          <a:gd name="T0" fmla="*/ 0 w 43"/>
                          <a:gd name="T1" fmla="*/ 5 h 47"/>
                          <a:gd name="T2" fmla="*/ 2 w 43"/>
                          <a:gd name="T3" fmla="*/ 14 h 47"/>
                          <a:gd name="T4" fmla="*/ 3 w 43"/>
                          <a:gd name="T5" fmla="*/ 17 h 47"/>
                          <a:gd name="T6" fmla="*/ 2 w 43"/>
                          <a:gd name="T7" fmla="*/ 20 h 47"/>
                          <a:gd name="T8" fmla="*/ 3 w 43"/>
                          <a:gd name="T9" fmla="*/ 24 h 47"/>
                          <a:gd name="T10" fmla="*/ 4 w 43"/>
                          <a:gd name="T11" fmla="*/ 27 h 47"/>
                          <a:gd name="T12" fmla="*/ 4 w 43"/>
                          <a:gd name="T13" fmla="*/ 32 h 47"/>
                          <a:gd name="T14" fmla="*/ 4 w 43"/>
                          <a:gd name="T15" fmla="*/ 36 h 47"/>
                          <a:gd name="T16" fmla="*/ 6 w 43"/>
                          <a:gd name="T17" fmla="*/ 44 h 47"/>
                          <a:gd name="T18" fmla="*/ 38 w 43"/>
                          <a:gd name="T19" fmla="*/ 46 h 47"/>
                          <a:gd name="T20" fmla="*/ 42 w 43"/>
                          <a:gd name="T21" fmla="*/ 35 h 47"/>
                          <a:gd name="T22" fmla="*/ 40 w 43"/>
                          <a:gd name="T23" fmla="*/ 25 h 47"/>
                          <a:gd name="T24" fmla="*/ 36 w 43"/>
                          <a:gd name="T25" fmla="*/ 19 h 47"/>
                          <a:gd name="T26" fmla="*/ 34 w 43"/>
                          <a:gd name="T27" fmla="*/ 12 h 47"/>
                          <a:gd name="T28" fmla="*/ 32 w 43"/>
                          <a:gd name="T29" fmla="*/ 2 h 47"/>
                          <a:gd name="T30" fmla="*/ 27 w 43"/>
                          <a:gd name="T31" fmla="*/ 0 h 47"/>
                          <a:gd name="T32" fmla="*/ 0 w 43"/>
                          <a:gd name="T33" fmla="*/ 5 h 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3" h="47">
                            <a:moveTo>
                              <a:pt x="0" y="5"/>
                            </a:moveTo>
                            <a:lnTo>
                              <a:pt x="2" y="14"/>
                            </a:lnTo>
                            <a:lnTo>
                              <a:pt x="3" y="17"/>
                            </a:lnTo>
                            <a:lnTo>
                              <a:pt x="2" y="20"/>
                            </a:lnTo>
                            <a:lnTo>
                              <a:pt x="3" y="24"/>
                            </a:lnTo>
                            <a:lnTo>
                              <a:pt x="4" y="27"/>
                            </a:lnTo>
                            <a:lnTo>
                              <a:pt x="4" y="32"/>
                            </a:lnTo>
                            <a:lnTo>
                              <a:pt x="4" y="36"/>
                            </a:lnTo>
                            <a:lnTo>
                              <a:pt x="6" y="44"/>
                            </a:lnTo>
                            <a:lnTo>
                              <a:pt x="38" y="46"/>
                            </a:lnTo>
                            <a:lnTo>
                              <a:pt x="42" y="35"/>
                            </a:lnTo>
                            <a:lnTo>
                              <a:pt x="40" y="25"/>
                            </a:lnTo>
                            <a:lnTo>
                              <a:pt x="36" y="19"/>
                            </a:lnTo>
                            <a:lnTo>
                              <a:pt x="34" y="12"/>
                            </a:lnTo>
                            <a:lnTo>
                              <a:pt x="32" y="2"/>
                            </a:lnTo>
                            <a:lnTo>
                              <a:pt x="27" y="0"/>
                            </a:lnTo>
                            <a:lnTo>
                              <a:pt x="0" y="5"/>
                            </a:lnTo>
                          </a:path>
                        </a:pathLst>
                      </a:custGeom>
                      <a:solidFill>
                        <a:srgbClr val="FF9F7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27" name="Freeform 29"/>
                      <p:cNvSpPr>
                        <a:spLocks noChangeAspect="1"/>
                      </p:cNvSpPr>
                      <p:nvPr/>
                    </p:nvSpPr>
                    <p:spPr bwMode="auto">
                      <a:xfrm>
                        <a:off x="4998" y="2964"/>
                        <a:ext cx="13" cy="38"/>
                      </a:xfrm>
                      <a:custGeom>
                        <a:avLst/>
                        <a:gdLst>
                          <a:gd name="T0" fmla="*/ 0 w 13"/>
                          <a:gd name="T1" fmla="*/ 0 h 38"/>
                          <a:gd name="T2" fmla="*/ 2 w 13"/>
                          <a:gd name="T3" fmla="*/ 9 h 38"/>
                          <a:gd name="T4" fmla="*/ 2 w 13"/>
                          <a:gd name="T5" fmla="*/ 11 h 38"/>
                          <a:gd name="T6" fmla="*/ 2 w 13"/>
                          <a:gd name="T7" fmla="*/ 14 h 38"/>
                          <a:gd name="T8" fmla="*/ 2 w 13"/>
                          <a:gd name="T9" fmla="*/ 18 h 38"/>
                          <a:gd name="T10" fmla="*/ 4 w 13"/>
                          <a:gd name="T11" fmla="*/ 20 h 38"/>
                          <a:gd name="T12" fmla="*/ 4 w 13"/>
                          <a:gd name="T13" fmla="*/ 25 h 38"/>
                          <a:gd name="T14" fmla="*/ 4 w 13"/>
                          <a:gd name="T15" fmla="*/ 29 h 38"/>
                          <a:gd name="T16" fmla="*/ 5 w 13"/>
                          <a:gd name="T17" fmla="*/ 37 h 38"/>
                          <a:gd name="T18" fmla="*/ 12 w 13"/>
                          <a:gd name="T19" fmla="*/ 37 h 38"/>
                          <a:gd name="T20" fmla="*/ 7 w 13"/>
                          <a:gd name="T21" fmla="*/ 30 h 38"/>
                          <a:gd name="T22" fmla="*/ 8 w 13"/>
                          <a:gd name="T23" fmla="*/ 25 h 38"/>
                          <a:gd name="T24" fmla="*/ 7 w 13"/>
                          <a:gd name="T25" fmla="*/ 20 h 38"/>
                          <a:gd name="T26" fmla="*/ 6 w 13"/>
                          <a:gd name="T27" fmla="*/ 16 h 38"/>
                          <a:gd name="T28" fmla="*/ 5 w 13"/>
                          <a:gd name="T29" fmla="*/ 11 h 38"/>
                          <a:gd name="T30" fmla="*/ 3 w 13"/>
                          <a:gd name="T31" fmla="*/ 3 h 38"/>
                          <a:gd name="T32" fmla="*/ 0 w 13"/>
                          <a:gd name="T33" fmla="*/ 0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 h="38">
                            <a:moveTo>
                              <a:pt x="0" y="0"/>
                            </a:moveTo>
                            <a:lnTo>
                              <a:pt x="2" y="9"/>
                            </a:lnTo>
                            <a:lnTo>
                              <a:pt x="2" y="11"/>
                            </a:lnTo>
                            <a:lnTo>
                              <a:pt x="2" y="14"/>
                            </a:lnTo>
                            <a:lnTo>
                              <a:pt x="2" y="18"/>
                            </a:lnTo>
                            <a:lnTo>
                              <a:pt x="4" y="20"/>
                            </a:lnTo>
                            <a:lnTo>
                              <a:pt x="4" y="25"/>
                            </a:lnTo>
                            <a:lnTo>
                              <a:pt x="4" y="29"/>
                            </a:lnTo>
                            <a:lnTo>
                              <a:pt x="5" y="37"/>
                            </a:lnTo>
                            <a:lnTo>
                              <a:pt x="12" y="37"/>
                            </a:lnTo>
                            <a:lnTo>
                              <a:pt x="7" y="30"/>
                            </a:lnTo>
                            <a:lnTo>
                              <a:pt x="8" y="25"/>
                            </a:lnTo>
                            <a:lnTo>
                              <a:pt x="7" y="20"/>
                            </a:lnTo>
                            <a:lnTo>
                              <a:pt x="6" y="16"/>
                            </a:lnTo>
                            <a:lnTo>
                              <a:pt x="5" y="11"/>
                            </a:lnTo>
                            <a:lnTo>
                              <a:pt x="3" y="3"/>
                            </a:lnTo>
                            <a:lnTo>
                              <a:pt x="0" y="0"/>
                            </a:lnTo>
                          </a:path>
                        </a:pathLst>
                      </a:custGeom>
                      <a:solidFill>
                        <a:srgbClr val="FF7F3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28" name="Freeform 30"/>
                      <p:cNvSpPr>
                        <a:spLocks noChangeAspect="1"/>
                      </p:cNvSpPr>
                      <p:nvPr/>
                    </p:nvSpPr>
                    <p:spPr bwMode="auto">
                      <a:xfrm>
                        <a:off x="5027" y="2959"/>
                        <a:ext cx="12" cy="49"/>
                      </a:xfrm>
                      <a:custGeom>
                        <a:avLst/>
                        <a:gdLst>
                          <a:gd name="T0" fmla="*/ 4 w 12"/>
                          <a:gd name="T1" fmla="*/ 13 h 49"/>
                          <a:gd name="T2" fmla="*/ 6 w 12"/>
                          <a:gd name="T3" fmla="*/ 21 h 49"/>
                          <a:gd name="T4" fmla="*/ 7 w 12"/>
                          <a:gd name="T5" fmla="*/ 26 h 49"/>
                          <a:gd name="T6" fmla="*/ 7 w 12"/>
                          <a:gd name="T7" fmla="*/ 31 h 49"/>
                          <a:gd name="T8" fmla="*/ 6 w 12"/>
                          <a:gd name="T9" fmla="*/ 36 h 49"/>
                          <a:gd name="T10" fmla="*/ 5 w 12"/>
                          <a:gd name="T11" fmla="*/ 42 h 49"/>
                          <a:gd name="T12" fmla="*/ 7 w 12"/>
                          <a:gd name="T13" fmla="*/ 48 h 49"/>
                          <a:gd name="T14" fmla="*/ 11 w 12"/>
                          <a:gd name="T15" fmla="*/ 30 h 49"/>
                          <a:gd name="T16" fmla="*/ 8 w 12"/>
                          <a:gd name="T17" fmla="*/ 17 h 49"/>
                          <a:gd name="T18" fmla="*/ 6 w 12"/>
                          <a:gd name="T19" fmla="*/ 10 h 49"/>
                          <a:gd name="T20" fmla="*/ 5 w 12"/>
                          <a:gd name="T21" fmla="*/ 0 h 49"/>
                          <a:gd name="T22" fmla="*/ 0 w 12"/>
                          <a:gd name="T23" fmla="*/ 2 h 49"/>
                          <a:gd name="T24" fmla="*/ 4 w 12"/>
                          <a:gd name="T25" fmla="*/ 13 h 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 h="49">
                            <a:moveTo>
                              <a:pt x="4" y="13"/>
                            </a:moveTo>
                            <a:lnTo>
                              <a:pt x="6" y="21"/>
                            </a:lnTo>
                            <a:lnTo>
                              <a:pt x="7" y="26"/>
                            </a:lnTo>
                            <a:lnTo>
                              <a:pt x="7" y="31"/>
                            </a:lnTo>
                            <a:lnTo>
                              <a:pt x="6" y="36"/>
                            </a:lnTo>
                            <a:lnTo>
                              <a:pt x="5" y="42"/>
                            </a:lnTo>
                            <a:lnTo>
                              <a:pt x="7" y="48"/>
                            </a:lnTo>
                            <a:lnTo>
                              <a:pt x="11" y="30"/>
                            </a:lnTo>
                            <a:lnTo>
                              <a:pt x="8" y="17"/>
                            </a:lnTo>
                            <a:lnTo>
                              <a:pt x="6" y="10"/>
                            </a:lnTo>
                            <a:lnTo>
                              <a:pt x="5" y="0"/>
                            </a:lnTo>
                            <a:lnTo>
                              <a:pt x="0" y="2"/>
                            </a:lnTo>
                            <a:lnTo>
                              <a:pt x="4" y="13"/>
                            </a:lnTo>
                          </a:path>
                        </a:pathLst>
                      </a:custGeom>
                      <a:solidFill>
                        <a:srgbClr val="FF7F3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77625" name="Freeform 31"/>
                    <p:cNvSpPr>
                      <a:spLocks noChangeAspect="1"/>
                    </p:cNvSpPr>
                    <p:nvPr/>
                  </p:nvSpPr>
                  <p:spPr bwMode="auto">
                    <a:xfrm>
                      <a:off x="5002" y="2979"/>
                      <a:ext cx="45" cy="56"/>
                    </a:xfrm>
                    <a:custGeom>
                      <a:avLst/>
                      <a:gdLst>
                        <a:gd name="T0" fmla="*/ 0 w 45"/>
                        <a:gd name="T1" fmla="*/ 15 h 56"/>
                        <a:gd name="T2" fmla="*/ 3 w 45"/>
                        <a:gd name="T3" fmla="*/ 19 h 56"/>
                        <a:gd name="T4" fmla="*/ 7 w 45"/>
                        <a:gd name="T5" fmla="*/ 22 h 56"/>
                        <a:gd name="T6" fmla="*/ 14 w 45"/>
                        <a:gd name="T7" fmla="*/ 25 h 56"/>
                        <a:gd name="T8" fmla="*/ 19 w 45"/>
                        <a:gd name="T9" fmla="*/ 25 h 56"/>
                        <a:gd name="T10" fmla="*/ 24 w 45"/>
                        <a:gd name="T11" fmla="*/ 24 h 56"/>
                        <a:gd name="T12" fmla="*/ 30 w 45"/>
                        <a:gd name="T13" fmla="*/ 20 h 56"/>
                        <a:gd name="T14" fmla="*/ 33 w 45"/>
                        <a:gd name="T15" fmla="*/ 14 h 56"/>
                        <a:gd name="T16" fmla="*/ 34 w 45"/>
                        <a:gd name="T17" fmla="*/ 8 h 56"/>
                        <a:gd name="T18" fmla="*/ 33 w 45"/>
                        <a:gd name="T19" fmla="*/ 0 h 56"/>
                        <a:gd name="T20" fmla="*/ 36 w 45"/>
                        <a:gd name="T21" fmla="*/ 4 h 56"/>
                        <a:gd name="T22" fmla="*/ 38 w 45"/>
                        <a:gd name="T23" fmla="*/ 11 h 56"/>
                        <a:gd name="T24" fmla="*/ 41 w 45"/>
                        <a:gd name="T25" fmla="*/ 19 h 56"/>
                        <a:gd name="T26" fmla="*/ 43 w 45"/>
                        <a:gd name="T27" fmla="*/ 26 h 56"/>
                        <a:gd name="T28" fmla="*/ 44 w 45"/>
                        <a:gd name="T29" fmla="*/ 30 h 56"/>
                        <a:gd name="T30" fmla="*/ 43 w 45"/>
                        <a:gd name="T31" fmla="*/ 34 h 56"/>
                        <a:gd name="T32" fmla="*/ 38 w 45"/>
                        <a:gd name="T33" fmla="*/ 41 h 56"/>
                        <a:gd name="T34" fmla="*/ 31 w 45"/>
                        <a:gd name="T35" fmla="*/ 49 h 56"/>
                        <a:gd name="T36" fmla="*/ 25 w 45"/>
                        <a:gd name="T37" fmla="*/ 53 h 56"/>
                        <a:gd name="T38" fmla="*/ 22 w 45"/>
                        <a:gd name="T39" fmla="*/ 55 h 56"/>
                        <a:gd name="T40" fmla="*/ 19 w 45"/>
                        <a:gd name="T41" fmla="*/ 53 h 56"/>
                        <a:gd name="T42" fmla="*/ 15 w 45"/>
                        <a:gd name="T43" fmla="*/ 50 h 56"/>
                        <a:gd name="T44" fmla="*/ 7 w 45"/>
                        <a:gd name="T45" fmla="*/ 45 h 56"/>
                        <a:gd name="T46" fmla="*/ 3 w 45"/>
                        <a:gd name="T47" fmla="*/ 42 h 56"/>
                        <a:gd name="T48" fmla="*/ 2 w 45"/>
                        <a:gd name="T49" fmla="*/ 40 h 56"/>
                        <a:gd name="T50" fmla="*/ 1 w 45"/>
                        <a:gd name="T51" fmla="*/ 33 h 56"/>
                        <a:gd name="T52" fmla="*/ 0 w 45"/>
                        <a:gd name="T53" fmla="*/ 26 h 56"/>
                        <a:gd name="T54" fmla="*/ 0 w 45"/>
                        <a:gd name="T55" fmla="*/ 15 h 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5" h="56">
                          <a:moveTo>
                            <a:pt x="0" y="15"/>
                          </a:moveTo>
                          <a:lnTo>
                            <a:pt x="3" y="19"/>
                          </a:lnTo>
                          <a:lnTo>
                            <a:pt x="7" y="22"/>
                          </a:lnTo>
                          <a:lnTo>
                            <a:pt x="14" y="25"/>
                          </a:lnTo>
                          <a:lnTo>
                            <a:pt x="19" y="25"/>
                          </a:lnTo>
                          <a:lnTo>
                            <a:pt x="24" y="24"/>
                          </a:lnTo>
                          <a:lnTo>
                            <a:pt x="30" y="20"/>
                          </a:lnTo>
                          <a:lnTo>
                            <a:pt x="33" y="14"/>
                          </a:lnTo>
                          <a:lnTo>
                            <a:pt x="34" y="8"/>
                          </a:lnTo>
                          <a:lnTo>
                            <a:pt x="33" y="0"/>
                          </a:lnTo>
                          <a:lnTo>
                            <a:pt x="36" y="4"/>
                          </a:lnTo>
                          <a:lnTo>
                            <a:pt x="38" y="11"/>
                          </a:lnTo>
                          <a:lnTo>
                            <a:pt x="41" y="19"/>
                          </a:lnTo>
                          <a:lnTo>
                            <a:pt x="43" y="26"/>
                          </a:lnTo>
                          <a:lnTo>
                            <a:pt x="44" y="30"/>
                          </a:lnTo>
                          <a:lnTo>
                            <a:pt x="43" y="34"/>
                          </a:lnTo>
                          <a:lnTo>
                            <a:pt x="38" y="41"/>
                          </a:lnTo>
                          <a:lnTo>
                            <a:pt x="31" y="49"/>
                          </a:lnTo>
                          <a:lnTo>
                            <a:pt x="25" y="53"/>
                          </a:lnTo>
                          <a:lnTo>
                            <a:pt x="22" y="55"/>
                          </a:lnTo>
                          <a:lnTo>
                            <a:pt x="19" y="53"/>
                          </a:lnTo>
                          <a:lnTo>
                            <a:pt x="15" y="50"/>
                          </a:lnTo>
                          <a:lnTo>
                            <a:pt x="7" y="45"/>
                          </a:lnTo>
                          <a:lnTo>
                            <a:pt x="3" y="42"/>
                          </a:lnTo>
                          <a:lnTo>
                            <a:pt x="2" y="40"/>
                          </a:lnTo>
                          <a:lnTo>
                            <a:pt x="1" y="33"/>
                          </a:lnTo>
                          <a:lnTo>
                            <a:pt x="0" y="26"/>
                          </a:lnTo>
                          <a:lnTo>
                            <a:pt x="0" y="15"/>
                          </a:lnTo>
                        </a:path>
                      </a:pathLst>
                    </a:custGeom>
                    <a:solidFill>
                      <a:srgbClr val="7F5F3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77612" name="Group 32"/>
                <p:cNvGrpSpPr>
                  <a:grpSpLocks noChangeAspect="1"/>
                </p:cNvGrpSpPr>
                <p:nvPr/>
              </p:nvGrpSpPr>
              <p:grpSpPr bwMode="auto">
                <a:xfrm>
                  <a:off x="4902" y="2521"/>
                  <a:ext cx="159" cy="451"/>
                  <a:chOff x="4902" y="2521"/>
                  <a:chExt cx="159" cy="451"/>
                </a:xfrm>
              </p:grpSpPr>
              <p:sp>
                <p:nvSpPr>
                  <p:cNvPr id="277613" name="Freeform 33"/>
                  <p:cNvSpPr>
                    <a:spLocks noChangeAspect="1"/>
                  </p:cNvSpPr>
                  <p:nvPr/>
                </p:nvSpPr>
                <p:spPr bwMode="auto">
                  <a:xfrm>
                    <a:off x="4902" y="2521"/>
                    <a:ext cx="159" cy="451"/>
                  </a:xfrm>
                  <a:custGeom>
                    <a:avLst/>
                    <a:gdLst>
                      <a:gd name="T0" fmla="*/ 84 w 159"/>
                      <a:gd name="T1" fmla="*/ 7 h 451"/>
                      <a:gd name="T2" fmla="*/ 157 w 159"/>
                      <a:gd name="T3" fmla="*/ 32 h 451"/>
                      <a:gd name="T4" fmla="*/ 157 w 159"/>
                      <a:gd name="T5" fmla="*/ 55 h 451"/>
                      <a:gd name="T6" fmla="*/ 156 w 159"/>
                      <a:gd name="T7" fmla="*/ 63 h 451"/>
                      <a:gd name="T8" fmla="*/ 156 w 159"/>
                      <a:gd name="T9" fmla="*/ 68 h 451"/>
                      <a:gd name="T10" fmla="*/ 154 w 159"/>
                      <a:gd name="T11" fmla="*/ 79 h 451"/>
                      <a:gd name="T12" fmla="*/ 154 w 159"/>
                      <a:gd name="T13" fmla="*/ 93 h 451"/>
                      <a:gd name="T14" fmla="*/ 153 w 159"/>
                      <a:gd name="T15" fmla="*/ 105 h 451"/>
                      <a:gd name="T16" fmla="*/ 149 w 159"/>
                      <a:gd name="T17" fmla="*/ 119 h 451"/>
                      <a:gd name="T18" fmla="*/ 145 w 159"/>
                      <a:gd name="T19" fmla="*/ 133 h 451"/>
                      <a:gd name="T20" fmla="*/ 146 w 159"/>
                      <a:gd name="T21" fmla="*/ 138 h 451"/>
                      <a:gd name="T22" fmla="*/ 143 w 159"/>
                      <a:gd name="T23" fmla="*/ 154 h 451"/>
                      <a:gd name="T24" fmla="*/ 136 w 159"/>
                      <a:gd name="T25" fmla="*/ 176 h 451"/>
                      <a:gd name="T26" fmla="*/ 135 w 159"/>
                      <a:gd name="T27" fmla="*/ 184 h 451"/>
                      <a:gd name="T28" fmla="*/ 131 w 159"/>
                      <a:gd name="T29" fmla="*/ 194 h 451"/>
                      <a:gd name="T30" fmla="*/ 129 w 159"/>
                      <a:gd name="T31" fmla="*/ 210 h 451"/>
                      <a:gd name="T32" fmla="*/ 130 w 159"/>
                      <a:gd name="T33" fmla="*/ 252 h 451"/>
                      <a:gd name="T34" fmla="*/ 133 w 159"/>
                      <a:gd name="T35" fmla="*/ 317 h 451"/>
                      <a:gd name="T36" fmla="*/ 133 w 159"/>
                      <a:gd name="T37" fmla="*/ 359 h 451"/>
                      <a:gd name="T38" fmla="*/ 132 w 159"/>
                      <a:gd name="T39" fmla="*/ 410 h 451"/>
                      <a:gd name="T40" fmla="*/ 131 w 159"/>
                      <a:gd name="T41" fmla="*/ 417 h 451"/>
                      <a:gd name="T42" fmla="*/ 130 w 159"/>
                      <a:gd name="T43" fmla="*/ 434 h 451"/>
                      <a:gd name="T44" fmla="*/ 127 w 159"/>
                      <a:gd name="T45" fmla="*/ 443 h 451"/>
                      <a:gd name="T46" fmla="*/ 117 w 159"/>
                      <a:gd name="T47" fmla="*/ 443 h 451"/>
                      <a:gd name="T48" fmla="*/ 101 w 159"/>
                      <a:gd name="T49" fmla="*/ 446 h 451"/>
                      <a:gd name="T50" fmla="*/ 94 w 159"/>
                      <a:gd name="T51" fmla="*/ 449 h 451"/>
                      <a:gd name="T52" fmla="*/ 88 w 159"/>
                      <a:gd name="T53" fmla="*/ 450 h 451"/>
                      <a:gd name="T54" fmla="*/ 84 w 159"/>
                      <a:gd name="T55" fmla="*/ 445 h 451"/>
                      <a:gd name="T56" fmla="*/ 83 w 159"/>
                      <a:gd name="T57" fmla="*/ 433 h 451"/>
                      <a:gd name="T58" fmla="*/ 83 w 159"/>
                      <a:gd name="T59" fmla="*/ 419 h 451"/>
                      <a:gd name="T60" fmla="*/ 83 w 159"/>
                      <a:gd name="T61" fmla="*/ 366 h 451"/>
                      <a:gd name="T62" fmla="*/ 80 w 159"/>
                      <a:gd name="T63" fmla="*/ 314 h 451"/>
                      <a:gd name="T64" fmla="*/ 77 w 159"/>
                      <a:gd name="T65" fmla="*/ 302 h 451"/>
                      <a:gd name="T66" fmla="*/ 77 w 159"/>
                      <a:gd name="T67" fmla="*/ 325 h 451"/>
                      <a:gd name="T68" fmla="*/ 80 w 159"/>
                      <a:gd name="T69" fmla="*/ 355 h 451"/>
                      <a:gd name="T70" fmla="*/ 77 w 159"/>
                      <a:gd name="T71" fmla="*/ 397 h 451"/>
                      <a:gd name="T72" fmla="*/ 74 w 159"/>
                      <a:gd name="T73" fmla="*/ 414 h 451"/>
                      <a:gd name="T74" fmla="*/ 61 w 159"/>
                      <a:gd name="T75" fmla="*/ 418 h 451"/>
                      <a:gd name="T76" fmla="*/ 38 w 159"/>
                      <a:gd name="T77" fmla="*/ 419 h 451"/>
                      <a:gd name="T78" fmla="*/ 25 w 159"/>
                      <a:gd name="T79" fmla="*/ 416 h 451"/>
                      <a:gd name="T80" fmla="*/ 26 w 159"/>
                      <a:gd name="T81" fmla="*/ 402 h 451"/>
                      <a:gd name="T82" fmla="*/ 25 w 159"/>
                      <a:gd name="T83" fmla="*/ 382 h 451"/>
                      <a:gd name="T84" fmla="*/ 22 w 159"/>
                      <a:gd name="T85" fmla="*/ 352 h 451"/>
                      <a:gd name="T86" fmla="*/ 17 w 159"/>
                      <a:gd name="T87" fmla="*/ 290 h 451"/>
                      <a:gd name="T88" fmla="*/ 12 w 159"/>
                      <a:gd name="T89" fmla="*/ 234 h 451"/>
                      <a:gd name="T90" fmla="*/ 7 w 159"/>
                      <a:gd name="T91" fmla="*/ 176 h 451"/>
                      <a:gd name="T92" fmla="*/ 2 w 159"/>
                      <a:gd name="T93" fmla="*/ 123 h 451"/>
                      <a:gd name="T94" fmla="*/ 1 w 159"/>
                      <a:gd name="T95" fmla="*/ 67 h 451"/>
                      <a:gd name="T96" fmla="*/ 4 w 159"/>
                      <a:gd name="T97" fmla="*/ 27 h 451"/>
                      <a:gd name="T98" fmla="*/ 13 w 159"/>
                      <a:gd name="T99" fmla="*/ 0 h 4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59" h="451">
                        <a:moveTo>
                          <a:pt x="13" y="0"/>
                        </a:moveTo>
                        <a:lnTo>
                          <a:pt x="84" y="7"/>
                        </a:lnTo>
                        <a:lnTo>
                          <a:pt x="157" y="20"/>
                        </a:lnTo>
                        <a:lnTo>
                          <a:pt x="157" y="32"/>
                        </a:lnTo>
                        <a:lnTo>
                          <a:pt x="158" y="42"/>
                        </a:lnTo>
                        <a:lnTo>
                          <a:pt x="157" y="55"/>
                        </a:lnTo>
                        <a:lnTo>
                          <a:pt x="154" y="64"/>
                        </a:lnTo>
                        <a:lnTo>
                          <a:pt x="156" y="63"/>
                        </a:lnTo>
                        <a:lnTo>
                          <a:pt x="157" y="60"/>
                        </a:lnTo>
                        <a:lnTo>
                          <a:pt x="156" y="68"/>
                        </a:lnTo>
                        <a:lnTo>
                          <a:pt x="155" y="73"/>
                        </a:lnTo>
                        <a:lnTo>
                          <a:pt x="154" y="79"/>
                        </a:lnTo>
                        <a:lnTo>
                          <a:pt x="153" y="87"/>
                        </a:lnTo>
                        <a:lnTo>
                          <a:pt x="154" y="93"/>
                        </a:lnTo>
                        <a:lnTo>
                          <a:pt x="153" y="100"/>
                        </a:lnTo>
                        <a:lnTo>
                          <a:pt x="153" y="105"/>
                        </a:lnTo>
                        <a:lnTo>
                          <a:pt x="151" y="111"/>
                        </a:lnTo>
                        <a:lnTo>
                          <a:pt x="149" y="119"/>
                        </a:lnTo>
                        <a:lnTo>
                          <a:pt x="147" y="126"/>
                        </a:lnTo>
                        <a:lnTo>
                          <a:pt x="145" y="133"/>
                        </a:lnTo>
                        <a:lnTo>
                          <a:pt x="146" y="135"/>
                        </a:lnTo>
                        <a:lnTo>
                          <a:pt x="146" y="138"/>
                        </a:lnTo>
                        <a:lnTo>
                          <a:pt x="145" y="145"/>
                        </a:lnTo>
                        <a:lnTo>
                          <a:pt x="143" y="154"/>
                        </a:lnTo>
                        <a:lnTo>
                          <a:pt x="140" y="163"/>
                        </a:lnTo>
                        <a:lnTo>
                          <a:pt x="136" y="176"/>
                        </a:lnTo>
                        <a:lnTo>
                          <a:pt x="136" y="180"/>
                        </a:lnTo>
                        <a:lnTo>
                          <a:pt x="135" y="184"/>
                        </a:lnTo>
                        <a:lnTo>
                          <a:pt x="133" y="188"/>
                        </a:lnTo>
                        <a:lnTo>
                          <a:pt x="131" y="194"/>
                        </a:lnTo>
                        <a:lnTo>
                          <a:pt x="128" y="198"/>
                        </a:lnTo>
                        <a:lnTo>
                          <a:pt x="129" y="210"/>
                        </a:lnTo>
                        <a:lnTo>
                          <a:pt x="131" y="233"/>
                        </a:lnTo>
                        <a:lnTo>
                          <a:pt x="130" y="252"/>
                        </a:lnTo>
                        <a:lnTo>
                          <a:pt x="131" y="273"/>
                        </a:lnTo>
                        <a:lnTo>
                          <a:pt x="133" y="317"/>
                        </a:lnTo>
                        <a:lnTo>
                          <a:pt x="133" y="343"/>
                        </a:lnTo>
                        <a:lnTo>
                          <a:pt x="133" y="359"/>
                        </a:lnTo>
                        <a:lnTo>
                          <a:pt x="133" y="378"/>
                        </a:lnTo>
                        <a:lnTo>
                          <a:pt x="132" y="410"/>
                        </a:lnTo>
                        <a:lnTo>
                          <a:pt x="132" y="414"/>
                        </a:lnTo>
                        <a:lnTo>
                          <a:pt x="131" y="417"/>
                        </a:lnTo>
                        <a:lnTo>
                          <a:pt x="130" y="426"/>
                        </a:lnTo>
                        <a:lnTo>
                          <a:pt x="130" y="434"/>
                        </a:lnTo>
                        <a:lnTo>
                          <a:pt x="130" y="444"/>
                        </a:lnTo>
                        <a:lnTo>
                          <a:pt x="127" y="443"/>
                        </a:lnTo>
                        <a:lnTo>
                          <a:pt x="124" y="442"/>
                        </a:lnTo>
                        <a:lnTo>
                          <a:pt x="117" y="443"/>
                        </a:lnTo>
                        <a:lnTo>
                          <a:pt x="110" y="444"/>
                        </a:lnTo>
                        <a:lnTo>
                          <a:pt x="101" y="446"/>
                        </a:lnTo>
                        <a:lnTo>
                          <a:pt x="97" y="448"/>
                        </a:lnTo>
                        <a:lnTo>
                          <a:pt x="94" y="449"/>
                        </a:lnTo>
                        <a:lnTo>
                          <a:pt x="91" y="450"/>
                        </a:lnTo>
                        <a:lnTo>
                          <a:pt x="88" y="450"/>
                        </a:lnTo>
                        <a:lnTo>
                          <a:pt x="85" y="450"/>
                        </a:lnTo>
                        <a:lnTo>
                          <a:pt x="84" y="445"/>
                        </a:lnTo>
                        <a:lnTo>
                          <a:pt x="83" y="440"/>
                        </a:lnTo>
                        <a:lnTo>
                          <a:pt x="83" y="433"/>
                        </a:lnTo>
                        <a:lnTo>
                          <a:pt x="84" y="427"/>
                        </a:lnTo>
                        <a:lnTo>
                          <a:pt x="83" y="419"/>
                        </a:lnTo>
                        <a:lnTo>
                          <a:pt x="84" y="390"/>
                        </a:lnTo>
                        <a:lnTo>
                          <a:pt x="83" y="366"/>
                        </a:lnTo>
                        <a:lnTo>
                          <a:pt x="82" y="338"/>
                        </a:lnTo>
                        <a:lnTo>
                          <a:pt x="80" y="314"/>
                        </a:lnTo>
                        <a:lnTo>
                          <a:pt x="78" y="289"/>
                        </a:lnTo>
                        <a:lnTo>
                          <a:pt x="77" y="302"/>
                        </a:lnTo>
                        <a:lnTo>
                          <a:pt x="74" y="315"/>
                        </a:lnTo>
                        <a:lnTo>
                          <a:pt x="77" y="325"/>
                        </a:lnTo>
                        <a:lnTo>
                          <a:pt x="78" y="336"/>
                        </a:lnTo>
                        <a:lnTo>
                          <a:pt x="80" y="355"/>
                        </a:lnTo>
                        <a:lnTo>
                          <a:pt x="80" y="373"/>
                        </a:lnTo>
                        <a:lnTo>
                          <a:pt x="77" y="397"/>
                        </a:lnTo>
                        <a:lnTo>
                          <a:pt x="74" y="410"/>
                        </a:lnTo>
                        <a:lnTo>
                          <a:pt x="74" y="414"/>
                        </a:lnTo>
                        <a:lnTo>
                          <a:pt x="71" y="417"/>
                        </a:lnTo>
                        <a:lnTo>
                          <a:pt x="61" y="418"/>
                        </a:lnTo>
                        <a:lnTo>
                          <a:pt x="49" y="418"/>
                        </a:lnTo>
                        <a:lnTo>
                          <a:pt x="38" y="419"/>
                        </a:lnTo>
                        <a:lnTo>
                          <a:pt x="26" y="417"/>
                        </a:lnTo>
                        <a:lnTo>
                          <a:pt x="25" y="416"/>
                        </a:lnTo>
                        <a:lnTo>
                          <a:pt x="25" y="414"/>
                        </a:lnTo>
                        <a:lnTo>
                          <a:pt x="26" y="402"/>
                        </a:lnTo>
                        <a:lnTo>
                          <a:pt x="25" y="392"/>
                        </a:lnTo>
                        <a:lnTo>
                          <a:pt x="25" y="382"/>
                        </a:lnTo>
                        <a:lnTo>
                          <a:pt x="24" y="373"/>
                        </a:lnTo>
                        <a:lnTo>
                          <a:pt x="22" y="352"/>
                        </a:lnTo>
                        <a:lnTo>
                          <a:pt x="20" y="326"/>
                        </a:lnTo>
                        <a:lnTo>
                          <a:pt x="17" y="290"/>
                        </a:lnTo>
                        <a:lnTo>
                          <a:pt x="13" y="265"/>
                        </a:lnTo>
                        <a:lnTo>
                          <a:pt x="12" y="234"/>
                        </a:lnTo>
                        <a:lnTo>
                          <a:pt x="11" y="206"/>
                        </a:lnTo>
                        <a:lnTo>
                          <a:pt x="7" y="176"/>
                        </a:lnTo>
                        <a:lnTo>
                          <a:pt x="4" y="145"/>
                        </a:lnTo>
                        <a:lnTo>
                          <a:pt x="2" y="123"/>
                        </a:lnTo>
                        <a:lnTo>
                          <a:pt x="0" y="95"/>
                        </a:lnTo>
                        <a:lnTo>
                          <a:pt x="1" y="67"/>
                        </a:lnTo>
                        <a:lnTo>
                          <a:pt x="2" y="45"/>
                        </a:lnTo>
                        <a:lnTo>
                          <a:pt x="4" y="27"/>
                        </a:lnTo>
                        <a:lnTo>
                          <a:pt x="8" y="12"/>
                        </a:lnTo>
                        <a:lnTo>
                          <a:pt x="13" y="0"/>
                        </a:lnTo>
                      </a:path>
                    </a:pathLst>
                  </a:custGeom>
                  <a:solidFill>
                    <a:srgbClr val="0000FF"/>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614" name="Group 34"/>
                  <p:cNvGrpSpPr>
                    <a:grpSpLocks noChangeAspect="1"/>
                  </p:cNvGrpSpPr>
                  <p:nvPr/>
                </p:nvGrpSpPr>
                <p:grpSpPr bwMode="auto">
                  <a:xfrm>
                    <a:off x="4926" y="2529"/>
                    <a:ext cx="134" cy="440"/>
                    <a:chOff x="4926" y="2529"/>
                    <a:chExt cx="134" cy="440"/>
                  </a:xfrm>
                </p:grpSpPr>
                <p:sp>
                  <p:nvSpPr>
                    <p:cNvPr id="277615" name="Freeform 35"/>
                    <p:cNvSpPr>
                      <a:spLocks noChangeAspect="1"/>
                    </p:cNvSpPr>
                    <p:nvPr/>
                  </p:nvSpPr>
                  <p:spPr bwMode="auto">
                    <a:xfrm>
                      <a:off x="4940" y="2545"/>
                      <a:ext cx="69" cy="395"/>
                    </a:xfrm>
                    <a:custGeom>
                      <a:avLst/>
                      <a:gdLst>
                        <a:gd name="T0" fmla="*/ 41 w 69"/>
                        <a:gd name="T1" fmla="*/ 264 h 395"/>
                        <a:gd name="T2" fmla="*/ 34 w 69"/>
                        <a:gd name="T3" fmla="*/ 197 h 395"/>
                        <a:gd name="T4" fmla="*/ 37 w 69"/>
                        <a:gd name="T5" fmla="*/ 146 h 395"/>
                        <a:gd name="T6" fmla="*/ 42 w 69"/>
                        <a:gd name="T7" fmla="*/ 91 h 395"/>
                        <a:gd name="T8" fmla="*/ 59 w 69"/>
                        <a:gd name="T9" fmla="*/ 71 h 395"/>
                        <a:gd name="T10" fmla="*/ 60 w 69"/>
                        <a:gd name="T11" fmla="*/ 65 h 395"/>
                        <a:gd name="T12" fmla="*/ 44 w 69"/>
                        <a:gd name="T13" fmla="*/ 74 h 395"/>
                        <a:gd name="T14" fmla="*/ 36 w 69"/>
                        <a:gd name="T15" fmla="*/ 62 h 395"/>
                        <a:gd name="T16" fmla="*/ 36 w 69"/>
                        <a:gd name="T17" fmla="*/ 40 h 395"/>
                        <a:gd name="T18" fmla="*/ 42 w 69"/>
                        <a:gd name="T19" fmla="*/ 24 h 395"/>
                        <a:gd name="T20" fmla="*/ 44 w 69"/>
                        <a:gd name="T21" fmla="*/ 6 h 395"/>
                        <a:gd name="T22" fmla="*/ 39 w 69"/>
                        <a:gd name="T23" fmla="*/ 8 h 395"/>
                        <a:gd name="T24" fmla="*/ 30 w 69"/>
                        <a:gd name="T25" fmla="*/ 23 h 395"/>
                        <a:gd name="T26" fmla="*/ 23 w 69"/>
                        <a:gd name="T27" fmla="*/ 40 h 395"/>
                        <a:gd name="T28" fmla="*/ 20 w 69"/>
                        <a:gd name="T29" fmla="*/ 54 h 395"/>
                        <a:gd name="T30" fmla="*/ 22 w 69"/>
                        <a:gd name="T31" fmla="*/ 74 h 395"/>
                        <a:gd name="T32" fmla="*/ 26 w 69"/>
                        <a:gd name="T33" fmla="*/ 102 h 395"/>
                        <a:gd name="T34" fmla="*/ 9 w 69"/>
                        <a:gd name="T35" fmla="*/ 61 h 395"/>
                        <a:gd name="T36" fmla="*/ 1 w 69"/>
                        <a:gd name="T37" fmla="*/ 72 h 395"/>
                        <a:gd name="T38" fmla="*/ 3 w 69"/>
                        <a:gd name="T39" fmla="*/ 146 h 395"/>
                        <a:gd name="T40" fmla="*/ 9 w 69"/>
                        <a:gd name="T41" fmla="*/ 270 h 395"/>
                        <a:gd name="T42" fmla="*/ 10 w 69"/>
                        <a:gd name="T43" fmla="*/ 307 h 395"/>
                        <a:gd name="T44" fmla="*/ 8 w 69"/>
                        <a:gd name="T45" fmla="*/ 370 h 395"/>
                        <a:gd name="T46" fmla="*/ 2 w 69"/>
                        <a:gd name="T47" fmla="*/ 394 h 395"/>
                        <a:gd name="T48" fmla="*/ 13 w 69"/>
                        <a:gd name="T49" fmla="*/ 393 h 395"/>
                        <a:gd name="T50" fmla="*/ 24 w 69"/>
                        <a:gd name="T51" fmla="*/ 394 h 395"/>
                        <a:gd name="T52" fmla="*/ 33 w 69"/>
                        <a:gd name="T53" fmla="*/ 393 h 395"/>
                        <a:gd name="T54" fmla="*/ 38 w 69"/>
                        <a:gd name="T55" fmla="*/ 390 h 395"/>
                        <a:gd name="T56" fmla="*/ 38 w 69"/>
                        <a:gd name="T57" fmla="*/ 382 h 395"/>
                        <a:gd name="T58" fmla="*/ 41 w 69"/>
                        <a:gd name="T59" fmla="*/ 365 h 395"/>
                        <a:gd name="T60" fmla="*/ 43 w 69"/>
                        <a:gd name="T61" fmla="*/ 347 h 395"/>
                        <a:gd name="T62" fmla="*/ 42 w 69"/>
                        <a:gd name="T63" fmla="*/ 332 h 395"/>
                        <a:gd name="T64" fmla="*/ 41 w 69"/>
                        <a:gd name="T65" fmla="*/ 312 h 395"/>
                        <a:gd name="T66" fmla="*/ 39 w 69"/>
                        <a:gd name="T67" fmla="*/ 299 h 395"/>
                        <a:gd name="T68" fmla="*/ 37 w 69"/>
                        <a:gd name="T69" fmla="*/ 290 h 395"/>
                        <a:gd name="T70" fmla="*/ 39 w 69"/>
                        <a:gd name="T71" fmla="*/ 282 h 395"/>
                        <a:gd name="T72" fmla="*/ 40 w 69"/>
                        <a:gd name="T73" fmla="*/ 272 h 39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9" h="395">
                          <a:moveTo>
                            <a:pt x="40" y="272"/>
                          </a:moveTo>
                          <a:lnTo>
                            <a:pt x="41" y="264"/>
                          </a:lnTo>
                          <a:lnTo>
                            <a:pt x="35" y="220"/>
                          </a:lnTo>
                          <a:lnTo>
                            <a:pt x="34" y="197"/>
                          </a:lnTo>
                          <a:lnTo>
                            <a:pt x="35" y="172"/>
                          </a:lnTo>
                          <a:lnTo>
                            <a:pt x="37" y="146"/>
                          </a:lnTo>
                          <a:lnTo>
                            <a:pt x="39" y="120"/>
                          </a:lnTo>
                          <a:lnTo>
                            <a:pt x="42" y="91"/>
                          </a:lnTo>
                          <a:lnTo>
                            <a:pt x="52" y="79"/>
                          </a:lnTo>
                          <a:lnTo>
                            <a:pt x="59" y="71"/>
                          </a:lnTo>
                          <a:lnTo>
                            <a:pt x="68" y="64"/>
                          </a:lnTo>
                          <a:lnTo>
                            <a:pt x="60" y="65"/>
                          </a:lnTo>
                          <a:lnTo>
                            <a:pt x="51" y="69"/>
                          </a:lnTo>
                          <a:lnTo>
                            <a:pt x="44" y="74"/>
                          </a:lnTo>
                          <a:lnTo>
                            <a:pt x="37" y="83"/>
                          </a:lnTo>
                          <a:lnTo>
                            <a:pt x="36" y="62"/>
                          </a:lnTo>
                          <a:lnTo>
                            <a:pt x="35" y="49"/>
                          </a:lnTo>
                          <a:lnTo>
                            <a:pt x="36" y="40"/>
                          </a:lnTo>
                          <a:lnTo>
                            <a:pt x="39" y="31"/>
                          </a:lnTo>
                          <a:lnTo>
                            <a:pt x="42" y="24"/>
                          </a:lnTo>
                          <a:lnTo>
                            <a:pt x="43" y="15"/>
                          </a:lnTo>
                          <a:lnTo>
                            <a:pt x="44" y="6"/>
                          </a:lnTo>
                          <a:lnTo>
                            <a:pt x="43" y="0"/>
                          </a:lnTo>
                          <a:lnTo>
                            <a:pt x="39" y="8"/>
                          </a:lnTo>
                          <a:lnTo>
                            <a:pt x="35" y="15"/>
                          </a:lnTo>
                          <a:lnTo>
                            <a:pt x="30" y="23"/>
                          </a:lnTo>
                          <a:lnTo>
                            <a:pt x="27" y="30"/>
                          </a:lnTo>
                          <a:lnTo>
                            <a:pt x="23" y="40"/>
                          </a:lnTo>
                          <a:lnTo>
                            <a:pt x="21" y="47"/>
                          </a:lnTo>
                          <a:lnTo>
                            <a:pt x="20" y="54"/>
                          </a:lnTo>
                          <a:lnTo>
                            <a:pt x="20" y="64"/>
                          </a:lnTo>
                          <a:lnTo>
                            <a:pt x="22" y="74"/>
                          </a:lnTo>
                          <a:lnTo>
                            <a:pt x="24" y="85"/>
                          </a:lnTo>
                          <a:lnTo>
                            <a:pt x="26" y="102"/>
                          </a:lnTo>
                          <a:lnTo>
                            <a:pt x="17" y="83"/>
                          </a:lnTo>
                          <a:lnTo>
                            <a:pt x="9" y="61"/>
                          </a:lnTo>
                          <a:lnTo>
                            <a:pt x="4" y="40"/>
                          </a:lnTo>
                          <a:lnTo>
                            <a:pt x="1" y="72"/>
                          </a:lnTo>
                          <a:lnTo>
                            <a:pt x="0" y="99"/>
                          </a:lnTo>
                          <a:lnTo>
                            <a:pt x="3" y="146"/>
                          </a:lnTo>
                          <a:lnTo>
                            <a:pt x="6" y="207"/>
                          </a:lnTo>
                          <a:lnTo>
                            <a:pt x="9" y="270"/>
                          </a:lnTo>
                          <a:lnTo>
                            <a:pt x="6" y="299"/>
                          </a:lnTo>
                          <a:lnTo>
                            <a:pt x="10" y="307"/>
                          </a:lnTo>
                          <a:lnTo>
                            <a:pt x="15" y="333"/>
                          </a:lnTo>
                          <a:lnTo>
                            <a:pt x="8" y="370"/>
                          </a:lnTo>
                          <a:lnTo>
                            <a:pt x="5" y="384"/>
                          </a:lnTo>
                          <a:lnTo>
                            <a:pt x="2" y="394"/>
                          </a:lnTo>
                          <a:lnTo>
                            <a:pt x="8" y="393"/>
                          </a:lnTo>
                          <a:lnTo>
                            <a:pt x="13" y="393"/>
                          </a:lnTo>
                          <a:lnTo>
                            <a:pt x="17" y="393"/>
                          </a:lnTo>
                          <a:lnTo>
                            <a:pt x="24" y="394"/>
                          </a:lnTo>
                          <a:lnTo>
                            <a:pt x="29" y="393"/>
                          </a:lnTo>
                          <a:lnTo>
                            <a:pt x="33" y="393"/>
                          </a:lnTo>
                          <a:lnTo>
                            <a:pt x="36" y="391"/>
                          </a:lnTo>
                          <a:lnTo>
                            <a:pt x="38" y="390"/>
                          </a:lnTo>
                          <a:lnTo>
                            <a:pt x="37" y="386"/>
                          </a:lnTo>
                          <a:lnTo>
                            <a:pt x="38" y="382"/>
                          </a:lnTo>
                          <a:lnTo>
                            <a:pt x="40" y="373"/>
                          </a:lnTo>
                          <a:lnTo>
                            <a:pt x="41" y="365"/>
                          </a:lnTo>
                          <a:lnTo>
                            <a:pt x="42" y="356"/>
                          </a:lnTo>
                          <a:lnTo>
                            <a:pt x="43" y="347"/>
                          </a:lnTo>
                          <a:lnTo>
                            <a:pt x="42" y="340"/>
                          </a:lnTo>
                          <a:lnTo>
                            <a:pt x="42" y="332"/>
                          </a:lnTo>
                          <a:lnTo>
                            <a:pt x="42" y="324"/>
                          </a:lnTo>
                          <a:lnTo>
                            <a:pt x="41" y="312"/>
                          </a:lnTo>
                          <a:lnTo>
                            <a:pt x="40" y="304"/>
                          </a:lnTo>
                          <a:lnTo>
                            <a:pt x="39" y="299"/>
                          </a:lnTo>
                          <a:lnTo>
                            <a:pt x="38" y="295"/>
                          </a:lnTo>
                          <a:lnTo>
                            <a:pt x="37" y="290"/>
                          </a:lnTo>
                          <a:lnTo>
                            <a:pt x="37" y="288"/>
                          </a:lnTo>
                          <a:lnTo>
                            <a:pt x="39" y="282"/>
                          </a:lnTo>
                          <a:lnTo>
                            <a:pt x="40" y="277"/>
                          </a:lnTo>
                          <a:lnTo>
                            <a:pt x="40" y="272"/>
                          </a:lnTo>
                        </a:path>
                      </a:pathLst>
                    </a:custGeom>
                    <a:solidFill>
                      <a:srgbClr val="00008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16" name="Freeform 36"/>
                    <p:cNvSpPr>
                      <a:spLocks noChangeAspect="1"/>
                    </p:cNvSpPr>
                    <p:nvPr/>
                  </p:nvSpPr>
                  <p:spPr bwMode="auto">
                    <a:xfrm>
                      <a:off x="4981" y="2607"/>
                      <a:ext cx="28" cy="219"/>
                    </a:xfrm>
                    <a:custGeom>
                      <a:avLst/>
                      <a:gdLst>
                        <a:gd name="T0" fmla="*/ 0 w 28"/>
                        <a:gd name="T1" fmla="*/ 218 h 219"/>
                        <a:gd name="T2" fmla="*/ 2 w 28"/>
                        <a:gd name="T3" fmla="*/ 202 h 219"/>
                        <a:gd name="T4" fmla="*/ 2 w 28"/>
                        <a:gd name="T5" fmla="*/ 187 h 219"/>
                        <a:gd name="T6" fmla="*/ 1 w 28"/>
                        <a:gd name="T7" fmla="*/ 152 h 219"/>
                        <a:gd name="T8" fmla="*/ 0 w 28"/>
                        <a:gd name="T9" fmla="*/ 129 h 219"/>
                        <a:gd name="T10" fmla="*/ 4 w 28"/>
                        <a:gd name="T11" fmla="*/ 97 h 219"/>
                        <a:gd name="T12" fmla="*/ 16 w 28"/>
                        <a:gd name="T13" fmla="*/ 50 h 219"/>
                        <a:gd name="T14" fmla="*/ 27 w 28"/>
                        <a:gd name="T15" fmla="*/ 0 h 2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219">
                          <a:moveTo>
                            <a:pt x="0" y="218"/>
                          </a:moveTo>
                          <a:lnTo>
                            <a:pt x="2" y="202"/>
                          </a:lnTo>
                          <a:lnTo>
                            <a:pt x="2" y="187"/>
                          </a:lnTo>
                          <a:lnTo>
                            <a:pt x="1" y="152"/>
                          </a:lnTo>
                          <a:lnTo>
                            <a:pt x="0" y="129"/>
                          </a:lnTo>
                          <a:lnTo>
                            <a:pt x="4" y="97"/>
                          </a:lnTo>
                          <a:lnTo>
                            <a:pt x="16" y="50"/>
                          </a:lnTo>
                          <a:lnTo>
                            <a:pt x="27" y="0"/>
                          </a:lnTo>
                        </a:path>
                      </a:pathLst>
                    </a:custGeom>
                    <a:noFill/>
                    <a:ln w="12700" cap="rnd" cmpd="sng">
                      <a:solidFill>
                        <a:srgbClr val="00008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17" name="Freeform 37"/>
                    <p:cNvSpPr>
                      <a:spLocks noChangeAspect="1"/>
                    </p:cNvSpPr>
                    <p:nvPr/>
                  </p:nvSpPr>
                  <p:spPr bwMode="auto">
                    <a:xfrm>
                      <a:off x="4982" y="2559"/>
                      <a:ext cx="78" cy="410"/>
                    </a:xfrm>
                    <a:custGeom>
                      <a:avLst/>
                      <a:gdLst>
                        <a:gd name="T0" fmla="*/ 61 w 78"/>
                        <a:gd name="T1" fmla="*/ 5 h 410"/>
                        <a:gd name="T2" fmla="*/ 48 w 78"/>
                        <a:gd name="T3" fmla="*/ 19 h 410"/>
                        <a:gd name="T4" fmla="*/ 41 w 78"/>
                        <a:gd name="T5" fmla="*/ 24 h 410"/>
                        <a:gd name="T6" fmla="*/ 29 w 78"/>
                        <a:gd name="T7" fmla="*/ 27 h 410"/>
                        <a:gd name="T8" fmla="*/ 30 w 78"/>
                        <a:gd name="T9" fmla="*/ 34 h 410"/>
                        <a:gd name="T10" fmla="*/ 45 w 78"/>
                        <a:gd name="T11" fmla="*/ 42 h 410"/>
                        <a:gd name="T12" fmla="*/ 62 w 78"/>
                        <a:gd name="T13" fmla="*/ 42 h 410"/>
                        <a:gd name="T14" fmla="*/ 45 w 78"/>
                        <a:gd name="T15" fmla="*/ 52 h 410"/>
                        <a:gd name="T16" fmla="*/ 32 w 78"/>
                        <a:gd name="T17" fmla="*/ 63 h 410"/>
                        <a:gd name="T18" fmla="*/ 26 w 78"/>
                        <a:gd name="T19" fmla="*/ 71 h 410"/>
                        <a:gd name="T20" fmla="*/ 37 w 78"/>
                        <a:gd name="T21" fmla="*/ 75 h 410"/>
                        <a:gd name="T22" fmla="*/ 56 w 78"/>
                        <a:gd name="T23" fmla="*/ 73 h 410"/>
                        <a:gd name="T24" fmla="*/ 62 w 78"/>
                        <a:gd name="T25" fmla="*/ 74 h 410"/>
                        <a:gd name="T26" fmla="*/ 45 w 78"/>
                        <a:gd name="T27" fmla="*/ 86 h 410"/>
                        <a:gd name="T28" fmla="*/ 29 w 78"/>
                        <a:gd name="T29" fmla="*/ 102 h 410"/>
                        <a:gd name="T30" fmla="*/ 25 w 78"/>
                        <a:gd name="T31" fmla="*/ 114 h 410"/>
                        <a:gd name="T32" fmla="*/ 43 w 78"/>
                        <a:gd name="T33" fmla="*/ 111 h 410"/>
                        <a:gd name="T34" fmla="*/ 50 w 78"/>
                        <a:gd name="T35" fmla="*/ 112 h 410"/>
                        <a:gd name="T36" fmla="*/ 32 w 78"/>
                        <a:gd name="T37" fmla="*/ 139 h 410"/>
                        <a:gd name="T38" fmla="*/ 16 w 78"/>
                        <a:gd name="T39" fmla="*/ 161 h 410"/>
                        <a:gd name="T40" fmla="*/ 21 w 78"/>
                        <a:gd name="T41" fmla="*/ 172 h 410"/>
                        <a:gd name="T42" fmla="*/ 38 w 78"/>
                        <a:gd name="T43" fmla="*/ 168 h 410"/>
                        <a:gd name="T44" fmla="*/ 33 w 78"/>
                        <a:gd name="T45" fmla="*/ 188 h 410"/>
                        <a:gd name="T46" fmla="*/ 18 w 78"/>
                        <a:gd name="T47" fmla="*/ 224 h 410"/>
                        <a:gd name="T48" fmla="*/ 9 w 78"/>
                        <a:gd name="T49" fmla="*/ 250 h 410"/>
                        <a:gd name="T50" fmla="*/ 1 w 78"/>
                        <a:gd name="T51" fmla="*/ 283 h 410"/>
                        <a:gd name="T52" fmla="*/ 5 w 78"/>
                        <a:gd name="T53" fmla="*/ 354 h 410"/>
                        <a:gd name="T54" fmla="*/ 13 w 78"/>
                        <a:gd name="T55" fmla="*/ 382 h 410"/>
                        <a:gd name="T56" fmla="*/ 22 w 78"/>
                        <a:gd name="T57" fmla="*/ 409 h 410"/>
                        <a:gd name="T58" fmla="*/ 39 w 78"/>
                        <a:gd name="T59" fmla="*/ 406 h 410"/>
                        <a:gd name="T60" fmla="*/ 48 w 78"/>
                        <a:gd name="T61" fmla="*/ 406 h 410"/>
                        <a:gd name="T62" fmla="*/ 50 w 78"/>
                        <a:gd name="T63" fmla="*/ 389 h 410"/>
                        <a:gd name="T64" fmla="*/ 53 w 78"/>
                        <a:gd name="T65" fmla="*/ 364 h 410"/>
                        <a:gd name="T66" fmla="*/ 53 w 78"/>
                        <a:gd name="T67" fmla="*/ 282 h 410"/>
                        <a:gd name="T68" fmla="*/ 50 w 78"/>
                        <a:gd name="T69" fmla="*/ 215 h 410"/>
                        <a:gd name="T70" fmla="*/ 50 w 78"/>
                        <a:gd name="T71" fmla="*/ 181 h 410"/>
                        <a:gd name="T72" fmla="*/ 51 w 78"/>
                        <a:gd name="T73" fmla="*/ 156 h 410"/>
                        <a:gd name="T74" fmla="*/ 56 w 78"/>
                        <a:gd name="T75" fmla="*/ 143 h 410"/>
                        <a:gd name="T76" fmla="*/ 60 w 78"/>
                        <a:gd name="T77" fmla="*/ 127 h 410"/>
                        <a:gd name="T78" fmla="*/ 65 w 78"/>
                        <a:gd name="T79" fmla="*/ 109 h 410"/>
                        <a:gd name="T80" fmla="*/ 65 w 78"/>
                        <a:gd name="T81" fmla="*/ 95 h 410"/>
                        <a:gd name="T82" fmla="*/ 71 w 78"/>
                        <a:gd name="T83" fmla="*/ 74 h 410"/>
                        <a:gd name="T84" fmla="*/ 74 w 78"/>
                        <a:gd name="T85" fmla="*/ 55 h 410"/>
                        <a:gd name="T86" fmla="*/ 74 w 78"/>
                        <a:gd name="T87" fmla="*/ 39 h 410"/>
                        <a:gd name="T88" fmla="*/ 76 w 78"/>
                        <a:gd name="T89" fmla="*/ 25 h 410"/>
                        <a:gd name="T90" fmla="*/ 71 w 78"/>
                        <a:gd name="T91" fmla="*/ 30 h 41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8" h="410">
                          <a:moveTo>
                            <a:pt x="71" y="0"/>
                          </a:moveTo>
                          <a:lnTo>
                            <a:pt x="67" y="2"/>
                          </a:lnTo>
                          <a:lnTo>
                            <a:pt x="61" y="5"/>
                          </a:lnTo>
                          <a:lnTo>
                            <a:pt x="56" y="9"/>
                          </a:lnTo>
                          <a:lnTo>
                            <a:pt x="51" y="14"/>
                          </a:lnTo>
                          <a:lnTo>
                            <a:pt x="48" y="19"/>
                          </a:lnTo>
                          <a:lnTo>
                            <a:pt x="46" y="22"/>
                          </a:lnTo>
                          <a:lnTo>
                            <a:pt x="44" y="23"/>
                          </a:lnTo>
                          <a:lnTo>
                            <a:pt x="41" y="24"/>
                          </a:lnTo>
                          <a:lnTo>
                            <a:pt x="37" y="25"/>
                          </a:lnTo>
                          <a:lnTo>
                            <a:pt x="32" y="26"/>
                          </a:lnTo>
                          <a:lnTo>
                            <a:pt x="29" y="27"/>
                          </a:lnTo>
                          <a:lnTo>
                            <a:pt x="27" y="28"/>
                          </a:lnTo>
                          <a:lnTo>
                            <a:pt x="28" y="31"/>
                          </a:lnTo>
                          <a:lnTo>
                            <a:pt x="30" y="34"/>
                          </a:lnTo>
                          <a:lnTo>
                            <a:pt x="33" y="37"/>
                          </a:lnTo>
                          <a:lnTo>
                            <a:pt x="37" y="40"/>
                          </a:lnTo>
                          <a:lnTo>
                            <a:pt x="45" y="42"/>
                          </a:lnTo>
                          <a:lnTo>
                            <a:pt x="51" y="43"/>
                          </a:lnTo>
                          <a:lnTo>
                            <a:pt x="56" y="43"/>
                          </a:lnTo>
                          <a:lnTo>
                            <a:pt x="62" y="42"/>
                          </a:lnTo>
                          <a:lnTo>
                            <a:pt x="55" y="44"/>
                          </a:lnTo>
                          <a:lnTo>
                            <a:pt x="50" y="47"/>
                          </a:lnTo>
                          <a:lnTo>
                            <a:pt x="45" y="52"/>
                          </a:lnTo>
                          <a:lnTo>
                            <a:pt x="41" y="55"/>
                          </a:lnTo>
                          <a:lnTo>
                            <a:pt x="36" y="59"/>
                          </a:lnTo>
                          <a:lnTo>
                            <a:pt x="32" y="63"/>
                          </a:lnTo>
                          <a:lnTo>
                            <a:pt x="28" y="66"/>
                          </a:lnTo>
                          <a:lnTo>
                            <a:pt x="26" y="69"/>
                          </a:lnTo>
                          <a:lnTo>
                            <a:pt x="26" y="71"/>
                          </a:lnTo>
                          <a:lnTo>
                            <a:pt x="27" y="73"/>
                          </a:lnTo>
                          <a:lnTo>
                            <a:pt x="32" y="74"/>
                          </a:lnTo>
                          <a:lnTo>
                            <a:pt x="37" y="75"/>
                          </a:lnTo>
                          <a:lnTo>
                            <a:pt x="43" y="76"/>
                          </a:lnTo>
                          <a:lnTo>
                            <a:pt x="50" y="75"/>
                          </a:lnTo>
                          <a:lnTo>
                            <a:pt x="56" y="73"/>
                          </a:lnTo>
                          <a:lnTo>
                            <a:pt x="62" y="71"/>
                          </a:lnTo>
                          <a:lnTo>
                            <a:pt x="70" y="67"/>
                          </a:lnTo>
                          <a:lnTo>
                            <a:pt x="62" y="74"/>
                          </a:lnTo>
                          <a:lnTo>
                            <a:pt x="56" y="78"/>
                          </a:lnTo>
                          <a:lnTo>
                            <a:pt x="50" y="82"/>
                          </a:lnTo>
                          <a:lnTo>
                            <a:pt x="45" y="86"/>
                          </a:lnTo>
                          <a:lnTo>
                            <a:pt x="39" y="91"/>
                          </a:lnTo>
                          <a:lnTo>
                            <a:pt x="34" y="96"/>
                          </a:lnTo>
                          <a:lnTo>
                            <a:pt x="29" y="102"/>
                          </a:lnTo>
                          <a:lnTo>
                            <a:pt x="25" y="108"/>
                          </a:lnTo>
                          <a:lnTo>
                            <a:pt x="21" y="114"/>
                          </a:lnTo>
                          <a:lnTo>
                            <a:pt x="25" y="114"/>
                          </a:lnTo>
                          <a:lnTo>
                            <a:pt x="31" y="114"/>
                          </a:lnTo>
                          <a:lnTo>
                            <a:pt x="38" y="112"/>
                          </a:lnTo>
                          <a:lnTo>
                            <a:pt x="43" y="111"/>
                          </a:lnTo>
                          <a:lnTo>
                            <a:pt x="49" y="109"/>
                          </a:lnTo>
                          <a:lnTo>
                            <a:pt x="56" y="105"/>
                          </a:lnTo>
                          <a:lnTo>
                            <a:pt x="50" y="112"/>
                          </a:lnTo>
                          <a:lnTo>
                            <a:pt x="46" y="119"/>
                          </a:lnTo>
                          <a:lnTo>
                            <a:pt x="39" y="128"/>
                          </a:lnTo>
                          <a:lnTo>
                            <a:pt x="32" y="139"/>
                          </a:lnTo>
                          <a:lnTo>
                            <a:pt x="22" y="151"/>
                          </a:lnTo>
                          <a:lnTo>
                            <a:pt x="18" y="156"/>
                          </a:lnTo>
                          <a:lnTo>
                            <a:pt x="16" y="161"/>
                          </a:lnTo>
                          <a:lnTo>
                            <a:pt x="15" y="167"/>
                          </a:lnTo>
                          <a:lnTo>
                            <a:pt x="15" y="173"/>
                          </a:lnTo>
                          <a:lnTo>
                            <a:pt x="21" y="172"/>
                          </a:lnTo>
                          <a:lnTo>
                            <a:pt x="27" y="172"/>
                          </a:lnTo>
                          <a:lnTo>
                            <a:pt x="33" y="170"/>
                          </a:lnTo>
                          <a:lnTo>
                            <a:pt x="38" y="168"/>
                          </a:lnTo>
                          <a:lnTo>
                            <a:pt x="42" y="167"/>
                          </a:lnTo>
                          <a:lnTo>
                            <a:pt x="36" y="179"/>
                          </a:lnTo>
                          <a:lnTo>
                            <a:pt x="33" y="188"/>
                          </a:lnTo>
                          <a:lnTo>
                            <a:pt x="28" y="201"/>
                          </a:lnTo>
                          <a:lnTo>
                            <a:pt x="23" y="212"/>
                          </a:lnTo>
                          <a:lnTo>
                            <a:pt x="18" y="224"/>
                          </a:lnTo>
                          <a:lnTo>
                            <a:pt x="15" y="234"/>
                          </a:lnTo>
                          <a:lnTo>
                            <a:pt x="12" y="242"/>
                          </a:lnTo>
                          <a:lnTo>
                            <a:pt x="9" y="250"/>
                          </a:lnTo>
                          <a:lnTo>
                            <a:pt x="5" y="257"/>
                          </a:lnTo>
                          <a:lnTo>
                            <a:pt x="0" y="265"/>
                          </a:lnTo>
                          <a:lnTo>
                            <a:pt x="1" y="283"/>
                          </a:lnTo>
                          <a:lnTo>
                            <a:pt x="3" y="298"/>
                          </a:lnTo>
                          <a:lnTo>
                            <a:pt x="4" y="326"/>
                          </a:lnTo>
                          <a:lnTo>
                            <a:pt x="5" y="354"/>
                          </a:lnTo>
                          <a:lnTo>
                            <a:pt x="8" y="364"/>
                          </a:lnTo>
                          <a:lnTo>
                            <a:pt x="10" y="373"/>
                          </a:lnTo>
                          <a:lnTo>
                            <a:pt x="13" y="382"/>
                          </a:lnTo>
                          <a:lnTo>
                            <a:pt x="16" y="392"/>
                          </a:lnTo>
                          <a:lnTo>
                            <a:pt x="19" y="402"/>
                          </a:lnTo>
                          <a:lnTo>
                            <a:pt x="22" y="409"/>
                          </a:lnTo>
                          <a:lnTo>
                            <a:pt x="28" y="408"/>
                          </a:lnTo>
                          <a:lnTo>
                            <a:pt x="34" y="407"/>
                          </a:lnTo>
                          <a:lnTo>
                            <a:pt x="39" y="406"/>
                          </a:lnTo>
                          <a:lnTo>
                            <a:pt x="42" y="406"/>
                          </a:lnTo>
                          <a:lnTo>
                            <a:pt x="44" y="406"/>
                          </a:lnTo>
                          <a:lnTo>
                            <a:pt x="48" y="406"/>
                          </a:lnTo>
                          <a:lnTo>
                            <a:pt x="51" y="407"/>
                          </a:lnTo>
                          <a:lnTo>
                            <a:pt x="50" y="396"/>
                          </a:lnTo>
                          <a:lnTo>
                            <a:pt x="50" y="389"/>
                          </a:lnTo>
                          <a:lnTo>
                            <a:pt x="51" y="380"/>
                          </a:lnTo>
                          <a:lnTo>
                            <a:pt x="52" y="374"/>
                          </a:lnTo>
                          <a:lnTo>
                            <a:pt x="53" y="364"/>
                          </a:lnTo>
                          <a:lnTo>
                            <a:pt x="53" y="322"/>
                          </a:lnTo>
                          <a:lnTo>
                            <a:pt x="53" y="292"/>
                          </a:lnTo>
                          <a:lnTo>
                            <a:pt x="53" y="282"/>
                          </a:lnTo>
                          <a:lnTo>
                            <a:pt x="52" y="266"/>
                          </a:lnTo>
                          <a:lnTo>
                            <a:pt x="51" y="246"/>
                          </a:lnTo>
                          <a:lnTo>
                            <a:pt x="50" y="215"/>
                          </a:lnTo>
                          <a:lnTo>
                            <a:pt x="51" y="202"/>
                          </a:lnTo>
                          <a:lnTo>
                            <a:pt x="51" y="193"/>
                          </a:lnTo>
                          <a:lnTo>
                            <a:pt x="50" y="181"/>
                          </a:lnTo>
                          <a:lnTo>
                            <a:pt x="49" y="171"/>
                          </a:lnTo>
                          <a:lnTo>
                            <a:pt x="48" y="162"/>
                          </a:lnTo>
                          <a:lnTo>
                            <a:pt x="51" y="156"/>
                          </a:lnTo>
                          <a:lnTo>
                            <a:pt x="53" y="152"/>
                          </a:lnTo>
                          <a:lnTo>
                            <a:pt x="55" y="147"/>
                          </a:lnTo>
                          <a:lnTo>
                            <a:pt x="56" y="143"/>
                          </a:lnTo>
                          <a:lnTo>
                            <a:pt x="56" y="139"/>
                          </a:lnTo>
                          <a:lnTo>
                            <a:pt x="58" y="134"/>
                          </a:lnTo>
                          <a:lnTo>
                            <a:pt x="60" y="127"/>
                          </a:lnTo>
                          <a:lnTo>
                            <a:pt x="62" y="122"/>
                          </a:lnTo>
                          <a:lnTo>
                            <a:pt x="64" y="117"/>
                          </a:lnTo>
                          <a:lnTo>
                            <a:pt x="65" y="109"/>
                          </a:lnTo>
                          <a:lnTo>
                            <a:pt x="66" y="103"/>
                          </a:lnTo>
                          <a:lnTo>
                            <a:pt x="66" y="98"/>
                          </a:lnTo>
                          <a:lnTo>
                            <a:pt x="65" y="95"/>
                          </a:lnTo>
                          <a:lnTo>
                            <a:pt x="67" y="89"/>
                          </a:lnTo>
                          <a:lnTo>
                            <a:pt x="69" y="82"/>
                          </a:lnTo>
                          <a:lnTo>
                            <a:pt x="71" y="74"/>
                          </a:lnTo>
                          <a:lnTo>
                            <a:pt x="72" y="69"/>
                          </a:lnTo>
                          <a:lnTo>
                            <a:pt x="73" y="62"/>
                          </a:lnTo>
                          <a:lnTo>
                            <a:pt x="74" y="55"/>
                          </a:lnTo>
                          <a:lnTo>
                            <a:pt x="73" y="50"/>
                          </a:lnTo>
                          <a:lnTo>
                            <a:pt x="73" y="43"/>
                          </a:lnTo>
                          <a:lnTo>
                            <a:pt x="74" y="39"/>
                          </a:lnTo>
                          <a:lnTo>
                            <a:pt x="75" y="34"/>
                          </a:lnTo>
                          <a:lnTo>
                            <a:pt x="76" y="30"/>
                          </a:lnTo>
                          <a:lnTo>
                            <a:pt x="76" y="25"/>
                          </a:lnTo>
                          <a:lnTo>
                            <a:pt x="77" y="23"/>
                          </a:lnTo>
                          <a:lnTo>
                            <a:pt x="75" y="26"/>
                          </a:lnTo>
                          <a:lnTo>
                            <a:pt x="71" y="30"/>
                          </a:lnTo>
                          <a:lnTo>
                            <a:pt x="71" y="0"/>
                          </a:lnTo>
                        </a:path>
                      </a:pathLst>
                    </a:custGeom>
                    <a:solidFill>
                      <a:srgbClr val="00008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18" name="Freeform 38"/>
                    <p:cNvSpPr>
                      <a:spLocks noChangeAspect="1"/>
                    </p:cNvSpPr>
                    <p:nvPr/>
                  </p:nvSpPr>
                  <p:spPr bwMode="auto">
                    <a:xfrm>
                      <a:off x="4926" y="2529"/>
                      <a:ext cx="14" cy="33"/>
                    </a:xfrm>
                    <a:custGeom>
                      <a:avLst/>
                      <a:gdLst>
                        <a:gd name="T0" fmla="*/ 1 w 14"/>
                        <a:gd name="T1" fmla="*/ 0 h 33"/>
                        <a:gd name="T2" fmla="*/ 5 w 14"/>
                        <a:gd name="T3" fmla="*/ 2 h 33"/>
                        <a:gd name="T4" fmla="*/ 10 w 14"/>
                        <a:gd name="T5" fmla="*/ 4 h 33"/>
                        <a:gd name="T6" fmla="*/ 13 w 14"/>
                        <a:gd name="T7" fmla="*/ 6 h 33"/>
                        <a:gd name="T8" fmla="*/ 11 w 14"/>
                        <a:gd name="T9" fmla="*/ 11 h 33"/>
                        <a:gd name="T10" fmla="*/ 8 w 14"/>
                        <a:gd name="T11" fmla="*/ 19 h 33"/>
                        <a:gd name="T12" fmla="*/ 4 w 14"/>
                        <a:gd name="T13" fmla="*/ 26 h 33"/>
                        <a:gd name="T14" fmla="*/ 0 w 14"/>
                        <a:gd name="T15" fmla="*/ 32 h 33"/>
                        <a:gd name="T16" fmla="*/ 0 w 14"/>
                        <a:gd name="T17" fmla="*/ 29 h 33"/>
                        <a:gd name="T18" fmla="*/ 1 w 14"/>
                        <a:gd name="T19" fmla="*/ 25 h 33"/>
                        <a:gd name="T20" fmla="*/ 2 w 14"/>
                        <a:gd name="T21" fmla="*/ 20 h 33"/>
                        <a:gd name="T22" fmla="*/ 2 w 14"/>
                        <a:gd name="T23" fmla="*/ 13 h 33"/>
                        <a:gd name="T24" fmla="*/ 0 w 14"/>
                        <a:gd name="T25" fmla="*/ 6 h 33"/>
                        <a:gd name="T26" fmla="*/ 1 w 14"/>
                        <a:gd name="T27" fmla="*/ 0 h 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33">
                          <a:moveTo>
                            <a:pt x="1" y="0"/>
                          </a:moveTo>
                          <a:lnTo>
                            <a:pt x="5" y="2"/>
                          </a:lnTo>
                          <a:lnTo>
                            <a:pt x="10" y="4"/>
                          </a:lnTo>
                          <a:lnTo>
                            <a:pt x="13" y="6"/>
                          </a:lnTo>
                          <a:lnTo>
                            <a:pt x="11" y="11"/>
                          </a:lnTo>
                          <a:lnTo>
                            <a:pt x="8" y="19"/>
                          </a:lnTo>
                          <a:lnTo>
                            <a:pt x="4" y="26"/>
                          </a:lnTo>
                          <a:lnTo>
                            <a:pt x="0" y="32"/>
                          </a:lnTo>
                          <a:lnTo>
                            <a:pt x="0" y="29"/>
                          </a:lnTo>
                          <a:lnTo>
                            <a:pt x="1" y="25"/>
                          </a:lnTo>
                          <a:lnTo>
                            <a:pt x="2" y="20"/>
                          </a:lnTo>
                          <a:lnTo>
                            <a:pt x="2" y="13"/>
                          </a:lnTo>
                          <a:lnTo>
                            <a:pt x="0" y="6"/>
                          </a:lnTo>
                          <a:lnTo>
                            <a:pt x="1" y="0"/>
                          </a:lnTo>
                        </a:path>
                      </a:pathLst>
                    </a:custGeom>
                    <a:solidFill>
                      <a:srgbClr val="00008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19" name="Freeform 39"/>
                    <p:cNvSpPr>
                      <a:spLocks noChangeAspect="1"/>
                    </p:cNvSpPr>
                    <p:nvPr/>
                  </p:nvSpPr>
                  <p:spPr bwMode="auto">
                    <a:xfrm>
                      <a:off x="4932" y="2539"/>
                      <a:ext cx="35" cy="51"/>
                    </a:xfrm>
                    <a:custGeom>
                      <a:avLst/>
                      <a:gdLst>
                        <a:gd name="T0" fmla="*/ 21 w 35"/>
                        <a:gd name="T1" fmla="*/ 0 h 51"/>
                        <a:gd name="T2" fmla="*/ 19 w 35"/>
                        <a:gd name="T3" fmla="*/ 10 h 51"/>
                        <a:gd name="T4" fmla="*/ 15 w 35"/>
                        <a:gd name="T5" fmla="*/ 18 h 51"/>
                        <a:gd name="T6" fmla="*/ 10 w 35"/>
                        <a:gd name="T7" fmla="*/ 27 h 51"/>
                        <a:gd name="T8" fmla="*/ 5 w 35"/>
                        <a:gd name="T9" fmla="*/ 34 h 51"/>
                        <a:gd name="T10" fmla="*/ 0 w 35"/>
                        <a:gd name="T11" fmla="*/ 38 h 51"/>
                        <a:gd name="T12" fmla="*/ 1 w 35"/>
                        <a:gd name="T13" fmla="*/ 39 h 51"/>
                        <a:gd name="T14" fmla="*/ 5 w 35"/>
                        <a:gd name="T15" fmla="*/ 40 h 51"/>
                        <a:gd name="T16" fmla="*/ 11 w 35"/>
                        <a:gd name="T17" fmla="*/ 39 h 51"/>
                        <a:gd name="T18" fmla="*/ 16 w 35"/>
                        <a:gd name="T19" fmla="*/ 38 h 51"/>
                        <a:gd name="T20" fmla="*/ 18 w 35"/>
                        <a:gd name="T21" fmla="*/ 44 h 51"/>
                        <a:gd name="T22" fmla="*/ 19 w 35"/>
                        <a:gd name="T23" fmla="*/ 50 h 51"/>
                        <a:gd name="T24" fmla="*/ 21 w 35"/>
                        <a:gd name="T25" fmla="*/ 38 h 51"/>
                        <a:gd name="T26" fmla="*/ 22 w 35"/>
                        <a:gd name="T27" fmla="*/ 29 h 51"/>
                        <a:gd name="T28" fmla="*/ 25 w 35"/>
                        <a:gd name="T29" fmla="*/ 21 h 51"/>
                        <a:gd name="T30" fmla="*/ 29 w 35"/>
                        <a:gd name="T31" fmla="*/ 12 h 51"/>
                        <a:gd name="T32" fmla="*/ 34 w 35"/>
                        <a:gd name="T33" fmla="*/ 3 h 51"/>
                        <a:gd name="T34" fmla="*/ 29 w 35"/>
                        <a:gd name="T35" fmla="*/ 2 h 51"/>
                        <a:gd name="T36" fmla="*/ 26 w 35"/>
                        <a:gd name="T37" fmla="*/ 1 h 51"/>
                        <a:gd name="T38" fmla="*/ 21 w 35"/>
                        <a:gd name="T39" fmla="*/ 0 h 5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5" h="51">
                          <a:moveTo>
                            <a:pt x="21" y="0"/>
                          </a:moveTo>
                          <a:lnTo>
                            <a:pt x="19" y="10"/>
                          </a:lnTo>
                          <a:lnTo>
                            <a:pt x="15" y="18"/>
                          </a:lnTo>
                          <a:lnTo>
                            <a:pt x="10" y="27"/>
                          </a:lnTo>
                          <a:lnTo>
                            <a:pt x="5" y="34"/>
                          </a:lnTo>
                          <a:lnTo>
                            <a:pt x="0" y="38"/>
                          </a:lnTo>
                          <a:lnTo>
                            <a:pt x="1" y="39"/>
                          </a:lnTo>
                          <a:lnTo>
                            <a:pt x="5" y="40"/>
                          </a:lnTo>
                          <a:lnTo>
                            <a:pt x="11" y="39"/>
                          </a:lnTo>
                          <a:lnTo>
                            <a:pt x="16" y="38"/>
                          </a:lnTo>
                          <a:lnTo>
                            <a:pt x="18" y="44"/>
                          </a:lnTo>
                          <a:lnTo>
                            <a:pt x="19" y="50"/>
                          </a:lnTo>
                          <a:lnTo>
                            <a:pt x="21" y="38"/>
                          </a:lnTo>
                          <a:lnTo>
                            <a:pt x="22" y="29"/>
                          </a:lnTo>
                          <a:lnTo>
                            <a:pt x="25" y="21"/>
                          </a:lnTo>
                          <a:lnTo>
                            <a:pt x="29" y="12"/>
                          </a:lnTo>
                          <a:lnTo>
                            <a:pt x="34" y="3"/>
                          </a:lnTo>
                          <a:lnTo>
                            <a:pt x="29" y="2"/>
                          </a:lnTo>
                          <a:lnTo>
                            <a:pt x="26" y="1"/>
                          </a:lnTo>
                          <a:lnTo>
                            <a:pt x="21" y="0"/>
                          </a:lnTo>
                        </a:path>
                      </a:pathLst>
                    </a:custGeom>
                    <a:solidFill>
                      <a:srgbClr val="00008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20" name="Freeform 40"/>
                    <p:cNvSpPr>
                      <a:spLocks noChangeAspect="1"/>
                    </p:cNvSpPr>
                    <p:nvPr/>
                  </p:nvSpPr>
                  <p:spPr bwMode="auto">
                    <a:xfrm>
                      <a:off x="4997" y="2546"/>
                      <a:ext cx="17" cy="37"/>
                    </a:xfrm>
                    <a:custGeom>
                      <a:avLst/>
                      <a:gdLst>
                        <a:gd name="T0" fmla="*/ 10 w 17"/>
                        <a:gd name="T1" fmla="*/ 0 h 37"/>
                        <a:gd name="T2" fmla="*/ 7 w 17"/>
                        <a:gd name="T3" fmla="*/ 6 h 37"/>
                        <a:gd name="T4" fmla="*/ 4 w 17"/>
                        <a:gd name="T5" fmla="*/ 11 h 37"/>
                        <a:gd name="T6" fmla="*/ 2 w 17"/>
                        <a:gd name="T7" fmla="*/ 18 h 37"/>
                        <a:gd name="T8" fmla="*/ 1 w 17"/>
                        <a:gd name="T9" fmla="*/ 26 h 37"/>
                        <a:gd name="T10" fmla="*/ 0 w 17"/>
                        <a:gd name="T11" fmla="*/ 36 h 37"/>
                        <a:gd name="T12" fmla="*/ 2 w 17"/>
                        <a:gd name="T13" fmla="*/ 33 h 37"/>
                        <a:gd name="T14" fmla="*/ 3 w 17"/>
                        <a:gd name="T15" fmla="*/ 30 h 37"/>
                        <a:gd name="T16" fmla="*/ 6 w 17"/>
                        <a:gd name="T17" fmla="*/ 28 h 37"/>
                        <a:gd name="T18" fmla="*/ 7 w 17"/>
                        <a:gd name="T19" fmla="*/ 27 h 37"/>
                        <a:gd name="T20" fmla="*/ 9 w 17"/>
                        <a:gd name="T21" fmla="*/ 24 h 37"/>
                        <a:gd name="T22" fmla="*/ 11 w 17"/>
                        <a:gd name="T23" fmla="*/ 19 h 37"/>
                        <a:gd name="T24" fmla="*/ 13 w 17"/>
                        <a:gd name="T25" fmla="*/ 14 h 37"/>
                        <a:gd name="T26" fmla="*/ 15 w 17"/>
                        <a:gd name="T27" fmla="*/ 7 h 37"/>
                        <a:gd name="T28" fmla="*/ 16 w 17"/>
                        <a:gd name="T29" fmla="*/ 3 h 37"/>
                        <a:gd name="T30" fmla="*/ 16 w 17"/>
                        <a:gd name="T31" fmla="*/ 0 h 37"/>
                        <a:gd name="T32" fmla="*/ 10 w 17"/>
                        <a:gd name="T33" fmla="*/ 0 h 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 h="37">
                          <a:moveTo>
                            <a:pt x="10" y="0"/>
                          </a:moveTo>
                          <a:lnTo>
                            <a:pt x="7" y="6"/>
                          </a:lnTo>
                          <a:lnTo>
                            <a:pt x="4" y="11"/>
                          </a:lnTo>
                          <a:lnTo>
                            <a:pt x="2" y="18"/>
                          </a:lnTo>
                          <a:lnTo>
                            <a:pt x="1" y="26"/>
                          </a:lnTo>
                          <a:lnTo>
                            <a:pt x="0" y="36"/>
                          </a:lnTo>
                          <a:lnTo>
                            <a:pt x="2" y="33"/>
                          </a:lnTo>
                          <a:lnTo>
                            <a:pt x="3" y="30"/>
                          </a:lnTo>
                          <a:lnTo>
                            <a:pt x="6" y="28"/>
                          </a:lnTo>
                          <a:lnTo>
                            <a:pt x="7" y="27"/>
                          </a:lnTo>
                          <a:lnTo>
                            <a:pt x="9" y="24"/>
                          </a:lnTo>
                          <a:lnTo>
                            <a:pt x="11" y="19"/>
                          </a:lnTo>
                          <a:lnTo>
                            <a:pt x="13" y="14"/>
                          </a:lnTo>
                          <a:lnTo>
                            <a:pt x="15" y="7"/>
                          </a:lnTo>
                          <a:lnTo>
                            <a:pt x="16" y="3"/>
                          </a:lnTo>
                          <a:lnTo>
                            <a:pt x="16" y="0"/>
                          </a:lnTo>
                          <a:lnTo>
                            <a:pt x="10" y="0"/>
                          </a:lnTo>
                        </a:path>
                      </a:pathLst>
                    </a:custGeom>
                    <a:solidFill>
                      <a:srgbClr val="00008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21" name="Freeform 41"/>
                    <p:cNvSpPr>
                      <a:spLocks noChangeAspect="1"/>
                    </p:cNvSpPr>
                    <p:nvPr/>
                  </p:nvSpPr>
                  <p:spPr bwMode="auto">
                    <a:xfrm>
                      <a:off x="5024" y="2542"/>
                      <a:ext cx="35" cy="24"/>
                    </a:xfrm>
                    <a:custGeom>
                      <a:avLst/>
                      <a:gdLst>
                        <a:gd name="T0" fmla="*/ 11 w 35"/>
                        <a:gd name="T1" fmla="*/ 3 h 24"/>
                        <a:gd name="T2" fmla="*/ 9 w 35"/>
                        <a:gd name="T3" fmla="*/ 5 h 24"/>
                        <a:gd name="T4" fmla="*/ 7 w 35"/>
                        <a:gd name="T5" fmla="*/ 7 h 24"/>
                        <a:gd name="T6" fmla="*/ 6 w 35"/>
                        <a:gd name="T7" fmla="*/ 9 h 24"/>
                        <a:gd name="T8" fmla="*/ 4 w 35"/>
                        <a:gd name="T9" fmla="*/ 12 h 24"/>
                        <a:gd name="T10" fmla="*/ 3 w 35"/>
                        <a:gd name="T11" fmla="*/ 15 h 24"/>
                        <a:gd name="T12" fmla="*/ 1 w 35"/>
                        <a:gd name="T13" fmla="*/ 19 h 24"/>
                        <a:gd name="T14" fmla="*/ 0 w 35"/>
                        <a:gd name="T15" fmla="*/ 23 h 24"/>
                        <a:gd name="T16" fmla="*/ 2 w 35"/>
                        <a:gd name="T17" fmla="*/ 23 h 24"/>
                        <a:gd name="T18" fmla="*/ 6 w 35"/>
                        <a:gd name="T19" fmla="*/ 21 h 24"/>
                        <a:gd name="T20" fmla="*/ 9 w 35"/>
                        <a:gd name="T21" fmla="*/ 19 h 24"/>
                        <a:gd name="T22" fmla="*/ 13 w 35"/>
                        <a:gd name="T23" fmla="*/ 17 h 24"/>
                        <a:gd name="T24" fmla="*/ 16 w 35"/>
                        <a:gd name="T25" fmla="*/ 14 h 24"/>
                        <a:gd name="T26" fmla="*/ 20 w 35"/>
                        <a:gd name="T27" fmla="*/ 12 h 24"/>
                        <a:gd name="T28" fmla="*/ 24 w 35"/>
                        <a:gd name="T29" fmla="*/ 10 h 24"/>
                        <a:gd name="T30" fmla="*/ 29 w 35"/>
                        <a:gd name="T31" fmla="*/ 8 h 24"/>
                        <a:gd name="T32" fmla="*/ 30 w 35"/>
                        <a:gd name="T33" fmla="*/ 8 h 24"/>
                        <a:gd name="T34" fmla="*/ 31 w 35"/>
                        <a:gd name="T35" fmla="*/ 5 h 24"/>
                        <a:gd name="T36" fmla="*/ 30 w 35"/>
                        <a:gd name="T37" fmla="*/ 3 h 24"/>
                        <a:gd name="T38" fmla="*/ 32 w 35"/>
                        <a:gd name="T39" fmla="*/ 2 h 24"/>
                        <a:gd name="T40" fmla="*/ 34 w 35"/>
                        <a:gd name="T41" fmla="*/ 0 h 24"/>
                        <a:gd name="T42" fmla="*/ 30 w 35"/>
                        <a:gd name="T43" fmla="*/ 1 h 24"/>
                        <a:gd name="T44" fmla="*/ 26 w 35"/>
                        <a:gd name="T45" fmla="*/ 1 h 24"/>
                        <a:gd name="T46" fmla="*/ 21 w 35"/>
                        <a:gd name="T47" fmla="*/ 2 h 24"/>
                        <a:gd name="T48" fmla="*/ 17 w 35"/>
                        <a:gd name="T49" fmla="*/ 2 h 24"/>
                        <a:gd name="T50" fmla="*/ 11 w 35"/>
                        <a:gd name="T51" fmla="*/ 3 h 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5" h="24">
                          <a:moveTo>
                            <a:pt x="11" y="3"/>
                          </a:moveTo>
                          <a:lnTo>
                            <a:pt x="9" y="5"/>
                          </a:lnTo>
                          <a:lnTo>
                            <a:pt x="7" y="7"/>
                          </a:lnTo>
                          <a:lnTo>
                            <a:pt x="6" y="9"/>
                          </a:lnTo>
                          <a:lnTo>
                            <a:pt x="4" y="12"/>
                          </a:lnTo>
                          <a:lnTo>
                            <a:pt x="3" y="15"/>
                          </a:lnTo>
                          <a:lnTo>
                            <a:pt x="1" y="19"/>
                          </a:lnTo>
                          <a:lnTo>
                            <a:pt x="0" y="23"/>
                          </a:lnTo>
                          <a:lnTo>
                            <a:pt x="2" y="23"/>
                          </a:lnTo>
                          <a:lnTo>
                            <a:pt x="6" y="21"/>
                          </a:lnTo>
                          <a:lnTo>
                            <a:pt x="9" y="19"/>
                          </a:lnTo>
                          <a:lnTo>
                            <a:pt x="13" y="17"/>
                          </a:lnTo>
                          <a:lnTo>
                            <a:pt x="16" y="14"/>
                          </a:lnTo>
                          <a:lnTo>
                            <a:pt x="20" y="12"/>
                          </a:lnTo>
                          <a:lnTo>
                            <a:pt x="24" y="10"/>
                          </a:lnTo>
                          <a:lnTo>
                            <a:pt x="29" y="8"/>
                          </a:lnTo>
                          <a:lnTo>
                            <a:pt x="30" y="8"/>
                          </a:lnTo>
                          <a:lnTo>
                            <a:pt x="31" y="5"/>
                          </a:lnTo>
                          <a:lnTo>
                            <a:pt x="30" y="3"/>
                          </a:lnTo>
                          <a:lnTo>
                            <a:pt x="32" y="2"/>
                          </a:lnTo>
                          <a:lnTo>
                            <a:pt x="34" y="0"/>
                          </a:lnTo>
                          <a:lnTo>
                            <a:pt x="30" y="1"/>
                          </a:lnTo>
                          <a:lnTo>
                            <a:pt x="26" y="1"/>
                          </a:lnTo>
                          <a:lnTo>
                            <a:pt x="21" y="2"/>
                          </a:lnTo>
                          <a:lnTo>
                            <a:pt x="17" y="2"/>
                          </a:lnTo>
                          <a:lnTo>
                            <a:pt x="11" y="3"/>
                          </a:lnTo>
                        </a:path>
                      </a:pathLst>
                    </a:custGeom>
                    <a:solidFill>
                      <a:srgbClr val="00008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277524" name="Group 42"/>
              <p:cNvGrpSpPr>
                <a:grpSpLocks noChangeAspect="1"/>
              </p:cNvGrpSpPr>
              <p:nvPr/>
            </p:nvGrpSpPr>
            <p:grpSpPr bwMode="auto">
              <a:xfrm>
                <a:off x="4936" y="2176"/>
                <a:ext cx="149" cy="153"/>
                <a:chOff x="4936" y="2176"/>
                <a:chExt cx="149" cy="153"/>
              </a:xfrm>
            </p:grpSpPr>
            <p:sp>
              <p:nvSpPr>
                <p:cNvPr id="277547" name="Oval 43"/>
                <p:cNvSpPr>
                  <a:spLocks noChangeAspect="1" noChangeArrowheads="1"/>
                </p:cNvSpPr>
                <p:nvPr/>
              </p:nvSpPr>
              <p:spPr bwMode="auto">
                <a:xfrm flipV="1">
                  <a:off x="4936" y="2314"/>
                  <a:ext cx="1" cy="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77548" name="Freeform 44"/>
                <p:cNvSpPr>
                  <a:spLocks noChangeAspect="1"/>
                </p:cNvSpPr>
                <p:nvPr/>
              </p:nvSpPr>
              <p:spPr bwMode="auto">
                <a:xfrm>
                  <a:off x="4984" y="2275"/>
                  <a:ext cx="33" cy="27"/>
                </a:xfrm>
                <a:custGeom>
                  <a:avLst/>
                  <a:gdLst>
                    <a:gd name="T0" fmla="*/ 9 w 33"/>
                    <a:gd name="T1" fmla="*/ 2 h 27"/>
                    <a:gd name="T2" fmla="*/ 8 w 33"/>
                    <a:gd name="T3" fmla="*/ 9 h 27"/>
                    <a:gd name="T4" fmla="*/ 8 w 33"/>
                    <a:gd name="T5" fmla="*/ 11 h 27"/>
                    <a:gd name="T6" fmla="*/ 6 w 33"/>
                    <a:gd name="T7" fmla="*/ 15 h 27"/>
                    <a:gd name="T8" fmla="*/ 3 w 33"/>
                    <a:gd name="T9" fmla="*/ 17 h 27"/>
                    <a:gd name="T10" fmla="*/ 0 w 33"/>
                    <a:gd name="T11" fmla="*/ 20 h 27"/>
                    <a:gd name="T12" fmla="*/ 3 w 33"/>
                    <a:gd name="T13" fmla="*/ 19 h 27"/>
                    <a:gd name="T14" fmla="*/ 2 w 33"/>
                    <a:gd name="T15" fmla="*/ 21 h 27"/>
                    <a:gd name="T16" fmla="*/ 4 w 33"/>
                    <a:gd name="T17" fmla="*/ 21 h 27"/>
                    <a:gd name="T18" fmla="*/ 6 w 33"/>
                    <a:gd name="T19" fmla="*/ 20 h 27"/>
                    <a:gd name="T20" fmla="*/ 6 w 33"/>
                    <a:gd name="T21" fmla="*/ 23 h 27"/>
                    <a:gd name="T22" fmla="*/ 9 w 33"/>
                    <a:gd name="T23" fmla="*/ 22 h 27"/>
                    <a:gd name="T24" fmla="*/ 11 w 33"/>
                    <a:gd name="T25" fmla="*/ 21 h 27"/>
                    <a:gd name="T26" fmla="*/ 14 w 33"/>
                    <a:gd name="T27" fmla="*/ 20 h 27"/>
                    <a:gd name="T28" fmla="*/ 13 w 33"/>
                    <a:gd name="T29" fmla="*/ 23 h 27"/>
                    <a:gd name="T30" fmla="*/ 15 w 33"/>
                    <a:gd name="T31" fmla="*/ 23 h 27"/>
                    <a:gd name="T32" fmla="*/ 16 w 33"/>
                    <a:gd name="T33" fmla="*/ 22 h 27"/>
                    <a:gd name="T34" fmla="*/ 17 w 33"/>
                    <a:gd name="T35" fmla="*/ 21 h 27"/>
                    <a:gd name="T36" fmla="*/ 18 w 33"/>
                    <a:gd name="T37" fmla="*/ 22 h 27"/>
                    <a:gd name="T38" fmla="*/ 17 w 33"/>
                    <a:gd name="T39" fmla="*/ 24 h 27"/>
                    <a:gd name="T40" fmla="*/ 20 w 33"/>
                    <a:gd name="T41" fmla="*/ 24 h 27"/>
                    <a:gd name="T42" fmla="*/ 20 w 33"/>
                    <a:gd name="T43" fmla="*/ 26 h 27"/>
                    <a:gd name="T44" fmla="*/ 22 w 33"/>
                    <a:gd name="T45" fmla="*/ 26 h 27"/>
                    <a:gd name="T46" fmla="*/ 24 w 33"/>
                    <a:gd name="T47" fmla="*/ 25 h 27"/>
                    <a:gd name="T48" fmla="*/ 26 w 33"/>
                    <a:gd name="T49" fmla="*/ 24 h 27"/>
                    <a:gd name="T50" fmla="*/ 28 w 33"/>
                    <a:gd name="T51" fmla="*/ 23 h 27"/>
                    <a:gd name="T52" fmla="*/ 29 w 33"/>
                    <a:gd name="T53" fmla="*/ 22 h 27"/>
                    <a:gd name="T54" fmla="*/ 32 w 33"/>
                    <a:gd name="T55" fmla="*/ 0 h 27"/>
                    <a:gd name="T56" fmla="*/ 9 w 33"/>
                    <a:gd name="T57" fmla="*/ 2 h 2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3" h="27">
                      <a:moveTo>
                        <a:pt x="9" y="2"/>
                      </a:moveTo>
                      <a:lnTo>
                        <a:pt x="8" y="9"/>
                      </a:lnTo>
                      <a:lnTo>
                        <a:pt x="8" y="11"/>
                      </a:lnTo>
                      <a:lnTo>
                        <a:pt x="6" y="15"/>
                      </a:lnTo>
                      <a:lnTo>
                        <a:pt x="3" y="17"/>
                      </a:lnTo>
                      <a:lnTo>
                        <a:pt x="0" y="20"/>
                      </a:lnTo>
                      <a:lnTo>
                        <a:pt x="3" y="19"/>
                      </a:lnTo>
                      <a:lnTo>
                        <a:pt x="2" y="21"/>
                      </a:lnTo>
                      <a:lnTo>
                        <a:pt x="4" y="21"/>
                      </a:lnTo>
                      <a:lnTo>
                        <a:pt x="6" y="20"/>
                      </a:lnTo>
                      <a:lnTo>
                        <a:pt x="6" y="23"/>
                      </a:lnTo>
                      <a:lnTo>
                        <a:pt x="9" y="22"/>
                      </a:lnTo>
                      <a:lnTo>
                        <a:pt x="11" y="21"/>
                      </a:lnTo>
                      <a:lnTo>
                        <a:pt x="14" y="20"/>
                      </a:lnTo>
                      <a:lnTo>
                        <a:pt x="13" y="23"/>
                      </a:lnTo>
                      <a:lnTo>
                        <a:pt x="15" y="23"/>
                      </a:lnTo>
                      <a:lnTo>
                        <a:pt x="16" y="22"/>
                      </a:lnTo>
                      <a:lnTo>
                        <a:pt x="17" y="21"/>
                      </a:lnTo>
                      <a:lnTo>
                        <a:pt x="18" y="22"/>
                      </a:lnTo>
                      <a:lnTo>
                        <a:pt x="17" y="24"/>
                      </a:lnTo>
                      <a:lnTo>
                        <a:pt x="20" y="24"/>
                      </a:lnTo>
                      <a:lnTo>
                        <a:pt x="20" y="26"/>
                      </a:lnTo>
                      <a:lnTo>
                        <a:pt x="22" y="26"/>
                      </a:lnTo>
                      <a:lnTo>
                        <a:pt x="24" y="25"/>
                      </a:lnTo>
                      <a:lnTo>
                        <a:pt x="26" y="24"/>
                      </a:lnTo>
                      <a:lnTo>
                        <a:pt x="28" y="23"/>
                      </a:lnTo>
                      <a:lnTo>
                        <a:pt x="29" y="22"/>
                      </a:lnTo>
                      <a:lnTo>
                        <a:pt x="32" y="0"/>
                      </a:lnTo>
                      <a:lnTo>
                        <a:pt x="9" y="2"/>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549" name="Group 45"/>
                <p:cNvGrpSpPr>
                  <a:grpSpLocks noChangeAspect="1"/>
                </p:cNvGrpSpPr>
                <p:nvPr/>
              </p:nvGrpSpPr>
              <p:grpSpPr bwMode="auto">
                <a:xfrm>
                  <a:off x="4971" y="2195"/>
                  <a:ext cx="108" cy="134"/>
                  <a:chOff x="4971" y="2195"/>
                  <a:chExt cx="108" cy="134"/>
                </a:xfrm>
              </p:grpSpPr>
              <p:grpSp>
                <p:nvGrpSpPr>
                  <p:cNvPr id="277597" name="Group 46"/>
                  <p:cNvGrpSpPr>
                    <a:grpSpLocks noChangeAspect="1"/>
                  </p:cNvGrpSpPr>
                  <p:nvPr/>
                </p:nvGrpSpPr>
                <p:grpSpPr bwMode="auto">
                  <a:xfrm>
                    <a:off x="4971" y="2195"/>
                    <a:ext cx="108" cy="134"/>
                    <a:chOff x="4971" y="2195"/>
                    <a:chExt cx="108" cy="134"/>
                  </a:xfrm>
                </p:grpSpPr>
                <p:sp>
                  <p:nvSpPr>
                    <p:cNvPr id="277599" name="Freeform 47"/>
                    <p:cNvSpPr>
                      <a:spLocks noChangeAspect="1"/>
                    </p:cNvSpPr>
                    <p:nvPr/>
                  </p:nvSpPr>
                  <p:spPr bwMode="auto">
                    <a:xfrm>
                      <a:off x="4971" y="2195"/>
                      <a:ext cx="108" cy="134"/>
                    </a:xfrm>
                    <a:custGeom>
                      <a:avLst/>
                      <a:gdLst>
                        <a:gd name="T0" fmla="*/ 20 w 108"/>
                        <a:gd name="T1" fmla="*/ 0 h 134"/>
                        <a:gd name="T2" fmla="*/ 9 w 108"/>
                        <a:gd name="T3" fmla="*/ 6 h 134"/>
                        <a:gd name="T4" fmla="*/ 2 w 108"/>
                        <a:gd name="T5" fmla="*/ 14 h 134"/>
                        <a:gd name="T6" fmla="*/ 0 w 108"/>
                        <a:gd name="T7" fmla="*/ 24 h 134"/>
                        <a:gd name="T8" fmla="*/ 0 w 108"/>
                        <a:gd name="T9" fmla="*/ 32 h 134"/>
                        <a:gd name="T10" fmla="*/ 1 w 108"/>
                        <a:gd name="T11" fmla="*/ 36 h 134"/>
                        <a:gd name="T12" fmla="*/ 2 w 108"/>
                        <a:gd name="T13" fmla="*/ 37 h 134"/>
                        <a:gd name="T14" fmla="*/ 3 w 108"/>
                        <a:gd name="T15" fmla="*/ 39 h 134"/>
                        <a:gd name="T16" fmla="*/ 4 w 108"/>
                        <a:gd name="T17" fmla="*/ 41 h 134"/>
                        <a:gd name="T18" fmla="*/ 5 w 108"/>
                        <a:gd name="T19" fmla="*/ 43 h 134"/>
                        <a:gd name="T20" fmla="*/ 4 w 108"/>
                        <a:gd name="T21" fmla="*/ 45 h 134"/>
                        <a:gd name="T22" fmla="*/ 2 w 108"/>
                        <a:gd name="T23" fmla="*/ 49 h 134"/>
                        <a:gd name="T24" fmla="*/ 1 w 108"/>
                        <a:gd name="T25" fmla="*/ 51 h 134"/>
                        <a:gd name="T26" fmla="*/ 0 w 108"/>
                        <a:gd name="T27" fmla="*/ 53 h 134"/>
                        <a:gd name="T28" fmla="*/ 1 w 108"/>
                        <a:gd name="T29" fmla="*/ 55 h 134"/>
                        <a:gd name="T30" fmla="*/ 2 w 108"/>
                        <a:gd name="T31" fmla="*/ 56 h 134"/>
                        <a:gd name="T32" fmla="*/ 2 w 108"/>
                        <a:gd name="T33" fmla="*/ 57 h 134"/>
                        <a:gd name="T34" fmla="*/ 2 w 108"/>
                        <a:gd name="T35" fmla="*/ 61 h 134"/>
                        <a:gd name="T36" fmla="*/ 2 w 108"/>
                        <a:gd name="T37" fmla="*/ 63 h 134"/>
                        <a:gd name="T38" fmla="*/ 4 w 108"/>
                        <a:gd name="T39" fmla="*/ 65 h 134"/>
                        <a:gd name="T40" fmla="*/ 6 w 108"/>
                        <a:gd name="T41" fmla="*/ 67 h 134"/>
                        <a:gd name="T42" fmla="*/ 8 w 108"/>
                        <a:gd name="T43" fmla="*/ 69 h 134"/>
                        <a:gd name="T44" fmla="*/ 5 w 108"/>
                        <a:gd name="T45" fmla="*/ 72 h 134"/>
                        <a:gd name="T46" fmla="*/ 7 w 108"/>
                        <a:gd name="T47" fmla="*/ 75 h 134"/>
                        <a:gd name="T48" fmla="*/ 7 w 108"/>
                        <a:gd name="T49" fmla="*/ 77 h 134"/>
                        <a:gd name="T50" fmla="*/ 6 w 108"/>
                        <a:gd name="T51" fmla="*/ 80 h 134"/>
                        <a:gd name="T52" fmla="*/ 6 w 108"/>
                        <a:gd name="T53" fmla="*/ 83 h 134"/>
                        <a:gd name="T54" fmla="*/ 6 w 108"/>
                        <a:gd name="T55" fmla="*/ 85 h 134"/>
                        <a:gd name="T56" fmla="*/ 8 w 108"/>
                        <a:gd name="T57" fmla="*/ 86 h 134"/>
                        <a:gd name="T58" fmla="*/ 10 w 108"/>
                        <a:gd name="T59" fmla="*/ 86 h 134"/>
                        <a:gd name="T60" fmla="*/ 12 w 108"/>
                        <a:gd name="T61" fmla="*/ 87 h 134"/>
                        <a:gd name="T62" fmla="*/ 23 w 108"/>
                        <a:gd name="T63" fmla="*/ 86 h 134"/>
                        <a:gd name="T64" fmla="*/ 31 w 108"/>
                        <a:gd name="T65" fmla="*/ 86 h 134"/>
                        <a:gd name="T66" fmla="*/ 36 w 108"/>
                        <a:gd name="T67" fmla="*/ 87 h 134"/>
                        <a:gd name="T68" fmla="*/ 38 w 108"/>
                        <a:gd name="T69" fmla="*/ 88 h 134"/>
                        <a:gd name="T70" fmla="*/ 40 w 108"/>
                        <a:gd name="T71" fmla="*/ 91 h 134"/>
                        <a:gd name="T72" fmla="*/ 40 w 108"/>
                        <a:gd name="T73" fmla="*/ 94 h 134"/>
                        <a:gd name="T74" fmla="*/ 40 w 108"/>
                        <a:gd name="T75" fmla="*/ 99 h 134"/>
                        <a:gd name="T76" fmla="*/ 39 w 108"/>
                        <a:gd name="T77" fmla="*/ 105 h 134"/>
                        <a:gd name="T78" fmla="*/ 37 w 108"/>
                        <a:gd name="T79" fmla="*/ 109 h 134"/>
                        <a:gd name="T80" fmla="*/ 35 w 108"/>
                        <a:gd name="T81" fmla="*/ 111 h 134"/>
                        <a:gd name="T82" fmla="*/ 29 w 108"/>
                        <a:gd name="T83" fmla="*/ 112 h 134"/>
                        <a:gd name="T84" fmla="*/ 70 w 108"/>
                        <a:gd name="T85" fmla="*/ 133 h 134"/>
                        <a:gd name="T86" fmla="*/ 99 w 108"/>
                        <a:gd name="T87" fmla="*/ 121 h 134"/>
                        <a:gd name="T88" fmla="*/ 107 w 108"/>
                        <a:gd name="T89" fmla="*/ 115 h 134"/>
                        <a:gd name="T90" fmla="*/ 98 w 108"/>
                        <a:gd name="T91" fmla="*/ 110 h 134"/>
                        <a:gd name="T92" fmla="*/ 94 w 108"/>
                        <a:gd name="T93" fmla="*/ 105 h 134"/>
                        <a:gd name="T94" fmla="*/ 90 w 108"/>
                        <a:gd name="T95" fmla="*/ 98 h 134"/>
                        <a:gd name="T96" fmla="*/ 86 w 108"/>
                        <a:gd name="T97" fmla="*/ 91 h 134"/>
                        <a:gd name="T98" fmla="*/ 79 w 108"/>
                        <a:gd name="T99" fmla="*/ 67 h 134"/>
                        <a:gd name="T100" fmla="*/ 86 w 108"/>
                        <a:gd name="T101" fmla="*/ 34 h 134"/>
                        <a:gd name="T102" fmla="*/ 76 w 108"/>
                        <a:gd name="T103" fmla="*/ 21 h 134"/>
                        <a:gd name="T104" fmla="*/ 61 w 108"/>
                        <a:gd name="T105" fmla="*/ 24 h 134"/>
                        <a:gd name="T106" fmla="*/ 54 w 108"/>
                        <a:gd name="T107" fmla="*/ 27 h 134"/>
                        <a:gd name="T108" fmla="*/ 45 w 108"/>
                        <a:gd name="T109" fmla="*/ 11 h 134"/>
                        <a:gd name="T110" fmla="*/ 37 w 108"/>
                        <a:gd name="T111" fmla="*/ 4 h 134"/>
                        <a:gd name="T112" fmla="*/ 20 w 108"/>
                        <a:gd name="T113" fmla="*/ 0 h 1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08" h="134">
                          <a:moveTo>
                            <a:pt x="20" y="0"/>
                          </a:moveTo>
                          <a:lnTo>
                            <a:pt x="9" y="6"/>
                          </a:lnTo>
                          <a:lnTo>
                            <a:pt x="2" y="14"/>
                          </a:lnTo>
                          <a:lnTo>
                            <a:pt x="0" y="24"/>
                          </a:lnTo>
                          <a:lnTo>
                            <a:pt x="0" y="32"/>
                          </a:lnTo>
                          <a:lnTo>
                            <a:pt x="1" y="36"/>
                          </a:lnTo>
                          <a:lnTo>
                            <a:pt x="2" y="37"/>
                          </a:lnTo>
                          <a:lnTo>
                            <a:pt x="3" y="39"/>
                          </a:lnTo>
                          <a:lnTo>
                            <a:pt x="4" y="41"/>
                          </a:lnTo>
                          <a:lnTo>
                            <a:pt x="5" y="43"/>
                          </a:lnTo>
                          <a:lnTo>
                            <a:pt x="4" y="45"/>
                          </a:lnTo>
                          <a:lnTo>
                            <a:pt x="2" y="49"/>
                          </a:lnTo>
                          <a:lnTo>
                            <a:pt x="1" y="51"/>
                          </a:lnTo>
                          <a:lnTo>
                            <a:pt x="0" y="53"/>
                          </a:lnTo>
                          <a:lnTo>
                            <a:pt x="1" y="55"/>
                          </a:lnTo>
                          <a:lnTo>
                            <a:pt x="2" y="56"/>
                          </a:lnTo>
                          <a:lnTo>
                            <a:pt x="2" y="57"/>
                          </a:lnTo>
                          <a:lnTo>
                            <a:pt x="2" y="61"/>
                          </a:lnTo>
                          <a:lnTo>
                            <a:pt x="2" y="63"/>
                          </a:lnTo>
                          <a:lnTo>
                            <a:pt x="4" y="65"/>
                          </a:lnTo>
                          <a:lnTo>
                            <a:pt x="6" y="67"/>
                          </a:lnTo>
                          <a:lnTo>
                            <a:pt x="8" y="69"/>
                          </a:lnTo>
                          <a:lnTo>
                            <a:pt x="5" y="72"/>
                          </a:lnTo>
                          <a:lnTo>
                            <a:pt x="7" y="75"/>
                          </a:lnTo>
                          <a:lnTo>
                            <a:pt x="7" y="77"/>
                          </a:lnTo>
                          <a:lnTo>
                            <a:pt x="6" y="80"/>
                          </a:lnTo>
                          <a:lnTo>
                            <a:pt x="6" y="83"/>
                          </a:lnTo>
                          <a:lnTo>
                            <a:pt x="6" y="85"/>
                          </a:lnTo>
                          <a:lnTo>
                            <a:pt x="8" y="86"/>
                          </a:lnTo>
                          <a:lnTo>
                            <a:pt x="10" y="86"/>
                          </a:lnTo>
                          <a:lnTo>
                            <a:pt x="12" y="87"/>
                          </a:lnTo>
                          <a:lnTo>
                            <a:pt x="23" y="86"/>
                          </a:lnTo>
                          <a:lnTo>
                            <a:pt x="31" y="86"/>
                          </a:lnTo>
                          <a:lnTo>
                            <a:pt x="36" y="87"/>
                          </a:lnTo>
                          <a:lnTo>
                            <a:pt x="38" y="88"/>
                          </a:lnTo>
                          <a:lnTo>
                            <a:pt x="40" y="91"/>
                          </a:lnTo>
                          <a:lnTo>
                            <a:pt x="40" y="94"/>
                          </a:lnTo>
                          <a:lnTo>
                            <a:pt x="40" y="99"/>
                          </a:lnTo>
                          <a:lnTo>
                            <a:pt x="39" y="105"/>
                          </a:lnTo>
                          <a:lnTo>
                            <a:pt x="37" y="109"/>
                          </a:lnTo>
                          <a:lnTo>
                            <a:pt x="35" y="111"/>
                          </a:lnTo>
                          <a:lnTo>
                            <a:pt x="29" y="112"/>
                          </a:lnTo>
                          <a:lnTo>
                            <a:pt x="70" y="133"/>
                          </a:lnTo>
                          <a:lnTo>
                            <a:pt x="99" y="121"/>
                          </a:lnTo>
                          <a:lnTo>
                            <a:pt x="107" y="115"/>
                          </a:lnTo>
                          <a:lnTo>
                            <a:pt x="98" y="110"/>
                          </a:lnTo>
                          <a:lnTo>
                            <a:pt x="94" y="105"/>
                          </a:lnTo>
                          <a:lnTo>
                            <a:pt x="90" y="98"/>
                          </a:lnTo>
                          <a:lnTo>
                            <a:pt x="86" y="91"/>
                          </a:lnTo>
                          <a:lnTo>
                            <a:pt x="79" y="67"/>
                          </a:lnTo>
                          <a:lnTo>
                            <a:pt x="86" y="34"/>
                          </a:lnTo>
                          <a:lnTo>
                            <a:pt x="76" y="21"/>
                          </a:lnTo>
                          <a:lnTo>
                            <a:pt x="61" y="24"/>
                          </a:lnTo>
                          <a:lnTo>
                            <a:pt x="54" y="27"/>
                          </a:lnTo>
                          <a:lnTo>
                            <a:pt x="45" y="11"/>
                          </a:lnTo>
                          <a:lnTo>
                            <a:pt x="37" y="4"/>
                          </a:lnTo>
                          <a:lnTo>
                            <a:pt x="20" y="0"/>
                          </a:lnTo>
                        </a:path>
                      </a:pathLst>
                    </a:custGeom>
                    <a:solidFill>
                      <a:srgbClr val="FF9F7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00" name="Freeform 48"/>
                    <p:cNvSpPr>
                      <a:spLocks noChangeAspect="1"/>
                    </p:cNvSpPr>
                    <p:nvPr/>
                  </p:nvSpPr>
                  <p:spPr bwMode="auto">
                    <a:xfrm>
                      <a:off x="5012" y="2251"/>
                      <a:ext cx="33" cy="29"/>
                    </a:xfrm>
                    <a:custGeom>
                      <a:avLst/>
                      <a:gdLst>
                        <a:gd name="T0" fmla="*/ 0 w 33"/>
                        <a:gd name="T1" fmla="*/ 28 h 29"/>
                        <a:gd name="T2" fmla="*/ 4 w 33"/>
                        <a:gd name="T3" fmla="*/ 27 h 29"/>
                        <a:gd name="T4" fmla="*/ 8 w 33"/>
                        <a:gd name="T5" fmla="*/ 26 h 29"/>
                        <a:gd name="T6" fmla="*/ 10 w 33"/>
                        <a:gd name="T7" fmla="*/ 24 h 29"/>
                        <a:gd name="T8" fmla="*/ 13 w 33"/>
                        <a:gd name="T9" fmla="*/ 21 h 29"/>
                        <a:gd name="T10" fmla="*/ 15 w 33"/>
                        <a:gd name="T11" fmla="*/ 18 h 29"/>
                        <a:gd name="T12" fmla="*/ 17 w 33"/>
                        <a:gd name="T13" fmla="*/ 14 h 29"/>
                        <a:gd name="T14" fmla="*/ 19 w 33"/>
                        <a:gd name="T15" fmla="*/ 11 h 29"/>
                        <a:gd name="T16" fmla="*/ 19 w 33"/>
                        <a:gd name="T17" fmla="*/ 9 h 29"/>
                        <a:gd name="T18" fmla="*/ 18 w 33"/>
                        <a:gd name="T19" fmla="*/ 5 h 29"/>
                        <a:gd name="T20" fmla="*/ 18 w 33"/>
                        <a:gd name="T21" fmla="*/ 3 h 29"/>
                        <a:gd name="T22" fmla="*/ 26 w 33"/>
                        <a:gd name="T23" fmla="*/ 6 h 29"/>
                        <a:gd name="T24" fmla="*/ 30 w 33"/>
                        <a:gd name="T25" fmla="*/ 2 h 29"/>
                        <a:gd name="T26" fmla="*/ 32 w 33"/>
                        <a:gd name="T27" fmla="*/ 0 h 29"/>
                        <a:gd name="T28" fmla="*/ 31 w 33"/>
                        <a:gd name="T29" fmla="*/ 5 h 29"/>
                        <a:gd name="T30" fmla="*/ 30 w 33"/>
                        <a:gd name="T31" fmla="*/ 8 h 29"/>
                        <a:gd name="T32" fmla="*/ 28 w 33"/>
                        <a:gd name="T33" fmla="*/ 10 h 29"/>
                        <a:gd name="T34" fmla="*/ 24 w 33"/>
                        <a:gd name="T35" fmla="*/ 11 h 29"/>
                        <a:gd name="T36" fmla="*/ 22 w 33"/>
                        <a:gd name="T37" fmla="*/ 16 h 29"/>
                        <a:gd name="T38" fmla="*/ 20 w 33"/>
                        <a:gd name="T39" fmla="*/ 19 h 29"/>
                        <a:gd name="T40" fmla="*/ 18 w 33"/>
                        <a:gd name="T41" fmla="*/ 22 h 29"/>
                        <a:gd name="T42" fmla="*/ 15 w 33"/>
                        <a:gd name="T43" fmla="*/ 24 h 29"/>
                        <a:gd name="T44" fmla="*/ 11 w 33"/>
                        <a:gd name="T45" fmla="*/ 26 h 29"/>
                        <a:gd name="T46" fmla="*/ 6 w 33"/>
                        <a:gd name="T47" fmla="*/ 27 h 29"/>
                        <a:gd name="T48" fmla="*/ 0 w 33"/>
                        <a:gd name="T49" fmla="*/ 28 h 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3" h="29">
                          <a:moveTo>
                            <a:pt x="0" y="28"/>
                          </a:moveTo>
                          <a:lnTo>
                            <a:pt x="4" y="27"/>
                          </a:lnTo>
                          <a:lnTo>
                            <a:pt x="8" y="26"/>
                          </a:lnTo>
                          <a:lnTo>
                            <a:pt x="10" y="24"/>
                          </a:lnTo>
                          <a:lnTo>
                            <a:pt x="13" y="21"/>
                          </a:lnTo>
                          <a:lnTo>
                            <a:pt x="15" y="18"/>
                          </a:lnTo>
                          <a:lnTo>
                            <a:pt x="17" y="14"/>
                          </a:lnTo>
                          <a:lnTo>
                            <a:pt x="19" y="11"/>
                          </a:lnTo>
                          <a:lnTo>
                            <a:pt x="19" y="9"/>
                          </a:lnTo>
                          <a:lnTo>
                            <a:pt x="18" y="5"/>
                          </a:lnTo>
                          <a:lnTo>
                            <a:pt x="18" y="3"/>
                          </a:lnTo>
                          <a:lnTo>
                            <a:pt x="26" y="6"/>
                          </a:lnTo>
                          <a:lnTo>
                            <a:pt x="30" y="2"/>
                          </a:lnTo>
                          <a:lnTo>
                            <a:pt x="32" y="0"/>
                          </a:lnTo>
                          <a:lnTo>
                            <a:pt x="31" y="5"/>
                          </a:lnTo>
                          <a:lnTo>
                            <a:pt x="30" y="8"/>
                          </a:lnTo>
                          <a:lnTo>
                            <a:pt x="28" y="10"/>
                          </a:lnTo>
                          <a:lnTo>
                            <a:pt x="24" y="11"/>
                          </a:lnTo>
                          <a:lnTo>
                            <a:pt x="22" y="16"/>
                          </a:lnTo>
                          <a:lnTo>
                            <a:pt x="20" y="19"/>
                          </a:lnTo>
                          <a:lnTo>
                            <a:pt x="18" y="22"/>
                          </a:lnTo>
                          <a:lnTo>
                            <a:pt x="15" y="24"/>
                          </a:lnTo>
                          <a:lnTo>
                            <a:pt x="11" y="26"/>
                          </a:lnTo>
                          <a:lnTo>
                            <a:pt x="6" y="27"/>
                          </a:lnTo>
                          <a:lnTo>
                            <a:pt x="0" y="28"/>
                          </a:lnTo>
                        </a:path>
                      </a:pathLst>
                    </a:custGeom>
                    <a:solidFill>
                      <a:srgbClr val="FF7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01" name="Freeform 49"/>
                    <p:cNvSpPr>
                      <a:spLocks noChangeAspect="1"/>
                    </p:cNvSpPr>
                    <p:nvPr/>
                  </p:nvSpPr>
                  <p:spPr bwMode="auto">
                    <a:xfrm>
                      <a:off x="5034" y="2287"/>
                      <a:ext cx="11" cy="33"/>
                    </a:xfrm>
                    <a:custGeom>
                      <a:avLst/>
                      <a:gdLst>
                        <a:gd name="T0" fmla="*/ 0 w 11"/>
                        <a:gd name="T1" fmla="*/ 30 h 33"/>
                        <a:gd name="T2" fmla="*/ 2 w 11"/>
                        <a:gd name="T3" fmla="*/ 25 h 33"/>
                        <a:gd name="T4" fmla="*/ 4 w 11"/>
                        <a:gd name="T5" fmla="*/ 19 h 33"/>
                        <a:gd name="T6" fmla="*/ 5 w 11"/>
                        <a:gd name="T7" fmla="*/ 15 h 33"/>
                        <a:gd name="T8" fmla="*/ 6 w 11"/>
                        <a:gd name="T9" fmla="*/ 9 h 33"/>
                        <a:gd name="T10" fmla="*/ 7 w 11"/>
                        <a:gd name="T11" fmla="*/ 0 h 33"/>
                        <a:gd name="T12" fmla="*/ 9 w 11"/>
                        <a:gd name="T13" fmla="*/ 7 h 33"/>
                        <a:gd name="T14" fmla="*/ 8 w 11"/>
                        <a:gd name="T15" fmla="*/ 13 h 33"/>
                        <a:gd name="T16" fmla="*/ 7 w 11"/>
                        <a:gd name="T17" fmla="*/ 20 h 33"/>
                        <a:gd name="T18" fmla="*/ 8 w 11"/>
                        <a:gd name="T19" fmla="*/ 26 h 33"/>
                        <a:gd name="T20" fmla="*/ 10 w 11"/>
                        <a:gd name="T21" fmla="*/ 32 h 33"/>
                        <a:gd name="T22" fmla="*/ 0 w 11"/>
                        <a:gd name="T23" fmla="*/ 30 h 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 h="33">
                          <a:moveTo>
                            <a:pt x="0" y="30"/>
                          </a:moveTo>
                          <a:lnTo>
                            <a:pt x="2" y="25"/>
                          </a:lnTo>
                          <a:lnTo>
                            <a:pt x="4" y="19"/>
                          </a:lnTo>
                          <a:lnTo>
                            <a:pt x="5" y="15"/>
                          </a:lnTo>
                          <a:lnTo>
                            <a:pt x="6" y="9"/>
                          </a:lnTo>
                          <a:lnTo>
                            <a:pt x="7" y="0"/>
                          </a:lnTo>
                          <a:lnTo>
                            <a:pt x="9" y="7"/>
                          </a:lnTo>
                          <a:lnTo>
                            <a:pt x="8" y="13"/>
                          </a:lnTo>
                          <a:lnTo>
                            <a:pt x="7" y="20"/>
                          </a:lnTo>
                          <a:lnTo>
                            <a:pt x="8" y="26"/>
                          </a:lnTo>
                          <a:lnTo>
                            <a:pt x="10" y="32"/>
                          </a:lnTo>
                          <a:lnTo>
                            <a:pt x="0" y="30"/>
                          </a:lnTo>
                        </a:path>
                      </a:pathLst>
                    </a:custGeom>
                    <a:solidFill>
                      <a:srgbClr val="FF7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602" name="Group 50"/>
                    <p:cNvGrpSpPr>
                      <a:grpSpLocks noChangeAspect="1"/>
                    </p:cNvGrpSpPr>
                    <p:nvPr/>
                  </p:nvGrpSpPr>
                  <p:grpSpPr bwMode="auto">
                    <a:xfrm>
                      <a:off x="4972" y="2203"/>
                      <a:ext cx="73" cy="79"/>
                      <a:chOff x="4972" y="2203"/>
                      <a:chExt cx="73" cy="79"/>
                    </a:xfrm>
                  </p:grpSpPr>
                  <p:grpSp>
                    <p:nvGrpSpPr>
                      <p:cNvPr id="277603" name="Group 51"/>
                      <p:cNvGrpSpPr>
                        <a:grpSpLocks noChangeAspect="1"/>
                      </p:cNvGrpSpPr>
                      <p:nvPr/>
                    </p:nvGrpSpPr>
                    <p:grpSpPr bwMode="auto">
                      <a:xfrm>
                        <a:off x="4972" y="2203"/>
                        <a:ext cx="73" cy="79"/>
                        <a:chOff x="4972" y="2203"/>
                        <a:chExt cx="73" cy="79"/>
                      </a:xfrm>
                    </p:grpSpPr>
                    <p:sp>
                      <p:nvSpPr>
                        <p:cNvPr id="277608" name="Freeform 52"/>
                        <p:cNvSpPr>
                          <a:spLocks noChangeAspect="1"/>
                        </p:cNvSpPr>
                        <p:nvPr/>
                      </p:nvSpPr>
                      <p:spPr bwMode="auto">
                        <a:xfrm>
                          <a:off x="4981" y="2203"/>
                          <a:ext cx="64" cy="79"/>
                        </a:xfrm>
                        <a:custGeom>
                          <a:avLst/>
                          <a:gdLst>
                            <a:gd name="T0" fmla="*/ 22 w 64"/>
                            <a:gd name="T1" fmla="*/ 0 h 79"/>
                            <a:gd name="T2" fmla="*/ 16 w 64"/>
                            <a:gd name="T3" fmla="*/ 4 h 79"/>
                            <a:gd name="T4" fmla="*/ 13 w 64"/>
                            <a:gd name="T5" fmla="*/ 8 h 79"/>
                            <a:gd name="T6" fmla="*/ 20 w 64"/>
                            <a:gd name="T7" fmla="*/ 8 h 79"/>
                            <a:gd name="T8" fmla="*/ 23 w 64"/>
                            <a:gd name="T9" fmla="*/ 10 h 79"/>
                            <a:gd name="T10" fmla="*/ 25 w 64"/>
                            <a:gd name="T11" fmla="*/ 14 h 79"/>
                            <a:gd name="T12" fmla="*/ 22 w 64"/>
                            <a:gd name="T13" fmla="*/ 17 h 79"/>
                            <a:gd name="T14" fmla="*/ 21 w 64"/>
                            <a:gd name="T15" fmla="*/ 22 h 79"/>
                            <a:gd name="T16" fmla="*/ 24 w 64"/>
                            <a:gd name="T17" fmla="*/ 26 h 79"/>
                            <a:gd name="T18" fmla="*/ 26 w 64"/>
                            <a:gd name="T19" fmla="*/ 30 h 79"/>
                            <a:gd name="T20" fmla="*/ 27 w 64"/>
                            <a:gd name="T21" fmla="*/ 33 h 79"/>
                            <a:gd name="T22" fmla="*/ 25 w 64"/>
                            <a:gd name="T23" fmla="*/ 35 h 79"/>
                            <a:gd name="T24" fmla="*/ 23 w 64"/>
                            <a:gd name="T25" fmla="*/ 38 h 79"/>
                            <a:gd name="T26" fmla="*/ 18 w 64"/>
                            <a:gd name="T27" fmla="*/ 42 h 79"/>
                            <a:gd name="T28" fmla="*/ 15 w 64"/>
                            <a:gd name="T29" fmla="*/ 43 h 79"/>
                            <a:gd name="T30" fmla="*/ 13 w 64"/>
                            <a:gd name="T31" fmla="*/ 46 h 79"/>
                            <a:gd name="T32" fmla="*/ 12 w 64"/>
                            <a:gd name="T33" fmla="*/ 49 h 79"/>
                            <a:gd name="T34" fmla="*/ 12 w 64"/>
                            <a:gd name="T35" fmla="*/ 53 h 79"/>
                            <a:gd name="T36" fmla="*/ 14 w 64"/>
                            <a:gd name="T37" fmla="*/ 56 h 79"/>
                            <a:gd name="T38" fmla="*/ 16 w 64"/>
                            <a:gd name="T39" fmla="*/ 59 h 79"/>
                            <a:gd name="T40" fmla="*/ 18 w 64"/>
                            <a:gd name="T41" fmla="*/ 60 h 79"/>
                            <a:gd name="T42" fmla="*/ 21 w 64"/>
                            <a:gd name="T43" fmla="*/ 61 h 79"/>
                            <a:gd name="T44" fmla="*/ 23 w 64"/>
                            <a:gd name="T45" fmla="*/ 63 h 79"/>
                            <a:gd name="T46" fmla="*/ 24 w 64"/>
                            <a:gd name="T47" fmla="*/ 65 h 79"/>
                            <a:gd name="T48" fmla="*/ 24 w 64"/>
                            <a:gd name="T49" fmla="*/ 68 h 79"/>
                            <a:gd name="T50" fmla="*/ 23 w 64"/>
                            <a:gd name="T51" fmla="*/ 71 h 79"/>
                            <a:gd name="T52" fmla="*/ 20 w 64"/>
                            <a:gd name="T53" fmla="*/ 72 h 79"/>
                            <a:gd name="T54" fmla="*/ 17 w 64"/>
                            <a:gd name="T55" fmla="*/ 73 h 79"/>
                            <a:gd name="T56" fmla="*/ 13 w 64"/>
                            <a:gd name="T57" fmla="*/ 74 h 79"/>
                            <a:gd name="T58" fmla="*/ 10 w 64"/>
                            <a:gd name="T59" fmla="*/ 75 h 79"/>
                            <a:gd name="T60" fmla="*/ 7 w 64"/>
                            <a:gd name="T61" fmla="*/ 76 h 79"/>
                            <a:gd name="T62" fmla="*/ 3 w 64"/>
                            <a:gd name="T63" fmla="*/ 77 h 79"/>
                            <a:gd name="T64" fmla="*/ 0 w 64"/>
                            <a:gd name="T65" fmla="*/ 78 h 79"/>
                            <a:gd name="T66" fmla="*/ 2 w 64"/>
                            <a:gd name="T67" fmla="*/ 78 h 79"/>
                            <a:gd name="T68" fmla="*/ 6 w 64"/>
                            <a:gd name="T69" fmla="*/ 78 h 79"/>
                            <a:gd name="T70" fmla="*/ 12 w 64"/>
                            <a:gd name="T71" fmla="*/ 78 h 79"/>
                            <a:gd name="T72" fmla="*/ 17 w 64"/>
                            <a:gd name="T73" fmla="*/ 78 h 79"/>
                            <a:gd name="T74" fmla="*/ 21 w 64"/>
                            <a:gd name="T75" fmla="*/ 77 h 79"/>
                            <a:gd name="T76" fmla="*/ 26 w 64"/>
                            <a:gd name="T77" fmla="*/ 77 h 79"/>
                            <a:gd name="T78" fmla="*/ 31 w 64"/>
                            <a:gd name="T79" fmla="*/ 76 h 79"/>
                            <a:gd name="T80" fmla="*/ 35 w 64"/>
                            <a:gd name="T81" fmla="*/ 74 h 79"/>
                            <a:gd name="T82" fmla="*/ 39 w 64"/>
                            <a:gd name="T83" fmla="*/ 72 h 79"/>
                            <a:gd name="T84" fmla="*/ 42 w 64"/>
                            <a:gd name="T85" fmla="*/ 70 h 79"/>
                            <a:gd name="T86" fmla="*/ 44 w 64"/>
                            <a:gd name="T87" fmla="*/ 66 h 79"/>
                            <a:gd name="T88" fmla="*/ 49 w 64"/>
                            <a:gd name="T89" fmla="*/ 57 h 79"/>
                            <a:gd name="T90" fmla="*/ 54 w 64"/>
                            <a:gd name="T91" fmla="*/ 47 h 79"/>
                            <a:gd name="T92" fmla="*/ 63 w 64"/>
                            <a:gd name="T93" fmla="*/ 27 h 79"/>
                            <a:gd name="T94" fmla="*/ 58 w 64"/>
                            <a:gd name="T95" fmla="*/ 21 h 79"/>
                            <a:gd name="T96" fmla="*/ 46 w 64"/>
                            <a:gd name="T97" fmla="*/ 26 h 79"/>
                            <a:gd name="T98" fmla="*/ 39 w 64"/>
                            <a:gd name="T99" fmla="*/ 16 h 79"/>
                            <a:gd name="T100" fmla="*/ 35 w 64"/>
                            <a:gd name="T101" fmla="*/ 4 h 79"/>
                            <a:gd name="T102" fmla="*/ 22 w 64"/>
                            <a:gd name="T103" fmla="*/ 0 h 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4" h="79">
                              <a:moveTo>
                                <a:pt x="22" y="0"/>
                              </a:moveTo>
                              <a:lnTo>
                                <a:pt x="16" y="4"/>
                              </a:lnTo>
                              <a:lnTo>
                                <a:pt x="13" y="8"/>
                              </a:lnTo>
                              <a:lnTo>
                                <a:pt x="20" y="8"/>
                              </a:lnTo>
                              <a:lnTo>
                                <a:pt x="23" y="10"/>
                              </a:lnTo>
                              <a:lnTo>
                                <a:pt x="25" y="14"/>
                              </a:lnTo>
                              <a:lnTo>
                                <a:pt x="22" y="17"/>
                              </a:lnTo>
                              <a:lnTo>
                                <a:pt x="21" y="22"/>
                              </a:lnTo>
                              <a:lnTo>
                                <a:pt x="24" y="26"/>
                              </a:lnTo>
                              <a:lnTo>
                                <a:pt x="26" y="30"/>
                              </a:lnTo>
                              <a:lnTo>
                                <a:pt x="27" y="33"/>
                              </a:lnTo>
                              <a:lnTo>
                                <a:pt x="25" y="35"/>
                              </a:lnTo>
                              <a:lnTo>
                                <a:pt x="23" y="38"/>
                              </a:lnTo>
                              <a:lnTo>
                                <a:pt x="18" y="42"/>
                              </a:lnTo>
                              <a:lnTo>
                                <a:pt x="15" y="43"/>
                              </a:lnTo>
                              <a:lnTo>
                                <a:pt x="13" y="46"/>
                              </a:lnTo>
                              <a:lnTo>
                                <a:pt x="12" y="49"/>
                              </a:lnTo>
                              <a:lnTo>
                                <a:pt x="12" y="53"/>
                              </a:lnTo>
                              <a:lnTo>
                                <a:pt x="14" y="56"/>
                              </a:lnTo>
                              <a:lnTo>
                                <a:pt x="16" y="59"/>
                              </a:lnTo>
                              <a:lnTo>
                                <a:pt x="18" y="60"/>
                              </a:lnTo>
                              <a:lnTo>
                                <a:pt x="21" y="61"/>
                              </a:lnTo>
                              <a:lnTo>
                                <a:pt x="23" y="63"/>
                              </a:lnTo>
                              <a:lnTo>
                                <a:pt x="24" y="65"/>
                              </a:lnTo>
                              <a:lnTo>
                                <a:pt x="24" y="68"/>
                              </a:lnTo>
                              <a:lnTo>
                                <a:pt x="23" y="71"/>
                              </a:lnTo>
                              <a:lnTo>
                                <a:pt x="20" y="72"/>
                              </a:lnTo>
                              <a:lnTo>
                                <a:pt x="17" y="73"/>
                              </a:lnTo>
                              <a:lnTo>
                                <a:pt x="13" y="74"/>
                              </a:lnTo>
                              <a:lnTo>
                                <a:pt x="10" y="75"/>
                              </a:lnTo>
                              <a:lnTo>
                                <a:pt x="7" y="76"/>
                              </a:lnTo>
                              <a:lnTo>
                                <a:pt x="3" y="77"/>
                              </a:lnTo>
                              <a:lnTo>
                                <a:pt x="0" y="78"/>
                              </a:lnTo>
                              <a:lnTo>
                                <a:pt x="2" y="78"/>
                              </a:lnTo>
                              <a:lnTo>
                                <a:pt x="6" y="78"/>
                              </a:lnTo>
                              <a:lnTo>
                                <a:pt x="12" y="78"/>
                              </a:lnTo>
                              <a:lnTo>
                                <a:pt x="17" y="78"/>
                              </a:lnTo>
                              <a:lnTo>
                                <a:pt x="21" y="77"/>
                              </a:lnTo>
                              <a:lnTo>
                                <a:pt x="26" y="77"/>
                              </a:lnTo>
                              <a:lnTo>
                                <a:pt x="31" y="76"/>
                              </a:lnTo>
                              <a:lnTo>
                                <a:pt x="35" y="74"/>
                              </a:lnTo>
                              <a:lnTo>
                                <a:pt x="39" y="72"/>
                              </a:lnTo>
                              <a:lnTo>
                                <a:pt x="42" y="70"/>
                              </a:lnTo>
                              <a:lnTo>
                                <a:pt x="44" y="66"/>
                              </a:lnTo>
                              <a:lnTo>
                                <a:pt x="49" y="57"/>
                              </a:lnTo>
                              <a:lnTo>
                                <a:pt x="54" y="47"/>
                              </a:lnTo>
                              <a:lnTo>
                                <a:pt x="63" y="27"/>
                              </a:lnTo>
                              <a:lnTo>
                                <a:pt x="58" y="21"/>
                              </a:lnTo>
                              <a:lnTo>
                                <a:pt x="46" y="26"/>
                              </a:lnTo>
                              <a:lnTo>
                                <a:pt x="39" y="16"/>
                              </a:lnTo>
                              <a:lnTo>
                                <a:pt x="35" y="4"/>
                              </a:lnTo>
                              <a:lnTo>
                                <a:pt x="22" y="0"/>
                              </a:lnTo>
                            </a:path>
                          </a:pathLst>
                        </a:custGeom>
                        <a:solidFill>
                          <a:srgbClr val="FF8F6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09" name="Freeform 53"/>
                        <p:cNvSpPr>
                          <a:spLocks noChangeAspect="1"/>
                        </p:cNvSpPr>
                        <p:nvPr/>
                      </p:nvSpPr>
                      <p:spPr bwMode="auto">
                        <a:xfrm>
                          <a:off x="4977" y="2228"/>
                          <a:ext cx="32" cy="24"/>
                        </a:xfrm>
                        <a:custGeom>
                          <a:avLst/>
                          <a:gdLst>
                            <a:gd name="T0" fmla="*/ 19 w 32"/>
                            <a:gd name="T1" fmla="*/ 0 h 24"/>
                            <a:gd name="T2" fmla="*/ 18 w 32"/>
                            <a:gd name="T3" fmla="*/ 0 h 24"/>
                            <a:gd name="T4" fmla="*/ 16 w 32"/>
                            <a:gd name="T5" fmla="*/ 1 h 24"/>
                            <a:gd name="T6" fmla="*/ 13 w 32"/>
                            <a:gd name="T7" fmla="*/ 1 h 24"/>
                            <a:gd name="T8" fmla="*/ 8 w 32"/>
                            <a:gd name="T9" fmla="*/ 2 h 24"/>
                            <a:gd name="T10" fmla="*/ 5 w 32"/>
                            <a:gd name="T11" fmla="*/ 2 h 24"/>
                            <a:gd name="T12" fmla="*/ 6 w 32"/>
                            <a:gd name="T13" fmla="*/ 5 h 24"/>
                            <a:gd name="T14" fmla="*/ 5 w 32"/>
                            <a:gd name="T15" fmla="*/ 8 h 24"/>
                            <a:gd name="T16" fmla="*/ 4 w 32"/>
                            <a:gd name="T17" fmla="*/ 10 h 24"/>
                            <a:gd name="T18" fmla="*/ 2 w 32"/>
                            <a:gd name="T19" fmla="*/ 12 h 24"/>
                            <a:gd name="T20" fmla="*/ 0 w 32"/>
                            <a:gd name="T21" fmla="*/ 15 h 24"/>
                            <a:gd name="T22" fmla="*/ 0 w 32"/>
                            <a:gd name="T23" fmla="*/ 18 h 24"/>
                            <a:gd name="T24" fmla="*/ 2 w 32"/>
                            <a:gd name="T25" fmla="*/ 17 h 24"/>
                            <a:gd name="T26" fmla="*/ 4 w 32"/>
                            <a:gd name="T27" fmla="*/ 18 h 24"/>
                            <a:gd name="T28" fmla="*/ 6 w 32"/>
                            <a:gd name="T29" fmla="*/ 19 h 24"/>
                            <a:gd name="T30" fmla="*/ 6 w 32"/>
                            <a:gd name="T31" fmla="*/ 20 h 24"/>
                            <a:gd name="T32" fmla="*/ 5 w 32"/>
                            <a:gd name="T33" fmla="*/ 22 h 24"/>
                            <a:gd name="T34" fmla="*/ 3 w 32"/>
                            <a:gd name="T35" fmla="*/ 23 h 24"/>
                            <a:gd name="T36" fmla="*/ 5 w 32"/>
                            <a:gd name="T37" fmla="*/ 23 h 24"/>
                            <a:gd name="T38" fmla="*/ 7 w 32"/>
                            <a:gd name="T39" fmla="*/ 22 h 24"/>
                            <a:gd name="T40" fmla="*/ 8 w 32"/>
                            <a:gd name="T41" fmla="*/ 21 h 24"/>
                            <a:gd name="T42" fmla="*/ 8 w 32"/>
                            <a:gd name="T43" fmla="*/ 19 h 24"/>
                            <a:gd name="T44" fmla="*/ 7 w 32"/>
                            <a:gd name="T45" fmla="*/ 18 h 24"/>
                            <a:gd name="T46" fmla="*/ 5 w 32"/>
                            <a:gd name="T47" fmla="*/ 16 h 24"/>
                            <a:gd name="T48" fmla="*/ 4 w 32"/>
                            <a:gd name="T49" fmla="*/ 16 h 24"/>
                            <a:gd name="T50" fmla="*/ 6 w 32"/>
                            <a:gd name="T51" fmla="*/ 12 h 24"/>
                            <a:gd name="T52" fmla="*/ 8 w 32"/>
                            <a:gd name="T53" fmla="*/ 9 h 24"/>
                            <a:gd name="T54" fmla="*/ 13 w 32"/>
                            <a:gd name="T55" fmla="*/ 10 h 24"/>
                            <a:gd name="T56" fmla="*/ 16 w 32"/>
                            <a:gd name="T57" fmla="*/ 10 h 24"/>
                            <a:gd name="T58" fmla="*/ 21 w 32"/>
                            <a:gd name="T59" fmla="*/ 9 h 24"/>
                            <a:gd name="T60" fmla="*/ 23 w 32"/>
                            <a:gd name="T61" fmla="*/ 8 h 24"/>
                            <a:gd name="T62" fmla="*/ 26 w 32"/>
                            <a:gd name="T63" fmla="*/ 6 h 24"/>
                            <a:gd name="T64" fmla="*/ 28 w 32"/>
                            <a:gd name="T65" fmla="*/ 5 h 24"/>
                            <a:gd name="T66" fmla="*/ 31 w 32"/>
                            <a:gd name="T67" fmla="*/ 4 h 24"/>
                            <a:gd name="T68" fmla="*/ 24 w 32"/>
                            <a:gd name="T69" fmla="*/ 1 h 24"/>
                            <a:gd name="T70" fmla="*/ 19 w 32"/>
                            <a:gd name="T71" fmla="*/ 0 h 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2" h="24">
                              <a:moveTo>
                                <a:pt x="19" y="0"/>
                              </a:moveTo>
                              <a:lnTo>
                                <a:pt x="18" y="0"/>
                              </a:lnTo>
                              <a:lnTo>
                                <a:pt x="16" y="1"/>
                              </a:lnTo>
                              <a:lnTo>
                                <a:pt x="13" y="1"/>
                              </a:lnTo>
                              <a:lnTo>
                                <a:pt x="8" y="2"/>
                              </a:lnTo>
                              <a:lnTo>
                                <a:pt x="5" y="2"/>
                              </a:lnTo>
                              <a:lnTo>
                                <a:pt x="6" y="5"/>
                              </a:lnTo>
                              <a:lnTo>
                                <a:pt x="5" y="8"/>
                              </a:lnTo>
                              <a:lnTo>
                                <a:pt x="4" y="10"/>
                              </a:lnTo>
                              <a:lnTo>
                                <a:pt x="2" y="12"/>
                              </a:lnTo>
                              <a:lnTo>
                                <a:pt x="0" y="15"/>
                              </a:lnTo>
                              <a:lnTo>
                                <a:pt x="0" y="18"/>
                              </a:lnTo>
                              <a:lnTo>
                                <a:pt x="2" y="17"/>
                              </a:lnTo>
                              <a:lnTo>
                                <a:pt x="4" y="18"/>
                              </a:lnTo>
                              <a:lnTo>
                                <a:pt x="6" y="19"/>
                              </a:lnTo>
                              <a:lnTo>
                                <a:pt x="6" y="20"/>
                              </a:lnTo>
                              <a:lnTo>
                                <a:pt x="5" y="22"/>
                              </a:lnTo>
                              <a:lnTo>
                                <a:pt x="3" y="23"/>
                              </a:lnTo>
                              <a:lnTo>
                                <a:pt x="5" y="23"/>
                              </a:lnTo>
                              <a:lnTo>
                                <a:pt x="7" y="22"/>
                              </a:lnTo>
                              <a:lnTo>
                                <a:pt x="8" y="21"/>
                              </a:lnTo>
                              <a:lnTo>
                                <a:pt x="8" y="19"/>
                              </a:lnTo>
                              <a:lnTo>
                                <a:pt x="7" y="18"/>
                              </a:lnTo>
                              <a:lnTo>
                                <a:pt x="5" y="16"/>
                              </a:lnTo>
                              <a:lnTo>
                                <a:pt x="4" y="16"/>
                              </a:lnTo>
                              <a:lnTo>
                                <a:pt x="6" y="12"/>
                              </a:lnTo>
                              <a:lnTo>
                                <a:pt x="8" y="9"/>
                              </a:lnTo>
                              <a:lnTo>
                                <a:pt x="13" y="10"/>
                              </a:lnTo>
                              <a:lnTo>
                                <a:pt x="16" y="10"/>
                              </a:lnTo>
                              <a:lnTo>
                                <a:pt x="21" y="9"/>
                              </a:lnTo>
                              <a:lnTo>
                                <a:pt x="23" y="8"/>
                              </a:lnTo>
                              <a:lnTo>
                                <a:pt x="26" y="6"/>
                              </a:lnTo>
                              <a:lnTo>
                                <a:pt x="28" y="5"/>
                              </a:lnTo>
                              <a:lnTo>
                                <a:pt x="31" y="4"/>
                              </a:lnTo>
                              <a:lnTo>
                                <a:pt x="24" y="1"/>
                              </a:lnTo>
                              <a:lnTo>
                                <a:pt x="19" y="0"/>
                              </a:lnTo>
                            </a:path>
                          </a:pathLst>
                        </a:custGeom>
                        <a:solidFill>
                          <a:srgbClr val="FF8F6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10" name="Freeform 54"/>
                        <p:cNvSpPr>
                          <a:spLocks noChangeAspect="1"/>
                        </p:cNvSpPr>
                        <p:nvPr/>
                      </p:nvSpPr>
                      <p:spPr bwMode="auto">
                        <a:xfrm>
                          <a:off x="4972" y="2230"/>
                          <a:ext cx="5" cy="10"/>
                        </a:xfrm>
                        <a:custGeom>
                          <a:avLst/>
                          <a:gdLst>
                            <a:gd name="T0" fmla="*/ 0 w 5"/>
                            <a:gd name="T1" fmla="*/ 0 h 10"/>
                            <a:gd name="T2" fmla="*/ 1 w 5"/>
                            <a:gd name="T3" fmla="*/ 0 h 10"/>
                            <a:gd name="T4" fmla="*/ 2 w 5"/>
                            <a:gd name="T5" fmla="*/ 1 h 10"/>
                            <a:gd name="T6" fmla="*/ 3 w 5"/>
                            <a:gd name="T7" fmla="*/ 1 h 10"/>
                            <a:gd name="T8" fmla="*/ 4 w 5"/>
                            <a:gd name="T9" fmla="*/ 2 h 10"/>
                            <a:gd name="T10" fmla="*/ 4 w 5"/>
                            <a:gd name="T11" fmla="*/ 3 h 10"/>
                            <a:gd name="T12" fmla="*/ 4 w 5"/>
                            <a:gd name="T13" fmla="*/ 6 h 10"/>
                            <a:gd name="T14" fmla="*/ 3 w 5"/>
                            <a:gd name="T15" fmla="*/ 7 h 10"/>
                            <a:gd name="T16" fmla="*/ 2 w 5"/>
                            <a:gd name="T17" fmla="*/ 9 h 10"/>
                            <a:gd name="T18" fmla="*/ 3 w 5"/>
                            <a:gd name="T19" fmla="*/ 7 h 10"/>
                            <a:gd name="T20" fmla="*/ 2 w 5"/>
                            <a:gd name="T21" fmla="*/ 6 h 10"/>
                            <a:gd name="T22" fmla="*/ 2 w 5"/>
                            <a:gd name="T23" fmla="*/ 5 h 10"/>
                            <a:gd name="T24" fmla="*/ 2 w 5"/>
                            <a:gd name="T25" fmla="*/ 4 h 10"/>
                            <a:gd name="T26" fmla="*/ 1 w 5"/>
                            <a:gd name="T27" fmla="*/ 3 h 10"/>
                            <a:gd name="T28" fmla="*/ 0 w 5"/>
                            <a:gd name="T29" fmla="*/ 2 h 10"/>
                            <a:gd name="T30" fmla="*/ 0 w 5"/>
                            <a:gd name="T31" fmla="*/ 0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 h="10">
                              <a:moveTo>
                                <a:pt x="0" y="0"/>
                              </a:moveTo>
                              <a:lnTo>
                                <a:pt x="1" y="0"/>
                              </a:lnTo>
                              <a:lnTo>
                                <a:pt x="2" y="1"/>
                              </a:lnTo>
                              <a:lnTo>
                                <a:pt x="3" y="1"/>
                              </a:lnTo>
                              <a:lnTo>
                                <a:pt x="4" y="2"/>
                              </a:lnTo>
                              <a:lnTo>
                                <a:pt x="4" y="3"/>
                              </a:lnTo>
                              <a:lnTo>
                                <a:pt x="4" y="6"/>
                              </a:lnTo>
                              <a:lnTo>
                                <a:pt x="3" y="7"/>
                              </a:lnTo>
                              <a:lnTo>
                                <a:pt x="2" y="9"/>
                              </a:lnTo>
                              <a:lnTo>
                                <a:pt x="3" y="7"/>
                              </a:lnTo>
                              <a:lnTo>
                                <a:pt x="2" y="6"/>
                              </a:lnTo>
                              <a:lnTo>
                                <a:pt x="2" y="5"/>
                              </a:lnTo>
                              <a:lnTo>
                                <a:pt x="2" y="4"/>
                              </a:lnTo>
                              <a:lnTo>
                                <a:pt x="1" y="3"/>
                              </a:lnTo>
                              <a:lnTo>
                                <a:pt x="0" y="2"/>
                              </a:lnTo>
                              <a:lnTo>
                                <a:pt x="0" y="0"/>
                              </a:lnTo>
                            </a:path>
                          </a:pathLst>
                        </a:custGeom>
                        <a:solidFill>
                          <a:srgbClr val="FF8F6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604" name="Group 55"/>
                      <p:cNvGrpSpPr>
                        <a:grpSpLocks noChangeAspect="1"/>
                      </p:cNvGrpSpPr>
                      <p:nvPr/>
                    </p:nvGrpSpPr>
                    <p:grpSpPr bwMode="auto">
                      <a:xfrm>
                        <a:off x="4973" y="2251"/>
                        <a:ext cx="4" cy="9"/>
                        <a:chOff x="4973" y="2251"/>
                        <a:chExt cx="4" cy="9"/>
                      </a:xfrm>
                    </p:grpSpPr>
                    <p:sp>
                      <p:nvSpPr>
                        <p:cNvPr id="277605" name="Oval 56"/>
                        <p:cNvSpPr>
                          <a:spLocks noChangeAspect="1" noChangeArrowheads="1"/>
                        </p:cNvSpPr>
                        <p:nvPr/>
                      </p:nvSpPr>
                      <p:spPr bwMode="auto">
                        <a:xfrm>
                          <a:off x="4975" y="2251"/>
                          <a:ext cx="2" cy="1"/>
                        </a:xfrm>
                        <a:prstGeom prst="ellipse">
                          <a:avLst/>
                        </a:prstGeom>
                        <a:solidFill>
                          <a:srgbClr val="FF7F3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77606" name="Freeform 57"/>
                        <p:cNvSpPr>
                          <a:spLocks noChangeAspect="1"/>
                        </p:cNvSpPr>
                        <p:nvPr/>
                      </p:nvSpPr>
                      <p:spPr bwMode="auto">
                        <a:xfrm>
                          <a:off x="4974" y="2254"/>
                          <a:ext cx="2" cy="3"/>
                        </a:xfrm>
                        <a:custGeom>
                          <a:avLst/>
                          <a:gdLst>
                            <a:gd name="T0" fmla="*/ 0 w 2"/>
                            <a:gd name="T1" fmla="*/ 0 h 3"/>
                            <a:gd name="T2" fmla="*/ 0 w 2"/>
                            <a:gd name="T3" fmla="*/ 1 h 3"/>
                            <a:gd name="T4" fmla="*/ 0 w 2"/>
                            <a:gd name="T5" fmla="*/ 1 h 3"/>
                            <a:gd name="T6" fmla="*/ 1 w 2"/>
                            <a:gd name="T7" fmla="*/ 2 h 3"/>
                            <a:gd name="T8" fmla="*/ 1 w 2"/>
                            <a:gd name="T9" fmla="*/ 1 h 3"/>
                            <a:gd name="T10" fmla="*/ 1 w 2"/>
                            <a:gd name="T11" fmla="*/ 0 h 3"/>
                            <a:gd name="T12" fmla="*/ 1 w 2"/>
                            <a:gd name="T13" fmla="*/ 0 h 3"/>
                            <a:gd name="T14" fmla="*/ 0 w 2"/>
                            <a:gd name="T15" fmla="*/ 0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 h="3">
                              <a:moveTo>
                                <a:pt x="0" y="0"/>
                              </a:moveTo>
                              <a:lnTo>
                                <a:pt x="0" y="1"/>
                              </a:lnTo>
                              <a:lnTo>
                                <a:pt x="1" y="2"/>
                              </a:lnTo>
                              <a:lnTo>
                                <a:pt x="1" y="1"/>
                              </a:lnTo>
                              <a:lnTo>
                                <a:pt x="1" y="0"/>
                              </a:lnTo>
                              <a:lnTo>
                                <a:pt x="0" y="0"/>
                              </a:lnTo>
                            </a:path>
                          </a:pathLst>
                        </a:custGeom>
                        <a:solidFill>
                          <a:srgbClr val="FF7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607" name="Freeform 58"/>
                        <p:cNvSpPr>
                          <a:spLocks noChangeAspect="1"/>
                        </p:cNvSpPr>
                        <p:nvPr/>
                      </p:nvSpPr>
                      <p:spPr bwMode="auto">
                        <a:xfrm>
                          <a:off x="4973" y="2256"/>
                          <a:ext cx="1" cy="4"/>
                        </a:xfrm>
                        <a:custGeom>
                          <a:avLst/>
                          <a:gdLst>
                            <a:gd name="T0" fmla="*/ 0 w 1"/>
                            <a:gd name="T1" fmla="*/ 0 h 4"/>
                            <a:gd name="T2" fmla="*/ 0 w 1"/>
                            <a:gd name="T3" fmla="*/ 1 h 4"/>
                            <a:gd name="T4" fmla="*/ 0 w 1"/>
                            <a:gd name="T5" fmla="*/ 2 h 4"/>
                            <a:gd name="T6" fmla="*/ 0 w 1"/>
                            <a:gd name="T7" fmla="*/ 2 h 4"/>
                            <a:gd name="T8" fmla="*/ 0 w 1"/>
                            <a:gd name="T9" fmla="*/ 3 h 4"/>
                            <a:gd name="T10" fmla="*/ 0 w 1"/>
                            <a:gd name="T11" fmla="*/ 2 h 4"/>
                            <a:gd name="T12" fmla="*/ 0 w 1"/>
                            <a:gd name="T13" fmla="*/ 2 h 4"/>
                            <a:gd name="T14" fmla="*/ 0 w 1"/>
                            <a:gd name="T15" fmla="*/ 1 h 4"/>
                            <a:gd name="T16" fmla="*/ 0 w 1"/>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 h="4">
                              <a:moveTo>
                                <a:pt x="0" y="0"/>
                              </a:moveTo>
                              <a:lnTo>
                                <a:pt x="0" y="1"/>
                              </a:lnTo>
                              <a:lnTo>
                                <a:pt x="0" y="2"/>
                              </a:lnTo>
                              <a:lnTo>
                                <a:pt x="0" y="3"/>
                              </a:lnTo>
                              <a:lnTo>
                                <a:pt x="0" y="2"/>
                              </a:lnTo>
                              <a:lnTo>
                                <a:pt x="0" y="1"/>
                              </a:lnTo>
                              <a:lnTo>
                                <a:pt x="0" y="0"/>
                              </a:lnTo>
                            </a:path>
                          </a:pathLst>
                        </a:custGeom>
                        <a:solidFill>
                          <a:srgbClr val="FF7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277598" name="Freeform 59"/>
                  <p:cNvSpPr>
                    <a:spLocks noChangeAspect="1"/>
                  </p:cNvSpPr>
                  <p:nvPr/>
                </p:nvSpPr>
                <p:spPr bwMode="auto">
                  <a:xfrm>
                    <a:off x="4987" y="2228"/>
                    <a:ext cx="13" cy="3"/>
                  </a:xfrm>
                  <a:custGeom>
                    <a:avLst/>
                    <a:gdLst>
                      <a:gd name="T0" fmla="*/ 1 w 13"/>
                      <a:gd name="T1" fmla="*/ 1 h 3"/>
                      <a:gd name="T2" fmla="*/ 0 w 13"/>
                      <a:gd name="T3" fmla="*/ 1 h 3"/>
                      <a:gd name="T4" fmla="*/ 2 w 13"/>
                      <a:gd name="T5" fmla="*/ 1 h 3"/>
                      <a:gd name="T6" fmla="*/ 5 w 13"/>
                      <a:gd name="T7" fmla="*/ 0 h 3"/>
                      <a:gd name="T8" fmla="*/ 8 w 13"/>
                      <a:gd name="T9" fmla="*/ 1 h 3"/>
                      <a:gd name="T10" fmla="*/ 10 w 13"/>
                      <a:gd name="T11" fmla="*/ 1 h 3"/>
                      <a:gd name="T12" fmla="*/ 12 w 13"/>
                      <a:gd name="T13" fmla="*/ 2 h 3"/>
                      <a:gd name="T14" fmla="*/ 10 w 13"/>
                      <a:gd name="T15" fmla="*/ 1 h 3"/>
                      <a:gd name="T16" fmla="*/ 8 w 13"/>
                      <a:gd name="T17" fmla="*/ 0 h 3"/>
                      <a:gd name="T18" fmla="*/ 6 w 13"/>
                      <a:gd name="T19" fmla="*/ 0 h 3"/>
                      <a:gd name="T20" fmla="*/ 4 w 13"/>
                      <a:gd name="T21" fmla="*/ 0 h 3"/>
                      <a:gd name="T22" fmla="*/ 2 w 13"/>
                      <a:gd name="T23" fmla="*/ 0 h 3"/>
                      <a:gd name="T24" fmla="*/ 1 w 13"/>
                      <a:gd name="T25" fmla="*/ 1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3">
                        <a:moveTo>
                          <a:pt x="1" y="1"/>
                        </a:moveTo>
                        <a:lnTo>
                          <a:pt x="0" y="1"/>
                        </a:lnTo>
                        <a:lnTo>
                          <a:pt x="2" y="1"/>
                        </a:lnTo>
                        <a:lnTo>
                          <a:pt x="5" y="0"/>
                        </a:lnTo>
                        <a:lnTo>
                          <a:pt x="8" y="1"/>
                        </a:lnTo>
                        <a:lnTo>
                          <a:pt x="10" y="1"/>
                        </a:lnTo>
                        <a:lnTo>
                          <a:pt x="12" y="2"/>
                        </a:lnTo>
                        <a:lnTo>
                          <a:pt x="10" y="1"/>
                        </a:lnTo>
                        <a:lnTo>
                          <a:pt x="8" y="0"/>
                        </a:lnTo>
                        <a:lnTo>
                          <a:pt x="6" y="0"/>
                        </a:lnTo>
                        <a:lnTo>
                          <a:pt x="4" y="0"/>
                        </a:lnTo>
                        <a:lnTo>
                          <a:pt x="2" y="0"/>
                        </a:lnTo>
                        <a:lnTo>
                          <a:pt x="1" y="1"/>
                        </a:lnTo>
                      </a:path>
                    </a:pathLst>
                  </a:custGeom>
                  <a:solidFill>
                    <a:srgbClr val="FF9F7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50" name="Group 60"/>
                <p:cNvGrpSpPr>
                  <a:grpSpLocks noChangeAspect="1"/>
                </p:cNvGrpSpPr>
                <p:nvPr/>
              </p:nvGrpSpPr>
              <p:grpSpPr bwMode="auto">
                <a:xfrm>
                  <a:off x="4973" y="2230"/>
                  <a:ext cx="26" cy="39"/>
                  <a:chOff x="4973" y="2230"/>
                  <a:chExt cx="26" cy="39"/>
                </a:xfrm>
              </p:grpSpPr>
              <p:grpSp>
                <p:nvGrpSpPr>
                  <p:cNvPr id="277573" name="Group 61"/>
                  <p:cNvGrpSpPr>
                    <a:grpSpLocks noChangeAspect="1"/>
                  </p:cNvGrpSpPr>
                  <p:nvPr/>
                </p:nvGrpSpPr>
                <p:grpSpPr bwMode="auto">
                  <a:xfrm>
                    <a:off x="4976" y="2261"/>
                    <a:ext cx="16" cy="8"/>
                    <a:chOff x="4976" y="2261"/>
                    <a:chExt cx="16" cy="8"/>
                  </a:xfrm>
                </p:grpSpPr>
                <p:sp>
                  <p:nvSpPr>
                    <p:cNvPr id="277594" name="Freeform 62"/>
                    <p:cNvSpPr>
                      <a:spLocks noChangeAspect="1"/>
                    </p:cNvSpPr>
                    <p:nvPr/>
                  </p:nvSpPr>
                  <p:spPr bwMode="auto">
                    <a:xfrm>
                      <a:off x="4976" y="2261"/>
                      <a:ext cx="16" cy="8"/>
                    </a:xfrm>
                    <a:custGeom>
                      <a:avLst/>
                      <a:gdLst>
                        <a:gd name="T0" fmla="*/ 0 w 16"/>
                        <a:gd name="T1" fmla="*/ 0 h 8"/>
                        <a:gd name="T2" fmla="*/ 1 w 16"/>
                        <a:gd name="T3" fmla="*/ 0 h 8"/>
                        <a:gd name="T4" fmla="*/ 3 w 16"/>
                        <a:gd name="T5" fmla="*/ 0 h 8"/>
                        <a:gd name="T6" fmla="*/ 5 w 16"/>
                        <a:gd name="T7" fmla="*/ 0 h 8"/>
                        <a:gd name="T8" fmla="*/ 8 w 16"/>
                        <a:gd name="T9" fmla="*/ 1 h 8"/>
                        <a:gd name="T10" fmla="*/ 15 w 16"/>
                        <a:gd name="T11" fmla="*/ 2 h 8"/>
                        <a:gd name="T12" fmla="*/ 11 w 16"/>
                        <a:gd name="T13" fmla="*/ 3 h 8"/>
                        <a:gd name="T14" fmla="*/ 8 w 16"/>
                        <a:gd name="T15" fmla="*/ 5 h 8"/>
                        <a:gd name="T16" fmla="*/ 5 w 16"/>
                        <a:gd name="T17" fmla="*/ 6 h 8"/>
                        <a:gd name="T18" fmla="*/ 3 w 16"/>
                        <a:gd name="T19" fmla="*/ 7 h 8"/>
                        <a:gd name="T20" fmla="*/ 2 w 16"/>
                        <a:gd name="T21" fmla="*/ 7 h 8"/>
                        <a:gd name="T22" fmla="*/ 1 w 16"/>
                        <a:gd name="T23" fmla="*/ 7 h 8"/>
                        <a:gd name="T24" fmla="*/ 1 w 16"/>
                        <a:gd name="T25" fmla="*/ 5 h 8"/>
                        <a:gd name="T26" fmla="*/ 1 w 16"/>
                        <a:gd name="T27" fmla="*/ 4 h 8"/>
                        <a:gd name="T28" fmla="*/ 2 w 16"/>
                        <a:gd name="T29" fmla="*/ 3 h 8"/>
                        <a:gd name="T30" fmla="*/ 1 w 16"/>
                        <a:gd name="T31" fmla="*/ 3 h 8"/>
                        <a:gd name="T32" fmla="*/ 0 w 16"/>
                        <a:gd name="T33" fmla="*/ 2 h 8"/>
                        <a:gd name="T34" fmla="*/ 0 w 16"/>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 h="8">
                          <a:moveTo>
                            <a:pt x="0" y="0"/>
                          </a:moveTo>
                          <a:lnTo>
                            <a:pt x="1" y="0"/>
                          </a:lnTo>
                          <a:lnTo>
                            <a:pt x="3" y="0"/>
                          </a:lnTo>
                          <a:lnTo>
                            <a:pt x="5" y="0"/>
                          </a:lnTo>
                          <a:lnTo>
                            <a:pt x="8" y="1"/>
                          </a:lnTo>
                          <a:lnTo>
                            <a:pt x="15" y="2"/>
                          </a:lnTo>
                          <a:lnTo>
                            <a:pt x="11" y="3"/>
                          </a:lnTo>
                          <a:lnTo>
                            <a:pt x="8" y="5"/>
                          </a:lnTo>
                          <a:lnTo>
                            <a:pt x="5" y="6"/>
                          </a:lnTo>
                          <a:lnTo>
                            <a:pt x="3" y="7"/>
                          </a:lnTo>
                          <a:lnTo>
                            <a:pt x="2" y="7"/>
                          </a:lnTo>
                          <a:lnTo>
                            <a:pt x="1" y="7"/>
                          </a:lnTo>
                          <a:lnTo>
                            <a:pt x="1" y="5"/>
                          </a:lnTo>
                          <a:lnTo>
                            <a:pt x="1" y="4"/>
                          </a:lnTo>
                          <a:lnTo>
                            <a:pt x="2" y="3"/>
                          </a:lnTo>
                          <a:lnTo>
                            <a:pt x="1" y="3"/>
                          </a:lnTo>
                          <a:lnTo>
                            <a:pt x="0" y="2"/>
                          </a:lnTo>
                          <a:lnTo>
                            <a:pt x="0" y="0"/>
                          </a:lnTo>
                        </a:path>
                      </a:pathLst>
                    </a:custGeom>
                    <a:solidFill>
                      <a:srgbClr val="FF00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95" name="Freeform 63"/>
                    <p:cNvSpPr>
                      <a:spLocks noChangeAspect="1"/>
                    </p:cNvSpPr>
                    <p:nvPr/>
                  </p:nvSpPr>
                  <p:spPr bwMode="auto">
                    <a:xfrm>
                      <a:off x="4977" y="2263"/>
                      <a:ext cx="15" cy="2"/>
                    </a:xfrm>
                    <a:custGeom>
                      <a:avLst/>
                      <a:gdLst>
                        <a:gd name="T0" fmla="*/ 0 w 15"/>
                        <a:gd name="T1" fmla="*/ 1 h 2"/>
                        <a:gd name="T2" fmla="*/ 2 w 15"/>
                        <a:gd name="T3" fmla="*/ 1 h 2"/>
                        <a:gd name="T4" fmla="*/ 4 w 15"/>
                        <a:gd name="T5" fmla="*/ 1 h 2"/>
                        <a:gd name="T6" fmla="*/ 6 w 15"/>
                        <a:gd name="T7" fmla="*/ 0 h 2"/>
                        <a:gd name="T8" fmla="*/ 8 w 15"/>
                        <a:gd name="T9" fmla="*/ 1 h 2"/>
                        <a:gd name="T10" fmla="*/ 12 w 15"/>
                        <a:gd name="T11" fmla="*/ 0 h 2"/>
                        <a:gd name="T12" fmla="*/ 14 w 15"/>
                        <a:gd name="T13" fmla="*/ 0 h 2"/>
                        <a:gd name="T14" fmla="*/ 13 w 15"/>
                        <a:gd name="T15" fmla="*/ 0 h 2"/>
                        <a:gd name="T16" fmla="*/ 9 w 15"/>
                        <a:gd name="T17" fmla="*/ 0 h 2"/>
                        <a:gd name="T18" fmla="*/ 8 w 15"/>
                        <a:gd name="T19" fmla="*/ 0 h 2"/>
                        <a:gd name="T20" fmla="*/ 5 w 15"/>
                        <a:gd name="T21" fmla="*/ 0 h 2"/>
                        <a:gd name="T22" fmla="*/ 2 w 15"/>
                        <a:gd name="T23" fmla="*/ 0 h 2"/>
                        <a:gd name="T24" fmla="*/ 0 w 15"/>
                        <a:gd name="T25" fmla="*/ 0 h 2"/>
                        <a:gd name="T26" fmla="*/ 1 w 15"/>
                        <a:gd name="T27" fmla="*/ 1 h 2"/>
                        <a:gd name="T28" fmla="*/ 0 w 15"/>
                        <a:gd name="T29" fmla="*/ 1 h 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5" h="2">
                          <a:moveTo>
                            <a:pt x="0" y="1"/>
                          </a:moveTo>
                          <a:lnTo>
                            <a:pt x="2" y="1"/>
                          </a:lnTo>
                          <a:lnTo>
                            <a:pt x="4" y="1"/>
                          </a:lnTo>
                          <a:lnTo>
                            <a:pt x="6" y="0"/>
                          </a:lnTo>
                          <a:lnTo>
                            <a:pt x="8" y="1"/>
                          </a:lnTo>
                          <a:lnTo>
                            <a:pt x="12" y="0"/>
                          </a:lnTo>
                          <a:lnTo>
                            <a:pt x="14" y="0"/>
                          </a:lnTo>
                          <a:lnTo>
                            <a:pt x="13" y="0"/>
                          </a:lnTo>
                          <a:lnTo>
                            <a:pt x="9" y="0"/>
                          </a:lnTo>
                          <a:lnTo>
                            <a:pt x="8" y="0"/>
                          </a:lnTo>
                          <a:lnTo>
                            <a:pt x="5" y="0"/>
                          </a:lnTo>
                          <a:lnTo>
                            <a:pt x="2" y="0"/>
                          </a:lnTo>
                          <a:lnTo>
                            <a:pt x="0" y="0"/>
                          </a:lnTo>
                          <a:lnTo>
                            <a:pt x="1" y="1"/>
                          </a:lnTo>
                          <a:lnTo>
                            <a:pt x="0" y="1"/>
                          </a:lnTo>
                        </a:path>
                      </a:pathLst>
                    </a:custGeom>
                    <a:solidFill>
                      <a:srgbClr val="8000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96" name="Freeform 64"/>
                    <p:cNvSpPr>
                      <a:spLocks noChangeAspect="1"/>
                    </p:cNvSpPr>
                    <p:nvPr/>
                  </p:nvSpPr>
                  <p:spPr bwMode="auto">
                    <a:xfrm>
                      <a:off x="4979" y="2265"/>
                      <a:ext cx="4" cy="2"/>
                    </a:xfrm>
                    <a:custGeom>
                      <a:avLst/>
                      <a:gdLst>
                        <a:gd name="T0" fmla="*/ 0 w 4"/>
                        <a:gd name="T1" fmla="*/ 0 h 2"/>
                        <a:gd name="T2" fmla="*/ 0 w 4"/>
                        <a:gd name="T3" fmla="*/ 1 h 2"/>
                        <a:gd name="T4" fmla="*/ 0 w 4"/>
                        <a:gd name="T5" fmla="*/ 1 h 2"/>
                        <a:gd name="T6" fmla="*/ 1 w 4"/>
                        <a:gd name="T7" fmla="*/ 1 h 2"/>
                        <a:gd name="T8" fmla="*/ 1 w 4"/>
                        <a:gd name="T9" fmla="*/ 1 h 2"/>
                        <a:gd name="T10" fmla="*/ 2 w 4"/>
                        <a:gd name="T11" fmla="*/ 0 h 2"/>
                        <a:gd name="T12" fmla="*/ 3 w 4"/>
                        <a:gd name="T13" fmla="*/ 0 h 2"/>
                        <a:gd name="T14" fmla="*/ 2 w 4"/>
                        <a:gd name="T15" fmla="*/ 0 h 2"/>
                        <a:gd name="T16" fmla="*/ 1 w 4"/>
                        <a:gd name="T17" fmla="*/ 0 h 2"/>
                        <a:gd name="T18" fmla="*/ 0 w 4"/>
                        <a:gd name="T19" fmla="*/ 0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 h="2">
                          <a:moveTo>
                            <a:pt x="0" y="0"/>
                          </a:moveTo>
                          <a:lnTo>
                            <a:pt x="0" y="1"/>
                          </a:lnTo>
                          <a:lnTo>
                            <a:pt x="1" y="1"/>
                          </a:lnTo>
                          <a:lnTo>
                            <a:pt x="2" y="0"/>
                          </a:lnTo>
                          <a:lnTo>
                            <a:pt x="3" y="0"/>
                          </a:lnTo>
                          <a:lnTo>
                            <a:pt x="2" y="0"/>
                          </a:lnTo>
                          <a:lnTo>
                            <a:pt x="1" y="0"/>
                          </a:lnTo>
                          <a:lnTo>
                            <a:pt x="0" y="0"/>
                          </a:lnTo>
                        </a:path>
                      </a:pathLst>
                    </a:custGeom>
                    <a:solidFill>
                      <a:srgbClr val="FF1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74" name="Group 65"/>
                  <p:cNvGrpSpPr>
                    <a:grpSpLocks noChangeAspect="1"/>
                  </p:cNvGrpSpPr>
                  <p:nvPr/>
                </p:nvGrpSpPr>
                <p:grpSpPr bwMode="auto">
                  <a:xfrm>
                    <a:off x="4973" y="2230"/>
                    <a:ext cx="26" cy="7"/>
                    <a:chOff x="4973" y="2230"/>
                    <a:chExt cx="26" cy="7"/>
                  </a:xfrm>
                </p:grpSpPr>
                <p:grpSp>
                  <p:nvGrpSpPr>
                    <p:cNvPr id="277575" name="Group 66"/>
                    <p:cNvGrpSpPr>
                      <a:grpSpLocks noChangeAspect="1"/>
                    </p:cNvGrpSpPr>
                    <p:nvPr/>
                  </p:nvGrpSpPr>
                  <p:grpSpPr bwMode="auto">
                    <a:xfrm>
                      <a:off x="4986" y="2230"/>
                      <a:ext cx="13" cy="6"/>
                      <a:chOff x="4986" y="2230"/>
                      <a:chExt cx="13" cy="6"/>
                    </a:xfrm>
                  </p:grpSpPr>
                  <p:sp>
                    <p:nvSpPr>
                      <p:cNvPr id="277585" name="Freeform 67"/>
                      <p:cNvSpPr>
                        <a:spLocks noChangeAspect="1"/>
                      </p:cNvSpPr>
                      <p:nvPr/>
                    </p:nvSpPr>
                    <p:spPr bwMode="auto">
                      <a:xfrm>
                        <a:off x="4987" y="2232"/>
                        <a:ext cx="11" cy="3"/>
                      </a:xfrm>
                      <a:custGeom>
                        <a:avLst/>
                        <a:gdLst>
                          <a:gd name="T0" fmla="*/ 2 w 11"/>
                          <a:gd name="T1" fmla="*/ 0 h 3"/>
                          <a:gd name="T2" fmla="*/ 4 w 11"/>
                          <a:gd name="T3" fmla="*/ 0 h 3"/>
                          <a:gd name="T4" fmla="*/ 7 w 11"/>
                          <a:gd name="T5" fmla="*/ 0 h 3"/>
                          <a:gd name="T6" fmla="*/ 10 w 11"/>
                          <a:gd name="T7" fmla="*/ 1 h 3"/>
                          <a:gd name="T8" fmla="*/ 9 w 11"/>
                          <a:gd name="T9" fmla="*/ 1 h 3"/>
                          <a:gd name="T10" fmla="*/ 7 w 11"/>
                          <a:gd name="T11" fmla="*/ 1 h 3"/>
                          <a:gd name="T12" fmla="*/ 5 w 11"/>
                          <a:gd name="T13" fmla="*/ 2 h 3"/>
                          <a:gd name="T14" fmla="*/ 1 w 11"/>
                          <a:gd name="T15" fmla="*/ 2 h 3"/>
                          <a:gd name="T16" fmla="*/ 0 w 11"/>
                          <a:gd name="T17" fmla="*/ 1 h 3"/>
                          <a:gd name="T18" fmla="*/ 0 w 11"/>
                          <a:gd name="T19" fmla="*/ 1 h 3"/>
                          <a:gd name="T20" fmla="*/ 2 w 11"/>
                          <a:gd name="T21" fmla="*/ 0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 h="3">
                            <a:moveTo>
                              <a:pt x="2" y="0"/>
                            </a:moveTo>
                            <a:lnTo>
                              <a:pt x="4" y="0"/>
                            </a:lnTo>
                            <a:lnTo>
                              <a:pt x="7" y="0"/>
                            </a:lnTo>
                            <a:lnTo>
                              <a:pt x="10" y="1"/>
                            </a:lnTo>
                            <a:lnTo>
                              <a:pt x="9" y="1"/>
                            </a:lnTo>
                            <a:lnTo>
                              <a:pt x="7" y="1"/>
                            </a:lnTo>
                            <a:lnTo>
                              <a:pt x="5" y="2"/>
                            </a:lnTo>
                            <a:lnTo>
                              <a:pt x="1" y="2"/>
                            </a:lnTo>
                            <a:lnTo>
                              <a:pt x="0" y="1"/>
                            </a:lnTo>
                            <a:lnTo>
                              <a:pt x="2" y="0"/>
                            </a:lnTo>
                          </a:path>
                        </a:pathLst>
                      </a:custGeom>
                      <a:solidFill>
                        <a:srgbClr val="FFFFF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86" name="Oval 68"/>
                      <p:cNvSpPr>
                        <a:spLocks noChangeAspect="1" noChangeArrowheads="1"/>
                      </p:cNvSpPr>
                      <p:nvPr/>
                    </p:nvSpPr>
                    <p:spPr bwMode="auto">
                      <a:xfrm flipV="1">
                        <a:off x="4989" y="2233"/>
                        <a:ext cx="2" cy="1"/>
                      </a:xfrm>
                      <a:prstGeom prst="ellipse">
                        <a:avLst/>
                      </a:prstGeom>
                      <a:solidFill>
                        <a:srgbClr val="00008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nvGrpSpPr>
                      <p:cNvPr id="277587" name="Group 69"/>
                      <p:cNvGrpSpPr>
                        <a:grpSpLocks noChangeAspect="1"/>
                      </p:cNvGrpSpPr>
                      <p:nvPr/>
                    </p:nvGrpSpPr>
                    <p:grpSpPr bwMode="auto">
                      <a:xfrm>
                        <a:off x="4987" y="2232"/>
                        <a:ext cx="6" cy="2"/>
                        <a:chOff x="4987" y="2232"/>
                        <a:chExt cx="6" cy="2"/>
                      </a:xfrm>
                    </p:grpSpPr>
                    <p:sp>
                      <p:nvSpPr>
                        <p:cNvPr id="277592" name="Oval 70"/>
                        <p:cNvSpPr>
                          <a:spLocks noChangeAspect="1" noChangeArrowheads="1"/>
                        </p:cNvSpPr>
                        <p:nvPr/>
                      </p:nvSpPr>
                      <p:spPr bwMode="auto">
                        <a:xfrm>
                          <a:off x="4987" y="2232"/>
                          <a:ext cx="6" cy="2"/>
                        </a:xfrm>
                        <a:prstGeom prst="ellipse">
                          <a:avLst/>
                        </a:prstGeom>
                        <a:solidFill>
                          <a:srgbClr val="001F9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77593" name="Oval 71"/>
                        <p:cNvSpPr>
                          <a:spLocks noChangeAspect="1" noChangeArrowheads="1"/>
                        </p:cNvSpPr>
                        <p:nvPr/>
                      </p:nvSpPr>
                      <p:spPr bwMode="auto">
                        <a:xfrm>
                          <a:off x="4989" y="2233"/>
                          <a:ext cx="2" cy="1"/>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sp>
                    <p:nvSpPr>
                      <p:cNvPr id="277588" name="Oval 72"/>
                      <p:cNvSpPr>
                        <a:spLocks noChangeAspect="1" noChangeArrowheads="1"/>
                      </p:cNvSpPr>
                      <p:nvPr/>
                    </p:nvSpPr>
                    <p:spPr bwMode="auto">
                      <a:xfrm flipH="1" flipV="1">
                        <a:off x="4989" y="2230"/>
                        <a:ext cx="2" cy="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nvGrpSpPr>
                      <p:cNvPr id="277589" name="Group 73"/>
                      <p:cNvGrpSpPr>
                        <a:grpSpLocks noChangeAspect="1"/>
                      </p:cNvGrpSpPr>
                      <p:nvPr/>
                    </p:nvGrpSpPr>
                    <p:grpSpPr bwMode="auto">
                      <a:xfrm>
                        <a:off x="4986" y="2231"/>
                        <a:ext cx="13" cy="5"/>
                        <a:chOff x="4986" y="2231"/>
                        <a:chExt cx="13" cy="5"/>
                      </a:xfrm>
                    </p:grpSpPr>
                    <p:sp>
                      <p:nvSpPr>
                        <p:cNvPr id="277590" name="Freeform 74"/>
                        <p:cNvSpPr>
                          <a:spLocks noChangeAspect="1"/>
                        </p:cNvSpPr>
                        <p:nvPr/>
                      </p:nvSpPr>
                      <p:spPr bwMode="auto">
                        <a:xfrm>
                          <a:off x="4986" y="2231"/>
                          <a:ext cx="13" cy="2"/>
                        </a:xfrm>
                        <a:custGeom>
                          <a:avLst/>
                          <a:gdLst>
                            <a:gd name="T0" fmla="*/ 0 w 13"/>
                            <a:gd name="T1" fmla="*/ 0 h 2"/>
                            <a:gd name="T2" fmla="*/ 2 w 13"/>
                            <a:gd name="T3" fmla="*/ 1 h 2"/>
                            <a:gd name="T4" fmla="*/ 2 w 13"/>
                            <a:gd name="T5" fmla="*/ 1 h 2"/>
                            <a:gd name="T6" fmla="*/ 4 w 13"/>
                            <a:gd name="T7" fmla="*/ 0 h 2"/>
                            <a:gd name="T8" fmla="*/ 5 w 13"/>
                            <a:gd name="T9" fmla="*/ 0 h 2"/>
                            <a:gd name="T10" fmla="*/ 6 w 13"/>
                            <a:gd name="T11" fmla="*/ 0 h 2"/>
                            <a:gd name="T12" fmla="*/ 8 w 13"/>
                            <a:gd name="T13" fmla="*/ 0 h 2"/>
                            <a:gd name="T14" fmla="*/ 9 w 13"/>
                            <a:gd name="T15" fmla="*/ 1 h 2"/>
                            <a:gd name="T16" fmla="*/ 10 w 13"/>
                            <a:gd name="T17" fmla="*/ 1 h 2"/>
                            <a:gd name="T18" fmla="*/ 11 w 13"/>
                            <a:gd name="T19" fmla="*/ 1 h 2"/>
                            <a:gd name="T20" fmla="*/ 12 w 13"/>
                            <a:gd name="T21" fmla="*/ 1 h 2"/>
                            <a:gd name="T22" fmla="*/ 11 w 13"/>
                            <a:gd name="T23" fmla="*/ 1 h 2"/>
                            <a:gd name="T24" fmla="*/ 9 w 13"/>
                            <a:gd name="T25" fmla="*/ 1 h 2"/>
                            <a:gd name="T26" fmla="*/ 8 w 13"/>
                            <a:gd name="T27" fmla="*/ 0 h 2"/>
                            <a:gd name="T28" fmla="*/ 7 w 13"/>
                            <a:gd name="T29" fmla="*/ 0 h 2"/>
                            <a:gd name="T30" fmla="*/ 5 w 13"/>
                            <a:gd name="T31" fmla="*/ 0 h 2"/>
                            <a:gd name="T32" fmla="*/ 4 w 13"/>
                            <a:gd name="T33" fmla="*/ 0 h 2"/>
                            <a:gd name="T34" fmla="*/ 2 w 13"/>
                            <a:gd name="T35" fmla="*/ 0 h 2"/>
                            <a:gd name="T36" fmla="*/ 0 w 13"/>
                            <a:gd name="T37" fmla="*/ 0 h 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 h="2">
                              <a:moveTo>
                                <a:pt x="0" y="0"/>
                              </a:moveTo>
                              <a:lnTo>
                                <a:pt x="2" y="1"/>
                              </a:lnTo>
                              <a:lnTo>
                                <a:pt x="4" y="0"/>
                              </a:lnTo>
                              <a:lnTo>
                                <a:pt x="5" y="0"/>
                              </a:lnTo>
                              <a:lnTo>
                                <a:pt x="6" y="0"/>
                              </a:lnTo>
                              <a:lnTo>
                                <a:pt x="8" y="0"/>
                              </a:lnTo>
                              <a:lnTo>
                                <a:pt x="9" y="1"/>
                              </a:lnTo>
                              <a:lnTo>
                                <a:pt x="10" y="1"/>
                              </a:lnTo>
                              <a:lnTo>
                                <a:pt x="11" y="1"/>
                              </a:lnTo>
                              <a:lnTo>
                                <a:pt x="12" y="1"/>
                              </a:lnTo>
                              <a:lnTo>
                                <a:pt x="11" y="1"/>
                              </a:lnTo>
                              <a:lnTo>
                                <a:pt x="9" y="1"/>
                              </a:lnTo>
                              <a:lnTo>
                                <a:pt x="8" y="0"/>
                              </a:lnTo>
                              <a:lnTo>
                                <a:pt x="7" y="0"/>
                              </a:lnTo>
                              <a:lnTo>
                                <a:pt x="5" y="0"/>
                              </a:lnTo>
                              <a:lnTo>
                                <a:pt x="4" y="0"/>
                              </a:lnTo>
                              <a:lnTo>
                                <a:pt x="2" y="0"/>
                              </a:lnTo>
                              <a:lnTo>
                                <a:pt x="0" y="0"/>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91" name="Freeform 75"/>
                        <p:cNvSpPr>
                          <a:spLocks noChangeAspect="1"/>
                        </p:cNvSpPr>
                        <p:nvPr/>
                      </p:nvSpPr>
                      <p:spPr bwMode="auto">
                        <a:xfrm>
                          <a:off x="4987" y="2235"/>
                          <a:ext cx="10" cy="1"/>
                        </a:xfrm>
                        <a:custGeom>
                          <a:avLst/>
                          <a:gdLst>
                            <a:gd name="T0" fmla="*/ 0 w 10"/>
                            <a:gd name="T1" fmla="*/ 0 h 1"/>
                            <a:gd name="T2" fmla="*/ 2 w 10"/>
                            <a:gd name="T3" fmla="*/ 0 h 1"/>
                            <a:gd name="T4" fmla="*/ 3 w 10"/>
                            <a:gd name="T5" fmla="*/ 0 h 1"/>
                            <a:gd name="T6" fmla="*/ 5 w 10"/>
                            <a:gd name="T7" fmla="*/ 0 h 1"/>
                            <a:gd name="T8" fmla="*/ 6 w 10"/>
                            <a:gd name="T9" fmla="*/ 0 h 1"/>
                            <a:gd name="T10" fmla="*/ 7 w 10"/>
                            <a:gd name="T11" fmla="*/ 0 h 1"/>
                            <a:gd name="T12" fmla="*/ 8 w 10"/>
                            <a:gd name="T13" fmla="*/ 0 h 1"/>
                            <a:gd name="T14" fmla="*/ 9 w 10"/>
                            <a:gd name="T15" fmla="*/ 0 h 1"/>
                            <a:gd name="T16" fmla="*/ 7 w 10"/>
                            <a:gd name="T17" fmla="*/ 0 h 1"/>
                            <a:gd name="T18" fmla="*/ 6 w 10"/>
                            <a:gd name="T19" fmla="*/ 0 h 1"/>
                            <a:gd name="T20" fmla="*/ 5 w 10"/>
                            <a:gd name="T21" fmla="*/ 0 h 1"/>
                            <a:gd name="T22" fmla="*/ 4 w 10"/>
                            <a:gd name="T23" fmla="*/ 0 h 1"/>
                            <a:gd name="T24" fmla="*/ 3 w 10"/>
                            <a:gd name="T25" fmla="*/ 0 h 1"/>
                            <a:gd name="T26" fmla="*/ 3 w 10"/>
                            <a:gd name="T27" fmla="*/ 0 h 1"/>
                            <a:gd name="T28" fmla="*/ 0 w 10"/>
                            <a:gd name="T29" fmla="*/ 0 h 1"/>
                            <a:gd name="T30" fmla="*/ 1 w 10"/>
                            <a:gd name="T31" fmla="*/ 0 h 1"/>
                            <a:gd name="T32" fmla="*/ 0 w 10"/>
                            <a:gd name="T33" fmla="*/ 0 h 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 h="1">
                              <a:moveTo>
                                <a:pt x="0" y="0"/>
                              </a:moveTo>
                              <a:lnTo>
                                <a:pt x="2" y="0"/>
                              </a:lnTo>
                              <a:lnTo>
                                <a:pt x="3" y="0"/>
                              </a:lnTo>
                              <a:lnTo>
                                <a:pt x="5" y="0"/>
                              </a:lnTo>
                              <a:lnTo>
                                <a:pt x="6" y="0"/>
                              </a:lnTo>
                              <a:lnTo>
                                <a:pt x="7" y="0"/>
                              </a:lnTo>
                              <a:lnTo>
                                <a:pt x="8" y="0"/>
                              </a:lnTo>
                              <a:lnTo>
                                <a:pt x="9" y="0"/>
                              </a:lnTo>
                              <a:lnTo>
                                <a:pt x="7" y="0"/>
                              </a:lnTo>
                              <a:lnTo>
                                <a:pt x="6" y="0"/>
                              </a:lnTo>
                              <a:lnTo>
                                <a:pt x="5" y="0"/>
                              </a:lnTo>
                              <a:lnTo>
                                <a:pt x="4" y="0"/>
                              </a:lnTo>
                              <a:lnTo>
                                <a:pt x="3" y="0"/>
                              </a:lnTo>
                              <a:lnTo>
                                <a:pt x="0" y="0"/>
                              </a:lnTo>
                              <a:lnTo>
                                <a:pt x="1" y="0"/>
                              </a:lnTo>
                              <a:lnTo>
                                <a:pt x="0" y="0"/>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77576" name="Group 76"/>
                    <p:cNvGrpSpPr>
                      <a:grpSpLocks noChangeAspect="1"/>
                    </p:cNvGrpSpPr>
                    <p:nvPr/>
                  </p:nvGrpSpPr>
                  <p:grpSpPr bwMode="auto">
                    <a:xfrm>
                      <a:off x="4973" y="2232"/>
                      <a:ext cx="4" cy="5"/>
                      <a:chOff x="4973" y="2232"/>
                      <a:chExt cx="4" cy="5"/>
                    </a:xfrm>
                  </p:grpSpPr>
                  <p:sp>
                    <p:nvSpPr>
                      <p:cNvPr id="277577" name="Oval 77"/>
                      <p:cNvSpPr>
                        <a:spLocks noChangeAspect="1" noChangeArrowheads="1"/>
                      </p:cNvSpPr>
                      <p:nvPr/>
                    </p:nvSpPr>
                    <p:spPr bwMode="auto">
                      <a:xfrm flipH="1">
                        <a:off x="4975" y="2234"/>
                        <a:ext cx="1" cy="1"/>
                      </a:xfrm>
                      <a:prstGeom prst="ellipse">
                        <a:avLst/>
                      </a:prstGeom>
                      <a:solidFill>
                        <a:srgbClr val="00008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nvGrpSpPr>
                      <p:cNvPr id="277578" name="Group 78"/>
                      <p:cNvGrpSpPr>
                        <a:grpSpLocks noChangeAspect="1"/>
                      </p:cNvGrpSpPr>
                      <p:nvPr/>
                    </p:nvGrpSpPr>
                    <p:grpSpPr bwMode="auto">
                      <a:xfrm>
                        <a:off x="4975" y="2234"/>
                        <a:ext cx="2" cy="2"/>
                        <a:chOff x="4975" y="2234"/>
                        <a:chExt cx="2" cy="2"/>
                      </a:xfrm>
                    </p:grpSpPr>
                    <p:sp>
                      <p:nvSpPr>
                        <p:cNvPr id="277583" name="Freeform 79"/>
                        <p:cNvSpPr>
                          <a:spLocks noChangeAspect="1"/>
                        </p:cNvSpPr>
                        <p:nvPr/>
                      </p:nvSpPr>
                      <p:spPr bwMode="auto">
                        <a:xfrm>
                          <a:off x="4975" y="2234"/>
                          <a:ext cx="2" cy="2"/>
                        </a:xfrm>
                        <a:custGeom>
                          <a:avLst/>
                          <a:gdLst>
                            <a:gd name="T0" fmla="*/ 0 w 2"/>
                            <a:gd name="T1" fmla="*/ 0 h 2"/>
                            <a:gd name="T2" fmla="*/ 0 w 2"/>
                            <a:gd name="T3" fmla="*/ 0 h 2"/>
                            <a:gd name="T4" fmla="*/ 1 w 2"/>
                            <a:gd name="T5" fmla="*/ 0 h 2"/>
                            <a:gd name="T6" fmla="*/ 1 w 2"/>
                            <a:gd name="T7" fmla="*/ 0 h 2"/>
                            <a:gd name="T8" fmla="*/ 1 w 2"/>
                            <a:gd name="T9" fmla="*/ 0 h 2"/>
                            <a:gd name="T10" fmla="*/ 1 w 2"/>
                            <a:gd name="T11" fmla="*/ 1 h 2"/>
                            <a:gd name="T12" fmla="*/ 1 w 2"/>
                            <a:gd name="T13" fmla="*/ 1 h 2"/>
                            <a:gd name="T14" fmla="*/ 0 w 2"/>
                            <a:gd name="T15" fmla="*/ 1 h 2"/>
                            <a:gd name="T16" fmla="*/ 0 w 2"/>
                            <a:gd name="T17" fmla="*/ 1 h 2"/>
                            <a:gd name="T18" fmla="*/ 0 w 2"/>
                            <a:gd name="T19" fmla="*/ 0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 h="2">
                              <a:moveTo>
                                <a:pt x="0" y="0"/>
                              </a:moveTo>
                              <a:lnTo>
                                <a:pt x="0" y="0"/>
                              </a:lnTo>
                              <a:lnTo>
                                <a:pt x="1" y="0"/>
                              </a:lnTo>
                              <a:lnTo>
                                <a:pt x="1" y="1"/>
                              </a:lnTo>
                              <a:lnTo>
                                <a:pt x="0" y="1"/>
                              </a:lnTo>
                              <a:lnTo>
                                <a:pt x="0" y="0"/>
                              </a:lnTo>
                            </a:path>
                          </a:pathLst>
                        </a:custGeom>
                        <a:solidFill>
                          <a:srgbClr val="001F9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84" name="Oval 80"/>
                        <p:cNvSpPr>
                          <a:spLocks noChangeAspect="1" noChangeArrowheads="1"/>
                        </p:cNvSpPr>
                        <p:nvPr/>
                      </p:nvSpPr>
                      <p:spPr bwMode="auto">
                        <a:xfrm>
                          <a:off x="4975" y="2235"/>
                          <a:ext cx="1" cy="1"/>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sp>
                    <p:nvSpPr>
                      <p:cNvPr id="277579" name="Oval 81"/>
                      <p:cNvSpPr>
                        <a:spLocks noChangeAspect="1" noChangeArrowheads="1"/>
                      </p:cNvSpPr>
                      <p:nvPr/>
                    </p:nvSpPr>
                    <p:spPr bwMode="auto">
                      <a:xfrm flipH="1" flipV="1">
                        <a:off x="4975" y="2232"/>
                        <a:ext cx="1" cy="3"/>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nvGrpSpPr>
                      <p:cNvPr id="277580" name="Group 82"/>
                      <p:cNvGrpSpPr>
                        <a:grpSpLocks noChangeAspect="1"/>
                      </p:cNvGrpSpPr>
                      <p:nvPr/>
                    </p:nvGrpSpPr>
                    <p:grpSpPr bwMode="auto">
                      <a:xfrm>
                        <a:off x="4973" y="2233"/>
                        <a:ext cx="4" cy="4"/>
                        <a:chOff x="4973" y="2233"/>
                        <a:chExt cx="4" cy="4"/>
                      </a:xfrm>
                    </p:grpSpPr>
                    <p:sp>
                      <p:nvSpPr>
                        <p:cNvPr id="277581" name="Freeform 83"/>
                        <p:cNvSpPr>
                          <a:spLocks noChangeAspect="1"/>
                        </p:cNvSpPr>
                        <p:nvPr/>
                      </p:nvSpPr>
                      <p:spPr bwMode="auto">
                        <a:xfrm>
                          <a:off x="4976" y="2234"/>
                          <a:ext cx="1" cy="3"/>
                        </a:xfrm>
                        <a:custGeom>
                          <a:avLst/>
                          <a:gdLst>
                            <a:gd name="T0" fmla="*/ 0 w 1"/>
                            <a:gd name="T1" fmla="*/ 2 h 3"/>
                            <a:gd name="T2" fmla="*/ 0 w 1"/>
                            <a:gd name="T3" fmla="*/ 2 h 3"/>
                            <a:gd name="T4" fmla="*/ 0 w 1"/>
                            <a:gd name="T5" fmla="*/ 1 h 3"/>
                            <a:gd name="T6" fmla="*/ 0 w 1"/>
                            <a:gd name="T7" fmla="*/ 1 h 3"/>
                            <a:gd name="T8" fmla="*/ 0 w 1"/>
                            <a:gd name="T9" fmla="*/ 0 h 3"/>
                            <a:gd name="T10" fmla="*/ 0 w 1"/>
                            <a:gd name="T11" fmla="*/ 1 h 3"/>
                            <a:gd name="T12" fmla="*/ 0 w 1"/>
                            <a:gd name="T13" fmla="*/ 1 h 3"/>
                            <a:gd name="T14" fmla="*/ 0 w 1"/>
                            <a:gd name="T15" fmla="*/ 2 h 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 h="3">
                              <a:moveTo>
                                <a:pt x="0" y="2"/>
                              </a:moveTo>
                              <a:lnTo>
                                <a:pt x="0" y="2"/>
                              </a:lnTo>
                              <a:lnTo>
                                <a:pt x="0" y="1"/>
                              </a:lnTo>
                              <a:lnTo>
                                <a:pt x="0" y="0"/>
                              </a:lnTo>
                              <a:lnTo>
                                <a:pt x="0" y="1"/>
                              </a:lnTo>
                              <a:lnTo>
                                <a:pt x="0" y="2"/>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82" name="Freeform 84"/>
                        <p:cNvSpPr>
                          <a:spLocks noChangeAspect="1"/>
                        </p:cNvSpPr>
                        <p:nvPr/>
                      </p:nvSpPr>
                      <p:spPr bwMode="auto">
                        <a:xfrm>
                          <a:off x="4973" y="2233"/>
                          <a:ext cx="4" cy="2"/>
                        </a:xfrm>
                        <a:custGeom>
                          <a:avLst/>
                          <a:gdLst>
                            <a:gd name="T0" fmla="*/ 3 w 4"/>
                            <a:gd name="T1" fmla="*/ 1 h 2"/>
                            <a:gd name="T2" fmla="*/ 2 w 4"/>
                            <a:gd name="T3" fmla="*/ 1 h 2"/>
                            <a:gd name="T4" fmla="*/ 1 w 4"/>
                            <a:gd name="T5" fmla="*/ 1 h 2"/>
                            <a:gd name="T6" fmla="*/ 1 w 4"/>
                            <a:gd name="T7" fmla="*/ 1 h 2"/>
                            <a:gd name="T8" fmla="*/ 0 w 4"/>
                            <a:gd name="T9" fmla="*/ 0 h 2"/>
                            <a:gd name="T10" fmla="*/ 1 w 4"/>
                            <a:gd name="T11" fmla="*/ 0 h 2"/>
                            <a:gd name="T12" fmla="*/ 1 w 4"/>
                            <a:gd name="T13" fmla="*/ 0 h 2"/>
                            <a:gd name="T14" fmla="*/ 2 w 4"/>
                            <a:gd name="T15" fmla="*/ 1 h 2"/>
                            <a:gd name="T16" fmla="*/ 3 w 4"/>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 h="2">
                              <a:moveTo>
                                <a:pt x="3" y="1"/>
                              </a:moveTo>
                              <a:lnTo>
                                <a:pt x="2" y="1"/>
                              </a:lnTo>
                              <a:lnTo>
                                <a:pt x="1" y="1"/>
                              </a:lnTo>
                              <a:lnTo>
                                <a:pt x="0" y="0"/>
                              </a:lnTo>
                              <a:lnTo>
                                <a:pt x="1" y="0"/>
                              </a:lnTo>
                              <a:lnTo>
                                <a:pt x="2" y="1"/>
                              </a:lnTo>
                              <a:lnTo>
                                <a:pt x="3" y="1"/>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grpSp>
              <p:nvGrpSpPr>
                <p:cNvPr id="277551" name="Group 85"/>
                <p:cNvGrpSpPr>
                  <a:grpSpLocks noChangeAspect="1"/>
                </p:cNvGrpSpPr>
                <p:nvPr/>
              </p:nvGrpSpPr>
              <p:grpSpPr bwMode="auto">
                <a:xfrm>
                  <a:off x="4963" y="2176"/>
                  <a:ext cx="122" cy="122"/>
                  <a:chOff x="4963" y="2176"/>
                  <a:chExt cx="122" cy="122"/>
                </a:xfrm>
              </p:grpSpPr>
              <p:sp>
                <p:nvSpPr>
                  <p:cNvPr id="277565" name="Freeform 86"/>
                  <p:cNvSpPr>
                    <a:spLocks noChangeAspect="1"/>
                  </p:cNvSpPr>
                  <p:nvPr/>
                </p:nvSpPr>
                <p:spPr bwMode="auto">
                  <a:xfrm>
                    <a:off x="4983" y="2225"/>
                    <a:ext cx="21" cy="4"/>
                  </a:xfrm>
                  <a:custGeom>
                    <a:avLst/>
                    <a:gdLst>
                      <a:gd name="T0" fmla="*/ 0 w 21"/>
                      <a:gd name="T1" fmla="*/ 3 h 4"/>
                      <a:gd name="T2" fmla="*/ 0 w 21"/>
                      <a:gd name="T3" fmla="*/ 2 h 4"/>
                      <a:gd name="T4" fmla="*/ 1 w 21"/>
                      <a:gd name="T5" fmla="*/ 1 h 4"/>
                      <a:gd name="T6" fmla="*/ 2 w 21"/>
                      <a:gd name="T7" fmla="*/ 1 h 4"/>
                      <a:gd name="T8" fmla="*/ 5 w 21"/>
                      <a:gd name="T9" fmla="*/ 0 h 4"/>
                      <a:gd name="T10" fmla="*/ 9 w 21"/>
                      <a:gd name="T11" fmla="*/ 0 h 4"/>
                      <a:gd name="T12" fmla="*/ 13 w 21"/>
                      <a:gd name="T13" fmla="*/ 0 h 4"/>
                      <a:gd name="T14" fmla="*/ 16 w 21"/>
                      <a:gd name="T15" fmla="*/ 1 h 4"/>
                      <a:gd name="T16" fmla="*/ 18 w 21"/>
                      <a:gd name="T17" fmla="*/ 2 h 4"/>
                      <a:gd name="T18" fmla="*/ 20 w 21"/>
                      <a:gd name="T19" fmla="*/ 2 h 4"/>
                      <a:gd name="T20" fmla="*/ 18 w 21"/>
                      <a:gd name="T21" fmla="*/ 2 h 4"/>
                      <a:gd name="T22" fmla="*/ 17 w 21"/>
                      <a:gd name="T23" fmla="*/ 3 h 4"/>
                      <a:gd name="T24" fmla="*/ 15 w 21"/>
                      <a:gd name="T25" fmla="*/ 2 h 4"/>
                      <a:gd name="T26" fmla="*/ 12 w 21"/>
                      <a:gd name="T27" fmla="*/ 2 h 4"/>
                      <a:gd name="T28" fmla="*/ 8 w 21"/>
                      <a:gd name="T29" fmla="*/ 1 h 4"/>
                      <a:gd name="T30" fmla="*/ 4 w 21"/>
                      <a:gd name="T31" fmla="*/ 2 h 4"/>
                      <a:gd name="T32" fmla="*/ 2 w 21"/>
                      <a:gd name="T33" fmla="*/ 2 h 4"/>
                      <a:gd name="T34" fmla="*/ 1 w 21"/>
                      <a:gd name="T35" fmla="*/ 3 h 4"/>
                      <a:gd name="T36" fmla="*/ 0 w 21"/>
                      <a:gd name="T37" fmla="*/ 3 h 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 h="4">
                        <a:moveTo>
                          <a:pt x="0" y="3"/>
                        </a:moveTo>
                        <a:lnTo>
                          <a:pt x="0" y="2"/>
                        </a:lnTo>
                        <a:lnTo>
                          <a:pt x="1" y="1"/>
                        </a:lnTo>
                        <a:lnTo>
                          <a:pt x="2" y="1"/>
                        </a:lnTo>
                        <a:lnTo>
                          <a:pt x="5" y="0"/>
                        </a:lnTo>
                        <a:lnTo>
                          <a:pt x="9" y="0"/>
                        </a:lnTo>
                        <a:lnTo>
                          <a:pt x="13" y="0"/>
                        </a:lnTo>
                        <a:lnTo>
                          <a:pt x="16" y="1"/>
                        </a:lnTo>
                        <a:lnTo>
                          <a:pt x="18" y="2"/>
                        </a:lnTo>
                        <a:lnTo>
                          <a:pt x="20" y="2"/>
                        </a:lnTo>
                        <a:lnTo>
                          <a:pt x="18" y="2"/>
                        </a:lnTo>
                        <a:lnTo>
                          <a:pt x="17" y="3"/>
                        </a:lnTo>
                        <a:lnTo>
                          <a:pt x="15" y="2"/>
                        </a:lnTo>
                        <a:lnTo>
                          <a:pt x="12" y="2"/>
                        </a:lnTo>
                        <a:lnTo>
                          <a:pt x="8" y="1"/>
                        </a:lnTo>
                        <a:lnTo>
                          <a:pt x="4" y="2"/>
                        </a:lnTo>
                        <a:lnTo>
                          <a:pt x="2" y="2"/>
                        </a:lnTo>
                        <a:lnTo>
                          <a:pt x="1" y="3"/>
                        </a:lnTo>
                        <a:lnTo>
                          <a:pt x="0" y="3"/>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66" name="Freeform 87"/>
                  <p:cNvSpPr>
                    <a:spLocks noChangeAspect="1"/>
                  </p:cNvSpPr>
                  <p:nvPr/>
                </p:nvSpPr>
                <p:spPr bwMode="auto">
                  <a:xfrm>
                    <a:off x="4971" y="2228"/>
                    <a:ext cx="6" cy="3"/>
                  </a:xfrm>
                  <a:custGeom>
                    <a:avLst/>
                    <a:gdLst>
                      <a:gd name="T0" fmla="*/ 0 w 6"/>
                      <a:gd name="T1" fmla="*/ 0 h 3"/>
                      <a:gd name="T2" fmla="*/ 1 w 6"/>
                      <a:gd name="T3" fmla="*/ 0 h 3"/>
                      <a:gd name="T4" fmla="*/ 3 w 6"/>
                      <a:gd name="T5" fmla="*/ 0 h 3"/>
                      <a:gd name="T6" fmla="*/ 4 w 6"/>
                      <a:gd name="T7" fmla="*/ 1 h 3"/>
                      <a:gd name="T8" fmla="*/ 5 w 6"/>
                      <a:gd name="T9" fmla="*/ 2 h 3"/>
                      <a:gd name="T10" fmla="*/ 3 w 6"/>
                      <a:gd name="T11" fmla="*/ 1 h 3"/>
                      <a:gd name="T12" fmla="*/ 2 w 6"/>
                      <a:gd name="T13" fmla="*/ 1 h 3"/>
                      <a:gd name="T14" fmla="*/ 0 w 6"/>
                      <a:gd name="T15" fmla="*/ 1 h 3"/>
                      <a:gd name="T16" fmla="*/ 0 w 6"/>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3">
                        <a:moveTo>
                          <a:pt x="0" y="0"/>
                        </a:moveTo>
                        <a:lnTo>
                          <a:pt x="1" y="0"/>
                        </a:lnTo>
                        <a:lnTo>
                          <a:pt x="3" y="0"/>
                        </a:lnTo>
                        <a:lnTo>
                          <a:pt x="4" y="1"/>
                        </a:lnTo>
                        <a:lnTo>
                          <a:pt x="5" y="2"/>
                        </a:lnTo>
                        <a:lnTo>
                          <a:pt x="3" y="1"/>
                        </a:lnTo>
                        <a:lnTo>
                          <a:pt x="2" y="1"/>
                        </a:lnTo>
                        <a:lnTo>
                          <a:pt x="0" y="1"/>
                        </a:lnTo>
                        <a:lnTo>
                          <a:pt x="0" y="0"/>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567" name="Group 88"/>
                  <p:cNvGrpSpPr>
                    <a:grpSpLocks noChangeAspect="1"/>
                  </p:cNvGrpSpPr>
                  <p:nvPr/>
                </p:nvGrpSpPr>
                <p:grpSpPr bwMode="auto">
                  <a:xfrm>
                    <a:off x="4963" y="2176"/>
                    <a:ext cx="122" cy="122"/>
                    <a:chOff x="4963" y="2176"/>
                    <a:chExt cx="122" cy="122"/>
                  </a:xfrm>
                </p:grpSpPr>
                <p:sp>
                  <p:nvSpPr>
                    <p:cNvPr id="277568" name="Freeform 89"/>
                    <p:cNvSpPr>
                      <a:spLocks noChangeAspect="1"/>
                    </p:cNvSpPr>
                    <p:nvPr/>
                  </p:nvSpPr>
                  <p:spPr bwMode="auto">
                    <a:xfrm>
                      <a:off x="4963" y="2176"/>
                      <a:ext cx="122" cy="122"/>
                    </a:xfrm>
                    <a:custGeom>
                      <a:avLst/>
                      <a:gdLst>
                        <a:gd name="T0" fmla="*/ 7 w 122"/>
                        <a:gd name="T1" fmla="*/ 41 h 122"/>
                        <a:gd name="T2" fmla="*/ 7 w 122"/>
                        <a:gd name="T3" fmla="*/ 47 h 122"/>
                        <a:gd name="T4" fmla="*/ 4 w 122"/>
                        <a:gd name="T5" fmla="*/ 47 h 122"/>
                        <a:gd name="T6" fmla="*/ 1 w 122"/>
                        <a:gd name="T7" fmla="*/ 42 h 122"/>
                        <a:gd name="T8" fmla="*/ 1 w 122"/>
                        <a:gd name="T9" fmla="*/ 31 h 122"/>
                        <a:gd name="T10" fmla="*/ 7 w 122"/>
                        <a:gd name="T11" fmla="*/ 22 h 122"/>
                        <a:gd name="T12" fmla="*/ 15 w 122"/>
                        <a:gd name="T13" fmla="*/ 14 h 122"/>
                        <a:gd name="T14" fmla="*/ 24 w 122"/>
                        <a:gd name="T15" fmla="*/ 9 h 122"/>
                        <a:gd name="T16" fmla="*/ 35 w 122"/>
                        <a:gd name="T17" fmla="*/ 5 h 122"/>
                        <a:gd name="T18" fmla="*/ 38 w 122"/>
                        <a:gd name="T19" fmla="*/ 1 h 122"/>
                        <a:gd name="T20" fmla="*/ 44 w 122"/>
                        <a:gd name="T21" fmla="*/ 0 h 122"/>
                        <a:gd name="T22" fmla="*/ 53 w 122"/>
                        <a:gd name="T23" fmla="*/ 0 h 122"/>
                        <a:gd name="T24" fmla="*/ 58 w 122"/>
                        <a:gd name="T25" fmla="*/ 0 h 122"/>
                        <a:gd name="T26" fmla="*/ 65 w 122"/>
                        <a:gd name="T27" fmla="*/ 3 h 122"/>
                        <a:gd name="T28" fmla="*/ 72 w 122"/>
                        <a:gd name="T29" fmla="*/ 1 h 122"/>
                        <a:gd name="T30" fmla="*/ 81 w 122"/>
                        <a:gd name="T31" fmla="*/ 5 h 122"/>
                        <a:gd name="T32" fmla="*/ 89 w 122"/>
                        <a:gd name="T33" fmla="*/ 13 h 122"/>
                        <a:gd name="T34" fmla="*/ 96 w 122"/>
                        <a:gd name="T35" fmla="*/ 21 h 122"/>
                        <a:gd name="T36" fmla="*/ 100 w 122"/>
                        <a:gd name="T37" fmla="*/ 30 h 122"/>
                        <a:gd name="T38" fmla="*/ 106 w 122"/>
                        <a:gd name="T39" fmla="*/ 46 h 122"/>
                        <a:gd name="T40" fmla="*/ 112 w 122"/>
                        <a:gd name="T41" fmla="*/ 67 h 122"/>
                        <a:gd name="T42" fmla="*/ 115 w 122"/>
                        <a:gd name="T43" fmla="*/ 81 h 122"/>
                        <a:gd name="T44" fmla="*/ 119 w 122"/>
                        <a:gd name="T45" fmla="*/ 98 h 122"/>
                        <a:gd name="T46" fmla="*/ 121 w 122"/>
                        <a:gd name="T47" fmla="*/ 107 h 122"/>
                        <a:gd name="T48" fmla="*/ 119 w 122"/>
                        <a:gd name="T49" fmla="*/ 115 h 122"/>
                        <a:gd name="T50" fmla="*/ 117 w 122"/>
                        <a:gd name="T51" fmla="*/ 117 h 122"/>
                        <a:gd name="T52" fmla="*/ 113 w 122"/>
                        <a:gd name="T53" fmla="*/ 120 h 122"/>
                        <a:gd name="T54" fmla="*/ 111 w 122"/>
                        <a:gd name="T55" fmla="*/ 120 h 122"/>
                        <a:gd name="T56" fmla="*/ 108 w 122"/>
                        <a:gd name="T57" fmla="*/ 120 h 122"/>
                        <a:gd name="T58" fmla="*/ 103 w 122"/>
                        <a:gd name="T59" fmla="*/ 118 h 122"/>
                        <a:gd name="T60" fmla="*/ 98 w 122"/>
                        <a:gd name="T61" fmla="*/ 118 h 122"/>
                        <a:gd name="T62" fmla="*/ 91 w 122"/>
                        <a:gd name="T63" fmla="*/ 118 h 122"/>
                        <a:gd name="T64" fmla="*/ 88 w 122"/>
                        <a:gd name="T65" fmla="*/ 118 h 122"/>
                        <a:gd name="T66" fmla="*/ 80 w 122"/>
                        <a:gd name="T67" fmla="*/ 118 h 122"/>
                        <a:gd name="T68" fmla="*/ 73 w 122"/>
                        <a:gd name="T69" fmla="*/ 114 h 122"/>
                        <a:gd name="T70" fmla="*/ 72 w 122"/>
                        <a:gd name="T71" fmla="*/ 108 h 122"/>
                        <a:gd name="T72" fmla="*/ 71 w 122"/>
                        <a:gd name="T73" fmla="*/ 106 h 122"/>
                        <a:gd name="T74" fmla="*/ 76 w 122"/>
                        <a:gd name="T75" fmla="*/ 96 h 122"/>
                        <a:gd name="T76" fmla="*/ 80 w 122"/>
                        <a:gd name="T77" fmla="*/ 81 h 122"/>
                        <a:gd name="T78" fmla="*/ 83 w 122"/>
                        <a:gd name="T79" fmla="*/ 53 h 122"/>
                        <a:gd name="T80" fmla="*/ 73 w 122"/>
                        <a:gd name="T81" fmla="*/ 56 h 122"/>
                        <a:gd name="T82" fmla="*/ 68 w 122"/>
                        <a:gd name="T83" fmla="*/ 60 h 122"/>
                        <a:gd name="T84" fmla="*/ 64 w 122"/>
                        <a:gd name="T85" fmla="*/ 59 h 122"/>
                        <a:gd name="T86" fmla="*/ 59 w 122"/>
                        <a:gd name="T87" fmla="*/ 53 h 122"/>
                        <a:gd name="T88" fmla="*/ 54 w 122"/>
                        <a:gd name="T89" fmla="*/ 44 h 122"/>
                        <a:gd name="T90" fmla="*/ 49 w 122"/>
                        <a:gd name="T91" fmla="*/ 42 h 122"/>
                        <a:gd name="T92" fmla="*/ 50 w 122"/>
                        <a:gd name="T93" fmla="*/ 38 h 122"/>
                        <a:gd name="T94" fmla="*/ 46 w 122"/>
                        <a:gd name="T95" fmla="*/ 31 h 122"/>
                        <a:gd name="T96" fmla="*/ 41 w 122"/>
                        <a:gd name="T97" fmla="*/ 26 h 122"/>
                        <a:gd name="T98" fmla="*/ 31 w 122"/>
                        <a:gd name="T99" fmla="*/ 23 h 122"/>
                        <a:gd name="T100" fmla="*/ 21 w 122"/>
                        <a:gd name="T101" fmla="*/ 25 h 122"/>
                        <a:gd name="T102" fmla="*/ 15 w 122"/>
                        <a:gd name="T103" fmla="*/ 31 h 122"/>
                        <a:gd name="T104" fmla="*/ 12 w 122"/>
                        <a:gd name="T105" fmla="*/ 39 h 122"/>
                        <a:gd name="T106" fmla="*/ 11 w 122"/>
                        <a:gd name="T107" fmla="*/ 48 h 122"/>
                        <a:gd name="T108" fmla="*/ 8 w 122"/>
                        <a:gd name="T109" fmla="*/ 44 h 122"/>
                        <a:gd name="T110" fmla="*/ 8 w 122"/>
                        <a:gd name="T111" fmla="*/ 37 h 12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22" h="122">
                          <a:moveTo>
                            <a:pt x="8" y="37"/>
                          </a:moveTo>
                          <a:lnTo>
                            <a:pt x="7" y="41"/>
                          </a:lnTo>
                          <a:lnTo>
                            <a:pt x="6" y="44"/>
                          </a:lnTo>
                          <a:lnTo>
                            <a:pt x="7" y="47"/>
                          </a:lnTo>
                          <a:lnTo>
                            <a:pt x="7" y="49"/>
                          </a:lnTo>
                          <a:lnTo>
                            <a:pt x="4" y="47"/>
                          </a:lnTo>
                          <a:lnTo>
                            <a:pt x="2" y="44"/>
                          </a:lnTo>
                          <a:lnTo>
                            <a:pt x="1" y="42"/>
                          </a:lnTo>
                          <a:lnTo>
                            <a:pt x="0" y="37"/>
                          </a:lnTo>
                          <a:lnTo>
                            <a:pt x="1" y="31"/>
                          </a:lnTo>
                          <a:lnTo>
                            <a:pt x="4" y="27"/>
                          </a:lnTo>
                          <a:lnTo>
                            <a:pt x="7" y="22"/>
                          </a:lnTo>
                          <a:lnTo>
                            <a:pt x="11" y="18"/>
                          </a:lnTo>
                          <a:lnTo>
                            <a:pt x="15" y="14"/>
                          </a:lnTo>
                          <a:lnTo>
                            <a:pt x="19" y="12"/>
                          </a:lnTo>
                          <a:lnTo>
                            <a:pt x="24" y="9"/>
                          </a:lnTo>
                          <a:lnTo>
                            <a:pt x="30" y="6"/>
                          </a:lnTo>
                          <a:lnTo>
                            <a:pt x="35" y="5"/>
                          </a:lnTo>
                          <a:lnTo>
                            <a:pt x="36" y="2"/>
                          </a:lnTo>
                          <a:lnTo>
                            <a:pt x="38" y="1"/>
                          </a:lnTo>
                          <a:lnTo>
                            <a:pt x="41" y="0"/>
                          </a:lnTo>
                          <a:lnTo>
                            <a:pt x="44" y="0"/>
                          </a:lnTo>
                          <a:lnTo>
                            <a:pt x="49" y="1"/>
                          </a:lnTo>
                          <a:lnTo>
                            <a:pt x="53" y="0"/>
                          </a:lnTo>
                          <a:lnTo>
                            <a:pt x="56" y="0"/>
                          </a:lnTo>
                          <a:lnTo>
                            <a:pt x="58" y="0"/>
                          </a:lnTo>
                          <a:lnTo>
                            <a:pt x="62" y="1"/>
                          </a:lnTo>
                          <a:lnTo>
                            <a:pt x="65" y="3"/>
                          </a:lnTo>
                          <a:lnTo>
                            <a:pt x="68" y="2"/>
                          </a:lnTo>
                          <a:lnTo>
                            <a:pt x="72" y="1"/>
                          </a:lnTo>
                          <a:lnTo>
                            <a:pt x="76" y="3"/>
                          </a:lnTo>
                          <a:lnTo>
                            <a:pt x="81" y="5"/>
                          </a:lnTo>
                          <a:lnTo>
                            <a:pt x="85" y="9"/>
                          </a:lnTo>
                          <a:lnTo>
                            <a:pt x="89" y="13"/>
                          </a:lnTo>
                          <a:lnTo>
                            <a:pt x="92" y="17"/>
                          </a:lnTo>
                          <a:lnTo>
                            <a:pt x="96" y="21"/>
                          </a:lnTo>
                          <a:lnTo>
                            <a:pt x="98" y="25"/>
                          </a:lnTo>
                          <a:lnTo>
                            <a:pt x="100" y="30"/>
                          </a:lnTo>
                          <a:lnTo>
                            <a:pt x="103" y="37"/>
                          </a:lnTo>
                          <a:lnTo>
                            <a:pt x="106" y="46"/>
                          </a:lnTo>
                          <a:lnTo>
                            <a:pt x="109" y="56"/>
                          </a:lnTo>
                          <a:lnTo>
                            <a:pt x="112" y="67"/>
                          </a:lnTo>
                          <a:lnTo>
                            <a:pt x="113" y="73"/>
                          </a:lnTo>
                          <a:lnTo>
                            <a:pt x="115" y="81"/>
                          </a:lnTo>
                          <a:lnTo>
                            <a:pt x="117" y="90"/>
                          </a:lnTo>
                          <a:lnTo>
                            <a:pt x="119" y="98"/>
                          </a:lnTo>
                          <a:lnTo>
                            <a:pt x="120" y="102"/>
                          </a:lnTo>
                          <a:lnTo>
                            <a:pt x="121" y="107"/>
                          </a:lnTo>
                          <a:lnTo>
                            <a:pt x="120" y="111"/>
                          </a:lnTo>
                          <a:lnTo>
                            <a:pt x="119" y="115"/>
                          </a:lnTo>
                          <a:lnTo>
                            <a:pt x="119" y="114"/>
                          </a:lnTo>
                          <a:lnTo>
                            <a:pt x="117" y="117"/>
                          </a:lnTo>
                          <a:lnTo>
                            <a:pt x="115" y="119"/>
                          </a:lnTo>
                          <a:lnTo>
                            <a:pt x="113" y="120"/>
                          </a:lnTo>
                          <a:lnTo>
                            <a:pt x="112" y="119"/>
                          </a:lnTo>
                          <a:lnTo>
                            <a:pt x="111" y="120"/>
                          </a:lnTo>
                          <a:lnTo>
                            <a:pt x="110" y="121"/>
                          </a:lnTo>
                          <a:lnTo>
                            <a:pt x="108" y="120"/>
                          </a:lnTo>
                          <a:lnTo>
                            <a:pt x="106" y="119"/>
                          </a:lnTo>
                          <a:lnTo>
                            <a:pt x="103" y="118"/>
                          </a:lnTo>
                          <a:lnTo>
                            <a:pt x="102" y="117"/>
                          </a:lnTo>
                          <a:lnTo>
                            <a:pt x="98" y="118"/>
                          </a:lnTo>
                          <a:lnTo>
                            <a:pt x="94" y="118"/>
                          </a:lnTo>
                          <a:lnTo>
                            <a:pt x="91" y="118"/>
                          </a:lnTo>
                          <a:lnTo>
                            <a:pt x="92" y="117"/>
                          </a:lnTo>
                          <a:lnTo>
                            <a:pt x="88" y="118"/>
                          </a:lnTo>
                          <a:lnTo>
                            <a:pt x="84" y="119"/>
                          </a:lnTo>
                          <a:lnTo>
                            <a:pt x="80" y="118"/>
                          </a:lnTo>
                          <a:lnTo>
                            <a:pt x="77" y="117"/>
                          </a:lnTo>
                          <a:lnTo>
                            <a:pt x="73" y="114"/>
                          </a:lnTo>
                          <a:lnTo>
                            <a:pt x="72" y="111"/>
                          </a:lnTo>
                          <a:lnTo>
                            <a:pt x="72" y="108"/>
                          </a:lnTo>
                          <a:lnTo>
                            <a:pt x="69" y="109"/>
                          </a:lnTo>
                          <a:lnTo>
                            <a:pt x="71" y="106"/>
                          </a:lnTo>
                          <a:lnTo>
                            <a:pt x="73" y="103"/>
                          </a:lnTo>
                          <a:lnTo>
                            <a:pt x="76" y="96"/>
                          </a:lnTo>
                          <a:lnTo>
                            <a:pt x="78" y="89"/>
                          </a:lnTo>
                          <a:lnTo>
                            <a:pt x="80" y="81"/>
                          </a:lnTo>
                          <a:lnTo>
                            <a:pt x="82" y="72"/>
                          </a:lnTo>
                          <a:lnTo>
                            <a:pt x="83" y="53"/>
                          </a:lnTo>
                          <a:lnTo>
                            <a:pt x="75" y="53"/>
                          </a:lnTo>
                          <a:lnTo>
                            <a:pt x="73" y="56"/>
                          </a:lnTo>
                          <a:lnTo>
                            <a:pt x="71" y="59"/>
                          </a:lnTo>
                          <a:lnTo>
                            <a:pt x="68" y="60"/>
                          </a:lnTo>
                          <a:lnTo>
                            <a:pt x="66" y="61"/>
                          </a:lnTo>
                          <a:lnTo>
                            <a:pt x="64" y="59"/>
                          </a:lnTo>
                          <a:lnTo>
                            <a:pt x="61" y="57"/>
                          </a:lnTo>
                          <a:lnTo>
                            <a:pt x="59" y="53"/>
                          </a:lnTo>
                          <a:lnTo>
                            <a:pt x="57" y="49"/>
                          </a:lnTo>
                          <a:lnTo>
                            <a:pt x="54" y="44"/>
                          </a:lnTo>
                          <a:lnTo>
                            <a:pt x="50" y="43"/>
                          </a:lnTo>
                          <a:lnTo>
                            <a:pt x="49" y="42"/>
                          </a:lnTo>
                          <a:lnTo>
                            <a:pt x="49" y="40"/>
                          </a:lnTo>
                          <a:lnTo>
                            <a:pt x="50" y="38"/>
                          </a:lnTo>
                          <a:lnTo>
                            <a:pt x="48" y="34"/>
                          </a:lnTo>
                          <a:lnTo>
                            <a:pt x="46" y="31"/>
                          </a:lnTo>
                          <a:lnTo>
                            <a:pt x="44" y="29"/>
                          </a:lnTo>
                          <a:lnTo>
                            <a:pt x="41" y="26"/>
                          </a:lnTo>
                          <a:lnTo>
                            <a:pt x="36" y="24"/>
                          </a:lnTo>
                          <a:lnTo>
                            <a:pt x="31" y="23"/>
                          </a:lnTo>
                          <a:lnTo>
                            <a:pt x="28" y="24"/>
                          </a:lnTo>
                          <a:lnTo>
                            <a:pt x="21" y="25"/>
                          </a:lnTo>
                          <a:lnTo>
                            <a:pt x="18" y="27"/>
                          </a:lnTo>
                          <a:lnTo>
                            <a:pt x="15" y="31"/>
                          </a:lnTo>
                          <a:lnTo>
                            <a:pt x="13" y="35"/>
                          </a:lnTo>
                          <a:lnTo>
                            <a:pt x="12" y="39"/>
                          </a:lnTo>
                          <a:lnTo>
                            <a:pt x="10" y="43"/>
                          </a:lnTo>
                          <a:lnTo>
                            <a:pt x="11" y="48"/>
                          </a:lnTo>
                          <a:lnTo>
                            <a:pt x="9" y="46"/>
                          </a:lnTo>
                          <a:lnTo>
                            <a:pt x="8" y="44"/>
                          </a:lnTo>
                          <a:lnTo>
                            <a:pt x="8" y="41"/>
                          </a:lnTo>
                          <a:lnTo>
                            <a:pt x="8" y="37"/>
                          </a:lnTo>
                        </a:path>
                      </a:pathLst>
                    </a:custGeom>
                    <a:solidFill>
                      <a:srgbClr val="5F3F1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569" name="Group 90"/>
                    <p:cNvGrpSpPr>
                      <a:grpSpLocks noChangeAspect="1"/>
                    </p:cNvGrpSpPr>
                    <p:nvPr/>
                  </p:nvGrpSpPr>
                  <p:grpSpPr bwMode="auto">
                    <a:xfrm>
                      <a:off x="4987" y="2183"/>
                      <a:ext cx="95" cy="107"/>
                      <a:chOff x="4987" y="2183"/>
                      <a:chExt cx="95" cy="107"/>
                    </a:xfrm>
                  </p:grpSpPr>
                  <p:sp>
                    <p:nvSpPr>
                      <p:cNvPr id="277570" name="Freeform 91"/>
                      <p:cNvSpPr>
                        <a:spLocks noChangeAspect="1"/>
                      </p:cNvSpPr>
                      <p:nvPr/>
                    </p:nvSpPr>
                    <p:spPr bwMode="auto">
                      <a:xfrm>
                        <a:off x="5044" y="2244"/>
                        <a:ext cx="10" cy="42"/>
                      </a:xfrm>
                      <a:custGeom>
                        <a:avLst/>
                        <a:gdLst>
                          <a:gd name="T0" fmla="*/ 4 w 10"/>
                          <a:gd name="T1" fmla="*/ 2 h 42"/>
                          <a:gd name="T2" fmla="*/ 4 w 10"/>
                          <a:gd name="T3" fmla="*/ 9 h 42"/>
                          <a:gd name="T4" fmla="*/ 3 w 10"/>
                          <a:gd name="T5" fmla="*/ 16 h 42"/>
                          <a:gd name="T6" fmla="*/ 2 w 10"/>
                          <a:gd name="T7" fmla="*/ 22 h 42"/>
                          <a:gd name="T8" fmla="*/ 0 w 10"/>
                          <a:gd name="T9" fmla="*/ 33 h 42"/>
                          <a:gd name="T10" fmla="*/ 2 w 10"/>
                          <a:gd name="T11" fmla="*/ 29 h 42"/>
                          <a:gd name="T12" fmla="*/ 4 w 10"/>
                          <a:gd name="T13" fmla="*/ 24 h 42"/>
                          <a:gd name="T14" fmla="*/ 4 w 10"/>
                          <a:gd name="T15" fmla="*/ 21 h 42"/>
                          <a:gd name="T16" fmla="*/ 6 w 10"/>
                          <a:gd name="T17" fmla="*/ 16 h 42"/>
                          <a:gd name="T18" fmla="*/ 6 w 10"/>
                          <a:gd name="T19" fmla="*/ 23 h 42"/>
                          <a:gd name="T20" fmla="*/ 6 w 10"/>
                          <a:gd name="T21" fmla="*/ 30 h 42"/>
                          <a:gd name="T22" fmla="*/ 6 w 10"/>
                          <a:gd name="T23" fmla="*/ 35 h 42"/>
                          <a:gd name="T24" fmla="*/ 8 w 10"/>
                          <a:gd name="T25" fmla="*/ 41 h 42"/>
                          <a:gd name="T26" fmla="*/ 8 w 10"/>
                          <a:gd name="T27" fmla="*/ 24 h 42"/>
                          <a:gd name="T28" fmla="*/ 9 w 10"/>
                          <a:gd name="T29" fmla="*/ 15 h 42"/>
                          <a:gd name="T30" fmla="*/ 9 w 10"/>
                          <a:gd name="T31" fmla="*/ 6 h 42"/>
                          <a:gd name="T32" fmla="*/ 8 w 10"/>
                          <a:gd name="T33" fmla="*/ 0 h 42"/>
                          <a:gd name="T34" fmla="*/ 7 w 10"/>
                          <a:gd name="T35" fmla="*/ 5 h 42"/>
                          <a:gd name="T36" fmla="*/ 6 w 10"/>
                          <a:gd name="T37" fmla="*/ 10 h 42"/>
                          <a:gd name="T38" fmla="*/ 5 w 10"/>
                          <a:gd name="T39" fmla="*/ 6 h 42"/>
                          <a:gd name="T40" fmla="*/ 4 w 10"/>
                          <a:gd name="T41" fmla="*/ 2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0" h="42">
                            <a:moveTo>
                              <a:pt x="4" y="2"/>
                            </a:moveTo>
                            <a:lnTo>
                              <a:pt x="4" y="9"/>
                            </a:lnTo>
                            <a:lnTo>
                              <a:pt x="3" y="16"/>
                            </a:lnTo>
                            <a:lnTo>
                              <a:pt x="2" y="22"/>
                            </a:lnTo>
                            <a:lnTo>
                              <a:pt x="0" y="33"/>
                            </a:lnTo>
                            <a:lnTo>
                              <a:pt x="2" y="29"/>
                            </a:lnTo>
                            <a:lnTo>
                              <a:pt x="4" y="24"/>
                            </a:lnTo>
                            <a:lnTo>
                              <a:pt x="4" y="21"/>
                            </a:lnTo>
                            <a:lnTo>
                              <a:pt x="6" y="16"/>
                            </a:lnTo>
                            <a:lnTo>
                              <a:pt x="6" y="23"/>
                            </a:lnTo>
                            <a:lnTo>
                              <a:pt x="6" y="30"/>
                            </a:lnTo>
                            <a:lnTo>
                              <a:pt x="6" y="35"/>
                            </a:lnTo>
                            <a:lnTo>
                              <a:pt x="8" y="41"/>
                            </a:lnTo>
                            <a:lnTo>
                              <a:pt x="8" y="24"/>
                            </a:lnTo>
                            <a:lnTo>
                              <a:pt x="9" y="15"/>
                            </a:lnTo>
                            <a:lnTo>
                              <a:pt x="9" y="6"/>
                            </a:lnTo>
                            <a:lnTo>
                              <a:pt x="8" y="0"/>
                            </a:lnTo>
                            <a:lnTo>
                              <a:pt x="7" y="5"/>
                            </a:lnTo>
                            <a:lnTo>
                              <a:pt x="6" y="10"/>
                            </a:lnTo>
                            <a:lnTo>
                              <a:pt x="5" y="6"/>
                            </a:lnTo>
                            <a:lnTo>
                              <a:pt x="4" y="2"/>
                            </a:lnTo>
                          </a:path>
                        </a:pathLst>
                      </a:custGeom>
                      <a:solidFill>
                        <a:srgbClr val="7F5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71" name="Freeform 92"/>
                      <p:cNvSpPr>
                        <a:spLocks noChangeAspect="1"/>
                      </p:cNvSpPr>
                      <p:nvPr/>
                    </p:nvSpPr>
                    <p:spPr bwMode="auto">
                      <a:xfrm>
                        <a:off x="5052" y="2218"/>
                        <a:ext cx="30" cy="72"/>
                      </a:xfrm>
                      <a:custGeom>
                        <a:avLst/>
                        <a:gdLst>
                          <a:gd name="T0" fmla="*/ 14 w 30"/>
                          <a:gd name="T1" fmla="*/ 67 h 72"/>
                          <a:gd name="T2" fmla="*/ 12 w 30"/>
                          <a:gd name="T3" fmla="*/ 55 h 72"/>
                          <a:gd name="T4" fmla="*/ 11 w 30"/>
                          <a:gd name="T5" fmla="*/ 47 h 72"/>
                          <a:gd name="T6" fmla="*/ 10 w 30"/>
                          <a:gd name="T7" fmla="*/ 36 h 72"/>
                          <a:gd name="T8" fmla="*/ 9 w 30"/>
                          <a:gd name="T9" fmla="*/ 42 h 72"/>
                          <a:gd name="T10" fmla="*/ 9 w 30"/>
                          <a:gd name="T11" fmla="*/ 49 h 72"/>
                          <a:gd name="T12" fmla="*/ 7 w 30"/>
                          <a:gd name="T13" fmla="*/ 41 h 72"/>
                          <a:gd name="T14" fmla="*/ 6 w 30"/>
                          <a:gd name="T15" fmla="*/ 34 h 72"/>
                          <a:gd name="T16" fmla="*/ 7 w 30"/>
                          <a:gd name="T17" fmla="*/ 28 h 72"/>
                          <a:gd name="T18" fmla="*/ 5 w 30"/>
                          <a:gd name="T19" fmla="*/ 22 h 72"/>
                          <a:gd name="T20" fmla="*/ 3 w 30"/>
                          <a:gd name="T21" fmla="*/ 15 h 72"/>
                          <a:gd name="T22" fmla="*/ 0 w 30"/>
                          <a:gd name="T23" fmla="*/ 4 h 72"/>
                          <a:gd name="T24" fmla="*/ 4 w 30"/>
                          <a:gd name="T25" fmla="*/ 12 h 72"/>
                          <a:gd name="T26" fmla="*/ 8 w 30"/>
                          <a:gd name="T27" fmla="*/ 19 h 72"/>
                          <a:gd name="T28" fmla="*/ 12 w 30"/>
                          <a:gd name="T29" fmla="*/ 28 h 72"/>
                          <a:gd name="T30" fmla="*/ 11 w 30"/>
                          <a:gd name="T31" fmla="*/ 18 h 72"/>
                          <a:gd name="T32" fmla="*/ 10 w 30"/>
                          <a:gd name="T33" fmla="*/ 10 h 72"/>
                          <a:gd name="T34" fmla="*/ 8 w 30"/>
                          <a:gd name="T35" fmla="*/ 0 h 72"/>
                          <a:gd name="T36" fmla="*/ 11 w 30"/>
                          <a:gd name="T37" fmla="*/ 8 h 72"/>
                          <a:gd name="T38" fmla="*/ 13 w 30"/>
                          <a:gd name="T39" fmla="*/ 15 h 72"/>
                          <a:gd name="T40" fmla="*/ 15 w 30"/>
                          <a:gd name="T41" fmla="*/ 23 h 72"/>
                          <a:gd name="T42" fmla="*/ 16 w 30"/>
                          <a:gd name="T43" fmla="*/ 28 h 72"/>
                          <a:gd name="T44" fmla="*/ 19 w 30"/>
                          <a:gd name="T45" fmla="*/ 32 h 72"/>
                          <a:gd name="T46" fmla="*/ 22 w 30"/>
                          <a:gd name="T47" fmla="*/ 38 h 72"/>
                          <a:gd name="T48" fmla="*/ 24 w 30"/>
                          <a:gd name="T49" fmla="*/ 43 h 72"/>
                          <a:gd name="T50" fmla="*/ 26 w 30"/>
                          <a:gd name="T51" fmla="*/ 49 h 72"/>
                          <a:gd name="T52" fmla="*/ 27 w 30"/>
                          <a:gd name="T53" fmla="*/ 55 h 72"/>
                          <a:gd name="T54" fmla="*/ 28 w 30"/>
                          <a:gd name="T55" fmla="*/ 60 h 72"/>
                          <a:gd name="T56" fmla="*/ 28 w 30"/>
                          <a:gd name="T57" fmla="*/ 63 h 72"/>
                          <a:gd name="T58" fmla="*/ 29 w 30"/>
                          <a:gd name="T59" fmla="*/ 66 h 72"/>
                          <a:gd name="T60" fmla="*/ 28 w 30"/>
                          <a:gd name="T61" fmla="*/ 71 h 72"/>
                          <a:gd name="T62" fmla="*/ 26 w 30"/>
                          <a:gd name="T63" fmla="*/ 66 h 72"/>
                          <a:gd name="T64" fmla="*/ 25 w 30"/>
                          <a:gd name="T65" fmla="*/ 71 h 72"/>
                          <a:gd name="T66" fmla="*/ 24 w 30"/>
                          <a:gd name="T67" fmla="*/ 67 h 72"/>
                          <a:gd name="T68" fmla="*/ 24 w 30"/>
                          <a:gd name="T69" fmla="*/ 64 h 72"/>
                          <a:gd name="T70" fmla="*/ 24 w 30"/>
                          <a:gd name="T71" fmla="*/ 58 h 72"/>
                          <a:gd name="T72" fmla="*/ 24 w 30"/>
                          <a:gd name="T73" fmla="*/ 53 h 72"/>
                          <a:gd name="T74" fmla="*/ 23 w 30"/>
                          <a:gd name="T75" fmla="*/ 47 h 72"/>
                          <a:gd name="T76" fmla="*/ 20 w 30"/>
                          <a:gd name="T77" fmla="*/ 42 h 72"/>
                          <a:gd name="T78" fmla="*/ 17 w 30"/>
                          <a:gd name="T79" fmla="*/ 36 h 72"/>
                          <a:gd name="T80" fmla="*/ 18 w 30"/>
                          <a:gd name="T81" fmla="*/ 48 h 72"/>
                          <a:gd name="T82" fmla="*/ 13 w 30"/>
                          <a:gd name="T83" fmla="*/ 33 h 72"/>
                          <a:gd name="T84" fmla="*/ 15 w 30"/>
                          <a:gd name="T85" fmla="*/ 46 h 72"/>
                          <a:gd name="T86" fmla="*/ 15 w 30"/>
                          <a:gd name="T87" fmla="*/ 55 h 72"/>
                          <a:gd name="T88" fmla="*/ 14 w 30"/>
                          <a:gd name="T89" fmla="*/ 67 h 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0" h="72">
                            <a:moveTo>
                              <a:pt x="14" y="67"/>
                            </a:moveTo>
                            <a:lnTo>
                              <a:pt x="12" y="55"/>
                            </a:lnTo>
                            <a:lnTo>
                              <a:pt x="11" y="47"/>
                            </a:lnTo>
                            <a:lnTo>
                              <a:pt x="10" y="36"/>
                            </a:lnTo>
                            <a:lnTo>
                              <a:pt x="9" y="42"/>
                            </a:lnTo>
                            <a:lnTo>
                              <a:pt x="9" y="49"/>
                            </a:lnTo>
                            <a:lnTo>
                              <a:pt x="7" y="41"/>
                            </a:lnTo>
                            <a:lnTo>
                              <a:pt x="6" y="34"/>
                            </a:lnTo>
                            <a:lnTo>
                              <a:pt x="7" y="28"/>
                            </a:lnTo>
                            <a:lnTo>
                              <a:pt x="5" y="22"/>
                            </a:lnTo>
                            <a:lnTo>
                              <a:pt x="3" y="15"/>
                            </a:lnTo>
                            <a:lnTo>
                              <a:pt x="0" y="4"/>
                            </a:lnTo>
                            <a:lnTo>
                              <a:pt x="4" y="12"/>
                            </a:lnTo>
                            <a:lnTo>
                              <a:pt x="8" y="19"/>
                            </a:lnTo>
                            <a:lnTo>
                              <a:pt x="12" y="28"/>
                            </a:lnTo>
                            <a:lnTo>
                              <a:pt x="11" y="18"/>
                            </a:lnTo>
                            <a:lnTo>
                              <a:pt x="10" y="10"/>
                            </a:lnTo>
                            <a:lnTo>
                              <a:pt x="8" y="0"/>
                            </a:lnTo>
                            <a:lnTo>
                              <a:pt x="11" y="8"/>
                            </a:lnTo>
                            <a:lnTo>
                              <a:pt x="13" y="15"/>
                            </a:lnTo>
                            <a:lnTo>
                              <a:pt x="15" y="23"/>
                            </a:lnTo>
                            <a:lnTo>
                              <a:pt x="16" y="28"/>
                            </a:lnTo>
                            <a:lnTo>
                              <a:pt x="19" y="32"/>
                            </a:lnTo>
                            <a:lnTo>
                              <a:pt x="22" y="38"/>
                            </a:lnTo>
                            <a:lnTo>
                              <a:pt x="24" y="43"/>
                            </a:lnTo>
                            <a:lnTo>
                              <a:pt x="26" y="49"/>
                            </a:lnTo>
                            <a:lnTo>
                              <a:pt x="27" y="55"/>
                            </a:lnTo>
                            <a:lnTo>
                              <a:pt x="28" y="60"/>
                            </a:lnTo>
                            <a:lnTo>
                              <a:pt x="28" y="63"/>
                            </a:lnTo>
                            <a:lnTo>
                              <a:pt x="29" y="66"/>
                            </a:lnTo>
                            <a:lnTo>
                              <a:pt x="28" y="71"/>
                            </a:lnTo>
                            <a:lnTo>
                              <a:pt x="26" y="66"/>
                            </a:lnTo>
                            <a:lnTo>
                              <a:pt x="25" y="71"/>
                            </a:lnTo>
                            <a:lnTo>
                              <a:pt x="24" y="67"/>
                            </a:lnTo>
                            <a:lnTo>
                              <a:pt x="24" y="64"/>
                            </a:lnTo>
                            <a:lnTo>
                              <a:pt x="24" y="58"/>
                            </a:lnTo>
                            <a:lnTo>
                              <a:pt x="24" y="53"/>
                            </a:lnTo>
                            <a:lnTo>
                              <a:pt x="23" y="47"/>
                            </a:lnTo>
                            <a:lnTo>
                              <a:pt x="20" y="42"/>
                            </a:lnTo>
                            <a:lnTo>
                              <a:pt x="17" y="36"/>
                            </a:lnTo>
                            <a:lnTo>
                              <a:pt x="18" y="48"/>
                            </a:lnTo>
                            <a:lnTo>
                              <a:pt x="13" y="33"/>
                            </a:lnTo>
                            <a:lnTo>
                              <a:pt x="15" y="46"/>
                            </a:lnTo>
                            <a:lnTo>
                              <a:pt x="15" y="55"/>
                            </a:lnTo>
                            <a:lnTo>
                              <a:pt x="14" y="67"/>
                            </a:lnTo>
                          </a:path>
                        </a:pathLst>
                      </a:custGeom>
                      <a:solidFill>
                        <a:srgbClr val="7F5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72" name="Freeform 93"/>
                      <p:cNvSpPr>
                        <a:spLocks noChangeAspect="1"/>
                      </p:cNvSpPr>
                      <p:nvPr/>
                    </p:nvSpPr>
                    <p:spPr bwMode="auto">
                      <a:xfrm>
                        <a:off x="4987" y="2183"/>
                        <a:ext cx="50" cy="17"/>
                      </a:xfrm>
                      <a:custGeom>
                        <a:avLst/>
                        <a:gdLst>
                          <a:gd name="T0" fmla="*/ 0 w 50"/>
                          <a:gd name="T1" fmla="*/ 16 h 17"/>
                          <a:gd name="T2" fmla="*/ 2 w 50"/>
                          <a:gd name="T3" fmla="*/ 16 h 17"/>
                          <a:gd name="T4" fmla="*/ 6 w 50"/>
                          <a:gd name="T5" fmla="*/ 15 h 17"/>
                          <a:gd name="T6" fmla="*/ 8 w 50"/>
                          <a:gd name="T7" fmla="*/ 15 h 17"/>
                          <a:gd name="T8" fmla="*/ 10 w 50"/>
                          <a:gd name="T9" fmla="*/ 15 h 17"/>
                          <a:gd name="T10" fmla="*/ 11 w 50"/>
                          <a:gd name="T11" fmla="*/ 11 h 17"/>
                          <a:gd name="T12" fmla="*/ 13 w 50"/>
                          <a:gd name="T13" fmla="*/ 8 h 17"/>
                          <a:gd name="T14" fmla="*/ 16 w 50"/>
                          <a:gd name="T15" fmla="*/ 6 h 17"/>
                          <a:gd name="T16" fmla="*/ 18 w 50"/>
                          <a:gd name="T17" fmla="*/ 4 h 17"/>
                          <a:gd name="T18" fmla="*/ 21 w 50"/>
                          <a:gd name="T19" fmla="*/ 4 h 17"/>
                          <a:gd name="T20" fmla="*/ 24 w 50"/>
                          <a:gd name="T21" fmla="*/ 4 h 17"/>
                          <a:gd name="T22" fmla="*/ 31 w 50"/>
                          <a:gd name="T23" fmla="*/ 5 h 17"/>
                          <a:gd name="T24" fmla="*/ 36 w 50"/>
                          <a:gd name="T25" fmla="*/ 5 h 17"/>
                          <a:gd name="T26" fmla="*/ 42 w 50"/>
                          <a:gd name="T27" fmla="*/ 4 h 17"/>
                          <a:gd name="T28" fmla="*/ 49 w 50"/>
                          <a:gd name="T29" fmla="*/ 0 h 17"/>
                          <a:gd name="T30" fmla="*/ 39 w 50"/>
                          <a:gd name="T31" fmla="*/ 2 h 17"/>
                          <a:gd name="T32" fmla="*/ 34 w 50"/>
                          <a:gd name="T33" fmla="*/ 2 h 17"/>
                          <a:gd name="T34" fmla="*/ 31 w 50"/>
                          <a:gd name="T35" fmla="*/ 2 h 17"/>
                          <a:gd name="T36" fmla="*/ 27 w 50"/>
                          <a:gd name="T37" fmla="*/ 2 h 17"/>
                          <a:gd name="T38" fmla="*/ 25 w 50"/>
                          <a:gd name="T39" fmla="*/ 1 h 17"/>
                          <a:gd name="T40" fmla="*/ 23 w 50"/>
                          <a:gd name="T41" fmla="*/ 1 h 17"/>
                          <a:gd name="T42" fmla="*/ 21 w 50"/>
                          <a:gd name="T43" fmla="*/ 1 h 17"/>
                          <a:gd name="T44" fmla="*/ 18 w 50"/>
                          <a:gd name="T45" fmla="*/ 2 h 17"/>
                          <a:gd name="T46" fmla="*/ 16 w 50"/>
                          <a:gd name="T47" fmla="*/ 2 h 17"/>
                          <a:gd name="T48" fmla="*/ 14 w 50"/>
                          <a:gd name="T49" fmla="*/ 4 h 17"/>
                          <a:gd name="T50" fmla="*/ 11 w 50"/>
                          <a:gd name="T51" fmla="*/ 6 h 17"/>
                          <a:gd name="T52" fmla="*/ 10 w 50"/>
                          <a:gd name="T53" fmla="*/ 8 h 17"/>
                          <a:gd name="T54" fmla="*/ 8 w 50"/>
                          <a:gd name="T55" fmla="*/ 9 h 17"/>
                          <a:gd name="T56" fmla="*/ 6 w 50"/>
                          <a:gd name="T57" fmla="*/ 10 h 17"/>
                          <a:gd name="T58" fmla="*/ 2 w 50"/>
                          <a:gd name="T59" fmla="*/ 11 h 17"/>
                          <a:gd name="T60" fmla="*/ 1 w 50"/>
                          <a:gd name="T61" fmla="*/ 14 h 17"/>
                          <a:gd name="T62" fmla="*/ 0 w 50"/>
                          <a:gd name="T63" fmla="*/ 16 h 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0" h="17">
                            <a:moveTo>
                              <a:pt x="0" y="16"/>
                            </a:moveTo>
                            <a:lnTo>
                              <a:pt x="2" y="16"/>
                            </a:lnTo>
                            <a:lnTo>
                              <a:pt x="6" y="15"/>
                            </a:lnTo>
                            <a:lnTo>
                              <a:pt x="8" y="15"/>
                            </a:lnTo>
                            <a:lnTo>
                              <a:pt x="10" y="15"/>
                            </a:lnTo>
                            <a:lnTo>
                              <a:pt x="11" y="11"/>
                            </a:lnTo>
                            <a:lnTo>
                              <a:pt x="13" y="8"/>
                            </a:lnTo>
                            <a:lnTo>
                              <a:pt x="16" y="6"/>
                            </a:lnTo>
                            <a:lnTo>
                              <a:pt x="18" y="4"/>
                            </a:lnTo>
                            <a:lnTo>
                              <a:pt x="21" y="4"/>
                            </a:lnTo>
                            <a:lnTo>
                              <a:pt x="24" y="4"/>
                            </a:lnTo>
                            <a:lnTo>
                              <a:pt x="31" y="5"/>
                            </a:lnTo>
                            <a:lnTo>
                              <a:pt x="36" y="5"/>
                            </a:lnTo>
                            <a:lnTo>
                              <a:pt x="42" y="4"/>
                            </a:lnTo>
                            <a:lnTo>
                              <a:pt x="49" y="0"/>
                            </a:lnTo>
                            <a:lnTo>
                              <a:pt x="39" y="2"/>
                            </a:lnTo>
                            <a:lnTo>
                              <a:pt x="34" y="2"/>
                            </a:lnTo>
                            <a:lnTo>
                              <a:pt x="31" y="2"/>
                            </a:lnTo>
                            <a:lnTo>
                              <a:pt x="27" y="2"/>
                            </a:lnTo>
                            <a:lnTo>
                              <a:pt x="25" y="1"/>
                            </a:lnTo>
                            <a:lnTo>
                              <a:pt x="23" y="1"/>
                            </a:lnTo>
                            <a:lnTo>
                              <a:pt x="21" y="1"/>
                            </a:lnTo>
                            <a:lnTo>
                              <a:pt x="18" y="2"/>
                            </a:lnTo>
                            <a:lnTo>
                              <a:pt x="16" y="2"/>
                            </a:lnTo>
                            <a:lnTo>
                              <a:pt x="14" y="4"/>
                            </a:lnTo>
                            <a:lnTo>
                              <a:pt x="11" y="6"/>
                            </a:lnTo>
                            <a:lnTo>
                              <a:pt x="10" y="8"/>
                            </a:lnTo>
                            <a:lnTo>
                              <a:pt x="8" y="9"/>
                            </a:lnTo>
                            <a:lnTo>
                              <a:pt x="6" y="10"/>
                            </a:lnTo>
                            <a:lnTo>
                              <a:pt x="2" y="11"/>
                            </a:lnTo>
                            <a:lnTo>
                              <a:pt x="1" y="14"/>
                            </a:lnTo>
                            <a:lnTo>
                              <a:pt x="0" y="16"/>
                            </a:lnTo>
                          </a:path>
                        </a:pathLst>
                      </a:custGeom>
                      <a:solidFill>
                        <a:srgbClr val="3F1F0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277552" name="Group 94"/>
                <p:cNvGrpSpPr>
                  <a:grpSpLocks noChangeAspect="1"/>
                </p:cNvGrpSpPr>
                <p:nvPr/>
              </p:nvGrpSpPr>
              <p:grpSpPr bwMode="auto">
                <a:xfrm>
                  <a:off x="5030" y="2228"/>
                  <a:ext cx="20" cy="30"/>
                  <a:chOff x="5030" y="2228"/>
                  <a:chExt cx="20" cy="30"/>
                </a:xfrm>
              </p:grpSpPr>
              <p:grpSp>
                <p:nvGrpSpPr>
                  <p:cNvPr id="277553" name="Group 95"/>
                  <p:cNvGrpSpPr>
                    <a:grpSpLocks noChangeAspect="1"/>
                  </p:cNvGrpSpPr>
                  <p:nvPr/>
                </p:nvGrpSpPr>
                <p:grpSpPr bwMode="auto">
                  <a:xfrm>
                    <a:off x="5034" y="2228"/>
                    <a:ext cx="16" cy="26"/>
                    <a:chOff x="5034" y="2228"/>
                    <a:chExt cx="16" cy="26"/>
                  </a:xfrm>
                </p:grpSpPr>
                <p:sp>
                  <p:nvSpPr>
                    <p:cNvPr id="277563" name="Freeform 96"/>
                    <p:cNvSpPr>
                      <a:spLocks noChangeAspect="1"/>
                    </p:cNvSpPr>
                    <p:nvPr/>
                  </p:nvSpPr>
                  <p:spPr bwMode="auto">
                    <a:xfrm>
                      <a:off x="5034" y="2228"/>
                      <a:ext cx="16" cy="26"/>
                    </a:xfrm>
                    <a:custGeom>
                      <a:avLst/>
                      <a:gdLst>
                        <a:gd name="T0" fmla="*/ 1 w 16"/>
                        <a:gd name="T1" fmla="*/ 7 h 26"/>
                        <a:gd name="T2" fmla="*/ 3 w 16"/>
                        <a:gd name="T3" fmla="*/ 3 h 26"/>
                        <a:gd name="T4" fmla="*/ 5 w 16"/>
                        <a:gd name="T5" fmla="*/ 2 h 26"/>
                        <a:gd name="T6" fmla="*/ 8 w 16"/>
                        <a:gd name="T7" fmla="*/ 1 h 26"/>
                        <a:gd name="T8" fmla="*/ 9 w 16"/>
                        <a:gd name="T9" fmla="*/ 0 h 26"/>
                        <a:gd name="T10" fmla="*/ 12 w 16"/>
                        <a:gd name="T11" fmla="*/ 1 h 26"/>
                        <a:gd name="T12" fmla="*/ 14 w 16"/>
                        <a:gd name="T13" fmla="*/ 3 h 26"/>
                        <a:gd name="T14" fmla="*/ 15 w 16"/>
                        <a:gd name="T15" fmla="*/ 6 h 26"/>
                        <a:gd name="T16" fmla="*/ 15 w 16"/>
                        <a:gd name="T17" fmla="*/ 10 h 26"/>
                        <a:gd name="T18" fmla="*/ 14 w 16"/>
                        <a:gd name="T19" fmla="*/ 13 h 26"/>
                        <a:gd name="T20" fmla="*/ 13 w 16"/>
                        <a:gd name="T21" fmla="*/ 17 h 26"/>
                        <a:gd name="T22" fmla="*/ 11 w 16"/>
                        <a:gd name="T23" fmla="*/ 20 h 26"/>
                        <a:gd name="T24" fmla="*/ 8 w 16"/>
                        <a:gd name="T25" fmla="*/ 23 h 26"/>
                        <a:gd name="T26" fmla="*/ 7 w 16"/>
                        <a:gd name="T27" fmla="*/ 24 h 26"/>
                        <a:gd name="T28" fmla="*/ 4 w 16"/>
                        <a:gd name="T29" fmla="*/ 25 h 26"/>
                        <a:gd name="T30" fmla="*/ 2 w 16"/>
                        <a:gd name="T31" fmla="*/ 25 h 26"/>
                        <a:gd name="T32" fmla="*/ 1 w 16"/>
                        <a:gd name="T33" fmla="*/ 24 h 26"/>
                        <a:gd name="T34" fmla="*/ 0 w 16"/>
                        <a:gd name="T35" fmla="*/ 22 h 26"/>
                        <a:gd name="T36" fmla="*/ 1 w 16"/>
                        <a:gd name="T37" fmla="*/ 18 h 26"/>
                        <a:gd name="T38" fmla="*/ 1 w 16"/>
                        <a:gd name="T39" fmla="*/ 15 h 26"/>
                        <a:gd name="T40" fmla="*/ 1 w 16"/>
                        <a:gd name="T41" fmla="*/ 11 h 26"/>
                        <a:gd name="T42" fmla="*/ 1 w 16"/>
                        <a:gd name="T43" fmla="*/ 7 h 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 h="26">
                          <a:moveTo>
                            <a:pt x="1" y="7"/>
                          </a:moveTo>
                          <a:lnTo>
                            <a:pt x="3" y="3"/>
                          </a:lnTo>
                          <a:lnTo>
                            <a:pt x="5" y="2"/>
                          </a:lnTo>
                          <a:lnTo>
                            <a:pt x="8" y="1"/>
                          </a:lnTo>
                          <a:lnTo>
                            <a:pt x="9" y="0"/>
                          </a:lnTo>
                          <a:lnTo>
                            <a:pt x="12" y="1"/>
                          </a:lnTo>
                          <a:lnTo>
                            <a:pt x="14" y="3"/>
                          </a:lnTo>
                          <a:lnTo>
                            <a:pt x="15" y="6"/>
                          </a:lnTo>
                          <a:lnTo>
                            <a:pt x="15" y="10"/>
                          </a:lnTo>
                          <a:lnTo>
                            <a:pt x="14" y="13"/>
                          </a:lnTo>
                          <a:lnTo>
                            <a:pt x="13" y="17"/>
                          </a:lnTo>
                          <a:lnTo>
                            <a:pt x="11" y="20"/>
                          </a:lnTo>
                          <a:lnTo>
                            <a:pt x="8" y="23"/>
                          </a:lnTo>
                          <a:lnTo>
                            <a:pt x="7" y="24"/>
                          </a:lnTo>
                          <a:lnTo>
                            <a:pt x="4" y="25"/>
                          </a:lnTo>
                          <a:lnTo>
                            <a:pt x="2" y="25"/>
                          </a:lnTo>
                          <a:lnTo>
                            <a:pt x="1" y="24"/>
                          </a:lnTo>
                          <a:lnTo>
                            <a:pt x="0" y="22"/>
                          </a:lnTo>
                          <a:lnTo>
                            <a:pt x="1" y="18"/>
                          </a:lnTo>
                          <a:lnTo>
                            <a:pt x="1" y="15"/>
                          </a:lnTo>
                          <a:lnTo>
                            <a:pt x="1" y="11"/>
                          </a:lnTo>
                          <a:lnTo>
                            <a:pt x="1" y="7"/>
                          </a:lnTo>
                        </a:path>
                      </a:pathLst>
                    </a:custGeom>
                    <a:solidFill>
                      <a:srgbClr val="FF9F7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64" name="Freeform 97"/>
                    <p:cNvSpPr>
                      <a:spLocks noChangeAspect="1"/>
                    </p:cNvSpPr>
                    <p:nvPr/>
                  </p:nvSpPr>
                  <p:spPr bwMode="auto">
                    <a:xfrm>
                      <a:off x="5036" y="2230"/>
                      <a:ext cx="11" cy="19"/>
                    </a:xfrm>
                    <a:custGeom>
                      <a:avLst/>
                      <a:gdLst>
                        <a:gd name="T0" fmla="*/ 10 w 11"/>
                        <a:gd name="T1" fmla="*/ 2 h 19"/>
                        <a:gd name="T2" fmla="*/ 7 w 11"/>
                        <a:gd name="T3" fmla="*/ 1 h 19"/>
                        <a:gd name="T4" fmla="*/ 6 w 11"/>
                        <a:gd name="T5" fmla="*/ 2 h 19"/>
                        <a:gd name="T6" fmla="*/ 5 w 11"/>
                        <a:gd name="T7" fmla="*/ 2 h 19"/>
                        <a:gd name="T8" fmla="*/ 4 w 11"/>
                        <a:gd name="T9" fmla="*/ 4 h 19"/>
                        <a:gd name="T10" fmla="*/ 4 w 11"/>
                        <a:gd name="T11" fmla="*/ 5 h 19"/>
                        <a:gd name="T12" fmla="*/ 5 w 11"/>
                        <a:gd name="T13" fmla="*/ 7 h 19"/>
                        <a:gd name="T14" fmla="*/ 7 w 11"/>
                        <a:gd name="T15" fmla="*/ 7 h 19"/>
                        <a:gd name="T16" fmla="*/ 8 w 11"/>
                        <a:gd name="T17" fmla="*/ 8 h 19"/>
                        <a:gd name="T18" fmla="*/ 9 w 11"/>
                        <a:gd name="T19" fmla="*/ 10 h 19"/>
                        <a:gd name="T20" fmla="*/ 8 w 11"/>
                        <a:gd name="T21" fmla="*/ 12 h 19"/>
                        <a:gd name="T22" fmla="*/ 7 w 11"/>
                        <a:gd name="T23" fmla="*/ 13 h 19"/>
                        <a:gd name="T24" fmla="*/ 5 w 11"/>
                        <a:gd name="T25" fmla="*/ 14 h 19"/>
                        <a:gd name="T26" fmla="*/ 3 w 11"/>
                        <a:gd name="T27" fmla="*/ 15 h 19"/>
                        <a:gd name="T28" fmla="*/ 2 w 11"/>
                        <a:gd name="T29" fmla="*/ 15 h 19"/>
                        <a:gd name="T30" fmla="*/ 2 w 11"/>
                        <a:gd name="T31" fmla="*/ 16 h 19"/>
                        <a:gd name="T32" fmla="*/ 1 w 11"/>
                        <a:gd name="T33" fmla="*/ 18 h 19"/>
                        <a:gd name="T34" fmla="*/ 1 w 11"/>
                        <a:gd name="T35" fmla="*/ 18 h 19"/>
                        <a:gd name="T36" fmla="*/ 0 w 11"/>
                        <a:gd name="T37" fmla="*/ 16 h 19"/>
                        <a:gd name="T38" fmla="*/ 1 w 11"/>
                        <a:gd name="T39" fmla="*/ 15 h 19"/>
                        <a:gd name="T40" fmla="*/ 1 w 11"/>
                        <a:gd name="T41" fmla="*/ 13 h 19"/>
                        <a:gd name="T42" fmla="*/ 1 w 11"/>
                        <a:gd name="T43" fmla="*/ 12 h 19"/>
                        <a:gd name="T44" fmla="*/ 1 w 11"/>
                        <a:gd name="T45" fmla="*/ 10 h 19"/>
                        <a:gd name="T46" fmla="*/ 2 w 11"/>
                        <a:gd name="T47" fmla="*/ 10 h 19"/>
                        <a:gd name="T48" fmla="*/ 3 w 11"/>
                        <a:gd name="T49" fmla="*/ 10 h 19"/>
                        <a:gd name="T50" fmla="*/ 4 w 11"/>
                        <a:gd name="T51" fmla="*/ 9 h 19"/>
                        <a:gd name="T52" fmla="*/ 3 w 11"/>
                        <a:gd name="T53" fmla="*/ 8 h 19"/>
                        <a:gd name="T54" fmla="*/ 3 w 11"/>
                        <a:gd name="T55" fmla="*/ 6 h 19"/>
                        <a:gd name="T56" fmla="*/ 3 w 11"/>
                        <a:gd name="T57" fmla="*/ 5 h 19"/>
                        <a:gd name="T58" fmla="*/ 3 w 11"/>
                        <a:gd name="T59" fmla="*/ 3 h 19"/>
                        <a:gd name="T60" fmla="*/ 4 w 11"/>
                        <a:gd name="T61" fmla="*/ 1 h 19"/>
                        <a:gd name="T62" fmla="*/ 6 w 11"/>
                        <a:gd name="T63" fmla="*/ 0 h 19"/>
                        <a:gd name="T64" fmla="*/ 7 w 11"/>
                        <a:gd name="T65" fmla="*/ 0 h 19"/>
                        <a:gd name="T66" fmla="*/ 9 w 11"/>
                        <a:gd name="T67" fmla="*/ 1 h 19"/>
                        <a:gd name="T68" fmla="*/ 10 w 11"/>
                        <a:gd name="T69" fmla="*/ 2 h 1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 h="19">
                          <a:moveTo>
                            <a:pt x="10" y="2"/>
                          </a:moveTo>
                          <a:lnTo>
                            <a:pt x="7" y="1"/>
                          </a:lnTo>
                          <a:lnTo>
                            <a:pt x="6" y="2"/>
                          </a:lnTo>
                          <a:lnTo>
                            <a:pt x="5" y="2"/>
                          </a:lnTo>
                          <a:lnTo>
                            <a:pt x="4" y="4"/>
                          </a:lnTo>
                          <a:lnTo>
                            <a:pt x="4" y="5"/>
                          </a:lnTo>
                          <a:lnTo>
                            <a:pt x="5" y="7"/>
                          </a:lnTo>
                          <a:lnTo>
                            <a:pt x="7" y="7"/>
                          </a:lnTo>
                          <a:lnTo>
                            <a:pt x="8" y="8"/>
                          </a:lnTo>
                          <a:lnTo>
                            <a:pt x="9" y="10"/>
                          </a:lnTo>
                          <a:lnTo>
                            <a:pt x="8" y="12"/>
                          </a:lnTo>
                          <a:lnTo>
                            <a:pt x="7" y="13"/>
                          </a:lnTo>
                          <a:lnTo>
                            <a:pt x="5" y="14"/>
                          </a:lnTo>
                          <a:lnTo>
                            <a:pt x="3" y="15"/>
                          </a:lnTo>
                          <a:lnTo>
                            <a:pt x="2" y="15"/>
                          </a:lnTo>
                          <a:lnTo>
                            <a:pt x="2" y="16"/>
                          </a:lnTo>
                          <a:lnTo>
                            <a:pt x="1" y="18"/>
                          </a:lnTo>
                          <a:lnTo>
                            <a:pt x="0" y="16"/>
                          </a:lnTo>
                          <a:lnTo>
                            <a:pt x="1" y="15"/>
                          </a:lnTo>
                          <a:lnTo>
                            <a:pt x="1" y="13"/>
                          </a:lnTo>
                          <a:lnTo>
                            <a:pt x="1" y="12"/>
                          </a:lnTo>
                          <a:lnTo>
                            <a:pt x="1" y="10"/>
                          </a:lnTo>
                          <a:lnTo>
                            <a:pt x="2" y="10"/>
                          </a:lnTo>
                          <a:lnTo>
                            <a:pt x="3" y="10"/>
                          </a:lnTo>
                          <a:lnTo>
                            <a:pt x="4" y="9"/>
                          </a:lnTo>
                          <a:lnTo>
                            <a:pt x="3" y="8"/>
                          </a:lnTo>
                          <a:lnTo>
                            <a:pt x="3" y="6"/>
                          </a:lnTo>
                          <a:lnTo>
                            <a:pt x="3" y="5"/>
                          </a:lnTo>
                          <a:lnTo>
                            <a:pt x="3" y="3"/>
                          </a:lnTo>
                          <a:lnTo>
                            <a:pt x="4" y="1"/>
                          </a:lnTo>
                          <a:lnTo>
                            <a:pt x="6" y="0"/>
                          </a:lnTo>
                          <a:lnTo>
                            <a:pt x="7" y="0"/>
                          </a:lnTo>
                          <a:lnTo>
                            <a:pt x="9" y="1"/>
                          </a:lnTo>
                          <a:lnTo>
                            <a:pt x="10" y="2"/>
                          </a:lnTo>
                        </a:path>
                      </a:pathLst>
                    </a:custGeom>
                    <a:solidFill>
                      <a:srgbClr val="FF7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54" name="Group 98"/>
                  <p:cNvGrpSpPr>
                    <a:grpSpLocks noChangeAspect="1"/>
                  </p:cNvGrpSpPr>
                  <p:nvPr/>
                </p:nvGrpSpPr>
                <p:grpSpPr bwMode="auto">
                  <a:xfrm>
                    <a:off x="5030" y="2248"/>
                    <a:ext cx="12" cy="10"/>
                    <a:chOff x="5030" y="2248"/>
                    <a:chExt cx="12" cy="10"/>
                  </a:xfrm>
                </p:grpSpPr>
                <p:grpSp>
                  <p:nvGrpSpPr>
                    <p:cNvPr id="277555" name="Group 99"/>
                    <p:cNvGrpSpPr>
                      <a:grpSpLocks noChangeAspect="1"/>
                    </p:cNvGrpSpPr>
                    <p:nvPr/>
                  </p:nvGrpSpPr>
                  <p:grpSpPr bwMode="auto">
                    <a:xfrm>
                      <a:off x="5030" y="2248"/>
                      <a:ext cx="12" cy="10"/>
                      <a:chOff x="5030" y="2248"/>
                      <a:chExt cx="12" cy="10"/>
                    </a:xfrm>
                  </p:grpSpPr>
                  <p:sp>
                    <p:nvSpPr>
                      <p:cNvPr id="277561" name="Oval 100"/>
                      <p:cNvSpPr>
                        <a:spLocks noChangeAspect="1" noChangeArrowheads="1"/>
                      </p:cNvSpPr>
                      <p:nvPr/>
                    </p:nvSpPr>
                    <p:spPr bwMode="auto">
                      <a:xfrm>
                        <a:off x="5032" y="2248"/>
                        <a:ext cx="10" cy="10"/>
                      </a:xfrm>
                      <a:prstGeom prst="ellipse">
                        <a:avLst/>
                      </a:prstGeom>
                      <a:solidFill>
                        <a:srgbClr val="9F3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77562" name="Oval 101"/>
                      <p:cNvSpPr>
                        <a:spLocks noChangeAspect="1" noChangeArrowheads="1"/>
                      </p:cNvSpPr>
                      <p:nvPr/>
                    </p:nvSpPr>
                    <p:spPr bwMode="auto">
                      <a:xfrm>
                        <a:off x="5030" y="2248"/>
                        <a:ext cx="12" cy="10"/>
                      </a:xfrm>
                      <a:prstGeom prst="ellipse">
                        <a:avLst/>
                      </a:prstGeom>
                      <a:solidFill>
                        <a:srgbClr val="FFFF9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grpSp>
                  <p:nvGrpSpPr>
                    <p:cNvPr id="277556" name="Group 102"/>
                    <p:cNvGrpSpPr>
                      <a:grpSpLocks noChangeAspect="1"/>
                    </p:cNvGrpSpPr>
                    <p:nvPr/>
                  </p:nvGrpSpPr>
                  <p:grpSpPr bwMode="auto">
                    <a:xfrm>
                      <a:off x="5031" y="2248"/>
                      <a:ext cx="11" cy="10"/>
                      <a:chOff x="5031" y="2248"/>
                      <a:chExt cx="11" cy="10"/>
                    </a:xfrm>
                  </p:grpSpPr>
                  <p:sp>
                    <p:nvSpPr>
                      <p:cNvPr id="277557" name="Oval 103"/>
                      <p:cNvSpPr>
                        <a:spLocks noChangeAspect="1" noChangeArrowheads="1"/>
                      </p:cNvSpPr>
                      <p:nvPr/>
                    </p:nvSpPr>
                    <p:spPr bwMode="auto">
                      <a:xfrm>
                        <a:off x="5031" y="2248"/>
                        <a:ext cx="11" cy="10"/>
                      </a:xfrm>
                      <a:prstGeom prst="ellipse">
                        <a:avLst/>
                      </a:prstGeom>
                      <a:solidFill>
                        <a:srgbClr val="FF9F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77558" name="Arc 104"/>
                      <p:cNvSpPr>
                        <a:spLocks noChangeAspect="1"/>
                      </p:cNvSpPr>
                      <p:nvPr/>
                    </p:nvSpPr>
                    <p:spPr bwMode="auto">
                      <a:xfrm>
                        <a:off x="5037" y="2251"/>
                        <a:ext cx="3" cy="7"/>
                      </a:xfrm>
                      <a:custGeom>
                        <a:avLst/>
                        <a:gdLst>
                          <a:gd name="T0" fmla="*/ 0 w 35824"/>
                          <a:gd name="T1" fmla="*/ 0 h 43200"/>
                          <a:gd name="T2" fmla="*/ 0 w 35824"/>
                          <a:gd name="T3" fmla="*/ 0 h 43200"/>
                          <a:gd name="T4" fmla="*/ 0 w 35824"/>
                          <a:gd name="T5" fmla="*/ 0 h 43200"/>
                          <a:gd name="T6" fmla="*/ 0 60000 65536"/>
                          <a:gd name="T7" fmla="*/ 0 60000 65536"/>
                          <a:gd name="T8" fmla="*/ 0 60000 65536"/>
                        </a:gdLst>
                        <a:ahLst/>
                        <a:cxnLst>
                          <a:cxn ang="T6">
                            <a:pos x="T0" y="T1"/>
                          </a:cxn>
                          <a:cxn ang="T7">
                            <a:pos x="T2" y="T3"/>
                          </a:cxn>
                          <a:cxn ang="T8">
                            <a:pos x="T4" y="T5"/>
                          </a:cxn>
                        </a:cxnLst>
                        <a:rect l="0" t="0" r="r" b="b"/>
                        <a:pathLst>
                          <a:path w="35824" h="43200" fill="none" extrusionOk="0">
                            <a:moveTo>
                              <a:pt x="5566" y="1811"/>
                            </a:moveTo>
                            <a:cubicBezTo>
                              <a:pt x="8296" y="616"/>
                              <a:pt x="11243" y="0"/>
                              <a:pt x="14224" y="0"/>
                            </a:cubicBezTo>
                            <a:cubicBezTo>
                              <a:pt x="26153" y="0"/>
                              <a:pt x="35824" y="9670"/>
                              <a:pt x="35824" y="21600"/>
                            </a:cubicBezTo>
                            <a:cubicBezTo>
                              <a:pt x="35824" y="33529"/>
                              <a:pt x="26153" y="43200"/>
                              <a:pt x="14224" y="43200"/>
                            </a:cubicBezTo>
                            <a:cubicBezTo>
                              <a:pt x="8991" y="43199"/>
                              <a:pt x="3937" y="41300"/>
                              <a:pt x="0" y="37855"/>
                            </a:cubicBezTo>
                          </a:path>
                          <a:path w="35824" h="43200" stroke="0" extrusionOk="0">
                            <a:moveTo>
                              <a:pt x="5566" y="1811"/>
                            </a:moveTo>
                            <a:cubicBezTo>
                              <a:pt x="8296" y="616"/>
                              <a:pt x="11243" y="0"/>
                              <a:pt x="14224" y="0"/>
                            </a:cubicBezTo>
                            <a:cubicBezTo>
                              <a:pt x="26153" y="0"/>
                              <a:pt x="35824" y="9670"/>
                              <a:pt x="35824" y="21600"/>
                            </a:cubicBezTo>
                            <a:cubicBezTo>
                              <a:pt x="35824" y="33529"/>
                              <a:pt x="26153" y="43200"/>
                              <a:pt x="14224" y="43200"/>
                            </a:cubicBezTo>
                            <a:cubicBezTo>
                              <a:pt x="8991" y="43199"/>
                              <a:pt x="3937" y="41300"/>
                              <a:pt x="0" y="37855"/>
                            </a:cubicBezTo>
                            <a:lnTo>
                              <a:pt x="14224" y="21600"/>
                            </a:lnTo>
                            <a:lnTo>
                              <a:pt x="5566" y="1811"/>
                            </a:lnTo>
                            <a:close/>
                          </a:path>
                        </a:pathLst>
                      </a:custGeom>
                      <a:solidFill>
                        <a:srgbClr val="FFBF1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559" name="Arc 105"/>
                      <p:cNvSpPr>
                        <a:spLocks noChangeAspect="1"/>
                      </p:cNvSpPr>
                      <p:nvPr/>
                    </p:nvSpPr>
                    <p:spPr bwMode="auto">
                      <a:xfrm>
                        <a:off x="5035" y="2251"/>
                        <a:ext cx="0" cy="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lnTo>
                              <a:pt x="43200" y="21600"/>
                            </a:lnTo>
                            <a:close/>
                          </a:path>
                        </a:pathLst>
                      </a:custGeom>
                      <a:solidFill>
                        <a:srgbClr val="BF7F1F"/>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560" name="Oval 106"/>
                      <p:cNvSpPr>
                        <a:spLocks noChangeAspect="1" noChangeArrowheads="1"/>
                      </p:cNvSpPr>
                      <p:nvPr/>
                    </p:nvSpPr>
                    <p:spPr bwMode="auto">
                      <a:xfrm>
                        <a:off x="5033" y="2250"/>
                        <a:ext cx="1" cy="2"/>
                      </a:xfrm>
                      <a:prstGeom prst="ellipse">
                        <a:avLst/>
                      </a:prstGeom>
                      <a:solidFill>
                        <a:srgbClr val="FFFF9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grpSp>
              </p:grpSp>
            </p:grpSp>
          </p:grpSp>
          <p:grpSp>
            <p:nvGrpSpPr>
              <p:cNvPr id="277525" name="Group 107"/>
              <p:cNvGrpSpPr>
                <a:grpSpLocks noChangeAspect="1"/>
              </p:cNvGrpSpPr>
              <p:nvPr/>
            </p:nvGrpSpPr>
            <p:grpSpPr bwMode="auto">
              <a:xfrm>
                <a:off x="4875" y="2399"/>
                <a:ext cx="247" cy="188"/>
                <a:chOff x="4875" y="2399"/>
                <a:chExt cx="247" cy="188"/>
              </a:xfrm>
            </p:grpSpPr>
            <p:grpSp>
              <p:nvGrpSpPr>
                <p:cNvPr id="277541" name="Group 108"/>
                <p:cNvGrpSpPr>
                  <a:grpSpLocks noChangeAspect="1"/>
                </p:cNvGrpSpPr>
                <p:nvPr/>
              </p:nvGrpSpPr>
              <p:grpSpPr bwMode="auto">
                <a:xfrm>
                  <a:off x="4875" y="2399"/>
                  <a:ext cx="87" cy="83"/>
                  <a:chOff x="4875" y="2399"/>
                  <a:chExt cx="87" cy="83"/>
                </a:xfrm>
              </p:grpSpPr>
              <p:sp>
                <p:nvSpPr>
                  <p:cNvPr id="277545" name="Freeform 109"/>
                  <p:cNvSpPr>
                    <a:spLocks noChangeAspect="1"/>
                  </p:cNvSpPr>
                  <p:nvPr/>
                </p:nvSpPr>
                <p:spPr bwMode="auto">
                  <a:xfrm>
                    <a:off x="4875" y="2399"/>
                    <a:ext cx="87" cy="83"/>
                  </a:xfrm>
                  <a:custGeom>
                    <a:avLst/>
                    <a:gdLst>
                      <a:gd name="T0" fmla="*/ 17 w 87"/>
                      <a:gd name="T1" fmla="*/ 5 h 83"/>
                      <a:gd name="T2" fmla="*/ 27 w 87"/>
                      <a:gd name="T3" fmla="*/ 17 h 83"/>
                      <a:gd name="T4" fmla="*/ 30 w 87"/>
                      <a:gd name="T5" fmla="*/ 21 h 83"/>
                      <a:gd name="T6" fmla="*/ 36 w 87"/>
                      <a:gd name="T7" fmla="*/ 26 h 83"/>
                      <a:gd name="T8" fmla="*/ 39 w 87"/>
                      <a:gd name="T9" fmla="*/ 27 h 83"/>
                      <a:gd name="T10" fmla="*/ 42 w 87"/>
                      <a:gd name="T11" fmla="*/ 28 h 83"/>
                      <a:gd name="T12" fmla="*/ 42 w 87"/>
                      <a:gd name="T13" fmla="*/ 4 h 83"/>
                      <a:gd name="T14" fmla="*/ 86 w 87"/>
                      <a:gd name="T15" fmla="*/ 24 h 83"/>
                      <a:gd name="T16" fmla="*/ 67 w 87"/>
                      <a:gd name="T17" fmla="*/ 74 h 83"/>
                      <a:gd name="T18" fmla="*/ 52 w 87"/>
                      <a:gd name="T19" fmla="*/ 82 h 83"/>
                      <a:gd name="T20" fmla="*/ 46 w 87"/>
                      <a:gd name="T21" fmla="*/ 75 h 83"/>
                      <a:gd name="T22" fmla="*/ 39 w 87"/>
                      <a:gd name="T23" fmla="*/ 68 h 83"/>
                      <a:gd name="T24" fmla="*/ 32 w 87"/>
                      <a:gd name="T25" fmla="*/ 63 h 83"/>
                      <a:gd name="T26" fmla="*/ 26 w 87"/>
                      <a:gd name="T27" fmla="*/ 54 h 83"/>
                      <a:gd name="T28" fmla="*/ 20 w 87"/>
                      <a:gd name="T29" fmla="*/ 45 h 83"/>
                      <a:gd name="T30" fmla="*/ 16 w 87"/>
                      <a:gd name="T31" fmla="*/ 35 h 83"/>
                      <a:gd name="T32" fmla="*/ 10 w 87"/>
                      <a:gd name="T33" fmla="*/ 26 h 83"/>
                      <a:gd name="T34" fmla="*/ 6 w 87"/>
                      <a:gd name="T35" fmla="*/ 21 h 83"/>
                      <a:gd name="T36" fmla="*/ 4 w 87"/>
                      <a:gd name="T37" fmla="*/ 18 h 83"/>
                      <a:gd name="T38" fmla="*/ 0 w 87"/>
                      <a:gd name="T39" fmla="*/ 0 h 83"/>
                      <a:gd name="T40" fmla="*/ 17 w 87"/>
                      <a:gd name="T41" fmla="*/ 5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7" h="83">
                        <a:moveTo>
                          <a:pt x="17" y="5"/>
                        </a:moveTo>
                        <a:lnTo>
                          <a:pt x="27" y="17"/>
                        </a:lnTo>
                        <a:lnTo>
                          <a:pt x="30" y="21"/>
                        </a:lnTo>
                        <a:lnTo>
                          <a:pt x="36" y="26"/>
                        </a:lnTo>
                        <a:lnTo>
                          <a:pt x="39" y="27"/>
                        </a:lnTo>
                        <a:lnTo>
                          <a:pt x="42" y="28"/>
                        </a:lnTo>
                        <a:lnTo>
                          <a:pt x="42" y="4"/>
                        </a:lnTo>
                        <a:lnTo>
                          <a:pt x="86" y="24"/>
                        </a:lnTo>
                        <a:lnTo>
                          <a:pt x="67" y="74"/>
                        </a:lnTo>
                        <a:lnTo>
                          <a:pt x="52" y="82"/>
                        </a:lnTo>
                        <a:lnTo>
                          <a:pt x="46" y="75"/>
                        </a:lnTo>
                        <a:lnTo>
                          <a:pt x="39" y="68"/>
                        </a:lnTo>
                        <a:lnTo>
                          <a:pt x="32" y="63"/>
                        </a:lnTo>
                        <a:lnTo>
                          <a:pt x="26" y="54"/>
                        </a:lnTo>
                        <a:lnTo>
                          <a:pt x="20" y="45"/>
                        </a:lnTo>
                        <a:lnTo>
                          <a:pt x="16" y="35"/>
                        </a:lnTo>
                        <a:lnTo>
                          <a:pt x="10" y="26"/>
                        </a:lnTo>
                        <a:lnTo>
                          <a:pt x="6" y="21"/>
                        </a:lnTo>
                        <a:lnTo>
                          <a:pt x="4" y="18"/>
                        </a:lnTo>
                        <a:lnTo>
                          <a:pt x="0" y="0"/>
                        </a:lnTo>
                        <a:lnTo>
                          <a:pt x="17" y="5"/>
                        </a:lnTo>
                      </a:path>
                    </a:pathLst>
                  </a:custGeom>
                  <a:solidFill>
                    <a:srgbClr val="FF9F7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46" name="Freeform 110"/>
                  <p:cNvSpPr>
                    <a:spLocks noChangeAspect="1"/>
                  </p:cNvSpPr>
                  <p:nvPr/>
                </p:nvSpPr>
                <p:spPr bwMode="auto">
                  <a:xfrm>
                    <a:off x="4914" y="2425"/>
                    <a:ext cx="20" cy="32"/>
                  </a:xfrm>
                  <a:custGeom>
                    <a:avLst/>
                    <a:gdLst>
                      <a:gd name="T0" fmla="*/ 2 w 20"/>
                      <a:gd name="T1" fmla="*/ 0 h 32"/>
                      <a:gd name="T2" fmla="*/ 0 w 20"/>
                      <a:gd name="T3" fmla="*/ 2 h 32"/>
                      <a:gd name="T4" fmla="*/ 4 w 20"/>
                      <a:gd name="T5" fmla="*/ 8 h 32"/>
                      <a:gd name="T6" fmla="*/ 9 w 20"/>
                      <a:gd name="T7" fmla="*/ 14 h 32"/>
                      <a:gd name="T8" fmla="*/ 12 w 20"/>
                      <a:gd name="T9" fmla="*/ 19 h 32"/>
                      <a:gd name="T10" fmla="*/ 16 w 20"/>
                      <a:gd name="T11" fmla="*/ 25 h 32"/>
                      <a:gd name="T12" fmla="*/ 19 w 20"/>
                      <a:gd name="T13" fmla="*/ 31 h 32"/>
                      <a:gd name="T14" fmla="*/ 18 w 20"/>
                      <a:gd name="T15" fmla="*/ 26 h 32"/>
                      <a:gd name="T16" fmla="*/ 15 w 20"/>
                      <a:gd name="T17" fmla="*/ 19 h 32"/>
                      <a:gd name="T18" fmla="*/ 11 w 20"/>
                      <a:gd name="T19" fmla="*/ 12 h 32"/>
                      <a:gd name="T20" fmla="*/ 6 w 20"/>
                      <a:gd name="T21" fmla="*/ 5 h 32"/>
                      <a:gd name="T22" fmla="*/ 2 w 20"/>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 h="32">
                        <a:moveTo>
                          <a:pt x="2" y="0"/>
                        </a:moveTo>
                        <a:lnTo>
                          <a:pt x="0" y="2"/>
                        </a:lnTo>
                        <a:lnTo>
                          <a:pt x="4" y="8"/>
                        </a:lnTo>
                        <a:lnTo>
                          <a:pt x="9" y="14"/>
                        </a:lnTo>
                        <a:lnTo>
                          <a:pt x="12" y="19"/>
                        </a:lnTo>
                        <a:lnTo>
                          <a:pt x="16" y="25"/>
                        </a:lnTo>
                        <a:lnTo>
                          <a:pt x="19" y="31"/>
                        </a:lnTo>
                        <a:lnTo>
                          <a:pt x="18" y="26"/>
                        </a:lnTo>
                        <a:lnTo>
                          <a:pt x="15" y="19"/>
                        </a:lnTo>
                        <a:lnTo>
                          <a:pt x="11" y="12"/>
                        </a:lnTo>
                        <a:lnTo>
                          <a:pt x="6" y="5"/>
                        </a:lnTo>
                        <a:lnTo>
                          <a:pt x="2" y="0"/>
                        </a:lnTo>
                      </a:path>
                    </a:pathLst>
                  </a:custGeom>
                  <a:solidFill>
                    <a:srgbClr val="FF7F3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77542" name="Group 111"/>
                <p:cNvGrpSpPr>
                  <a:grpSpLocks noChangeAspect="1"/>
                </p:cNvGrpSpPr>
                <p:nvPr/>
              </p:nvGrpSpPr>
              <p:grpSpPr bwMode="auto">
                <a:xfrm>
                  <a:off x="5056" y="2421"/>
                  <a:ext cx="66" cy="166"/>
                  <a:chOff x="5056" y="2421"/>
                  <a:chExt cx="66" cy="166"/>
                </a:xfrm>
              </p:grpSpPr>
              <p:sp>
                <p:nvSpPr>
                  <p:cNvPr id="277543" name="Freeform 112"/>
                  <p:cNvSpPr>
                    <a:spLocks noChangeAspect="1"/>
                  </p:cNvSpPr>
                  <p:nvPr/>
                </p:nvSpPr>
                <p:spPr bwMode="auto">
                  <a:xfrm>
                    <a:off x="5056" y="2421"/>
                    <a:ext cx="66" cy="166"/>
                  </a:xfrm>
                  <a:custGeom>
                    <a:avLst/>
                    <a:gdLst>
                      <a:gd name="T0" fmla="*/ 36 w 66"/>
                      <a:gd name="T1" fmla="*/ 24 h 166"/>
                      <a:gd name="T2" fmla="*/ 37 w 66"/>
                      <a:gd name="T3" fmla="*/ 27 h 166"/>
                      <a:gd name="T4" fmla="*/ 36 w 66"/>
                      <a:gd name="T5" fmla="*/ 33 h 166"/>
                      <a:gd name="T6" fmla="*/ 34 w 66"/>
                      <a:gd name="T7" fmla="*/ 43 h 166"/>
                      <a:gd name="T8" fmla="*/ 33 w 66"/>
                      <a:gd name="T9" fmla="*/ 50 h 166"/>
                      <a:gd name="T10" fmla="*/ 31 w 66"/>
                      <a:gd name="T11" fmla="*/ 56 h 166"/>
                      <a:gd name="T12" fmla="*/ 30 w 66"/>
                      <a:gd name="T13" fmla="*/ 62 h 166"/>
                      <a:gd name="T14" fmla="*/ 28 w 66"/>
                      <a:gd name="T15" fmla="*/ 69 h 166"/>
                      <a:gd name="T16" fmla="*/ 25 w 66"/>
                      <a:gd name="T17" fmla="*/ 74 h 166"/>
                      <a:gd name="T18" fmla="*/ 23 w 66"/>
                      <a:gd name="T19" fmla="*/ 80 h 166"/>
                      <a:gd name="T20" fmla="*/ 21 w 66"/>
                      <a:gd name="T21" fmla="*/ 84 h 166"/>
                      <a:gd name="T22" fmla="*/ 20 w 66"/>
                      <a:gd name="T23" fmla="*/ 89 h 166"/>
                      <a:gd name="T24" fmla="*/ 18 w 66"/>
                      <a:gd name="T25" fmla="*/ 95 h 166"/>
                      <a:gd name="T26" fmla="*/ 16 w 66"/>
                      <a:gd name="T27" fmla="*/ 102 h 166"/>
                      <a:gd name="T28" fmla="*/ 13 w 66"/>
                      <a:gd name="T29" fmla="*/ 108 h 166"/>
                      <a:gd name="T30" fmla="*/ 12 w 66"/>
                      <a:gd name="T31" fmla="*/ 111 h 166"/>
                      <a:gd name="T32" fmla="*/ 8 w 66"/>
                      <a:gd name="T33" fmla="*/ 115 h 166"/>
                      <a:gd name="T34" fmla="*/ 0 w 66"/>
                      <a:gd name="T35" fmla="*/ 123 h 166"/>
                      <a:gd name="T36" fmla="*/ 0 w 66"/>
                      <a:gd name="T37" fmla="*/ 165 h 166"/>
                      <a:gd name="T38" fmla="*/ 4 w 66"/>
                      <a:gd name="T39" fmla="*/ 162 h 166"/>
                      <a:gd name="T40" fmla="*/ 7 w 66"/>
                      <a:gd name="T41" fmla="*/ 157 h 166"/>
                      <a:gd name="T42" fmla="*/ 9 w 66"/>
                      <a:gd name="T43" fmla="*/ 152 h 166"/>
                      <a:gd name="T44" fmla="*/ 12 w 66"/>
                      <a:gd name="T45" fmla="*/ 148 h 166"/>
                      <a:gd name="T46" fmla="*/ 14 w 66"/>
                      <a:gd name="T47" fmla="*/ 146 h 166"/>
                      <a:gd name="T48" fmla="*/ 16 w 66"/>
                      <a:gd name="T49" fmla="*/ 144 h 166"/>
                      <a:gd name="T50" fmla="*/ 18 w 66"/>
                      <a:gd name="T51" fmla="*/ 141 h 166"/>
                      <a:gd name="T52" fmla="*/ 20 w 66"/>
                      <a:gd name="T53" fmla="*/ 140 h 166"/>
                      <a:gd name="T54" fmla="*/ 21 w 66"/>
                      <a:gd name="T55" fmla="*/ 138 h 166"/>
                      <a:gd name="T56" fmla="*/ 21 w 66"/>
                      <a:gd name="T57" fmla="*/ 136 h 166"/>
                      <a:gd name="T58" fmla="*/ 23 w 66"/>
                      <a:gd name="T59" fmla="*/ 133 h 166"/>
                      <a:gd name="T60" fmla="*/ 25 w 66"/>
                      <a:gd name="T61" fmla="*/ 129 h 166"/>
                      <a:gd name="T62" fmla="*/ 28 w 66"/>
                      <a:gd name="T63" fmla="*/ 122 h 166"/>
                      <a:gd name="T64" fmla="*/ 33 w 66"/>
                      <a:gd name="T65" fmla="*/ 113 h 166"/>
                      <a:gd name="T66" fmla="*/ 39 w 66"/>
                      <a:gd name="T67" fmla="*/ 105 h 166"/>
                      <a:gd name="T68" fmla="*/ 46 w 66"/>
                      <a:gd name="T69" fmla="*/ 95 h 166"/>
                      <a:gd name="T70" fmla="*/ 51 w 66"/>
                      <a:gd name="T71" fmla="*/ 88 h 166"/>
                      <a:gd name="T72" fmla="*/ 58 w 66"/>
                      <a:gd name="T73" fmla="*/ 79 h 166"/>
                      <a:gd name="T74" fmla="*/ 60 w 66"/>
                      <a:gd name="T75" fmla="*/ 76 h 166"/>
                      <a:gd name="T76" fmla="*/ 61 w 66"/>
                      <a:gd name="T77" fmla="*/ 74 h 166"/>
                      <a:gd name="T78" fmla="*/ 61 w 66"/>
                      <a:gd name="T79" fmla="*/ 70 h 166"/>
                      <a:gd name="T80" fmla="*/ 62 w 66"/>
                      <a:gd name="T81" fmla="*/ 59 h 166"/>
                      <a:gd name="T82" fmla="*/ 63 w 66"/>
                      <a:gd name="T83" fmla="*/ 49 h 166"/>
                      <a:gd name="T84" fmla="*/ 64 w 66"/>
                      <a:gd name="T85" fmla="*/ 39 h 166"/>
                      <a:gd name="T86" fmla="*/ 65 w 66"/>
                      <a:gd name="T87" fmla="*/ 26 h 166"/>
                      <a:gd name="T88" fmla="*/ 65 w 66"/>
                      <a:gd name="T89" fmla="*/ 17 h 166"/>
                      <a:gd name="T90" fmla="*/ 64 w 66"/>
                      <a:gd name="T91" fmla="*/ 0 h 166"/>
                      <a:gd name="T92" fmla="*/ 36 w 66"/>
                      <a:gd name="T93" fmla="*/ 24 h 16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66" h="166">
                        <a:moveTo>
                          <a:pt x="36" y="24"/>
                        </a:moveTo>
                        <a:lnTo>
                          <a:pt x="37" y="27"/>
                        </a:lnTo>
                        <a:lnTo>
                          <a:pt x="36" y="33"/>
                        </a:lnTo>
                        <a:lnTo>
                          <a:pt x="34" y="43"/>
                        </a:lnTo>
                        <a:lnTo>
                          <a:pt x="33" y="50"/>
                        </a:lnTo>
                        <a:lnTo>
                          <a:pt x="31" y="56"/>
                        </a:lnTo>
                        <a:lnTo>
                          <a:pt x="30" y="62"/>
                        </a:lnTo>
                        <a:lnTo>
                          <a:pt x="28" y="69"/>
                        </a:lnTo>
                        <a:lnTo>
                          <a:pt x="25" y="74"/>
                        </a:lnTo>
                        <a:lnTo>
                          <a:pt x="23" y="80"/>
                        </a:lnTo>
                        <a:lnTo>
                          <a:pt x="21" y="84"/>
                        </a:lnTo>
                        <a:lnTo>
                          <a:pt x="20" y="89"/>
                        </a:lnTo>
                        <a:lnTo>
                          <a:pt x="18" y="95"/>
                        </a:lnTo>
                        <a:lnTo>
                          <a:pt x="16" y="102"/>
                        </a:lnTo>
                        <a:lnTo>
                          <a:pt x="13" y="108"/>
                        </a:lnTo>
                        <a:lnTo>
                          <a:pt x="12" y="111"/>
                        </a:lnTo>
                        <a:lnTo>
                          <a:pt x="8" y="115"/>
                        </a:lnTo>
                        <a:lnTo>
                          <a:pt x="0" y="123"/>
                        </a:lnTo>
                        <a:lnTo>
                          <a:pt x="0" y="165"/>
                        </a:lnTo>
                        <a:lnTo>
                          <a:pt x="4" y="162"/>
                        </a:lnTo>
                        <a:lnTo>
                          <a:pt x="7" y="157"/>
                        </a:lnTo>
                        <a:lnTo>
                          <a:pt x="9" y="152"/>
                        </a:lnTo>
                        <a:lnTo>
                          <a:pt x="12" y="148"/>
                        </a:lnTo>
                        <a:lnTo>
                          <a:pt x="14" y="146"/>
                        </a:lnTo>
                        <a:lnTo>
                          <a:pt x="16" y="144"/>
                        </a:lnTo>
                        <a:lnTo>
                          <a:pt x="18" y="141"/>
                        </a:lnTo>
                        <a:lnTo>
                          <a:pt x="20" y="140"/>
                        </a:lnTo>
                        <a:lnTo>
                          <a:pt x="21" y="138"/>
                        </a:lnTo>
                        <a:lnTo>
                          <a:pt x="21" y="136"/>
                        </a:lnTo>
                        <a:lnTo>
                          <a:pt x="23" y="133"/>
                        </a:lnTo>
                        <a:lnTo>
                          <a:pt x="25" y="129"/>
                        </a:lnTo>
                        <a:lnTo>
                          <a:pt x="28" y="122"/>
                        </a:lnTo>
                        <a:lnTo>
                          <a:pt x="33" y="113"/>
                        </a:lnTo>
                        <a:lnTo>
                          <a:pt x="39" y="105"/>
                        </a:lnTo>
                        <a:lnTo>
                          <a:pt x="46" y="95"/>
                        </a:lnTo>
                        <a:lnTo>
                          <a:pt x="51" y="88"/>
                        </a:lnTo>
                        <a:lnTo>
                          <a:pt x="58" y="79"/>
                        </a:lnTo>
                        <a:lnTo>
                          <a:pt x="60" y="76"/>
                        </a:lnTo>
                        <a:lnTo>
                          <a:pt x="61" y="74"/>
                        </a:lnTo>
                        <a:lnTo>
                          <a:pt x="61" y="70"/>
                        </a:lnTo>
                        <a:lnTo>
                          <a:pt x="62" y="59"/>
                        </a:lnTo>
                        <a:lnTo>
                          <a:pt x="63" y="49"/>
                        </a:lnTo>
                        <a:lnTo>
                          <a:pt x="64" y="39"/>
                        </a:lnTo>
                        <a:lnTo>
                          <a:pt x="65" y="26"/>
                        </a:lnTo>
                        <a:lnTo>
                          <a:pt x="65" y="17"/>
                        </a:lnTo>
                        <a:lnTo>
                          <a:pt x="64" y="0"/>
                        </a:lnTo>
                        <a:lnTo>
                          <a:pt x="36" y="24"/>
                        </a:lnTo>
                      </a:path>
                    </a:pathLst>
                  </a:custGeom>
                  <a:solidFill>
                    <a:srgbClr val="FF9F7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44" name="Freeform 113"/>
                  <p:cNvSpPr>
                    <a:spLocks noChangeAspect="1"/>
                  </p:cNvSpPr>
                  <p:nvPr/>
                </p:nvSpPr>
                <p:spPr bwMode="auto">
                  <a:xfrm>
                    <a:off x="5074" y="2468"/>
                    <a:ext cx="28" cy="51"/>
                  </a:xfrm>
                  <a:custGeom>
                    <a:avLst/>
                    <a:gdLst>
                      <a:gd name="T0" fmla="*/ 0 w 28"/>
                      <a:gd name="T1" fmla="*/ 50 h 51"/>
                      <a:gd name="T2" fmla="*/ 4 w 28"/>
                      <a:gd name="T3" fmla="*/ 48 h 51"/>
                      <a:gd name="T4" fmla="*/ 8 w 28"/>
                      <a:gd name="T5" fmla="*/ 45 h 51"/>
                      <a:gd name="T6" fmla="*/ 10 w 28"/>
                      <a:gd name="T7" fmla="*/ 41 h 51"/>
                      <a:gd name="T8" fmla="*/ 12 w 28"/>
                      <a:gd name="T9" fmla="*/ 37 h 51"/>
                      <a:gd name="T10" fmla="*/ 13 w 28"/>
                      <a:gd name="T11" fmla="*/ 33 h 51"/>
                      <a:gd name="T12" fmla="*/ 13 w 28"/>
                      <a:gd name="T13" fmla="*/ 28 h 51"/>
                      <a:gd name="T14" fmla="*/ 14 w 28"/>
                      <a:gd name="T15" fmla="*/ 23 h 51"/>
                      <a:gd name="T16" fmla="*/ 15 w 28"/>
                      <a:gd name="T17" fmla="*/ 20 h 51"/>
                      <a:gd name="T18" fmla="*/ 16 w 28"/>
                      <a:gd name="T19" fmla="*/ 17 h 51"/>
                      <a:gd name="T20" fmla="*/ 18 w 28"/>
                      <a:gd name="T21" fmla="*/ 16 h 51"/>
                      <a:gd name="T22" fmla="*/ 18 w 28"/>
                      <a:gd name="T23" fmla="*/ 12 h 51"/>
                      <a:gd name="T24" fmla="*/ 20 w 28"/>
                      <a:gd name="T25" fmla="*/ 10 h 51"/>
                      <a:gd name="T26" fmla="*/ 21 w 28"/>
                      <a:gd name="T27" fmla="*/ 7 h 51"/>
                      <a:gd name="T28" fmla="*/ 24 w 28"/>
                      <a:gd name="T29" fmla="*/ 6 h 51"/>
                      <a:gd name="T30" fmla="*/ 26 w 28"/>
                      <a:gd name="T31" fmla="*/ 5 h 51"/>
                      <a:gd name="T32" fmla="*/ 26 w 28"/>
                      <a:gd name="T33" fmla="*/ 3 h 51"/>
                      <a:gd name="T34" fmla="*/ 27 w 28"/>
                      <a:gd name="T35" fmla="*/ 0 h 51"/>
                      <a:gd name="T36" fmla="*/ 25 w 28"/>
                      <a:gd name="T37" fmla="*/ 1 h 51"/>
                      <a:gd name="T38" fmla="*/ 23 w 28"/>
                      <a:gd name="T39" fmla="*/ 2 h 51"/>
                      <a:gd name="T40" fmla="*/ 20 w 28"/>
                      <a:gd name="T41" fmla="*/ 3 h 51"/>
                      <a:gd name="T42" fmla="*/ 17 w 28"/>
                      <a:gd name="T43" fmla="*/ 2 h 51"/>
                      <a:gd name="T44" fmla="*/ 15 w 28"/>
                      <a:gd name="T45" fmla="*/ 0 h 51"/>
                      <a:gd name="T46" fmla="*/ 14 w 28"/>
                      <a:gd name="T47" fmla="*/ 7 h 51"/>
                      <a:gd name="T48" fmla="*/ 12 w 28"/>
                      <a:gd name="T49" fmla="*/ 13 h 51"/>
                      <a:gd name="T50" fmla="*/ 11 w 28"/>
                      <a:gd name="T51" fmla="*/ 19 h 51"/>
                      <a:gd name="T52" fmla="*/ 10 w 28"/>
                      <a:gd name="T53" fmla="*/ 23 h 51"/>
                      <a:gd name="T54" fmla="*/ 8 w 28"/>
                      <a:gd name="T55" fmla="*/ 27 h 51"/>
                      <a:gd name="T56" fmla="*/ 6 w 28"/>
                      <a:gd name="T57" fmla="*/ 30 h 51"/>
                      <a:gd name="T58" fmla="*/ 4 w 28"/>
                      <a:gd name="T59" fmla="*/ 34 h 51"/>
                      <a:gd name="T60" fmla="*/ 3 w 28"/>
                      <a:gd name="T61" fmla="*/ 40 h 51"/>
                      <a:gd name="T62" fmla="*/ 1 w 28"/>
                      <a:gd name="T63" fmla="*/ 45 h 51"/>
                      <a:gd name="T64" fmla="*/ 0 w 28"/>
                      <a:gd name="T65" fmla="*/ 50 h 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8" h="51">
                        <a:moveTo>
                          <a:pt x="0" y="50"/>
                        </a:moveTo>
                        <a:lnTo>
                          <a:pt x="4" y="48"/>
                        </a:lnTo>
                        <a:lnTo>
                          <a:pt x="8" y="45"/>
                        </a:lnTo>
                        <a:lnTo>
                          <a:pt x="10" y="41"/>
                        </a:lnTo>
                        <a:lnTo>
                          <a:pt x="12" y="37"/>
                        </a:lnTo>
                        <a:lnTo>
                          <a:pt x="13" y="33"/>
                        </a:lnTo>
                        <a:lnTo>
                          <a:pt x="13" y="28"/>
                        </a:lnTo>
                        <a:lnTo>
                          <a:pt x="14" y="23"/>
                        </a:lnTo>
                        <a:lnTo>
                          <a:pt x="15" y="20"/>
                        </a:lnTo>
                        <a:lnTo>
                          <a:pt x="16" y="17"/>
                        </a:lnTo>
                        <a:lnTo>
                          <a:pt x="18" y="16"/>
                        </a:lnTo>
                        <a:lnTo>
                          <a:pt x="18" y="12"/>
                        </a:lnTo>
                        <a:lnTo>
                          <a:pt x="20" y="10"/>
                        </a:lnTo>
                        <a:lnTo>
                          <a:pt x="21" y="7"/>
                        </a:lnTo>
                        <a:lnTo>
                          <a:pt x="24" y="6"/>
                        </a:lnTo>
                        <a:lnTo>
                          <a:pt x="26" y="5"/>
                        </a:lnTo>
                        <a:lnTo>
                          <a:pt x="26" y="3"/>
                        </a:lnTo>
                        <a:lnTo>
                          <a:pt x="27" y="0"/>
                        </a:lnTo>
                        <a:lnTo>
                          <a:pt x="25" y="1"/>
                        </a:lnTo>
                        <a:lnTo>
                          <a:pt x="23" y="2"/>
                        </a:lnTo>
                        <a:lnTo>
                          <a:pt x="20" y="3"/>
                        </a:lnTo>
                        <a:lnTo>
                          <a:pt x="17" y="2"/>
                        </a:lnTo>
                        <a:lnTo>
                          <a:pt x="15" y="0"/>
                        </a:lnTo>
                        <a:lnTo>
                          <a:pt x="14" y="7"/>
                        </a:lnTo>
                        <a:lnTo>
                          <a:pt x="12" y="13"/>
                        </a:lnTo>
                        <a:lnTo>
                          <a:pt x="11" y="19"/>
                        </a:lnTo>
                        <a:lnTo>
                          <a:pt x="10" y="23"/>
                        </a:lnTo>
                        <a:lnTo>
                          <a:pt x="8" y="27"/>
                        </a:lnTo>
                        <a:lnTo>
                          <a:pt x="6" y="30"/>
                        </a:lnTo>
                        <a:lnTo>
                          <a:pt x="4" y="34"/>
                        </a:lnTo>
                        <a:lnTo>
                          <a:pt x="3" y="40"/>
                        </a:lnTo>
                        <a:lnTo>
                          <a:pt x="1" y="45"/>
                        </a:lnTo>
                        <a:lnTo>
                          <a:pt x="0" y="50"/>
                        </a:lnTo>
                      </a:path>
                    </a:pathLst>
                  </a:custGeom>
                  <a:solidFill>
                    <a:srgbClr val="FF8F6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77526" name="Group 114"/>
              <p:cNvGrpSpPr>
                <a:grpSpLocks noChangeAspect="1"/>
              </p:cNvGrpSpPr>
              <p:nvPr/>
            </p:nvGrpSpPr>
            <p:grpSpPr bwMode="auto">
              <a:xfrm>
                <a:off x="4914" y="2308"/>
                <a:ext cx="211" cy="237"/>
                <a:chOff x="4914" y="2308"/>
                <a:chExt cx="211" cy="237"/>
              </a:xfrm>
            </p:grpSpPr>
            <p:sp>
              <p:nvSpPr>
                <p:cNvPr id="277527" name="Freeform 115"/>
                <p:cNvSpPr>
                  <a:spLocks noChangeAspect="1"/>
                </p:cNvSpPr>
                <p:nvPr/>
              </p:nvSpPr>
              <p:spPr bwMode="auto">
                <a:xfrm>
                  <a:off x="4914" y="2308"/>
                  <a:ext cx="211" cy="237"/>
                </a:xfrm>
                <a:custGeom>
                  <a:avLst/>
                  <a:gdLst>
                    <a:gd name="T0" fmla="*/ 6 w 211"/>
                    <a:gd name="T1" fmla="*/ 106 h 237"/>
                    <a:gd name="T2" fmla="*/ 54 w 211"/>
                    <a:gd name="T3" fmla="*/ 11 h 237"/>
                    <a:gd name="T4" fmla="*/ 67 w 211"/>
                    <a:gd name="T5" fmla="*/ 8 h 237"/>
                    <a:gd name="T6" fmla="*/ 77 w 211"/>
                    <a:gd name="T7" fmla="*/ 5 h 237"/>
                    <a:gd name="T8" fmla="*/ 86 w 211"/>
                    <a:gd name="T9" fmla="*/ 1 h 237"/>
                    <a:gd name="T10" fmla="*/ 92 w 211"/>
                    <a:gd name="T11" fmla="*/ 0 h 237"/>
                    <a:gd name="T12" fmla="*/ 92 w 211"/>
                    <a:gd name="T13" fmla="*/ 4 h 237"/>
                    <a:gd name="T14" fmla="*/ 98 w 211"/>
                    <a:gd name="T15" fmla="*/ 7 h 237"/>
                    <a:gd name="T16" fmla="*/ 111 w 211"/>
                    <a:gd name="T17" fmla="*/ 10 h 237"/>
                    <a:gd name="T18" fmla="*/ 125 w 211"/>
                    <a:gd name="T19" fmla="*/ 11 h 237"/>
                    <a:gd name="T20" fmla="*/ 137 w 211"/>
                    <a:gd name="T21" fmla="*/ 11 h 237"/>
                    <a:gd name="T22" fmla="*/ 148 w 211"/>
                    <a:gd name="T23" fmla="*/ 9 h 237"/>
                    <a:gd name="T24" fmla="*/ 154 w 211"/>
                    <a:gd name="T25" fmla="*/ 7 h 237"/>
                    <a:gd name="T26" fmla="*/ 157 w 211"/>
                    <a:gd name="T27" fmla="*/ 3 h 237"/>
                    <a:gd name="T28" fmla="*/ 156 w 211"/>
                    <a:gd name="T29" fmla="*/ 0 h 237"/>
                    <a:gd name="T30" fmla="*/ 162 w 211"/>
                    <a:gd name="T31" fmla="*/ 1 h 237"/>
                    <a:gd name="T32" fmla="*/ 170 w 211"/>
                    <a:gd name="T33" fmla="*/ 5 h 237"/>
                    <a:gd name="T34" fmla="*/ 176 w 211"/>
                    <a:gd name="T35" fmla="*/ 10 h 237"/>
                    <a:gd name="T36" fmla="*/ 183 w 211"/>
                    <a:gd name="T37" fmla="*/ 14 h 237"/>
                    <a:gd name="T38" fmla="*/ 190 w 211"/>
                    <a:gd name="T39" fmla="*/ 16 h 237"/>
                    <a:gd name="T40" fmla="*/ 198 w 211"/>
                    <a:gd name="T41" fmla="*/ 19 h 237"/>
                    <a:gd name="T42" fmla="*/ 205 w 211"/>
                    <a:gd name="T43" fmla="*/ 23 h 237"/>
                    <a:gd name="T44" fmla="*/ 207 w 211"/>
                    <a:gd name="T45" fmla="*/ 29 h 237"/>
                    <a:gd name="T46" fmla="*/ 208 w 211"/>
                    <a:gd name="T47" fmla="*/ 41 h 237"/>
                    <a:gd name="T48" fmla="*/ 208 w 211"/>
                    <a:gd name="T49" fmla="*/ 78 h 237"/>
                    <a:gd name="T50" fmla="*/ 208 w 211"/>
                    <a:gd name="T51" fmla="*/ 116 h 237"/>
                    <a:gd name="T52" fmla="*/ 207 w 211"/>
                    <a:gd name="T53" fmla="*/ 137 h 237"/>
                    <a:gd name="T54" fmla="*/ 206 w 211"/>
                    <a:gd name="T55" fmla="*/ 142 h 237"/>
                    <a:gd name="T56" fmla="*/ 201 w 211"/>
                    <a:gd name="T57" fmla="*/ 144 h 237"/>
                    <a:gd name="T58" fmla="*/ 192 w 211"/>
                    <a:gd name="T59" fmla="*/ 144 h 237"/>
                    <a:gd name="T60" fmla="*/ 182 w 211"/>
                    <a:gd name="T61" fmla="*/ 146 h 237"/>
                    <a:gd name="T62" fmla="*/ 172 w 211"/>
                    <a:gd name="T63" fmla="*/ 157 h 237"/>
                    <a:gd name="T64" fmla="*/ 169 w 211"/>
                    <a:gd name="T65" fmla="*/ 171 h 237"/>
                    <a:gd name="T66" fmla="*/ 162 w 211"/>
                    <a:gd name="T67" fmla="*/ 184 h 237"/>
                    <a:gd name="T68" fmla="*/ 159 w 211"/>
                    <a:gd name="T69" fmla="*/ 190 h 237"/>
                    <a:gd name="T70" fmla="*/ 159 w 211"/>
                    <a:gd name="T71" fmla="*/ 196 h 237"/>
                    <a:gd name="T72" fmla="*/ 154 w 211"/>
                    <a:gd name="T73" fmla="*/ 200 h 237"/>
                    <a:gd name="T74" fmla="*/ 149 w 211"/>
                    <a:gd name="T75" fmla="*/ 209 h 237"/>
                    <a:gd name="T76" fmla="*/ 137 w 211"/>
                    <a:gd name="T77" fmla="*/ 234 h 237"/>
                    <a:gd name="T78" fmla="*/ 108 w 211"/>
                    <a:gd name="T79" fmla="*/ 236 h 237"/>
                    <a:gd name="T80" fmla="*/ 71 w 211"/>
                    <a:gd name="T81" fmla="*/ 235 h 237"/>
                    <a:gd name="T82" fmla="*/ 41 w 211"/>
                    <a:gd name="T83" fmla="*/ 229 h 237"/>
                    <a:gd name="T84" fmla="*/ 11 w 211"/>
                    <a:gd name="T85" fmla="*/ 218 h 237"/>
                    <a:gd name="T86" fmla="*/ 1 w 211"/>
                    <a:gd name="T87" fmla="*/ 207 h 237"/>
                    <a:gd name="T88" fmla="*/ 4 w 211"/>
                    <a:gd name="T89" fmla="*/ 197 h 237"/>
                    <a:gd name="T90" fmla="*/ 11 w 211"/>
                    <a:gd name="T91" fmla="*/ 187 h 237"/>
                    <a:gd name="T92" fmla="*/ 18 w 211"/>
                    <a:gd name="T93" fmla="*/ 180 h 237"/>
                    <a:gd name="T94" fmla="*/ 13 w 211"/>
                    <a:gd name="T95" fmla="*/ 178 h 237"/>
                    <a:gd name="T96" fmla="*/ 14 w 211"/>
                    <a:gd name="T97" fmla="*/ 169 h 237"/>
                    <a:gd name="T98" fmla="*/ 27 w 211"/>
                    <a:gd name="T99" fmla="*/ 153 h 237"/>
                    <a:gd name="T100" fmla="*/ 30 w 211"/>
                    <a:gd name="T101" fmla="*/ 143 h 237"/>
                    <a:gd name="T102" fmla="*/ 29 w 211"/>
                    <a:gd name="T103" fmla="*/ 135 h 237"/>
                    <a:gd name="T104" fmla="*/ 22 w 211"/>
                    <a:gd name="T105" fmla="*/ 129 h 237"/>
                    <a:gd name="T106" fmla="*/ 8 w 211"/>
                    <a:gd name="T107" fmla="*/ 123 h 23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11" h="237">
                      <a:moveTo>
                        <a:pt x="1" y="118"/>
                      </a:moveTo>
                      <a:lnTo>
                        <a:pt x="6" y="106"/>
                      </a:lnTo>
                      <a:lnTo>
                        <a:pt x="31" y="27"/>
                      </a:lnTo>
                      <a:lnTo>
                        <a:pt x="54" y="11"/>
                      </a:lnTo>
                      <a:lnTo>
                        <a:pt x="61" y="9"/>
                      </a:lnTo>
                      <a:lnTo>
                        <a:pt x="67" y="8"/>
                      </a:lnTo>
                      <a:lnTo>
                        <a:pt x="72" y="7"/>
                      </a:lnTo>
                      <a:lnTo>
                        <a:pt x="77" y="5"/>
                      </a:lnTo>
                      <a:lnTo>
                        <a:pt x="82" y="3"/>
                      </a:lnTo>
                      <a:lnTo>
                        <a:pt x="86" y="1"/>
                      </a:lnTo>
                      <a:lnTo>
                        <a:pt x="90" y="0"/>
                      </a:lnTo>
                      <a:lnTo>
                        <a:pt x="92" y="0"/>
                      </a:lnTo>
                      <a:lnTo>
                        <a:pt x="91" y="2"/>
                      </a:lnTo>
                      <a:lnTo>
                        <a:pt x="92" y="4"/>
                      </a:lnTo>
                      <a:lnTo>
                        <a:pt x="94" y="5"/>
                      </a:lnTo>
                      <a:lnTo>
                        <a:pt x="98" y="7"/>
                      </a:lnTo>
                      <a:lnTo>
                        <a:pt x="105" y="9"/>
                      </a:lnTo>
                      <a:lnTo>
                        <a:pt x="111" y="10"/>
                      </a:lnTo>
                      <a:lnTo>
                        <a:pt x="117" y="11"/>
                      </a:lnTo>
                      <a:lnTo>
                        <a:pt x="125" y="11"/>
                      </a:lnTo>
                      <a:lnTo>
                        <a:pt x="131" y="11"/>
                      </a:lnTo>
                      <a:lnTo>
                        <a:pt x="137" y="11"/>
                      </a:lnTo>
                      <a:lnTo>
                        <a:pt x="143" y="10"/>
                      </a:lnTo>
                      <a:lnTo>
                        <a:pt x="148" y="9"/>
                      </a:lnTo>
                      <a:lnTo>
                        <a:pt x="151" y="8"/>
                      </a:lnTo>
                      <a:lnTo>
                        <a:pt x="154" y="7"/>
                      </a:lnTo>
                      <a:lnTo>
                        <a:pt x="156" y="5"/>
                      </a:lnTo>
                      <a:lnTo>
                        <a:pt x="157" y="3"/>
                      </a:lnTo>
                      <a:lnTo>
                        <a:pt x="158" y="2"/>
                      </a:lnTo>
                      <a:lnTo>
                        <a:pt x="156" y="0"/>
                      </a:lnTo>
                      <a:lnTo>
                        <a:pt x="159" y="0"/>
                      </a:lnTo>
                      <a:lnTo>
                        <a:pt x="162" y="1"/>
                      </a:lnTo>
                      <a:lnTo>
                        <a:pt x="166" y="3"/>
                      </a:lnTo>
                      <a:lnTo>
                        <a:pt x="170" y="5"/>
                      </a:lnTo>
                      <a:lnTo>
                        <a:pt x="173" y="8"/>
                      </a:lnTo>
                      <a:lnTo>
                        <a:pt x="176" y="10"/>
                      </a:lnTo>
                      <a:lnTo>
                        <a:pt x="179" y="12"/>
                      </a:lnTo>
                      <a:lnTo>
                        <a:pt x="183" y="14"/>
                      </a:lnTo>
                      <a:lnTo>
                        <a:pt x="186" y="15"/>
                      </a:lnTo>
                      <a:lnTo>
                        <a:pt x="190" y="16"/>
                      </a:lnTo>
                      <a:lnTo>
                        <a:pt x="194" y="17"/>
                      </a:lnTo>
                      <a:lnTo>
                        <a:pt x="198" y="19"/>
                      </a:lnTo>
                      <a:lnTo>
                        <a:pt x="202" y="21"/>
                      </a:lnTo>
                      <a:lnTo>
                        <a:pt x="205" y="23"/>
                      </a:lnTo>
                      <a:lnTo>
                        <a:pt x="206" y="26"/>
                      </a:lnTo>
                      <a:lnTo>
                        <a:pt x="207" y="29"/>
                      </a:lnTo>
                      <a:lnTo>
                        <a:pt x="208" y="35"/>
                      </a:lnTo>
                      <a:lnTo>
                        <a:pt x="208" y="41"/>
                      </a:lnTo>
                      <a:lnTo>
                        <a:pt x="208" y="53"/>
                      </a:lnTo>
                      <a:lnTo>
                        <a:pt x="208" y="78"/>
                      </a:lnTo>
                      <a:lnTo>
                        <a:pt x="210" y="106"/>
                      </a:lnTo>
                      <a:lnTo>
                        <a:pt x="208" y="116"/>
                      </a:lnTo>
                      <a:lnTo>
                        <a:pt x="207" y="129"/>
                      </a:lnTo>
                      <a:lnTo>
                        <a:pt x="207" y="137"/>
                      </a:lnTo>
                      <a:lnTo>
                        <a:pt x="208" y="142"/>
                      </a:lnTo>
                      <a:lnTo>
                        <a:pt x="206" y="142"/>
                      </a:lnTo>
                      <a:lnTo>
                        <a:pt x="203" y="143"/>
                      </a:lnTo>
                      <a:lnTo>
                        <a:pt x="201" y="144"/>
                      </a:lnTo>
                      <a:lnTo>
                        <a:pt x="197" y="143"/>
                      </a:lnTo>
                      <a:lnTo>
                        <a:pt x="192" y="144"/>
                      </a:lnTo>
                      <a:lnTo>
                        <a:pt x="188" y="144"/>
                      </a:lnTo>
                      <a:lnTo>
                        <a:pt x="182" y="146"/>
                      </a:lnTo>
                      <a:lnTo>
                        <a:pt x="174" y="148"/>
                      </a:lnTo>
                      <a:lnTo>
                        <a:pt x="172" y="157"/>
                      </a:lnTo>
                      <a:lnTo>
                        <a:pt x="171" y="165"/>
                      </a:lnTo>
                      <a:lnTo>
                        <a:pt x="169" y="171"/>
                      </a:lnTo>
                      <a:lnTo>
                        <a:pt x="167" y="178"/>
                      </a:lnTo>
                      <a:lnTo>
                        <a:pt x="162" y="184"/>
                      </a:lnTo>
                      <a:lnTo>
                        <a:pt x="160" y="187"/>
                      </a:lnTo>
                      <a:lnTo>
                        <a:pt x="159" y="190"/>
                      </a:lnTo>
                      <a:lnTo>
                        <a:pt x="159" y="193"/>
                      </a:lnTo>
                      <a:lnTo>
                        <a:pt x="159" y="196"/>
                      </a:lnTo>
                      <a:lnTo>
                        <a:pt x="157" y="197"/>
                      </a:lnTo>
                      <a:lnTo>
                        <a:pt x="154" y="200"/>
                      </a:lnTo>
                      <a:lnTo>
                        <a:pt x="151" y="204"/>
                      </a:lnTo>
                      <a:lnTo>
                        <a:pt x="149" y="209"/>
                      </a:lnTo>
                      <a:lnTo>
                        <a:pt x="148" y="232"/>
                      </a:lnTo>
                      <a:lnTo>
                        <a:pt x="137" y="234"/>
                      </a:lnTo>
                      <a:lnTo>
                        <a:pt x="122" y="235"/>
                      </a:lnTo>
                      <a:lnTo>
                        <a:pt x="108" y="236"/>
                      </a:lnTo>
                      <a:lnTo>
                        <a:pt x="90" y="236"/>
                      </a:lnTo>
                      <a:lnTo>
                        <a:pt x="71" y="235"/>
                      </a:lnTo>
                      <a:lnTo>
                        <a:pt x="54" y="232"/>
                      </a:lnTo>
                      <a:lnTo>
                        <a:pt x="41" y="229"/>
                      </a:lnTo>
                      <a:lnTo>
                        <a:pt x="25" y="225"/>
                      </a:lnTo>
                      <a:lnTo>
                        <a:pt x="11" y="218"/>
                      </a:lnTo>
                      <a:lnTo>
                        <a:pt x="0" y="211"/>
                      </a:lnTo>
                      <a:lnTo>
                        <a:pt x="1" y="207"/>
                      </a:lnTo>
                      <a:lnTo>
                        <a:pt x="2" y="202"/>
                      </a:lnTo>
                      <a:lnTo>
                        <a:pt x="4" y="197"/>
                      </a:lnTo>
                      <a:lnTo>
                        <a:pt x="8" y="192"/>
                      </a:lnTo>
                      <a:lnTo>
                        <a:pt x="11" y="187"/>
                      </a:lnTo>
                      <a:lnTo>
                        <a:pt x="17" y="181"/>
                      </a:lnTo>
                      <a:lnTo>
                        <a:pt x="18" y="180"/>
                      </a:lnTo>
                      <a:lnTo>
                        <a:pt x="16" y="179"/>
                      </a:lnTo>
                      <a:lnTo>
                        <a:pt x="13" y="178"/>
                      </a:lnTo>
                      <a:lnTo>
                        <a:pt x="13" y="174"/>
                      </a:lnTo>
                      <a:lnTo>
                        <a:pt x="14" y="169"/>
                      </a:lnTo>
                      <a:lnTo>
                        <a:pt x="18" y="163"/>
                      </a:lnTo>
                      <a:lnTo>
                        <a:pt x="27" y="153"/>
                      </a:lnTo>
                      <a:lnTo>
                        <a:pt x="29" y="147"/>
                      </a:lnTo>
                      <a:lnTo>
                        <a:pt x="30" y="143"/>
                      </a:lnTo>
                      <a:lnTo>
                        <a:pt x="31" y="139"/>
                      </a:lnTo>
                      <a:lnTo>
                        <a:pt x="29" y="135"/>
                      </a:lnTo>
                      <a:lnTo>
                        <a:pt x="28" y="131"/>
                      </a:lnTo>
                      <a:lnTo>
                        <a:pt x="22" y="129"/>
                      </a:lnTo>
                      <a:lnTo>
                        <a:pt x="15" y="126"/>
                      </a:lnTo>
                      <a:lnTo>
                        <a:pt x="8" y="123"/>
                      </a:lnTo>
                      <a:lnTo>
                        <a:pt x="1" y="118"/>
                      </a:lnTo>
                    </a:path>
                  </a:pathLst>
                </a:custGeom>
                <a:solidFill>
                  <a:srgbClr val="FF7F9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7528" name="Group 116"/>
                <p:cNvGrpSpPr>
                  <a:grpSpLocks noChangeAspect="1"/>
                </p:cNvGrpSpPr>
                <p:nvPr/>
              </p:nvGrpSpPr>
              <p:grpSpPr bwMode="auto">
                <a:xfrm>
                  <a:off x="4928" y="2311"/>
                  <a:ext cx="197" cy="230"/>
                  <a:chOff x="4928" y="2311"/>
                  <a:chExt cx="197" cy="230"/>
                </a:xfrm>
              </p:grpSpPr>
              <p:sp>
                <p:nvSpPr>
                  <p:cNvPr id="277529" name="Freeform 117"/>
                  <p:cNvSpPr>
                    <a:spLocks noChangeAspect="1"/>
                  </p:cNvSpPr>
                  <p:nvPr/>
                </p:nvSpPr>
                <p:spPr bwMode="auto">
                  <a:xfrm>
                    <a:off x="5056" y="2340"/>
                    <a:ext cx="69" cy="155"/>
                  </a:xfrm>
                  <a:custGeom>
                    <a:avLst/>
                    <a:gdLst>
                      <a:gd name="T0" fmla="*/ 66 w 69"/>
                      <a:gd name="T1" fmla="*/ 2 h 155"/>
                      <a:gd name="T2" fmla="*/ 62 w 69"/>
                      <a:gd name="T3" fmla="*/ 1 h 155"/>
                      <a:gd name="T4" fmla="*/ 58 w 69"/>
                      <a:gd name="T5" fmla="*/ 0 h 155"/>
                      <a:gd name="T6" fmla="*/ 54 w 69"/>
                      <a:gd name="T7" fmla="*/ 0 h 155"/>
                      <a:gd name="T8" fmla="*/ 50 w 69"/>
                      <a:gd name="T9" fmla="*/ 1 h 155"/>
                      <a:gd name="T10" fmla="*/ 45 w 69"/>
                      <a:gd name="T11" fmla="*/ 5 h 155"/>
                      <a:gd name="T12" fmla="*/ 42 w 69"/>
                      <a:gd name="T13" fmla="*/ 9 h 155"/>
                      <a:gd name="T14" fmla="*/ 38 w 69"/>
                      <a:gd name="T15" fmla="*/ 14 h 155"/>
                      <a:gd name="T16" fmla="*/ 35 w 69"/>
                      <a:gd name="T17" fmla="*/ 21 h 155"/>
                      <a:gd name="T18" fmla="*/ 31 w 69"/>
                      <a:gd name="T19" fmla="*/ 27 h 155"/>
                      <a:gd name="T20" fmla="*/ 28 w 69"/>
                      <a:gd name="T21" fmla="*/ 34 h 155"/>
                      <a:gd name="T22" fmla="*/ 24 w 69"/>
                      <a:gd name="T23" fmla="*/ 41 h 155"/>
                      <a:gd name="T24" fmla="*/ 18 w 69"/>
                      <a:gd name="T25" fmla="*/ 48 h 155"/>
                      <a:gd name="T26" fmla="*/ 12 w 69"/>
                      <a:gd name="T27" fmla="*/ 55 h 155"/>
                      <a:gd name="T28" fmla="*/ 7 w 69"/>
                      <a:gd name="T29" fmla="*/ 59 h 155"/>
                      <a:gd name="T30" fmla="*/ 4 w 69"/>
                      <a:gd name="T31" fmla="*/ 63 h 155"/>
                      <a:gd name="T32" fmla="*/ 1 w 69"/>
                      <a:gd name="T33" fmla="*/ 67 h 155"/>
                      <a:gd name="T34" fmla="*/ 0 w 69"/>
                      <a:gd name="T35" fmla="*/ 71 h 155"/>
                      <a:gd name="T36" fmla="*/ 1 w 69"/>
                      <a:gd name="T37" fmla="*/ 75 h 155"/>
                      <a:gd name="T38" fmla="*/ 3 w 69"/>
                      <a:gd name="T39" fmla="*/ 79 h 155"/>
                      <a:gd name="T40" fmla="*/ 5 w 69"/>
                      <a:gd name="T41" fmla="*/ 83 h 155"/>
                      <a:gd name="T42" fmla="*/ 6 w 69"/>
                      <a:gd name="T43" fmla="*/ 92 h 155"/>
                      <a:gd name="T44" fmla="*/ 6 w 69"/>
                      <a:gd name="T45" fmla="*/ 96 h 155"/>
                      <a:gd name="T46" fmla="*/ 7 w 69"/>
                      <a:gd name="T47" fmla="*/ 102 h 155"/>
                      <a:gd name="T48" fmla="*/ 8 w 69"/>
                      <a:gd name="T49" fmla="*/ 108 h 155"/>
                      <a:gd name="T50" fmla="*/ 11 w 69"/>
                      <a:gd name="T51" fmla="*/ 115 h 155"/>
                      <a:gd name="T52" fmla="*/ 14 w 69"/>
                      <a:gd name="T53" fmla="*/ 120 h 155"/>
                      <a:gd name="T54" fmla="*/ 16 w 69"/>
                      <a:gd name="T55" fmla="*/ 126 h 155"/>
                      <a:gd name="T56" fmla="*/ 18 w 69"/>
                      <a:gd name="T57" fmla="*/ 132 h 155"/>
                      <a:gd name="T58" fmla="*/ 20 w 69"/>
                      <a:gd name="T59" fmla="*/ 138 h 155"/>
                      <a:gd name="T60" fmla="*/ 20 w 69"/>
                      <a:gd name="T61" fmla="*/ 142 h 155"/>
                      <a:gd name="T62" fmla="*/ 21 w 69"/>
                      <a:gd name="T63" fmla="*/ 147 h 155"/>
                      <a:gd name="T64" fmla="*/ 20 w 69"/>
                      <a:gd name="T65" fmla="*/ 151 h 155"/>
                      <a:gd name="T66" fmla="*/ 19 w 69"/>
                      <a:gd name="T67" fmla="*/ 154 h 155"/>
                      <a:gd name="T68" fmla="*/ 21 w 69"/>
                      <a:gd name="T69" fmla="*/ 152 h 155"/>
                      <a:gd name="T70" fmla="*/ 24 w 69"/>
                      <a:gd name="T71" fmla="*/ 148 h 155"/>
                      <a:gd name="T72" fmla="*/ 26 w 69"/>
                      <a:gd name="T73" fmla="*/ 145 h 155"/>
                      <a:gd name="T74" fmla="*/ 28 w 69"/>
                      <a:gd name="T75" fmla="*/ 141 h 155"/>
                      <a:gd name="T76" fmla="*/ 29 w 69"/>
                      <a:gd name="T77" fmla="*/ 134 h 155"/>
                      <a:gd name="T78" fmla="*/ 31 w 69"/>
                      <a:gd name="T79" fmla="*/ 129 h 155"/>
                      <a:gd name="T80" fmla="*/ 32 w 69"/>
                      <a:gd name="T81" fmla="*/ 125 h 155"/>
                      <a:gd name="T82" fmla="*/ 32 w 69"/>
                      <a:gd name="T83" fmla="*/ 119 h 155"/>
                      <a:gd name="T84" fmla="*/ 33 w 69"/>
                      <a:gd name="T85" fmla="*/ 115 h 155"/>
                      <a:gd name="T86" fmla="*/ 36 w 69"/>
                      <a:gd name="T87" fmla="*/ 114 h 155"/>
                      <a:gd name="T88" fmla="*/ 40 w 69"/>
                      <a:gd name="T89" fmla="*/ 113 h 155"/>
                      <a:gd name="T90" fmla="*/ 45 w 69"/>
                      <a:gd name="T91" fmla="*/ 112 h 155"/>
                      <a:gd name="T92" fmla="*/ 49 w 69"/>
                      <a:gd name="T93" fmla="*/ 111 h 155"/>
                      <a:gd name="T94" fmla="*/ 53 w 69"/>
                      <a:gd name="T95" fmla="*/ 110 h 155"/>
                      <a:gd name="T96" fmla="*/ 56 w 69"/>
                      <a:gd name="T97" fmla="*/ 110 h 155"/>
                      <a:gd name="T98" fmla="*/ 58 w 69"/>
                      <a:gd name="T99" fmla="*/ 107 h 155"/>
                      <a:gd name="T100" fmla="*/ 59 w 69"/>
                      <a:gd name="T101" fmla="*/ 103 h 155"/>
                      <a:gd name="T102" fmla="*/ 60 w 69"/>
                      <a:gd name="T103" fmla="*/ 97 h 155"/>
                      <a:gd name="T104" fmla="*/ 61 w 69"/>
                      <a:gd name="T105" fmla="*/ 90 h 155"/>
                      <a:gd name="T106" fmla="*/ 61 w 69"/>
                      <a:gd name="T107" fmla="*/ 83 h 155"/>
                      <a:gd name="T108" fmla="*/ 63 w 69"/>
                      <a:gd name="T109" fmla="*/ 78 h 155"/>
                      <a:gd name="T110" fmla="*/ 64 w 69"/>
                      <a:gd name="T111" fmla="*/ 73 h 155"/>
                      <a:gd name="T112" fmla="*/ 68 w 69"/>
                      <a:gd name="T113" fmla="*/ 69 h 155"/>
                      <a:gd name="T114" fmla="*/ 66 w 69"/>
                      <a:gd name="T115" fmla="*/ 58 h 155"/>
                      <a:gd name="T116" fmla="*/ 66 w 69"/>
                      <a:gd name="T117" fmla="*/ 46 h 155"/>
                      <a:gd name="T118" fmla="*/ 66 w 69"/>
                      <a:gd name="T119" fmla="*/ 33 h 155"/>
                      <a:gd name="T120" fmla="*/ 66 w 69"/>
                      <a:gd name="T121" fmla="*/ 22 h 155"/>
                      <a:gd name="T122" fmla="*/ 66 w 69"/>
                      <a:gd name="T123" fmla="*/ 11 h 155"/>
                      <a:gd name="T124" fmla="*/ 66 w 69"/>
                      <a:gd name="T125" fmla="*/ 2 h 15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9" h="155">
                        <a:moveTo>
                          <a:pt x="66" y="2"/>
                        </a:moveTo>
                        <a:lnTo>
                          <a:pt x="62" y="1"/>
                        </a:lnTo>
                        <a:lnTo>
                          <a:pt x="58" y="0"/>
                        </a:lnTo>
                        <a:lnTo>
                          <a:pt x="54" y="0"/>
                        </a:lnTo>
                        <a:lnTo>
                          <a:pt x="50" y="1"/>
                        </a:lnTo>
                        <a:lnTo>
                          <a:pt x="45" y="5"/>
                        </a:lnTo>
                        <a:lnTo>
                          <a:pt x="42" y="9"/>
                        </a:lnTo>
                        <a:lnTo>
                          <a:pt x="38" y="14"/>
                        </a:lnTo>
                        <a:lnTo>
                          <a:pt x="35" y="21"/>
                        </a:lnTo>
                        <a:lnTo>
                          <a:pt x="31" y="27"/>
                        </a:lnTo>
                        <a:lnTo>
                          <a:pt x="28" y="34"/>
                        </a:lnTo>
                        <a:lnTo>
                          <a:pt x="24" y="41"/>
                        </a:lnTo>
                        <a:lnTo>
                          <a:pt x="18" y="48"/>
                        </a:lnTo>
                        <a:lnTo>
                          <a:pt x="12" y="55"/>
                        </a:lnTo>
                        <a:lnTo>
                          <a:pt x="7" y="59"/>
                        </a:lnTo>
                        <a:lnTo>
                          <a:pt x="4" y="63"/>
                        </a:lnTo>
                        <a:lnTo>
                          <a:pt x="1" y="67"/>
                        </a:lnTo>
                        <a:lnTo>
                          <a:pt x="0" y="71"/>
                        </a:lnTo>
                        <a:lnTo>
                          <a:pt x="1" y="75"/>
                        </a:lnTo>
                        <a:lnTo>
                          <a:pt x="3" y="79"/>
                        </a:lnTo>
                        <a:lnTo>
                          <a:pt x="5" y="83"/>
                        </a:lnTo>
                        <a:lnTo>
                          <a:pt x="6" y="92"/>
                        </a:lnTo>
                        <a:lnTo>
                          <a:pt x="6" y="96"/>
                        </a:lnTo>
                        <a:lnTo>
                          <a:pt x="7" y="102"/>
                        </a:lnTo>
                        <a:lnTo>
                          <a:pt x="8" y="108"/>
                        </a:lnTo>
                        <a:lnTo>
                          <a:pt x="11" y="115"/>
                        </a:lnTo>
                        <a:lnTo>
                          <a:pt x="14" y="120"/>
                        </a:lnTo>
                        <a:lnTo>
                          <a:pt x="16" y="126"/>
                        </a:lnTo>
                        <a:lnTo>
                          <a:pt x="18" y="132"/>
                        </a:lnTo>
                        <a:lnTo>
                          <a:pt x="20" y="138"/>
                        </a:lnTo>
                        <a:lnTo>
                          <a:pt x="20" y="142"/>
                        </a:lnTo>
                        <a:lnTo>
                          <a:pt x="21" y="147"/>
                        </a:lnTo>
                        <a:lnTo>
                          <a:pt x="20" y="151"/>
                        </a:lnTo>
                        <a:lnTo>
                          <a:pt x="19" y="154"/>
                        </a:lnTo>
                        <a:lnTo>
                          <a:pt x="21" y="152"/>
                        </a:lnTo>
                        <a:lnTo>
                          <a:pt x="24" y="148"/>
                        </a:lnTo>
                        <a:lnTo>
                          <a:pt x="26" y="145"/>
                        </a:lnTo>
                        <a:lnTo>
                          <a:pt x="28" y="141"/>
                        </a:lnTo>
                        <a:lnTo>
                          <a:pt x="29" y="134"/>
                        </a:lnTo>
                        <a:lnTo>
                          <a:pt x="31" y="129"/>
                        </a:lnTo>
                        <a:lnTo>
                          <a:pt x="32" y="125"/>
                        </a:lnTo>
                        <a:lnTo>
                          <a:pt x="32" y="119"/>
                        </a:lnTo>
                        <a:lnTo>
                          <a:pt x="33" y="115"/>
                        </a:lnTo>
                        <a:lnTo>
                          <a:pt x="36" y="114"/>
                        </a:lnTo>
                        <a:lnTo>
                          <a:pt x="40" y="113"/>
                        </a:lnTo>
                        <a:lnTo>
                          <a:pt x="45" y="112"/>
                        </a:lnTo>
                        <a:lnTo>
                          <a:pt x="49" y="111"/>
                        </a:lnTo>
                        <a:lnTo>
                          <a:pt x="53" y="110"/>
                        </a:lnTo>
                        <a:lnTo>
                          <a:pt x="56" y="110"/>
                        </a:lnTo>
                        <a:lnTo>
                          <a:pt x="58" y="107"/>
                        </a:lnTo>
                        <a:lnTo>
                          <a:pt x="59" y="103"/>
                        </a:lnTo>
                        <a:lnTo>
                          <a:pt x="60" y="97"/>
                        </a:lnTo>
                        <a:lnTo>
                          <a:pt x="61" y="90"/>
                        </a:lnTo>
                        <a:lnTo>
                          <a:pt x="61" y="83"/>
                        </a:lnTo>
                        <a:lnTo>
                          <a:pt x="63" y="78"/>
                        </a:lnTo>
                        <a:lnTo>
                          <a:pt x="64" y="73"/>
                        </a:lnTo>
                        <a:lnTo>
                          <a:pt x="68" y="69"/>
                        </a:lnTo>
                        <a:lnTo>
                          <a:pt x="66" y="58"/>
                        </a:lnTo>
                        <a:lnTo>
                          <a:pt x="66" y="46"/>
                        </a:lnTo>
                        <a:lnTo>
                          <a:pt x="66" y="33"/>
                        </a:lnTo>
                        <a:lnTo>
                          <a:pt x="66" y="22"/>
                        </a:lnTo>
                        <a:lnTo>
                          <a:pt x="66" y="11"/>
                        </a:lnTo>
                        <a:lnTo>
                          <a:pt x="66" y="2"/>
                        </a:lnTo>
                      </a:path>
                    </a:pathLst>
                  </a:custGeom>
                  <a:solidFill>
                    <a:srgbClr val="FF5F7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0" name="Freeform 118"/>
                  <p:cNvSpPr>
                    <a:spLocks noChangeAspect="1"/>
                  </p:cNvSpPr>
                  <p:nvPr/>
                </p:nvSpPr>
                <p:spPr bwMode="auto">
                  <a:xfrm>
                    <a:off x="4945" y="2319"/>
                    <a:ext cx="47" cy="61"/>
                  </a:xfrm>
                  <a:custGeom>
                    <a:avLst/>
                    <a:gdLst>
                      <a:gd name="T0" fmla="*/ 12 w 47"/>
                      <a:gd name="T1" fmla="*/ 14 h 61"/>
                      <a:gd name="T2" fmla="*/ 21 w 47"/>
                      <a:gd name="T3" fmla="*/ 8 h 61"/>
                      <a:gd name="T4" fmla="*/ 26 w 47"/>
                      <a:gd name="T5" fmla="*/ 6 h 61"/>
                      <a:gd name="T6" fmla="*/ 30 w 47"/>
                      <a:gd name="T7" fmla="*/ 4 h 61"/>
                      <a:gd name="T8" fmla="*/ 34 w 47"/>
                      <a:gd name="T9" fmla="*/ 3 h 61"/>
                      <a:gd name="T10" fmla="*/ 38 w 47"/>
                      <a:gd name="T11" fmla="*/ 1 h 61"/>
                      <a:gd name="T12" fmla="*/ 46 w 47"/>
                      <a:gd name="T13" fmla="*/ 0 h 61"/>
                      <a:gd name="T14" fmla="*/ 44 w 47"/>
                      <a:gd name="T15" fmla="*/ 3 h 61"/>
                      <a:gd name="T16" fmla="*/ 40 w 47"/>
                      <a:gd name="T17" fmla="*/ 7 h 61"/>
                      <a:gd name="T18" fmla="*/ 39 w 47"/>
                      <a:gd name="T19" fmla="*/ 12 h 61"/>
                      <a:gd name="T20" fmla="*/ 38 w 47"/>
                      <a:gd name="T21" fmla="*/ 17 h 61"/>
                      <a:gd name="T22" fmla="*/ 38 w 47"/>
                      <a:gd name="T23" fmla="*/ 23 h 61"/>
                      <a:gd name="T24" fmla="*/ 37 w 47"/>
                      <a:gd name="T25" fmla="*/ 28 h 61"/>
                      <a:gd name="T26" fmla="*/ 35 w 47"/>
                      <a:gd name="T27" fmla="*/ 33 h 61"/>
                      <a:gd name="T28" fmla="*/ 33 w 47"/>
                      <a:gd name="T29" fmla="*/ 36 h 61"/>
                      <a:gd name="T30" fmla="*/ 30 w 47"/>
                      <a:gd name="T31" fmla="*/ 39 h 61"/>
                      <a:gd name="T32" fmla="*/ 28 w 47"/>
                      <a:gd name="T33" fmla="*/ 40 h 61"/>
                      <a:gd name="T34" fmla="*/ 24 w 47"/>
                      <a:gd name="T35" fmla="*/ 43 h 61"/>
                      <a:gd name="T36" fmla="*/ 0 w 47"/>
                      <a:gd name="T37" fmla="*/ 60 h 61"/>
                      <a:gd name="T38" fmla="*/ 12 w 47"/>
                      <a:gd name="T39" fmla="*/ 14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7" h="61">
                        <a:moveTo>
                          <a:pt x="12" y="14"/>
                        </a:moveTo>
                        <a:lnTo>
                          <a:pt x="21" y="8"/>
                        </a:lnTo>
                        <a:lnTo>
                          <a:pt x="26" y="6"/>
                        </a:lnTo>
                        <a:lnTo>
                          <a:pt x="30" y="4"/>
                        </a:lnTo>
                        <a:lnTo>
                          <a:pt x="34" y="3"/>
                        </a:lnTo>
                        <a:lnTo>
                          <a:pt x="38" y="1"/>
                        </a:lnTo>
                        <a:lnTo>
                          <a:pt x="46" y="0"/>
                        </a:lnTo>
                        <a:lnTo>
                          <a:pt x="44" y="3"/>
                        </a:lnTo>
                        <a:lnTo>
                          <a:pt x="40" y="7"/>
                        </a:lnTo>
                        <a:lnTo>
                          <a:pt x="39" y="12"/>
                        </a:lnTo>
                        <a:lnTo>
                          <a:pt x="38" y="17"/>
                        </a:lnTo>
                        <a:lnTo>
                          <a:pt x="38" y="23"/>
                        </a:lnTo>
                        <a:lnTo>
                          <a:pt x="37" y="28"/>
                        </a:lnTo>
                        <a:lnTo>
                          <a:pt x="35" y="33"/>
                        </a:lnTo>
                        <a:lnTo>
                          <a:pt x="33" y="36"/>
                        </a:lnTo>
                        <a:lnTo>
                          <a:pt x="30" y="39"/>
                        </a:lnTo>
                        <a:lnTo>
                          <a:pt x="28" y="40"/>
                        </a:lnTo>
                        <a:lnTo>
                          <a:pt x="24" y="43"/>
                        </a:lnTo>
                        <a:lnTo>
                          <a:pt x="0" y="60"/>
                        </a:lnTo>
                        <a:lnTo>
                          <a:pt x="12" y="14"/>
                        </a:lnTo>
                      </a:path>
                    </a:pathLst>
                  </a:custGeom>
                  <a:solidFill>
                    <a:srgbClr val="FF5F7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1" name="Freeform 119"/>
                  <p:cNvSpPr>
                    <a:spLocks noChangeAspect="1"/>
                  </p:cNvSpPr>
                  <p:nvPr/>
                </p:nvSpPr>
                <p:spPr bwMode="auto">
                  <a:xfrm>
                    <a:off x="4971" y="2484"/>
                    <a:ext cx="62" cy="18"/>
                  </a:xfrm>
                  <a:custGeom>
                    <a:avLst/>
                    <a:gdLst>
                      <a:gd name="T0" fmla="*/ 0 w 62"/>
                      <a:gd name="T1" fmla="*/ 13 h 18"/>
                      <a:gd name="T2" fmla="*/ 2 w 62"/>
                      <a:gd name="T3" fmla="*/ 14 h 18"/>
                      <a:gd name="T4" fmla="*/ 4 w 62"/>
                      <a:gd name="T5" fmla="*/ 16 h 18"/>
                      <a:gd name="T6" fmla="*/ 8 w 62"/>
                      <a:gd name="T7" fmla="*/ 17 h 18"/>
                      <a:gd name="T8" fmla="*/ 11 w 62"/>
                      <a:gd name="T9" fmla="*/ 17 h 18"/>
                      <a:gd name="T10" fmla="*/ 14 w 62"/>
                      <a:gd name="T11" fmla="*/ 17 h 18"/>
                      <a:gd name="T12" fmla="*/ 16 w 62"/>
                      <a:gd name="T13" fmla="*/ 15 h 18"/>
                      <a:gd name="T14" fmla="*/ 21 w 62"/>
                      <a:gd name="T15" fmla="*/ 14 h 18"/>
                      <a:gd name="T16" fmla="*/ 27 w 62"/>
                      <a:gd name="T17" fmla="*/ 13 h 18"/>
                      <a:gd name="T18" fmla="*/ 37 w 62"/>
                      <a:gd name="T19" fmla="*/ 12 h 18"/>
                      <a:gd name="T20" fmla="*/ 43 w 62"/>
                      <a:gd name="T21" fmla="*/ 11 h 18"/>
                      <a:gd name="T22" fmla="*/ 49 w 62"/>
                      <a:gd name="T23" fmla="*/ 10 h 18"/>
                      <a:gd name="T24" fmla="*/ 53 w 62"/>
                      <a:gd name="T25" fmla="*/ 9 h 18"/>
                      <a:gd name="T26" fmla="*/ 56 w 62"/>
                      <a:gd name="T27" fmla="*/ 7 h 18"/>
                      <a:gd name="T28" fmla="*/ 59 w 62"/>
                      <a:gd name="T29" fmla="*/ 5 h 18"/>
                      <a:gd name="T30" fmla="*/ 61 w 62"/>
                      <a:gd name="T31" fmla="*/ 2 h 18"/>
                      <a:gd name="T32" fmla="*/ 61 w 62"/>
                      <a:gd name="T33" fmla="*/ 1 h 18"/>
                      <a:gd name="T34" fmla="*/ 59 w 62"/>
                      <a:gd name="T35" fmla="*/ 0 h 18"/>
                      <a:gd name="T36" fmla="*/ 57 w 62"/>
                      <a:gd name="T37" fmla="*/ 1 h 18"/>
                      <a:gd name="T38" fmla="*/ 55 w 62"/>
                      <a:gd name="T39" fmla="*/ 2 h 18"/>
                      <a:gd name="T40" fmla="*/ 52 w 62"/>
                      <a:gd name="T41" fmla="*/ 4 h 18"/>
                      <a:gd name="T42" fmla="*/ 49 w 62"/>
                      <a:gd name="T43" fmla="*/ 4 h 18"/>
                      <a:gd name="T44" fmla="*/ 45 w 62"/>
                      <a:gd name="T45" fmla="*/ 4 h 18"/>
                      <a:gd name="T46" fmla="*/ 42 w 62"/>
                      <a:gd name="T47" fmla="*/ 4 h 18"/>
                      <a:gd name="T48" fmla="*/ 38 w 62"/>
                      <a:gd name="T49" fmla="*/ 4 h 18"/>
                      <a:gd name="T50" fmla="*/ 34 w 62"/>
                      <a:gd name="T51" fmla="*/ 4 h 18"/>
                      <a:gd name="T52" fmla="*/ 32 w 62"/>
                      <a:gd name="T53" fmla="*/ 6 h 18"/>
                      <a:gd name="T54" fmla="*/ 29 w 62"/>
                      <a:gd name="T55" fmla="*/ 7 h 18"/>
                      <a:gd name="T56" fmla="*/ 25 w 62"/>
                      <a:gd name="T57" fmla="*/ 9 h 18"/>
                      <a:gd name="T58" fmla="*/ 20 w 62"/>
                      <a:gd name="T59" fmla="*/ 10 h 18"/>
                      <a:gd name="T60" fmla="*/ 13 w 62"/>
                      <a:gd name="T61" fmla="*/ 10 h 18"/>
                      <a:gd name="T62" fmla="*/ 8 w 62"/>
                      <a:gd name="T63" fmla="*/ 10 h 18"/>
                      <a:gd name="T64" fmla="*/ 6 w 62"/>
                      <a:gd name="T65" fmla="*/ 11 h 18"/>
                      <a:gd name="T66" fmla="*/ 3 w 62"/>
                      <a:gd name="T67" fmla="*/ 12 h 18"/>
                      <a:gd name="T68" fmla="*/ 0 w 62"/>
                      <a:gd name="T69" fmla="*/ 13 h 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2" h="18">
                        <a:moveTo>
                          <a:pt x="0" y="13"/>
                        </a:moveTo>
                        <a:lnTo>
                          <a:pt x="2" y="14"/>
                        </a:lnTo>
                        <a:lnTo>
                          <a:pt x="4" y="16"/>
                        </a:lnTo>
                        <a:lnTo>
                          <a:pt x="8" y="17"/>
                        </a:lnTo>
                        <a:lnTo>
                          <a:pt x="11" y="17"/>
                        </a:lnTo>
                        <a:lnTo>
                          <a:pt x="14" y="17"/>
                        </a:lnTo>
                        <a:lnTo>
                          <a:pt x="16" y="15"/>
                        </a:lnTo>
                        <a:lnTo>
                          <a:pt x="21" y="14"/>
                        </a:lnTo>
                        <a:lnTo>
                          <a:pt x="27" y="13"/>
                        </a:lnTo>
                        <a:lnTo>
                          <a:pt x="37" y="12"/>
                        </a:lnTo>
                        <a:lnTo>
                          <a:pt x="43" y="11"/>
                        </a:lnTo>
                        <a:lnTo>
                          <a:pt x="49" y="10"/>
                        </a:lnTo>
                        <a:lnTo>
                          <a:pt x="53" y="9"/>
                        </a:lnTo>
                        <a:lnTo>
                          <a:pt x="56" y="7"/>
                        </a:lnTo>
                        <a:lnTo>
                          <a:pt x="59" y="5"/>
                        </a:lnTo>
                        <a:lnTo>
                          <a:pt x="61" y="2"/>
                        </a:lnTo>
                        <a:lnTo>
                          <a:pt x="61" y="1"/>
                        </a:lnTo>
                        <a:lnTo>
                          <a:pt x="59" y="0"/>
                        </a:lnTo>
                        <a:lnTo>
                          <a:pt x="57" y="1"/>
                        </a:lnTo>
                        <a:lnTo>
                          <a:pt x="55" y="2"/>
                        </a:lnTo>
                        <a:lnTo>
                          <a:pt x="52" y="4"/>
                        </a:lnTo>
                        <a:lnTo>
                          <a:pt x="49" y="4"/>
                        </a:lnTo>
                        <a:lnTo>
                          <a:pt x="45" y="4"/>
                        </a:lnTo>
                        <a:lnTo>
                          <a:pt x="42" y="4"/>
                        </a:lnTo>
                        <a:lnTo>
                          <a:pt x="38" y="4"/>
                        </a:lnTo>
                        <a:lnTo>
                          <a:pt x="34" y="4"/>
                        </a:lnTo>
                        <a:lnTo>
                          <a:pt x="32" y="6"/>
                        </a:lnTo>
                        <a:lnTo>
                          <a:pt x="29" y="7"/>
                        </a:lnTo>
                        <a:lnTo>
                          <a:pt x="25" y="9"/>
                        </a:lnTo>
                        <a:lnTo>
                          <a:pt x="20" y="10"/>
                        </a:lnTo>
                        <a:lnTo>
                          <a:pt x="13" y="10"/>
                        </a:lnTo>
                        <a:lnTo>
                          <a:pt x="8" y="10"/>
                        </a:lnTo>
                        <a:lnTo>
                          <a:pt x="6" y="11"/>
                        </a:lnTo>
                        <a:lnTo>
                          <a:pt x="3" y="12"/>
                        </a:lnTo>
                        <a:lnTo>
                          <a:pt x="0" y="13"/>
                        </a:lnTo>
                      </a:path>
                    </a:pathLst>
                  </a:custGeom>
                  <a:solidFill>
                    <a:srgbClr val="FF9FB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2" name="Freeform 120"/>
                  <p:cNvSpPr>
                    <a:spLocks noChangeAspect="1"/>
                  </p:cNvSpPr>
                  <p:nvPr/>
                </p:nvSpPr>
                <p:spPr bwMode="auto">
                  <a:xfrm>
                    <a:off x="4928" y="2401"/>
                    <a:ext cx="111" cy="89"/>
                  </a:xfrm>
                  <a:custGeom>
                    <a:avLst/>
                    <a:gdLst>
                      <a:gd name="T0" fmla="*/ 36 w 111"/>
                      <a:gd name="T1" fmla="*/ 4 h 89"/>
                      <a:gd name="T2" fmla="*/ 37 w 111"/>
                      <a:gd name="T3" fmla="*/ 14 h 89"/>
                      <a:gd name="T4" fmla="*/ 35 w 111"/>
                      <a:gd name="T5" fmla="*/ 25 h 89"/>
                      <a:gd name="T6" fmla="*/ 30 w 111"/>
                      <a:gd name="T7" fmla="*/ 40 h 89"/>
                      <a:gd name="T8" fmla="*/ 26 w 111"/>
                      <a:gd name="T9" fmla="*/ 51 h 89"/>
                      <a:gd name="T10" fmla="*/ 25 w 111"/>
                      <a:gd name="T11" fmla="*/ 59 h 89"/>
                      <a:gd name="T12" fmla="*/ 27 w 111"/>
                      <a:gd name="T13" fmla="*/ 65 h 89"/>
                      <a:gd name="T14" fmla="*/ 31 w 111"/>
                      <a:gd name="T15" fmla="*/ 63 h 89"/>
                      <a:gd name="T16" fmla="*/ 34 w 111"/>
                      <a:gd name="T17" fmla="*/ 57 h 89"/>
                      <a:gd name="T18" fmla="*/ 38 w 111"/>
                      <a:gd name="T19" fmla="*/ 51 h 89"/>
                      <a:gd name="T20" fmla="*/ 42 w 111"/>
                      <a:gd name="T21" fmla="*/ 45 h 89"/>
                      <a:gd name="T22" fmla="*/ 42 w 111"/>
                      <a:gd name="T23" fmla="*/ 38 h 89"/>
                      <a:gd name="T24" fmla="*/ 44 w 111"/>
                      <a:gd name="T25" fmla="*/ 38 h 89"/>
                      <a:gd name="T26" fmla="*/ 47 w 111"/>
                      <a:gd name="T27" fmla="*/ 45 h 89"/>
                      <a:gd name="T28" fmla="*/ 47 w 111"/>
                      <a:gd name="T29" fmla="*/ 53 h 89"/>
                      <a:gd name="T30" fmla="*/ 45 w 111"/>
                      <a:gd name="T31" fmla="*/ 63 h 89"/>
                      <a:gd name="T32" fmla="*/ 46 w 111"/>
                      <a:gd name="T33" fmla="*/ 68 h 89"/>
                      <a:gd name="T34" fmla="*/ 52 w 111"/>
                      <a:gd name="T35" fmla="*/ 69 h 89"/>
                      <a:gd name="T36" fmla="*/ 56 w 111"/>
                      <a:gd name="T37" fmla="*/ 67 h 89"/>
                      <a:gd name="T38" fmla="*/ 64 w 111"/>
                      <a:gd name="T39" fmla="*/ 57 h 89"/>
                      <a:gd name="T40" fmla="*/ 71 w 111"/>
                      <a:gd name="T41" fmla="*/ 49 h 89"/>
                      <a:gd name="T42" fmla="*/ 80 w 111"/>
                      <a:gd name="T43" fmla="*/ 37 h 89"/>
                      <a:gd name="T44" fmla="*/ 90 w 111"/>
                      <a:gd name="T45" fmla="*/ 28 h 89"/>
                      <a:gd name="T46" fmla="*/ 95 w 111"/>
                      <a:gd name="T47" fmla="*/ 25 h 89"/>
                      <a:gd name="T48" fmla="*/ 104 w 111"/>
                      <a:gd name="T49" fmla="*/ 25 h 89"/>
                      <a:gd name="T50" fmla="*/ 110 w 111"/>
                      <a:gd name="T51" fmla="*/ 26 h 89"/>
                      <a:gd name="T52" fmla="*/ 49 w 111"/>
                      <a:gd name="T53" fmla="*/ 88 h 89"/>
                      <a:gd name="T54" fmla="*/ 35 w 111"/>
                      <a:gd name="T55" fmla="*/ 84 h 89"/>
                      <a:gd name="T56" fmla="*/ 24 w 111"/>
                      <a:gd name="T57" fmla="*/ 81 h 89"/>
                      <a:gd name="T58" fmla="*/ 12 w 111"/>
                      <a:gd name="T59" fmla="*/ 78 h 89"/>
                      <a:gd name="T60" fmla="*/ 5 w 111"/>
                      <a:gd name="T61" fmla="*/ 81 h 89"/>
                      <a:gd name="T62" fmla="*/ 1 w 111"/>
                      <a:gd name="T63" fmla="*/ 84 h 89"/>
                      <a:gd name="T64" fmla="*/ 0 w 111"/>
                      <a:gd name="T65" fmla="*/ 80 h 89"/>
                      <a:gd name="T66" fmla="*/ 1 w 111"/>
                      <a:gd name="T67" fmla="*/ 75 h 89"/>
                      <a:gd name="T68" fmla="*/ 6 w 111"/>
                      <a:gd name="T69" fmla="*/ 68 h 89"/>
                      <a:gd name="T70" fmla="*/ 11 w 111"/>
                      <a:gd name="T71" fmla="*/ 62 h 89"/>
                      <a:gd name="T72" fmla="*/ 16 w 111"/>
                      <a:gd name="T73" fmla="*/ 56 h 89"/>
                      <a:gd name="T74" fmla="*/ 20 w 111"/>
                      <a:gd name="T75" fmla="*/ 49 h 89"/>
                      <a:gd name="T76" fmla="*/ 26 w 111"/>
                      <a:gd name="T77" fmla="*/ 41 h 89"/>
                      <a:gd name="T78" fmla="*/ 30 w 111"/>
                      <a:gd name="T79" fmla="*/ 32 h 89"/>
                      <a:gd name="T80" fmla="*/ 33 w 111"/>
                      <a:gd name="T81" fmla="*/ 23 h 89"/>
                      <a:gd name="T82" fmla="*/ 34 w 111"/>
                      <a:gd name="T83" fmla="*/ 14 h 89"/>
                      <a:gd name="T84" fmla="*/ 35 w 111"/>
                      <a:gd name="T85" fmla="*/ 0 h 8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 h="89">
                        <a:moveTo>
                          <a:pt x="35" y="0"/>
                        </a:moveTo>
                        <a:lnTo>
                          <a:pt x="36" y="4"/>
                        </a:lnTo>
                        <a:lnTo>
                          <a:pt x="37" y="8"/>
                        </a:lnTo>
                        <a:lnTo>
                          <a:pt x="37" y="14"/>
                        </a:lnTo>
                        <a:lnTo>
                          <a:pt x="37" y="20"/>
                        </a:lnTo>
                        <a:lnTo>
                          <a:pt x="35" y="25"/>
                        </a:lnTo>
                        <a:lnTo>
                          <a:pt x="32" y="34"/>
                        </a:lnTo>
                        <a:lnTo>
                          <a:pt x="30" y="40"/>
                        </a:lnTo>
                        <a:lnTo>
                          <a:pt x="27" y="46"/>
                        </a:lnTo>
                        <a:lnTo>
                          <a:pt x="26" y="51"/>
                        </a:lnTo>
                        <a:lnTo>
                          <a:pt x="25" y="56"/>
                        </a:lnTo>
                        <a:lnTo>
                          <a:pt x="25" y="59"/>
                        </a:lnTo>
                        <a:lnTo>
                          <a:pt x="26" y="63"/>
                        </a:lnTo>
                        <a:lnTo>
                          <a:pt x="27" y="65"/>
                        </a:lnTo>
                        <a:lnTo>
                          <a:pt x="29" y="64"/>
                        </a:lnTo>
                        <a:lnTo>
                          <a:pt x="31" y="63"/>
                        </a:lnTo>
                        <a:lnTo>
                          <a:pt x="32" y="60"/>
                        </a:lnTo>
                        <a:lnTo>
                          <a:pt x="34" y="57"/>
                        </a:lnTo>
                        <a:lnTo>
                          <a:pt x="35" y="54"/>
                        </a:lnTo>
                        <a:lnTo>
                          <a:pt x="38" y="51"/>
                        </a:lnTo>
                        <a:lnTo>
                          <a:pt x="40" y="49"/>
                        </a:lnTo>
                        <a:lnTo>
                          <a:pt x="42" y="45"/>
                        </a:lnTo>
                        <a:lnTo>
                          <a:pt x="42" y="42"/>
                        </a:lnTo>
                        <a:lnTo>
                          <a:pt x="42" y="38"/>
                        </a:lnTo>
                        <a:lnTo>
                          <a:pt x="43" y="36"/>
                        </a:lnTo>
                        <a:lnTo>
                          <a:pt x="44" y="38"/>
                        </a:lnTo>
                        <a:lnTo>
                          <a:pt x="46" y="41"/>
                        </a:lnTo>
                        <a:lnTo>
                          <a:pt x="47" y="45"/>
                        </a:lnTo>
                        <a:lnTo>
                          <a:pt x="48" y="49"/>
                        </a:lnTo>
                        <a:lnTo>
                          <a:pt x="47" y="53"/>
                        </a:lnTo>
                        <a:lnTo>
                          <a:pt x="46" y="59"/>
                        </a:lnTo>
                        <a:lnTo>
                          <a:pt x="45" y="63"/>
                        </a:lnTo>
                        <a:lnTo>
                          <a:pt x="45" y="65"/>
                        </a:lnTo>
                        <a:lnTo>
                          <a:pt x="46" y="68"/>
                        </a:lnTo>
                        <a:lnTo>
                          <a:pt x="48" y="69"/>
                        </a:lnTo>
                        <a:lnTo>
                          <a:pt x="52" y="69"/>
                        </a:lnTo>
                        <a:lnTo>
                          <a:pt x="55" y="68"/>
                        </a:lnTo>
                        <a:lnTo>
                          <a:pt x="56" y="67"/>
                        </a:lnTo>
                        <a:lnTo>
                          <a:pt x="61" y="61"/>
                        </a:lnTo>
                        <a:lnTo>
                          <a:pt x="64" y="57"/>
                        </a:lnTo>
                        <a:lnTo>
                          <a:pt x="67" y="54"/>
                        </a:lnTo>
                        <a:lnTo>
                          <a:pt x="71" y="49"/>
                        </a:lnTo>
                        <a:lnTo>
                          <a:pt x="75" y="43"/>
                        </a:lnTo>
                        <a:lnTo>
                          <a:pt x="80" y="37"/>
                        </a:lnTo>
                        <a:lnTo>
                          <a:pt x="85" y="32"/>
                        </a:lnTo>
                        <a:lnTo>
                          <a:pt x="90" y="28"/>
                        </a:lnTo>
                        <a:lnTo>
                          <a:pt x="92" y="26"/>
                        </a:lnTo>
                        <a:lnTo>
                          <a:pt x="95" y="25"/>
                        </a:lnTo>
                        <a:lnTo>
                          <a:pt x="99" y="24"/>
                        </a:lnTo>
                        <a:lnTo>
                          <a:pt x="104" y="25"/>
                        </a:lnTo>
                        <a:lnTo>
                          <a:pt x="107" y="25"/>
                        </a:lnTo>
                        <a:lnTo>
                          <a:pt x="110" y="26"/>
                        </a:lnTo>
                        <a:lnTo>
                          <a:pt x="84" y="70"/>
                        </a:lnTo>
                        <a:lnTo>
                          <a:pt x="49" y="88"/>
                        </a:lnTo>
                        <a:lnTo>
                          <a:pt x="42" y="86"/>
                        </a:lnTo>
                        <a:lnTo>
                          <a:pt x="35" y="84"/>
                        </a:lnTo>
                        <a:lnTo>
                          <a:pt x="30" y="82"/>
                        </a:lnTo>
                        <a:lnTo>
                          <a:pt x="24" y="81"/>
                        </a:lnTo>
                        <a:lnTo>
                          <a:pt x="17" y="79"/>
                        </a:lnTo>
                        <a:lnTo>
                          <a:pt x="12" y="78"/>
                        </a:lnTo>
                        <a:lnTo>
                          <a:pt x="8" y="80"/>
                        </a:lnTo>
                        <a:lnTo>
                          <a:pt x="5" y="81"/>
                        </a:lnTo>
                        <a:lnTo>
                          <a:pt x="2" y="83"/>
                        </a:lnTo>
                        <a:lnTo>
                          <a:pt x="1" y="84"/>
                        </a:lnTo>
                        <a:lnTo>
                          <a:pt x="0" y="82"/>
                        </a:lnTo>
                        <a:lnTo>
                          <a:pt x="0" y="80"/>
                        </a:lnTo>
                        <a:lnTo>
                          <a:pt x="0" y="78"/>
                        </a:lnTo>
                        <a:lnTo>
                          <a:pt x="1" y="75"/>
                        </a:lnTo>
                        <a:lnTo>
                          <a:pt x="3" y="72"/>
                        </a:lnTo>
                        <a:lnTo>
                          <a:pt x="6" y="68"/>
                        </a:lnTo>
                        <a:lnTo>
                          <a:pt x="8" y="65"/>
                        </a:lnTo>
                        <a:lnTo>
                          <a:pt x="11" y="62"/>
                        </a:lnTo>
                        <a:lnTo>
                          <a:pt x="14" y="59"/>
                        </a:lnTo>
                        <a:lnTo>
                          <a:pt x="16" y="56"/>
                        </a:lnTo>
                        <a:lnTo>
                          <a:pt x="18" y="53"/>
                        </a:lnTo>
                        <a:lnTo>
                          <a:pt x="20" y="49"/>
                        </a:lnTo>
                        <a:lnTo>
                          <a:pt x="23" y="45"/>
                        </a:lnTo>
                        <a:lnTo>
                          <a:pt x="26" y="41"/>
                        </a:lnTo>
                        <a:lnTo>
                          <a:pt x="28" y="37"/>
                        </a:lnTo>
                        <a:lnTo>
                          <a:pt x="30" y="32"/>
                        </a:lnTo>
                        <a:lnTo>
                          <a:pt x="31" y="28"/>
                        </a:lnTo>
                        <a:lnTo>
                          <a:pt x="33" y="23"/>
                        </a:lnTo>
                        <a:lnTo>
                          <a:pt x="34" y="18"/>
                        </a:lnTo>
                        <a:lnTo>
                          <a:pt x="34" y="14"/>
                        </a:lnTo>
                        <a:lnTo>
                          <a:pt x="34" y="9"/>
                        </a:lnTo>
                        <a:lnTo>
                          <a:pt x="35" y="0"/>
                        </a:lnTo>
                      </a:path>
                    </a:pathLst>
                  </a:custGeom>
                  <a:solidFill>
                    <a:srgbClr val="FF9FB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3" name="Freeform 121"/>
                  <p:cNvSpPr>
                    <a:spLocks noChangeAspect="1"/>
                  </p:cNvSpPr>
                  <p:nvPr/>
                </p:nvSpPr>
                <p:spPr bwMode="auto">
                  <a:xfrm>
                    <a:off x="4963" y="2427"/>
                    <a:ext cx="84" cy="70"/>
                  </a:xfrm>
                  <a:custGeom>
                    <a:avLst/>
                    <a:gdLst>
                      <a:gd name="T0" fmla="*/ 9 w 84"/>
                      <a:gd name="T1" fmla="*/ 69 h 70"/>
                      <a:gd name="T2" fmla="*/ 3 w 84"/>
                      <a:gd name="T3" fmla="*/ 68 h 70"/>
                      <a:gd name="T4" fmla="*/ 0 w 84"/>
                      <a:gd name="T5" fmla="*/ 64 h 70"/>
                      <a:gd name="T6" fmla="*/ 2 w 84"/>
                      <a:gd name="T7" fmla="*/ 58 h 70"/>
                      <a:gd name="T8" fmla="*/ 8 w 84"/>
                      <a:gd name="T9" fmla="*/ 56 h 70"/>
                      <a:gd name="T10" fmla="*/ 16 w 84"/>
                      <a:gd name="T11" fmla="*/ 55 h 70"/>
                      <a:gd name="T12" fmla="*/ 22 w 84"/>
                      <a:gd name="T13" fmla="*/ 50 h 70"/>
                      <a:gd name="T14" fmla="*/ 31 w 84"/>
                      <a:gd name="T15" fmla="*/ 45 h 70"/>
                      <a:gd name="T16" fmla="*/ 39 w 84"/>
                      <a:gd name="T17" fmla="*/ 42 h 70"/>
                      <a:gd name="T18" fmla="*/ 47 w 84"/>
                      <a:gd name="T19" fmla="*/ 37 h 70"/>
                      <a:gd name="T20" fmla="*/ 53 w 84"/>
                      <a:gd name="T21" fmla="*/ 29 h 70"/>
                      <a:gd name="T22" fmla="*/ 61 w 84"/>
                      <a:gd name="T23" fmla="*/ 16 h 70"/>
                      <a:gd name="T24" fmla="*/ 69 w 84"/>
                      <a:gd name="T25" fmla="*/ 8 h 70"/>
                      <a:gd name="T26" fmla="*/ 76 w 84"/>
                      <a:gd name="T27" fmla="*/ 2 h 70"/>
                      <a:gd name="T28" fmla="*/ 83 w 84"/>
                      <a:gd name="T29" fmla="*/ 0 h 70"/>
                      <a:gd name="T30" fmla="*/ 79 w 84"/>
                      <a:gd name="T31" fmla="*/ 5 h 70"/>
                      <a:gd name="T32" fmla="*/ 77 w 84"/>
                      <a:gd name="T33" fmla="*/ 14 h 70"/>
                      <a:gd name="T34" fmla="*/ 78 w 84"/>
                      <a:gd name="T35" fmla="*/ 23 h 70"/>
                      <a:gd name="T36" fmla="*/ 81 w 84"/>
                      <a:gd name="T37" fmla="*/ 32 h 70"/>
                      <a:gd name="T38" fmla="*/ 78 w 84"/>
                      <a:gd name="T39" fmla="*/ 36 h 70"/>
                      <a:gd name="T40" fmla="*/ 72 w 84"/>
                      <a:gd name="T41" fmla="*/ 40 h 70"/>
                      <a:gd name="T42" fmla="*/ 63 w 84"/>
                      <a:gd name="T43" fmla="*/ 41 h 70"/>
                      <a:gd name="T44" fmla="*/ 59 w 84"/>
                      <a:gd name="T45" fmla="*/ 42 h 70"/>
                      <a:gd name="T46" fmla="*/ 60 w 84"/>
                      <a:gd name="T47" fmla="*/ 47 h 70"/>
                      <a:gd name="T48" fmla="*/ 61 w 84"/>
                      <a:gd name="T49" fmla="*/ 52 h 70"/>
                      <a:gd name="T50" fmla="*/ 57 w 84"/>
                      <a:gd name="T51" fmla="*/ 56 h 70"/>
                      <a:gd name="T52" fmla="*/ 52 w 84"/>
                      <a:gd name="T53" fmla="*/ 56 h 70"/>
                      <a:gd name="T54" fmla="*/ 46 w 84"/>
                      <a:gd name="T55" fmla="*/ 60 h 70"/>
                      <a:gd name="T56" fmla="*/ 36 w 84"/>
                      <a:gd name="T57" fmla="*/ 62 h 70"/>
                      <a:gd name="T58" fmla="*/ 28 w 84"/>
                      <a:gd name="T59" fmla="*/ 62 h 70"/>
                      <a:gd name="T60" fmla="*/ 20 w 84"/>
                      <a:gd name="T61" fmla="*/ 64 h 70"/>
                      <a:gd name="T62" fmla="*/ 12 w 84"/>
                      <a:gd name="T63" fmla="*/ 69 h 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84" h="70">
                        <a:moveTo>
                          <a:pt x="12" y="69"/>
                        </a:moveTo>
                        <a:lnTo>
                          <a:pt x="9" y="69"/>
                        </a:lnTo>
                        <a:lnTo>
                          <a:pt x="5" y="69"/>
                        </a:lnTo>
                        <a:lnTo>
                          <a:pt x="3" y="68"/>
                        </a:lnTo>
                        <a:lnTo>
                          <a:pt x="1" y="66"/>
                        </a:lnTo>
                        <a:lnTo>
                          <a:pt x="0" y="64"/>
                        </a:lnTo>
                        <a:lnTo>
                          <a:pt x="0" y="61"/>
                        </a:lnTo>
                        <a:lnTo>
                          <a:pt x="2" y="58"/>
                        </a:lnTo>
                        <a:lnTo>
                          <a:pt x="4" y="57"/>
                        </a:lnTo>
                        <a:lnTo>
                          <a:pt x="8" y="56"/>
                        </a:lnTo>
                        <a:lnTo>
                          <a:pt x="12" y="56"/>
                        </a:lnTo>
                        <a:lnTo>
                          <a:pt x="16" y="55"/>
                        </a:lnTo>
                        <a:lnTo>
                          <a:pt x="20" y="53"/>
                        </a:lnTo>
                        <a:lnTo>
                          <a:pt x="22" y="50"/>
                        </a:lnTo>
                        <a:lnTo>
                          <a:pt x="27" y="47"/>
                        </a:lnTo>
                        <a:lnTo>
                          <a:pt x="31" y="45"/>
                        </a:lnTo>
                        <a:lnTo>
                          <a:pt x="35" y="43"/>
                        </a:lnTo>
                        <a:lnTo>
                          <a:pt x="39" y="42"/>
                        </a:lnTo>
                        <a:lnTo>
                          <a:pt x="44" y="39"/>
                        </a:lnTo>
                        <a:lnTo>
                          <a:pt x="47" y="37"/>
                        </a:lnTo>
                        <a:lnTo>
                          <a:pt x="50" y="33"/>
                        </a:lnTo>
                        <a:lnTo>
                          <a:pt x="53" y="29"/>
                        </a:lnTo>
                        <a:lnTo>
                          <a:pt x="57" y="22"/>
                        </a:lnTo>
                        <a:lnTo>
                          <a:pt x="61" y="16"/>
                        </a:lnTo>
                        <a:lnTo>
                          <a:pt x="65" y="11"/>
                        </a:lnTo>
                        <a:lnTo>
                          <a:pt x="69" y="8"/>
                        </a:lnTo>
                        <a:lnTo>
                          <a:pt x="73" y="5"/>
                        </a:lnTo>
                        <a:lnTo>
                          <a:pt x="76" y="2"/>
                        </a:lnTo>
                        <a:lnTo>
                          <a:pt x="80" y="0"/>
                        </a:lnTo>
                        <a:lnTo>
                          <a:pt x="83" y="0"/>
                        </a:lnTo>
                        <a:lnTo>
                          <a:pt x="81" y="2"/>
                        </a:lnTo>
                        <a:lnTo>
                          <a:pt x="79" y="5"/>
                        </a:lnTo>
                        <a:lnTo>
                          <a:pt x="78" y="10"/>
                        </a:lnTo>
                        <a:lnTo>
                          <a:pt x="77" y="14"/>
                        </a:lnTo>
                        <a:lnTo>
                          <a:pt x="77" y="19"/>
                        </a:lnTo>
                        <a:lnTo>
                          <a:pt x="78" y="23"/>
                        </a:lnTo>
                        <a:lnTo>
                          <a:pt x="79" y="27"/>
                        </a:lnTo>
                        <a:lnTo>
                          <a:pt x="81" y="32"/>
                        </a:lnTo>
                        <a:lnTo>
                          <a:pt x="80" y="34"/>
                        </a:lnTo>
                        <a:lnTo>
                          <a:pt x="78" y="36"/>
                        </a:lnTo>
                        <a:lnTo>
                          <a:pt x="75" y="38"/>
                        </a:lnTo>
                        <a:lnTo>
                          <a:pt x="72" y="40"/>
                        </a:lnTo>
                        <a:lnTo>
                          <a:pt x="67" y="41"/>
                        </a:lnTo>
                        <a:lnTo>
                          <a:pt x="63" y="41"/>
                        </a:lnTo>
                        <a:lnTo>
                          <a:pt x="60" y="41"/>
                        </a:lnTo>
                        <a:lnTo>
                          <a:pt x="59" y="42"/>
                        </a:lnTo>
                        <a:lnTo>
                          <a:pt x="59" y="44"/>
                        </a:lnTo>
                        <a:lnTo>
                          <a:pt x="60" y="47"/>
                        </a:lnTo>
                        <a:lnTo>
                          <a:pt x="61" y="50"/>
                        </a:lnTo>
                        <a:lnTo>
                          <a:pt x="61" y="52"/>
                        </a:lnTo>
                        <a:lnTo>
                          <a:pt x="59" y="55"/>
                        </a:lnTo>
                        <a:lnTo>
                          <a:pt x="57" y="56"/>
                        </a:lnTo>
                        <a:lnTo>
                          <a:pt x="55" y="56"/>
                        </a:lnTo>
                        <a:lnTo>
                          <a:pt x="52" y="56"/>
                        </a:lnTo>
                        <a:lnTo>
                          <a:pt x="49" y="58"/>
                        </a:lnTo>
                        <a:lnTo>
                          <a:pt x="46" y="60"/>
                        </a:lnTo>
                        <a:lnTo>
                          <a:pt x="41" y="61"/>
                        </a:lnTo>
                        <a:lnTo>
                          <a:pt x="36" y="62"/>
                        </a:lnTo>
                        <a:lnTo>
                          <a:pt x="32" y="62"/>
                        </a:lnTo>
                        <a:lnTo>
                          <a:pt x="28" y="62"/>
                        </a:lnTo>
                        <a:lnTo>
                          <a:pt x="23" y="62"/>
                        </a:lnTo>
                        <a:lnTo>
                          <a:pt x="20" y="64"/>
                        </a:lnTo>
                        <a:lnTo>
                          <a:pt x="16" y="67"/>
                        </a:lnTo>
                        <a:lnTo>
                          <a:pt x="12" y="69"/>
                        </a:lnTo>
                      </a:path>
                    </a:pathLst>
                  </a:custGeom>
                  <a:solidFill>
                    <a:srgbClr val="DF3F5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4" name="Freeform 122"/>
                  <p:cNvSpPr>
                    <a:spLocks noChangeAspect="1"/>
                  </p:cNvSpPr>
                  <p:nvPr/>
                </p:nvSpPr>
                <p:spPr bwMode="auto">
                  <a:xfrm>
                    <a:off x="4929" y="2480"/>
                    <a:ext cx="25" cy="7"/>
                  </a:xfrm>
                  <a:custGeom>
                    <a:avLst/>
                    <a:gdLst>
                      <a:gd name="T0" fmla="*/ 0 w 25"/>
                      <a:gd name="T1" fmla="*/ 4 h 7"/>
                      <a:gd name="T2" fmla="*/ 1 w 25"/>
                      <a:gd name="T3" fmla="*/ 2 h 7"/>
                      <a:gd name="T4" fmla="*/ 2 w 25"/>
                      <a:gd name="T5" fmla="*/ 1 h 7"/>
                      <a:gd name="T6" fmla="*/ 5 w 25"/>
                      <a:gd name="T7" fmla="*/ 0 h 7"/>
                      <a:gd name="T8" fmla="*/ 7 w 25"/>
                      <a:gd name="T9" fmla="*/ 0 h 7"/>
                      <a:gd name="T10" fmla="*/ 11 w 25"/>
                      <a:gd name="T11" fmla="*/ 0 h 7"/>
                      <a:gd name="T12" fmla="*/ 15 w 25"/>
                      <a:gd name="T13" fmla="*/ 1 h 7"/>
                      <a:gd name="T14" fmla="*/ 19 w 25"/>
                      <a:gd name="T15" fmla="*/ 2 h 7"/>
                      <a:gd name="T16" fmla="*/ 24 w 25"/>
                      <a:gd name="T17" fmla="*/ 3 h 7"/>
                      <a:gd name="T18" fmla="*/ 18 w 25"/>
                      <a:gd name="T19" fmla="*/ 4 h 7"/>
                      <a:gd name="T20" fmla="*/ 14 w 25"/>
                      <a:gd name="T21" fmla="*/ 4 h 7"/>
                      <a:gd name="T22" fmla="*/ 11 w 25"/>
                      <a:gd name="T23" fmla="*/ 5 h 7"/>
                      <a:gd name="T24" fmla="*/ 8 w 25"/>
                      <a:gd name="T25" fmla="*/ 6 h 7"/>
                      <a:gd name="T26" fmla="*/ 5 w 25"/>
                      <a:gd name="T27" fmla="*/ 6 h 7"/>
                      <a:gd name="T28" fmla="*/ 3 w 25"/>
                      <a:gd name="T29" fmla="*/ 6 h 7"/>
                      <a:gd name="T30" fmla="*/ 1 w 25"/>
                      <a:gd name="T31" fmla="*/ 5 h 7"/>
                      <a:gd name="T32" fmla="*/ 0 w 25"/>
                      <a:gd name="T33" fmla="*/ 4 h 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 h="7">
                        <a:moveTo>
                          <a:pt x="0" y="4"/>
                        </a:moveTo>
                        <a:lnTo>
                          <a:pt x="1" y="2"/>
                        </a:lnTo>
                        <a:lnTo>
                          <a:pt x="2" y="1"/>
                        </a:lnTo>
                        <a:lnTo>
                          <a:pt x="5" y="0"/>
                        </a:lnTo>
                        <a:lnTo>
                          <a:pt x="7" y="0"/>
                        </a:lnTo>
                        <a:lnTo>
                          <a:pt x="11" y="0"/>
                        </a:lnTo>
                        <a:lnTo>
                          <a:pt x="15" y="1"/>
                        </a:lnTo>
                        <a:lnTo>
                          <a:pt x="19" y="2"/>
                        </a:lnTo>
                        <a:lnTo>
                          <a:pt x="24" y="3"/>
                        </a:lnTo>
                        <a:lnTo>
                          <a:pt x="18" y="4"/>
                        </a:lnTo>
                        <a:lnTo>
                          <a:pt x="14" y="4"/>
                        </a:lnTo>
                        <a:lnTo>
                          <a:pt x="11" y="5"/>
                        </a:lnTo>
                        <a:lnTo>
                          <a:pt x="8" y="6"/>
                        </a:lnTo>
                        <a:lnTo>
                          <a:pt x="5" y="6"/>
                        </a:lnTo>
                        <a:lnTo>
                          <a:pt x="3" y="6"/>
                        </a:lnTo>
                        <a:lnTo>
                          <a:pt x="1" y="5"/>
                        </a:lnTo>
                        <a:lnTo>
                          <a:pt x="0" y="4"/>
                        </a:lnTo>
                      </a:path>
                    </a:pathLst>
                  </a:custGeom>
                  <a:solidFill>
                    <a:srgbClr val="DF3F5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5" name="Freeform 123"/>
                  <p:cNvSpPr>
                    <a:spLocks noChangeAspect="1"/>
                  </p:cNvSpPr>
                  <p:nvPr/>
                </p:nvSpPr>
                <p:spPr bwMode="auto">
                  <a:xfrm>
                    <a:off x="4955" y="2402"/>
                    <a:ext cx="31" cy="65"/>
                  </a:xfrm>
                  <a:custGeom>
                    <a:avLst/>
                    <a:gdLst>
                      <a:gd name="T0" fmla="*/ 13 w 31"/>
                      <a:gd name="T1" fmla="*/ 0 h 65"/>
                      <a:gd name="T2" fmla="*/ 12 w 31"/>
                      <a:gd name="T3" fmla="*/ 9 h 65"/>
                      <a:gd name="T4" fmla="*/ 11 w 31"/>
                      <a:gd name="T5" fmla="*/ 18 h 65"/>
                      <a:gd name="T6" fmla="*/ 9 w 31"/>
                      <a:gd name="T7" fmla="*/ 27 h 65"/>
                      <a:gd name="T8" fmla="*/ 7 w 31"/>
                      <a:gd name="T9" fmla="*/ 31 h 65"/>
                      <a:gd name="T10" fmla="*/ 6 w 31"/>
                      <a:gd name="T11" fmla="*/ 36 h 65"/>
                      <a:gd name="T12" fmla="*/ 4 w 31"/>
                      <a:gd name="T13" fmla="*/ 40 h 65"/>
                      <a:gd name="T14" fmla="*/ 3 w 31"/>
                      <a:gd name="T15" fmla="*/ 44 h 65"/>
                      <a:gd name="T16" fmla="*/ 1 w 31"/>
                      <a:gd name="T17" fmla="*/ 50 h 65"/>
                      <a:gd name="T18" fmla="*/ 0 w 31"/>
                      <a:gd name="T19" fmla="*/ 54 h 65"/>
                      <a:gd name="T20" fmla="*/ 0 w 31"/>
                      <a:gd name="T21" fmla="*/ 59 h 65"/>
                      <a:gd name="T22" fmla="*/ 0 w 31"/>
                      <a:gd name="T23" fmla="*/ 62 h 65"/>
                      <a:gd name="T24" fmla="*/ 1 w 31"/>
                      <a:gd name="T25" fmla="*/ 64 h 65"/>
                      <a:gd name="T26" fmla="*/ 3 w 31"/>
                      <a:gd name="T27" fmla="*/ 63 h 65"/>
                      <a:gd name="T28" fmla="*/ 4 w 31"/>
                      <a:gd name="T29" fmla="*/ 62 h 65"/>
                      <a:gd name="T30" fmla="*/ 6 w 31"/>
                      <a:gd name="T31" fmla="*/ 64 h 65"/>
                      <a:gd name="T32" fmla="*/ 5 w 31"/>
                      <a:gd name="T33" fmla="*/ 62 h 65"/>
                      <a:gd name="T34" fmla="*/ 5 w 31"/>
                      <a:gd name="T35" fmla="*/ 59 h 65"/>
                      <a:gd name="T36" fmla="*/ 6 w 31"/>
                      <a:gd name="T37" fmla="*/ 56 h 65"/>
                      <a:gd name="T38" fmla="*/ 8 w 31"/>
                      <a:gd name="T39" fmla="*/ 54 h 65"/>
                      <a:gd name="T40" fmla="*/ 10 w 31"/>
                      <a:gd name="T41" fmla="*/ 51 h 65"/>
                      <a:gd name="T42" fmla="*/ 12 w 31"/>
                      <a:gd name="T43" fmla="*/ 50 h 65"/>
                      <a:gd name="T44" fmla="*/ 14 w 31"/>
                      <a:gd name="T45" fmla="*/ 47 h 65"/>
                      <a:gd name="T46" fmla="*/ 15 w 31"/>
                      <a:gd name="T47" fmla="*/ 44 h 65"/>
                      <a:gd name="T48" fmla="*/ 15 w 31"/>
                      <a:gd name="T49" fmla="*/ 40 h 65"/>
                      <a:gd name="T50" fmla="*/ 15 w 31"/>
                      <a:gd name="T51" fmla="*/ 37 h 65"/>
                      <a:gd name="T52" fmla="*/ 16 w 31"/>
                      <a:gd name="T53" fmla="*/ 34 h 65"/>
                      <a:gd name="T54" fmla="*/ 19 w 31"/>
                      <a:gd name="T55" fmla="*/ 32 h 65"/>
                      <a:gd name="T56" fmla="*/ 22 w 31"/>
                      <a:gd name="T57" fmla="*/ 31 h 65"/>
                      <a:gd name="T58" fmla="*/ 24 w 31"/>
                      <a:gd name="T59" fmla="*/ 30 h 65"/>
                      <a:gd name="T60" fmla="*/ 26 w 31"/>
                      <a:gd name="T61" fmla="*/ 30 h 65"/>
                      <a:gd name="T62" fmla="*/ 29 w 31"/>
                      <a:gd name="T63" fmla="*/ 28 h 65"/>
                      <a:gd name="T64" fmla="*/ 30 w 31"/>
                      <a:gd name="T65" fmla="*/ 27 h 65"/>
                      <a:gd name="T66" fmla="*/ 28 w 31"/>
                      <a:gd name="T67" fmla="*/ 27 h 65"/>
                      <a:gd name="T68" fmla="*/ 25 w 31"/>
                      <a:gd name="T69" fmla="*/ 27 h 65"/>
                      <a:gd name="T70" fmla="*/ 23 w 31"/>
                      <a:gd name="T71" fmla="*/ 26 h 65"/>
                      <a:gd name="T72" fmla="*/ 21 w 31"/>
                      <a:gd name="T73" fmla="*/ 25 h 65"/>
                      <a:gd name="T74" fmla="*/ 19 w 31"/>
                      <a:gd name="T75" fmla="*/ 23 h 65"/>
                      <a:gd name="T76" fmla="*/ 18 w 31"/>
                      <a:gd name="T77" fmla="*/ 20 h 65"/>
                      <a:gd name="T78" fmla="*/ 17 w 31"/>
                      <a:gd name="T79" fmla="*/ 14 h 65"/>
                      <a:gd name="T80" fmla="*/ 16 w 31"/>
                      <a:gd name="T81" fmla="*/ 7 h 65"/>
                      <a:gd name="T82" fmla="*/ 13 w 31"/>
                      <a:gd name="T83" fmla="*/ 0 h 6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1" h="65">
                        <a:moveTo>
                          <a:pt x="13" y="0"/>
                        </a:moveTo>
                        <a:lnTo>
                          <a:pt x="12" y="9"/>
                        </a:lnTo>
                        <a:lnTo>
                          <a:pt x="11" y="18"/>
                        </a:lnTo>
                        <a:lnTo>
                          <a:pt x="9" y="27"/>
                        </a:lnTo>
                        <a:lnTo>
                          <a:pt x="7" y="31"/>
                        </a:lnTo>
                        <a:lnTo>
                          <a:pt x="6" y="36"/>
                        </a:lnTo>
                        <a:lnTo>
                          <a:pt x="4" y="40"/>
                        </a:lnTo>
                        <a:lnTo>
                          <a:pt x="3" y="44"/>
                        </a:lnTo>
                        <a:lnTo>
                          <a:pt x="1" y="50"/>
                        </a:lnTo>
                        <a:lnTo>
                          <a:pt x="0" y="54"/>
                        </a:lnTo>
                        <a:lnTo>
                          <a:pt x="0" y="59"/>
                        </a:lnTo>
                        <a:lnTo>
                          <a:pt x="0" y="62"/>
                        </a:lnTo>
                        <a:lnTo>
                          <a:pt x="1" y="64"/>
                        </a:lnTo>
                        <a:lnTo>
                          <a:pt x="3" y="63"/>
                        </a:lnTo>
                        <a:lnTo>
                          <a:pt x="4" y="62"/>
                        </a:lnTo>
                        <a:lnTo>
                          <a:pt x="6" y="64"/>
                        </a:lnTo>
                        <a:lnTo>
                          <a:pt x="5" y="62"/>
                        </a:lnTo>
                        <a:lnTo>
                          <a:pt x="5" y="59"/>
                        </a:lnTo>
                        <a:lnTo>
                          <a:pt x="6" y="56"/>
                        </a:lnTo>
                        <a:lnTo>
                          <a:pt x="8" y="54"/>
                        </a:lnTo>
                        <a:lnTo>
                          <a:pt x="10" y="51"/>
                        </a:lnTo>
                        <a:lnTo>
                          <a:pt x="12" y="50"/>
                        </a:lnTo>
                        <a:lnTo>
                          <a:pt x="14" y="47"/>
                        </a:lnTo>
                        <a:lnTo>
                          <a:pt x="15" y="44"/>
                        </a:lnTo>
                        <a:lnTo>
                          <a:pt x="15" y="40"/>
                        </a:lnTo>
                        <a:lnTo>
                          <a:pt x="15" y="37"/>
                        </a:lnTo>
                        <a:lnTo>
                          <a:pt x="16" y="34"/>
                        </a:lnTo>
                        <a:lnTo>
                          <a:pt x="19" y="32"/>
                        </a:lnTo>
                        <a:lnTo>
                          <a:pt x="22" y="31"/>
                        </a:lnTo>
                        <a:lnTo>
                          <a:pt x="24" y="30"/>
                        </a:lnTo>
                        <a:lnTo>
                          <a:pt x="26" y="30"/>
                        </a:lnTo>
                        <a:lnTo>
                          <a:pt x="29" y="28"/>
                        </a:lnTo>
                        <a:lnTo>
                          <a:pt x="30" y="27"/>
                        </a:lnTo>
                        <a:lnTo>
                          <a:pt x="28" y="27"/>
                        </a:lnTo>
                        <a:lnTo>
                          <a:pt x="25" y="27"/>
                        </a:lnTo>
                        <a:lnTo>
                          <a:pt x="23" y="26"/>
                        </a:lnTo>
                        <a:lnTo>
                          <a:pt x="21" y="25"/>
                        </a:lnTo>
                        <a:lnTo>
                          <a:pt x="19" y="23"/>
                        </a:lnTo>
                        <a:lnTo>
                          <a:pt x="18" y="20"/>
                        </a:lnTo>
                        <a:lnTo>
                          <a:pt x="17" y="14"/>
                        </a:lnTo>
                        <a:lnTo>
                          <a:pt x="16" y="7"/>
                        </a:lnTo>
                        <a:lnTo>
                          <a:pt x="13" y="0"/>
                        </a:lnTo>
                      </a:path>
                    </a:pathLst>
                  </a:custGeom>
                  <a:solidFill>
                    <a:srgbClr val="DF3F5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6" name="Freeform 124"/>
                  <p:cNvSpPr>
                    <a:spLocks noChangeAspect="1"/>
                  </p:cNvSpPr>
                  <p:nvPr/>
                </p:nvSpPr>
                <p:spPr bwMode="auto">
                  <a:xfrm>
                    <a:off x="4940" y="2425"/>
                    <a:ext cx="6" cy="36"/>
                  </a:xfrm>
                  <a:custGeom>
                    <a:avLst/>
                    <a:gdLst>
                      <a:gd name="T0" fmla="*/ 3 w 6"/>
                      <a:gd name="T1" fmla="*/ 22 h 36"/>
                      <a:gd name="T2" fmla="*/ 4 w 6"/>
                      <a:gd name="T3" fmla="*/ 26 h 36"/>
                      <a:gd name="T4" fmla="*/ 3 w 6"/>
                      <a:gd name="T5" fmla="*/ 29 h 36"/>
                      <a:gd name="T6" fmla="*/ 2 w 6"/>
                      <a:gd name="T7" fmla="*/ 31 h 36"/>
                      <a:gd name="T8" fmla="*/ 1 w 6"/>
                      <a:gd name="T9" fmla="*/ 35 h 36"/>
                      <a:gd name="T10" fmla="*/ 3 w 6"/>
                      <a:gd name="T11" fmla="*/ 33 h 36"/>
                      <a:gd name="T12" fmla="*/ 4 w 6"/>
                      <a:gd name="T13" fmla="*/ 30 h 36"/>
                      <a:gd name="T14" fmla="*/ 5 w 6"/>
                      <a:gd name="T15" fmla="*/ 26 h 36"/>
                      <a:gd name="T16" fmla="*/ 5 w 6"/>
                      <a:gd name="T17" fmla="*/ 23 h 36"/>
                      <a:gd name="T18" fmla="*/ 3 w 6"/>
                      <a:gd name="T19" fmla="*/ 19 h 36"/>
                      <a:gd name="T20" fmla="*/ 2 w 6"/>
                      <a:gd name="T21" fmla="*/ 14 h 36"/>
                      <a:gd name="T22" fmla="*/ 2 w 6"/>
                      <a:gd name="T23" fmla="*/ 11 h 36"/>
                      <a:gd name="T24" fmla="*/ 2 w 6"/>
                      <a:gd name="T25" fmla="*/ 6 h 36"/>
                      <a:gd name="T26" fmla="*/ 4 w 6"/>
                      <a:gd name="T27" fmla="*/ 0 h 36"/>
                      <a:gd name="T28" fmla="*/ 2 w 6"/>
                      <a:gd name="T29" fmla="*/ 4 h 36"/>
                      <a:gd name="T30" fmla="*/ 0 w 6"/>
                      <a:gd name="T31" fmla="*/ 7 h 36"/>
                      <a:gd name="T32" fmla="*/ 0 w 6"/>
                      <a:gd name="T33" fmla="*/ 13 h 36"/>
                      <a:gd name="T34" fmla="*/ 1 w 6"/>
                      <a:gd name="T35" fmla="*/ 17 h 36"/>
                      <a:gd name="T36" fmla="*/ 3 w 6"/>
                      <a:gd name="T37" fmla="*/ 22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 h="36">
                        <a:moveTo>
                          <a:pt x="3" y="22"/>
                        </a:moveTo>
                        <a:lnTo>
                          <a:pt x="4" y="26"/>
                        </a:lnTo>
                        <a:lnTo>
                          <a:pt x="3" y="29"/>
                        </a:lnTo>
                        <a:lnTo>
                          <a:pt x="2" y="31"/>
                        </a:lnTo>
                        <a:lnTo>
                          <a:pt x="1" y="35"/>
                        </a:lnTo>
                        <a:lnTo>
                          <a:pt x="3" y="33"/>
                        </a:lnTo>
                        <a:lnTo>
                          <a:pt x="4" y="30"/>
                        </a:lnTo>
                        <a:lnTo>
                          <a:pt x="5" y="26"/>
                        </a:lnTo>
                        <a:lnTo>
                          <a:pt x="5" y="23"/>
                        </a:lnTo>
                        <a:lnTo>
                          <a:pt x="3" y="19"/>
                        </a:lnTo>
                        <a:lnTo>
                          <a:pt x="2" y="14"/>
                        </a:lnTo>
                        <a:lnTo>
                          <a:pt x="2" y="11"/>
                        </a:lnTo>
                        <a:lnTo>
                          <a:pt x="2" y="6"/>
                        </a:lnTo>
                        <a:lnTo>
                          <a:pt x="4" y="0"/>
                        </a:lnTo>
                        <a:lnTo>
                          <a:pt x="2" y="4"/>
                        </a:lnTo>
                        <a:lnTo>
                          <a:pt x="0" y="7"/>
                        </a:lnTo>
                        <a:lnTo>
                          <a:pt x="0" y="13"/>
                        </a:lnTo>
                        <a:lnTo>
                          <a:pt x="1" y="17"/>
                        </a:lnTo>
                        <a:lnTo>
                          <a:pt x="3" y="22"/>
                        </a:lnTo>
                      </a:path>
                    </a:pathLst>
                  </a:custGeom>
                  <a:solidFill>
                    <a:srgbClr val="DF3F5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7" name="Freeform 125"/>
                  <p:cNvSpPr>
                    <a:spLocks noChangeAspect="1"/>
                  </p:cNvSpPr>
                  <p:nvPr/>
                </p:nvSpPr>
                <p:spPr bwMode="auto">
                  <a:xfrm>
                    <a:off x="4945" y="2360"/>
                    <a:ext cx="28" cy="95"/>
                  </a:xfrm>
                  <a:custGeom>
                    <a:avLst/>
                    <a:gdLst>
                      <a:gd name="T0" fmla="*/ 0 w 28"/>
                      <a:gd name="T1" fmla="*/ 94 h 95"/>
                      <a:gd name="T2" fmla="*/ 2 w 28"/>
                      <a:gd name="T3" fmla="*/ 92 h 95"/>
                      <a:gd name="T4" fmla="*/ 6 w 28"/>
                      <a:gd name="T5" fmla="*/ 85 h 95"/>
                      <a:gd name="T6" fmla="*/ 10 w 28"/>
                      <a:gd name="T7" fmla="*/ 79 h 95"/>
                      <a:gd name="T8" fmla="*/ 13 w 28"/>
                      <a:gd name="T9" fmla="*/ 71 h 95"/>
                      <a:gd name="T10" fmla="*/ 16 w 28"/>
                      <a:gd name="T11" fmla="*/ 63 h 95"/>
                      <a:gd name="T12" fmla="*/ 16 w 28"/>
                      <a:gd name="T13" fmla="*/ 56 h 95"/>
                      <a:gd name="T14" fmla="*/ 17 w 28"/>
                      <a:gd name="T15" fmla="*/ 47 h 95"/>
                      <a:gd name="T16" fmla="*/ 18 w 28"/>
                      <a:gd name="T17" fmla="*/ 39 h 95"/>
                      <a:gd name="T18" fmla="*/ 15 w 28"/>
                      <a:gd name="T19" fmla="*/ 41 h 95"/>
                      <a:gd name="T20" fmla="*/ 11 w 28"/>
                      <a:gd name="T21" fmla="*/ 44 h 95"/>
                      <a:gd name="T22" fmla="*/ 8 w 28"/>
                      <a:gd name="T23" fmla="*/ 47 h 95"/>
                      <a:gd name="T24" fmla="*/ 7 w 28"/>
                      <a:gd name="T25" fmla="*/ 44 h 95"/>
                      <a:gd name="T26" fmla="*/ 8 w 28"/>
                      <a:gd name="T27" fmla="*/ 39 h 95"/>
                      <a:gd name="T28" fmla="*/ 9 w 28"/>
                      <a:gd name="T29" fmla="*/ 35 h 95"/>
                      <a:gd name="T30" fmla="*/ 11 w 28"/>
                      <a:gd name="T31" fmla="*/ 31 h 95"/>
                      <a:gd name="T32" fmla="*/ 14 w 28"/>
                      <a:gd name="T33" fmla="*/ 26 h 95"/>
                      <a:gd name="T34" fmla="*/ 16 w 28"/>
                      <a:gd name="T35" fmla="*/ 22 h 95"/>
                      <a:gd name="T36" fmla="*/ 19 w 28"/>
                      <a:gd name="T37" fmla="*/ 18 h 95"/>
                      <a:gd name="T38" fmla="*/ 21 w 28"/>
                      <a:gd name="T39" fmla="*/ 13 h 95"/>
                      <a:gd name="T40" fmla="*/ 22 w 28"/>
                      <a:gd name="T41" fmla="*/ 10 h 95"/>
                      <a:gd name="T42" fmla="*/ 24 w 28"/>
                      <a:gd name="T43" fmla="*/ 5 h 95"/>
                      <a:gd name="T44" fmla="*/ 25 w 28"/>
                      <a:gd name="T45" fmla="*/ 3 h 95"/>
                      <a:gd name="T46" fmla="*/ 27 w 28"/>
                      <a:gd name="T47" fmla="*/ 0 h 95"/>
                      <a:gd name="T48" fmla="*/ 24 w 28"/>
                      <a:gd name="T49" fmla="*/ 2 h 95"/>
                      <a:gd name="T50" fmla="*/ 21 w 28"/>
                      <a:gd name="T51" fmla="*/ 3 h 95"/>
                      <a:gd name="T52" fmla="*/ 17 w 28"/>
                      <a:gd name="T53" fmla="*/ 6 h 95"/>
                      <a:gd name="T54" fmla="*/ 15 w 28"/>
                      <a:gd name="T55" fmla="*/ 9 h 95"/>
                      <a:gd name="T56" fmla="*/ 12 w 28"/>
                      <a:gd name="T57" fmla="*/ 12 h 95"/>
                      <a:gd name="T58" fmla="*/ 10 w 28"/>
                      <a:gd name="T59" fmla="*/ 20 h 95"/>
                      <a:gd name="T60" fmla="*/ 2 w 28"/>
                      <a:gd name="T61" fmla="*/ 35 h 95"/>
                      <a:gd name="T62" fmla="*/ 3 w 28"/>
                      <a:gd name="T63" fmla="*/ 53 h 95"/>
                      <a:gd name="T64" fmla="*/ 1 w 28"/>
                      <a:gd name="T65" fmla="*/ 64 h 95"/>
                      <a:gd name="T66" fmla="*/ 2 w 28"/>
                      <a:gd name="T67" fmla="*/ 72 h 95"/>
                      <a:gd name="T68" fmla="*/ 3 w 28"/>
                      <a:gd name="T69" fmla="*/ 80 h 95"/>
                      <a:gd name="T70" fmla="*/ 2 w 28"/>
                      <a:gd name="T71" fmla="*/ 86 h 95"/>
                      <a:gd name="T72" fmla="*/ 0 w 28"/>
                      <a:gd name="T73" fmla="*/ 94 h 9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8" h="95">
                        <a:moveTo>
                          <a:pt x="0" y="94"/>
                        </a:moveTo>
                        <a:lnTo>
                          <a:pt x="2" y="92"/>
                        </a:lnTo>
                        <a:lnTo>
                          <a:pt x="6" y="85"/>
                        </a:lnTo>
                        <a:lnTo>
                          <a:pt x="10" y="79"/>
                        </a:lnTo>
                        <a:lnTo>
                          <a:pt x="13" y="71"/>
                        </a:lnTo>
                        <a:lnTo>
                          <a:pt x="16" y="63"/>
                        </a:lnTo>
                        <a:lnTo>
                          <a:pt x="16" y="56"/>
                        </a:lnTo>
                        <a:lnTo>
                          <a:pt x="17" y="47"/>
                        </a:lnTo>
                        <a:lnTo>
                          <a:pt x="18" y="39"/>
                        </a:lnTo>
                        <a:lnTo>
                          <a:pt x="15" y="41"/>
                        </a:lnTo>
                        <a:lnTo>
                          <a:pt x="11" y="44"/>
                        </a:lnTo>
                        <a:lnTo>
                          <a:pt x="8" y="47"/>
                        </a:lnTo>
                        <a:lnTo>
                          <a:pt x="7" y="44"/>
                        </a:lnTo>
                        <a:lnTo>
                          <a:pt x="8" y="39"/>
                        </a:lnTo>
                        <a:lnTo>
                          <a:pt x="9" y="35"/>
                        </a:lnTo>
                        <a:lnTo>
                          <a:pt x="11" y="31"/>
                        </a:lnTo>
                        <a:lnTo>
                          <a:pt x="14" y="26"/>
                        </a:lnTo>
                        <a:lnTo>
                          <a:pt x="16" y="22"/>
                        </a:lnTo>
                        <a:lnTo>
                          <a:pt x="19" y="18"/>
                        </a:lnTo>
                        <a:lnTo>
                          <a:pt x="21" y="13"/>
                        </a:lnTo>
                        <a:lnTo>
                          <a:pt x="22" y="10"/>
                        </a:lnTo>
                        <a:lnTo>
                          <a:pt x="24" y="5"/>
                        </a:lnTo>
                        <a:lnTo>
                          <a:pt x="25" y="3"/>
                        </a:lnTo>
                        <a:lnTo>
                          <a:pt x="27" y="0"/>
                        </a:lnTo>
                        <a:lnTo>
                          <a:pt x="24" y="2"/>
                        </a:lnTo>
                        <a:lnTo>
                          <a:pt x="21" y="3"/>
                        </a:lnTo>
                        <a:lnTo>
                          <a:pt x="17" y="6"/>
                        </a:lnTo>
                        <a:lnTo>
                          <a:pt x="15" y="9"/>
                        </a:lnTo>
                        <a:lnTo>
                          <a:pt x="12" y="12"/>
                        </a:lnTo>
                        <a:lnTo>
                          <a:pt x="10" y="20"/>
                        </a:lnTo>
                        <a:lnTo>
                          <a:pt x="2" y="35"/>
                        </a:lnTo>
                        <a:lnTo>
                          <a:pt x="3" y="53"/>
                        </a:lnTo>
                        <a:lnTo>
                          <a:pt x="1" y="64"/>
                        </a:lnTo>
                        <a:lnTo>
                          <a:pt x="2" y="72"/>
                        </a:lnTo>
                        <a:lnTo>
                          <a:pt x="3" y="80"/>
                        </a:lnTo>
                        <a:lnTo>
                          <a:pt x="2" y="86"/>
                        </a:lnTo>
                        <a:lnTo>
                          <a:pt x="0" y="94"/>
                        </a:lnTo>
                      </a:path>
                    </a:pathLst>
                  </a:custGeom>
                  <a:solidFill>
                    <a:srgbClr val="DF3F5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8" name="Freeform 126"/>
                  <p:cNvSpPr>
                    <a:spLocks noChangeAspect="1"/>
                  </p:cNvSpPr>
                  <p:nvPr/>
                </p:nvSpPr>
                <p:spPr bwMode="auto">
                  <a:xfrm>
                    <a:off x="5089" y="2352"/>
                    <a:ext cx="33" cy="109"/>
                  </a:xfrm>
                  <a:custGeom>
                    <a:avLst/>
                    <a:gdLst>
                      <a:gd name="T0" fmla="*/ 2 w 33"/>
                      <a:gd name="T1" fmla="*/ 103 h 109"/>
                      <a:gd name="T2" fmla="*/ 1 w 33"/>
                      <a:gd name="T3" fmla="*/ 108 h 109"/>
                      <a:gd name="T4" fmla="*/ 0 w 33"/>
                      <a:gd name="T5" fmla="*/ 103 h 109"/>
                      <a:gd name="T6" fmla="*/ 0 w 33"/>
                      <a:gd name="T7" fmla="*/ 98 h 109"/>
                      <a:gd name="T8" fmla="*/ 1 w 33"/>
                      <a:gd name="T9" fmla="*/ 93 h 109"/>
                      <a:gd name="T10" fmla="*/ 1 w 33"/>
                      <a:gd name="T11" fmla="*/ 86 h 109"/>
                      <a:gd name="T12" fmla="*/ 2 w 33"/>
                      <a:gd name="T13" fmla="*/ 83 h 109"/>
                      <a:gd name="T14" fmla="*/ 4 w 33"/>
                      <a:gd name="T15" fmla="*/ 73 h 109"/>
                      <a:gd name="T16" fmla="*/ 5 w 33"/>
                      <a:gd name="T17" fmla="*/ 68 h 109"/>
                      <a:gd name="T18" fmla="*/ 4 w 33"/>
                      <a:gd name="T19" fmla="*/ 61 h 109"/>
                      <a:gd name="T20" fmla="*/ 5 w 33"/>
                      <a:gd name="T21" fmla="*/ 55 h 109"/>
                      <a:gd name="T22" fmla="*/ 6 w 33"/>
                      <a:gd name="T23" fmla="*/ 49 h 109"/>
                      <a:gd name="T24" fmla="*/ 8 w 33"/>
                      <a:gd name="T25" fmla="*/ 44 h 109"/>
                      <a:gd name="T26" fmla="*/ 9 w 33"/>
                      <a:gd name="T27" fmla="*/ 39 h 109"/>
                      <a:gd name="T28" fmla="*/ 10 w 33"/>
                      <a:gd name="T29" fmla="*/ 33 h 109"/>
                      <a:gd name="T30" fmla="*/ 11 w 33"/>
                      <a:gd name="T31" fmla="*/ 27 h 109"/>
                      <a:gd name="T32" fmla="*/ 12 w 33"/>
                      <a:gd name="T33" fmla="*/ 21 h 109"/>
                      <a:gd name="T34" fmla="*/ 14 w 33"/>
                      <a:gd name="T35" fmla="*/ 13 h 109"/>
                      <a:gd name="T36" fmla="*/ 16 w 33"/>
                      <a:gd name="T37" fmla="*/ 7 h 109"/>
                      <a:gd name="T38" fmla="*/ 19 w 33"/>
                      <a:gd name="T39" fmla="*/ 0 h 109"/>
                      <a:gd name="T40" fmla="*/ 18 w 33"/>
                      <a:gd name="T41" fmla="*/ 3 h 109"/>
                      <a:gd name="T42" fmla="*/ 19 w 33"/>
                      <a:gd name="T43" fmla="*/ 8 h 109"/>
                      <a:gd name="T44" fmla="*/ 19 w 33"/>
                      <a:gd name="T45" fmla="*/ 13 h 109"/>
                      <a:gd name="T46" fmla="*/ 18 w 33"/>
                      <a:gd name="T47" fmla="*/ 20 h 109"/>
                      <a:gd name="T48" fmla="*/ 17 w 33"/>
                      <a:gd name="T49" fmla="*/ 28 h 109"/>
                      <a:gd name="T50" fmla="*/ 20 w 33"/>
                      <a:gd name="T51" fmla="*/ 23 h 109"/>
                      <a:gd name="T52" fmla="*/ 23 w 33"/>
                      <a:gd name="T53" fmla="*/ 19 h 109"/>
                      <a:gd name="T54" fmla="*/ 26 w 33"/>
                      <a:gd name="T55" fmla="*/ 15 h 109"/>
                      <a:gd name="T56" fmla="*/ 29 w 33"/>
                      <a:gd name="T57" fmla="*/ 11 h 109"/>
                      <a:gd name="T58" fmla="*/ 32 w 33"/>
                      <a:gd name="T59" fmla="*/ 8 h 109"/>
                      <a:gd name="T60" fmla="*/ 27 w 33"/>
                      <a:gd name="T61" fmla="*/ 15 h 109"/>
                      <a:gd name="T62" fmla="*/ 25 w 33"/>
                      <a:gd name="T63" fmla="*/ 20 h 109"/>
                      <a:gd name="T64" fmla="*/ 20 w 33"/>
                      <a:gd name="T65" fmla="*/ 27 h 109"/>
                      <a:gd name="T66" fmla="*/ 17 w 33"/>
                      <a:gd name="T67" fmla="*/ 33 h 109"/>
                      <a:gd name="T68" fmla="*/ 18 w 33"/>
                      <a:gd name="T69" fmla="*/ 36 h 109"/>
                      <a:gd name="T70" fmla="*/ 17 w 33"/>
                      <a:gd name="T71" fmla="*/ 42 h 109"/>
                      <a:gd name="T72" fmla="*/ 16 w 33"/>
                      <a:gd name="T73" fmla="*/ 48 h 109"/>
                      <a:gd name="T74" fmla="*/ 14 w 33"/>
                      <a:gd name="T75" fmla="*/ 52 h 109"/>
                      <a:gd name="T76" fmla="*/ 12 w 33"/>
                      <a:gd name="T77" fmla="*/ 57 h 109"/>
                      <a:gd name="T78" fmla="*/ 13 w 33"/>
                      <a:gd name="T79" fmla="*/ 64 h 109"/>
                      <a:gd name="T80" fmla="*/ 12 w 33"/>
                      <a:gd name="T81" fmla="*/ 70 h 109"/>
                      <a:gd name="T82" fmla="*/ 10 w 33"/>
                      <a:gd name="T83" fmla="*/ 78 h 109"/>
                      <a:gd name="T84" fmla="*/ 7 w 33"/>
                      <a:gd name="T85" fmla="*/ 86 h 109"/>
                      <a:gd name="T86" fmla="*/ 5 w 33"/>
                      <a:gd name="T87" fmla="*/ 92 h 109"/>
                      <a:gd name="T88" fmla="*/ 8 w 33"/>
                      <a:gd name="T89" fmla="*/ 90 h 109"/>
                      <a:gd name="T90" fmla="*/ 10 w 33"/>
                      <a:gd name="T91" fmla="*/ 86 h 109"/>
                      <a:gd name="T92" fmla="*/ 10 w 33"/>
                      <a:gd name="T93" fmla="*/ 90 h 109"/>
                      <a:gd name="T94" fmla="*/ 8 w 33"/>
                      <a:gd name="T95" fmla="*/ 95 h 109"/>
                      <a:gd name="T96" fmla="*/ 6 w 33"/>
                      <a:gd name="T97" fmla="*/ 97 h 109"/>
                      <a:gd name="T98" fmla="*/ 5 w 33"/>
                      <a:gd name="T99" fmla="*/ 100 h 109"/>
                      <a:gd name="T100" fmla="*/ 7 w 33"/>
                      <a:gd name="T101" fmla="*/ 100 h 109"/>
                      <a:gd name="T102" fmla="*/ 11 w 33"/>
                      <a:gd name="T103" fmla="*/ 100 h 109"/>
                      <a:gd name="T104" fmla="*/ 7 w 33"/>
                      <a:gd name="T105" fmla="*/ 102 h 109"/>
                      <a:gd name="T106" fmla="*/ 4 w 33"/>
                      <a:gd name="T107" fmla="*/ 103 h 109"/>
                      <a:gd name="T108" fmla="*/ 2 w 33"/>
                      <a:gd name="T109" fmla="*/ 103 h 10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3" h="109">
                        <a:moveTo>
                          <a:pt x="2" y="103"/>
                        </a:moveTo>
                        <a:lnTo>
                          <a:pt x="1" y="108"/>
                        </a:lnTo>
                        <a:lnTo>
                          <a:pt x="0" y="103"/>
                        </a:lnTo>
                        <a:lnTo>
                          <a:pt x="0" y="98"/>
                        </a:lnTo>
                        <a:lnTo>
                          <a:pt x="1" y="93"/>
                        </a:lnTo>
                        <a:lnTo>
                          <a:pt x="1" y="86"/>
                        </a:lnTo>
                        <a:lnTo>
                          <a:pt x="2" y="83"/>
                        </a:lnTo>
                        <a:lnTo>
                          <a:pt x="4" y="73"/>
                        </a:lnTo>
                        <a:lnTo>
                          <a:pt x="5" y="68"/>
                        </a:lnTo>
                        <a:lnTo>
                          <a:pt x="4" y="61"/>
                        </a:lnTo>
                        <a:lnTo>
                          <a:pt x="5" y="55"/>
                        </a:lnTo>
                        <a:lnTo>
                          <a:pt x="6" y="49"/>
                        </a:lnTo>
                        <a:lnTo>
                          <a:pt x="8" y="44"/>
                        </a:lnTo>
                        <a:lnTo>
                          <a:pt x="9" y="39"/>
                        </a:lnTo>
                        <a:lnTo>
                          <a:pt x="10" y="33"/>
                        </a:lnTo>
                        <a:lnTo>
                          <a:pt x="11" y="27"/>
                        </a:lnTo>
                        <a:lnTo>
                          <a:pt x="12" y="21"/>
                        </a:lnTo>
                        <a:lnTo>
                          <a:pt x="14" y="13"/>
                        </a:lnTo>
                        <a:lnTo>
                          <a:pt x="16" y="7"/>
                        </a:lnTo>
                        <a:lnTo>
                          <a:pt x="19" y="0"/>
                        </a:lnTo>
                        <a:lnTo>
                          <a:pt x="18" y="3"/>
                        </a:lnTo>
                        <a:lnTo>
                          <a:pt x="19" y="8"/>
                        </a:lnTo>
                        <a:lnTo>
                          <a:pt x="19" y="13"/>
                        </a:lnTo>
                        <a:lnTo>
                          <a:pt x="18" y="20"/>
                        </a:lnTo>
                        <a:lnTo>
                          <a:pt x="17" y="28"/>
                        </a:lnTo>
                        <a:lnTo>
                          <a:pt x="20" y="23"/>
                        </a:lnTo>
                        <a:lnTo>
                          <a:pt x="23" y="19"/>
                        </a:lnTo>
                        <a:lnTo>
                          <a:pt x="26" y="15"/>
                        </a:lnTo>
                        <a:lnTo>
                          <a:pt x="29" y="11"/>
                        </a:lnTo>
                        <a:lnTo>
                          <a:pt x="32" y="8"/>
                        </a:lnTo>
                        <a:lnTo>
                          <a:pt x="27" y="15"/>
                        </a:lnTo>
                        <a:lnTo>
                          <a:pt x="25" y="20"/>
                        </a:lnTo>
                        <a:lnTo>
                          <a:pt x="20" y="27"/>
                        </a:lnTo>
                        <a:lnTo>
                          <a:pt x="17" y="33"/>
                        </a:lnTo>
                        <a:lnTo>
                          <a:pt x="18" y="36"/>
                        </a:lnTo>
                        <a:lnTo>
                          <a:pt x="17" y="42"/>
                        </a:lnTo>
                        <a:lnTo>
                          <a:pt x="16" y="48"/>
                        </a:lnTo>
                        <a:lnTo>
                          <a:pt x="14" y="52"/>
                        </a:lnTo>
                        <a:lnTo>
                          <a:pt x="12" y="57"/>
                        </a:lnTo>
                        <a:lnTo>
                          <a:pt x="13" y="64"/>
                        </a:lnTo>
                        <a:lnTo>
                          <a:pt x="12" y="70"/>
                        </a:lnTo>
                        <a:lnTo>
                          <a:pt x="10" y="78"/>
                        </a:lnTo>
                        <a:lnTo>
                          <a:pt x="7" y="86"/>
                        </a:lnTo>
                        <a:lnTo>
                          <a:pt x="5" y="92"/>
                        </a:lnTo>
                        <a:lnTo>
                          <a:pt x="8" y="90"/>
                        </a:lnTo>
                        <a:lnTo>
                          <a:pt x="10" y="86"/>
                        </a:lnTo>
                        <a:lnTo>
                          <a:pt x="10" y="90"/>
                        </a:lnTo>
                        <a:lnTo>
                          <a:pt x="8" y="95"/>
                        </a:lnTo>
                        <a:lnTo>
                          <a:pt x="6" y="97"/>
                        </a:lnTo>
                        <a:lnTo>
                          <a:pt x="5" y="100"/>
                        </a:lnTo>
                        <a:lnTo>
                          <a:pt x="7" y="100"/>
                        </a:lnTo>
                        <a:lnTo>
                          <a:pt x="11" y="100"/>
                        </a:lnTo>
                        <a:lnTo>
                          <a:pt x="7" y="102"/>
                        </a:lnTo>
                        <a:lnTo>
                          <a:pt x="4" y="103"/>
                        </a:lnTo>
                        <a:lnTo>
                          <a:pt x="2" y="103"/>
                        </a:lnTo>
                      </a:path>
                    </a:pathLst>
                  </a:custGeom>
                  <a:solidFill>
                    <a:srgbClr val="DF3F5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39" name="Freeform 127"/>
                  <p:cNvSpPr>
                    <a:spLocks noChangeAspect="1"/>
                  </p:cNvSpPr>
                  <p:nvPr/>
                </p:nvSpPr>
                <p:spPr bwMode="auto">
                  <a:xfrm>
                    <a:off x="4993" y="2311"/>
                    <a:ext cx="93" cy="17"/>
                  </a:xfrm>
                  <a:custGeom>
                    <a:avLst/>
                    <a:gdLst>
                      <a:gd name="T0" fmla="*/ 0 w 93"/>
                      <a:gd name="T1" fmla="*/ 0 h 17"/>
                      <a:gd name="T2" fmla="*/ 2 w 93"/>
                      <a:gd name="T3" fmla="*/ 3 h 17"/>
                      <a:gd name="T4" fmla="*/ 6 w 93"/>
                      <a:gd name="T5" fmla="*/ 6 h 17"/>
                      <a:gd name="T6" fmla="*/ 11 w 93"/>
                      <a:gd name="T7" fmla="*/ 8 h 17"/>
                      <a:gd name="T8" fmla="*/ 16 w 93"/>
                      <a:gd name="T9" fmla="*/ 11 h 17"/>
                      <a:gd name="T10" fmla="*/ 21 w 93"/>
                      <a:gd name="T11" fmla="*/ 12 h 17"/>
                      <a:gd name="T12" fmla="*/ 27 w 93"/>
                      <a:gd name="T13" fmla="*/ 14 h 17"/>
                      <a:gd name="T14" fmla="*/ 34 w 93"/>
                      <a:gd name="T15" fmla="*/ 15 h 17"/>
                      <a:gd name="T16" fmla="*/ 40 w 93"/>
                      <a:gd name="T17" fmla="*/ 16 h 17"/>
                      <a:gd name="T18" fmla="*/ 50 w 93"/>
                      <a:gd name="T19" fmla="*/ 16 h 17"/>
                      <a:gd name="T20" fmla="*/ 57 w 93"/>
                      <a:gd name="T21" fmla="*/ 16 h 17"/>
                      <a:gd name="T22" fmla="*/ 64 w 93"/>
                      <a:gd name="T23" fmla="*/ 15 h 17"/>
                      <a:gd name="T24" fmla="*/ 71 w 93"/>
                      <a:gd name="T25" fmla="*/ 13 h 17"/>
                      <a:gd name="T26" fmla="*/ 77 w 93"/>
                      <a:gd name="T27" fmla="*/ 11 h 17"/>
                      <a:gd name="T28" fmla="*/ 82 w 93"/>
                      <a:gd name="T29" fmla="*/ 7 h 17"/>
                      <a:gd name="T30" fmla="*/ 88 w 93"/>
                      <a:gd name="T31" fmla="*/ 4 h 17"/>
                      <a:gd name="T32" fmla="*/ 92 w 93"/>
                      <a:gd name="T33" fmla="*/ 1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93" h="17">
                        <a:moveTo>
                          <a:pt x="0" y="0"/>
                        </a:moveTo>
                        <a:lnTo>
                          <a:pt x="2" y="3"/>
                        </a:lnTo>
                        <a:lnTo>
                          <a:pt x="6" y="6"/>
                        </a:lnTo>
                        <a:lnTo>
                          <a:pt x="11" y="8"/>
                        </a:lnTo>
                        <a:lnTo>
                          <a:pt x="16" y="11"/>
                        </a:lnTo>
                        <a:lnTo>
                          <a:pt x="21" y="12"/>
                        </a:lnTo>
                        <a:lnTo>
                          <a:pt x="27" y="14"/>
                        </a:lnTo>
                        <a:lnTo>
                          <a:pt x="34" y="15"/>
                        </a:lnTo>
                        <a:lnTo>
                          <a:pt x="40" y="16"/>
                        </a:lnTo>
                        <a:lnTo>
                          <a:pt x="50" y="16"/>
                        </a:lnTo>
                        <a:lnTo>
                          <a:pt x="57" y="16"/>
                        </a:lnTo>
                        <a:lnTo>
                          <a:pt x="64" y="15"/>
                        </a:lnTo>
                        <a:lnTo>
                          <a:pt x="71" y="13"/>
                        </a:lnTo>
                        <a:lnTo>
                          <a:pt x="77" y="11"/>
                        </a:lnTo>
                        <a:lnTo>
                          <a:pt x="82" y="7"/>
                        </a:lnTo>
                        <a:lnTo>
                          <a:pt x="88" y="4"/>
                        </a:lnTo>
                        <a:lnTo>
                          <a:pt x="92" y="1"/>
                        </a:lnTo>
                      </a:path>
                    </a:pathLst>
                  </a:custGeom>
                  <a:noFill/>
                  <a:ln w="12700" cap="rnd" cmpd="sng">
                    <a:solidFill>
                      <a:srgbClr val="DF3F5F"/>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540" name="Freeform 128"/>
                  <p:cNvSpPr>
                    <a:spLocks noChangeAspect="1"/>
                  </p:cNvSpPr>
                  <p:nvPr/>
                </p:nvSpPr>
                <p:spPr bwMode="auto">
                  <a:xfrm>
                    <a:off x="4983" y="2496"/>
                    <a:ext cx="92" cy="45"/>
                  </a:xfrm>
                  <a:custGeom>
                    <a:avLst/>
                    <a:gdLst>
                      <a:gd name="T0" fmla="*/ 0 w 92"/>
                      <a:gd name="T1" fmla="*/ 11 h 45"/>
                      <a:gd name="T2" fmla="*/ 1 w 92"/>
                      <a:gd name="T3" fmla="*/ 9 h 45"/>
                      <a:gd name="T4" fmla="*/ 2 w 92"/>
                      <a:gd name="T5" fmla="*/ 7 h 45"/>
                      <a:gd name="T6" fmla="*/ 4 w 92"/>
                      <a:gd name="T7" fmla="*/ 6 h 45"/>
                      <a:gd name="T8" fmla="*/ 9 w 92"/>
                      <a:gd name="T9" fmla="*/ 5 h 45"/>
                      <a:gd name="T10" fmla="*/ 12 w 92"/>
                      <a:gd name="T11" fmla="*/ 4 h 45"/>
                      <a:gd name="T12" fmla="*/ 21 w 92"/>
                      <a:gd name="T13" fmla="*/ 3 h 45"/>
                      <a:gd name="T14" fmla="*/ 30 w 92"/>
                      <a:gd name="T15" fmla="*/ 1 h 45"/>
                      <a:gd name="T16" fmla="*/ 38 w 92"/>
                      <a:gd name="T17" fmla="*/ 1 h 45"/>
                      <a:gd name="T18" fmla="*/ 44 w 92"/>
                      <a:gd name="T19" fmla="*/ 0 h 45"/>
                      <a:gd name="T20" fmla="*/ 51 w 92"/>
                      <a:gd name="T21" fmla="*/ 0 h 45"/>
                      <a:gd name="T22" fmla="*/ 56 w 92"/>
                      <a:gd name="T23" fmla="*/ 1 h 45"/>
                      <a:gd name="T24" fmla="*/ 62 w 92"/>
                      <a:gd name="T25" fmla="*/ 2 h 45"/>
                      <a:gd name="T26" fmla="*/ 67 w 92"/>
                      <a:gd name="T27" fmla="*/ 4 h 45"/>
                      <a:gd name="T28" fmla="*/ 71 w 92"/>
                      <a:gd name="T29" fmla="*/ 6 h 45"/>
                      <a:gd name="T30" fmla="*/ 76 w 92"/>
                      <a:gd name="T31" fmla="*/ 8 h 45"/>
                      <a:gd name="T32" fmla="*/ 80 w 92"/>
                      <a:gd name="T33" fmla="*/ 10 h 45"/>
                      <a:gd name="T34" fmla="*/ 84 w 92"/>
                      <a:gd name="T35" fmla="*/ 10 h 45"/>
                      <a:gd name="T36" fmla="*/ 88 w 92"/>
                      <a:gd name="T37" fmla="*/ 10 h 45"/>
                      <a:gd name="T38" fmla="*/ 91 w 92"/>
                      <a:gd name="T39" fmla="*/ 9 h 45"/>
                      <a:gd name="T40" fmla="*/ 88 w 92"/>
                      <a:gd name="T41" fmla="*/ 11 h 45"/>
                      <a:gd name="T42" fmla="*/ 85 w 92"/>
                      <a:gd name="T43" fmla="*/ 14 h 45"/>
                      <a:gd name="T44" fmla="*/ 83 w 92"/>
                      <a:gd name="T45" fmla="*/ 17 h 45"/>
                      <a:gd name="T46" fmla="*/ 81 w 92"/>
                      <a:gd name="T47" fmla="*/ 21 h 45"/>
                      <a:gd name="T48" fmla="*/ 81 w 92"/>
                      <a:gd name="T49" fmla="*/ 23 h 45"/>
                      <a:gd name="T50" fmla="*/ 80 w 92"/>
                      <a:gd name="T51" fmla="*/ 27 h 45"/>
                      <a:gd name="T52" fmla="*/ 80 w 92"/>
                      <a:gd name="T53" fmla="*/ 33 h 45"/>
                      <a:gd name="T54" fmla="*/ 80 w 92"/>
                      <a:gd name="T55" fmla="*/ 44 h 45"/>
                      <a:gd name="T56" fmla="*/ 79 w 92"/>
                      <a:gd name="T57" fmla="*/ 39 h 45"/>
                      <a:gd name="T58" fmla="*/ 79 w 92"/>
                      <a:gd name="T59" fmla="*/ 34 h 45"/>
                      <a:gd name="T60" fmla="*/ 78 w 92"/>
                      <a:gd name="T61" fmla="*/ 28 h 45"/>
                      <a:gd name="T62" fmla="*/ 77 w 92"/>
                      <a:gd name="T63" fmla="*/ 24 h 45"/>
                      <a:gd name="T64" fmla="*/ 75 w 92"/>
                      <a:gd name="T65" fmla="*/ 20 h 45"/>
                      <a:gd name="T66" fmla="*/ 72 w 92"/>
                      <a:gd name="T67" fmla="*/ 16 h 45"/>
                      <a:gd name="T68" fmla="*/ 67 w 92"/>
                      <a:gd name="T69" fmla="*/ 13 h 45"/>
                      <a:gd name="T70" fmla="*/ 60 w 92"/>
                      <a:gd name="T71" fmla="*/ 11 h 45"/>
                      <a:gd name="T72" fmla="*/ 53 w 92"/>
                      <a:gd name="T73" fmla="*/ 9 h 45"/>
                      <a:gd name="T74" fmla="*/ 47 w 92"/>
                      <a:gd name="T75" fmla="*/ 10 h 45"/>
                      <a:gd name="T76" fmla="*/ 42 w 92"/>
                      <a:gd name="T77" fmla="*/ 11 h 45"/>
                      <a:gd name="T78" fmla="*/ 38 w 92"/>
                      <a:gd name="T79" fmla="*/ 12 h 45"/>
                      <a:gd name="T80" fmla="*/ 34 w 92"/>
                      <a:gd name="T81" fmla="*/ 13 h 45"/>
                      <a:gd name="T82" fmla="*/ 29 w 92"/>
                      <a:gd name="T83" fmla="*/ 12 h 45"/>
                      <a:gd name="T84" fmla="*/ 22 w 92"/>
                      <a:gd name="T85" fmla="*/ 12 h 45"/>
                      <a:gd name="T86" fmla="*/ 18 w 92"/>
                      <a:gd name="T87" fmla="*/ 12 h 45"/>
                      <a:gd name="T88" fmla="*/ 13 w 92"/>
                      <a:gd name="T89" fmla="*/ 13 h 45"/>
                      <a:gd name="T90" fmla="*/ 8 w 92"/>
                      <a:gd name="T91" fmla="*/ 14 h 45"/>
                      <a:gd name="T92" fmla="*/ 3 w 92"/>
                      <a:gd name="T93" fmla="*/ 14 h 45"/>
                      <a:gd name="T94" fmla="*/ 1 w 92"/>
                      <a:gd name="T95" fmla="*/ 13 h 45"/>
                      <a:gd name="T96" fmla="*/ 0 w 92"/>
                      <a:gd name="T97" fmla="*/ 11 h 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2" h="45">
                        <a:moveTo>
                          <a:pt x="0" y="11"/>
                        </a:moveTo>
                        <a:lnTo>
                          <a:pt x="1" y="9"/>
                        </a:lnTo>
                        <a:lnTo>
                          <a:pt x="2" y="7"/>
                        </a:lnTo>
                        <a:lnTo>
                          <a:pt x="4" y="6"/>
                        </a:lnTo>
                        <a:lnTo>
                          <a:pt x="9" y="5"/>
                        </a:lnTo>
                        <a:lnTo>
                          <a:pt x="12" y="4"/>
                        </a:lnTo>
                        <a:lnTo>
                          <a:pt x="21" y="3"/>
                        </a:lnTo>
                        <a:lnTo>
                          <a:pt x="30" y="1"/>
                        </a:lnTo>
                        <a:lnTo>
                          <a:pt x="38" y="1"/>
                        </a:lnTo>
                        <a:lnTo>
                          <a:pt x="44" y="0"/>
                        </a:lnTo>
                        <a:lnTo>
                          <a:pt x="51" y="0"/>
                        </a:lnTo>
                        <a:lnTo>
                          <a:pt x="56" y="1"/>
                        </a:lnTo>
                        <a:lnTo>
                          <a:pt x="62" y="2"/>
                        </a:lnTo>
                        <a:lnTo>
                          <a:pt x="67" y="4"/>
                        </a:lnTo>
                        <a:lnTo>
                          <a:pt x="71" y="6"/>
                        </a:lnTo>
                        <a:lnTo>
                          <a:pt x="76" y="8"/>
                        </a:lnTo>
                        <a:lnTo>
                          <a:pt x="80" y="10"/>
                        </a:lnTo>
                        <a:lnTo>
                          <a:pt x="84" y="10"/>
                        </a:lnTo>
                        <a:lnTo>
                          <a:pt x="88" y="10"/>
                        </a:lnTo>
                        <a:lnTo>
                          <a:pt x="91" y="9"/>
                        </a:lnTo>
                        <a:lnTo>
                          <a:pt x="88" y="11"/>
                        </a:lnTo>
                        <a:lnTo>
                          <a:pt x="85" y="14"/>
                        </a:lnTo>
                        <a:lnTo>
                          <a:pt x="83" y="17"/>
                        </a:lnTo>
                        <a:lnTo>
                          <a:pt x="81" y="21"/>
                        </a:lnTo>
                        <a:lnTo>
                          <a:pt x="81" y="23"/>
                        </a:lnTo>
                        <a:lnTo>
                          <a:pt x="80" y="27"/>
                        </a:lnTo>
                        <a:lnTo>
                          <a:pt x="80" y="33"/>
                        </a:lnTo>
                        <a:lnTo>
                          <a:pt x="80" y="44"/>
                        </a:lnTo>
                        <a:lnTo>
                          <a:pt x="79" y="39"/>
                        </a:lnTo>
                        <a:lnTo>
                          <a:pt x="79" y="34"/>
                        </a:lnTo>
                        <a:lnTo>
                          <a:pt x="78" y="28"/>
                        </a:lnTo>
                        <a:lnTo>
                          <a:pt x="77" y="24"/>
                        </a:lnTo>
                        <a:lnTo>
                          <a:pt x="75" y="20"/>
                        </a:lnTo>
                        <a:lnTo>
                          <a:pt x="72" y="16"/>
                        </a:lnTo>
                        <a:lnTo>
                          <a:pt x="67" y="13"/>
                        </a:lnTo>
                        <a:lnTo>
                          <a:pt x="60" y="11"/>
                        </a:lnTo>
                        <a:lnTo>
                          <a:pt x="53" y="9"/>
                        </a:lnTo>
                        <a:lnTo>
                          <a:pt x="47" y="10"/>
                        </a:lnTo>
                        <a:lnTo>
                          <a:pt x="42" y="11"/>
                        </a:lnTo>
                        <a:lnTo>
                          <a:pt x="38" y="12"/>
                        </a:lnTo>
                        <a:lnTo>
                          <a:pt x="34" y="13"/>
                        </a:lnTo>
                        <a:lnTo>
                          <a:pt x="29" y="12"/>
                        </a:lnTo>
                        <a:lnTo>
                          <a:pt x="22" y="12"/>
                        </a:lnTo>
                        <a:lnTo>
                          <a:pt x="18" y="12"/>
                        </a:lnTo>
                        <a:lnTo>
                          <a:pt x="13" y="13"/>
                        </a:lnTo>
                        <a:lnTo>
                          <a:pt x="8" y="14"/>
                        </a:lnTo>
                        <a:lnTo>
                          <a:pt x="3" y="14"/>
                        </a:lnTo>
                        <a:lnTo>
                          <a:pt x="1" y="13"/>
                        </a:lnTo>
                        <a:lnTo>
                          <a:pt x="0" y="11"/>
                        </a:lnTo>
                      </a:path>
                    </a:pathLst>
                  </a:custGeom>
                  <a:solidFill>
                    <a:srgbClr val="DF3F5F"/>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pic>
          <p:nvPicPr>
            <p:cNvPr id="277517" name="Picture 12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252" y="2149"/>
              <a:ext cx="341" cy="3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7518" name="Line 130"/>
            <p:cNvSpPr>
              <a:spLocks noChangeShapeType="1"/>
            </p:cNvSpPr>
            <p:nvPr/>
          </p:nvSpPr>
          <p:spPr bwMode="auto">
            <a:xfrm rot="10725681" flipH="1">
              <a:off x="3434" y="2206"/>
              <a:ext cx="174" cy="1"/>
            </a:xfrm>
            <a:prstGeom prst="line">
              <a:avLst/>
            </a:prstGeom>
            <a:noFill/>
            <a:ln w="38100" cmpd="dbl">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519" name="Text Box 131"/>
            <p:cNvSpPr txBox="1">
              <a:spLocks noChangeArrowheads="1"/>
            </p:cNvSpPr>
            <p:nvPr/>
          </p:nvSpPr>
          <p:spPr bwMode="auto">
            <a:xfrm>
              <a:off x="3160" y="2567"/>
              <a:ext cx="703"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r>
                <a:rPr lang="en-US" altLang="zh-CN" sz="1500">
                  <a:ea typeface="微软雅黑" pitchFamily="34" charset="-122"/>
                </a:rPr>
                <a:t>No Waste</a:t>
              </a:r>
            </a:p>
          </p:txBody>
        </p:sp>
        <p:sp>
          <p:nvSpPr>
            <p:cNvPr id="277520" name="Oval 132"/>
            <p:cNvSpPr>
              <a:spLocks noChangeArrowheads="1"/>
            </p:cNvSpPr>
            <p:nvPr/>
          </p:nvSpPr>
          <p:spPr bwMode="auto">
            <a:xfrm>
              <a:off x="2202" y="1614"/>
              <a:ext cx="280" cy="280"/>
            </a:xfrm>
            <a:prstGeom prst="ellipse">
              <a:avLst/>
            </a:prstGeom>
            <a:solidFill>
              <a:srgbClr val="FFFF66"/>
            </a:solidFill>
            <a:ln w="9525">
              <a:solidFill>
                <a:srgbClr val="FFCC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Tx/>
                <a:buNone/>
              </a:pPr>
              <a:endParaRPr lang="zh-CN" altLang="en-US" sz="1800">
                <a:latin typeface="Times New Roman" pitchFamily="18" charset="0"/>
                <a:ea typeface="微软雅黑" pitchFamily="34" charset="-122"/>
              </a:endParaRPr>
            </a:p>
          </p:txBody>
        </p:sp>
        <p:sp>
          <p:nvSpPr>
            <p:cNvPr id="277521" name="AutoShape 133"/>
            <p:cNvSpPr>
              <a:spLocks noChangeArrowheads="1"/>
            </p:cNvSpPr>
            <p:nvPr/>
          </p:nvSpPr>
          <p:spPr bwMode="auto">
            <a:xfrm rot="8325677">
              <a:off x="2410" y="1824"/>
              <a:ext cx="329" cy="3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30 w 21600"/>
                <a:gd name="T13" fmla="*/ 4477 h 21600"/>
                <a:gd name="T14" fmla="*/ 17070 w 21600"/>
                <a:gd name="T15" fmla="*/ 1712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0">
              <a:gsLst>
                <a:gs pos="0">
                  <a:srgbClr val="FFFF66"/>
                </a:gs>
                <a:gs pos="100000">
                  <a:srgbClr val="FFFFFF"/>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77522" name="Picture 13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426" y="2062"/>
              <a:ext cx="800" cy="6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227" name="Picture 20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624" y="4182427"/>
            <a:ext cx="3195637" cy="2033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04909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ea typeface="楷体_GB2312"/>
                <a:cs typeface="楷体_GB2312"/>
              </a:rPr>
              <a:t>工具</a:t>
            </a:r>
          </a:p>
        </p:txBody>
      </p:sp>
      <p:sp>
        <p:nvSpPr>
          <p:cNvPr id="278531" name="Rectangle 3"/>
          <p:cNvSpPr>
            <a:spLocks noGrp="1" noChangeArrowheads="1"/>
          </p:cNvSpPr>
          <p:nvPr>
            <p:ph idx="1"/>
          </p:nvPr>
        </p:nvSpPr>
        <p:spPr>
          <a:xfrm>
            <a:off x="468313" y="1319578"/>
            <a:ext cx="8229600" cy="4525476"/>
          </a:xfrm>
        </p:spPr>
        <p:txBody>
          <a:bodyPr/>
          <a:lstStyle/>
          <a:p>
            <a:r>
              <a:rPr lang="en-US" altLang="zh-CN">
                <a:ea typeface="宋体" pitchFamily="2" charset="-122"/>
              </a:rPr>
              <a:t>Cmap  http://cmap.ihmc.us/</a:t>
            </a:r>
          </a:p>
          <a:p>
            <a:r>
              <a:rPr lang="en-US" altLang="zh-CN">
                <a:ea typeface="宋体" pitchFamily="2" charset="-122"/>
              </a:rPr>
              <a:t>FreeMind http://freemind.sourceforge.net/wiki/index.php/Main_Page</a:t>
            </a:r>
          </a:p>
        </p:txBody>
      </p:sp>
    </p:spTree>
    <p:extLst>
      <p:ext uri="{BB962C8B-B14F-4D97-AF65-F5344CB8AC3E}">
        <p14:creationId xmlns:p14="http://schemas.microsoft.com/office/powerpoint/2010/main" val="8389071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功能测试－</a:t>
            </a:r>
            <a:r>
              <a:rPr lang="zh-CN" altLang="en-US" dirty="0">
                <a:ea typeface="楷体_GB2312"/>
                <a:cs typeface="楷体_GB2312"/>
              </a:rPr>
              <a:t>范例</a:t>
            </a:r>
          </a:p>
        </p:txBody>
      </p:sp>
      <p:sp>
        <p:nvSpPr>
          <p:cNvPr id="1168387" name="Rectangle 3"/>
          <p:cNvSpPr>
            <a:spLocks noGrp="1" noChangeArrowheads="1"/>
          </p:cNvSpPr>
          <p:nvPr>
            <p:ph idx="1"/>
          </p:nvPr>
        </p:nvSpPr>
        <p:spPr>
          <a:xfrm>
            <a:off x="468313" y="1319578"/>
            <a:ext cx="8229600" cy="4525476"/>
          </a:xfrm>
        </p:spPr>
        <p:txBody>
          <a:bodyPr>
            <a:noAutofit/>
          </a:bodyPr>
          <a:lstStyle/>
          <a:p>
            <a:pPr>
              <a:defRPr/>
            </a:pPr>
            <a:r>
              <a:rPr lang="en-US" altLang="zh-CN" sz="2800" i="1" dirty="0"/>
              <a:t>Opera</a:t>
            </a:r>
            <a:r>
              <a:rPr lang="en-US" altLang="zh-CN" sz="2800" dirty="0"/>
              <a:t> </a:t>
            </a:r>
            <a:r>
              <a:rPr lang="zh-CN" altLang="en-US" sz="2800" dirty="0"/>
              <a:t>浏览器功能测试</a:t>
            </a:r>
          </a:p>
          <a:p>
            <a:pPr lvl="1">
              <a:defRPr/>
            </a:pPr>
            <a:r>
              <a:rPr lang="zh-CN" altLang="en-US" dirty="0"/>
              <a:t>编辑</a:t>
            </a:r>
          </a:p>
          <a:p>
            <a:pPr lvl="2">
              <a:defRPr/>
            </a:pPr>
            <a:r>
              <a:rPr lang="zh-CN" altLang="en-US" sz="2000" dirty="0"/>
              <a:t>拷贝</a:t>
            </a:r>
          </a:p>
          <a:p>
            <a:pPr lvl="2">
              <a:defRPr/>
            </a:pPr>
            <a:r>
              <a:rPr lang="zh-CN" altLang="en-US" sz="2000" dirty="0"/>
              <a:t>粘贴</a:t>
            </a:r>
          </a:p>
          <a:p>
            <a:pPr>
              <a:defRPr/>
            </a:pPr>
            <a:r>
              <a:rPr lang="zh-CN" altLang="en-US" sz="2800" dirty="0"/>
              <a:t>测试设计</a:t>
            </a:r>
          </a:p>
          <a:p>
            <a:pPr lvl="1">
              <a:defRPr/>
            </a:pPr>
            <a:r>
              <a:rPr lang="zh-CN" altLang="en-US" dirty="0"/>
              <a:t>拷贝浏览器中网页的文本，并粘贴到文字处理软件中</a:t>
            </a:r>
            <a:endParaRPr lang="zh-CN" altLang="en-US" sz="4000" b="1" dirty="0">
              <a:solidFill>
                <a:srgbClr val="000000"/>
              </a:solidFill>
              <a:ea typeface="仿宋_GB2312" pitchFamily="49" charset="-122"/>
            </a:endParaRPr>
          </a:p>
          <a:p>
            <a:pPr>
              <a:defRPr/>
            </a:pPr>
            <a:r>
              <a:rPr lang="zh-CN" altLang="en-US" sz="2800" dirty="0"/>
              <a:t>测试结论</a:t>
            </a:r>
          </a:p>
          <a:p>
            <a:pPr lvl="1">
              <a:defRPr/>
            </a:pPr>
            <a:r>
              <a:rPr lang="zh-CN" altLang="en-US" dirty="0"/>
              <a:t>拷贝功能满足需求</a:t>
            </a:r>
          </a:p>
          <a:p>
            <a:pPr lvl="1">
              <a:defRPr/>
            </a:pPr>
            <a:r>
              <a:rPr lang="zh-CN" altLang="en-US" dirty="0"/>
              <a:t>粘贴功能不能完全满足需求（未完成带格式拷贝）</a:t>
            </a:r>
          </a:p>
        </p:txBody>
      </p:sp>
    </p:spTree>
    <p:extLst>
      <p:ext uri="{BB962C8B-B14F-4D97-AF65-F5344CB8AC3E}">
        <p14:creationId xmlns:p14="http://schemas.microsoft.com/office/powerpoint/2010/main" val="42429141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性能测试</a:t>
            </a:r>
            <a:r>
              <a:rPr lang="zh-CN" altLang="en-US" dirty="0"/>
              <a:t>－</a:t>
            </a:r>
            <a:r>
              <a:rPr lang="zh-CN" altLang="en-US" dirty="0">
                <a:ea typeface="楷体_GB2312"/>
                <a:cs typeface="楷体_GB2312"/>
              </a:rPr>
              <a:t>基本目标</a:t>
            </a:r>
          </a:p>
        </p:txBody>
      </p:sp>
      <p:sp>
        <p:nvSpPr>
          <p:cNvPr id="286723" name="Rectangle 3"/>
          <p:cNvSpPr>
            <a:spLocks noGrp="1" noChangeArrowheads="1"/>
          </p:cNvSpPr>
          <p:nvPr>
            <p:ph idx="1"/>
          </p:nvPr>
        </p:nvSpPr>
        <p:spPr>
          <a:xfrm>
            <a:off x="468313" y="1319578"/>
            <a:ext cx="8229600" cy="4525476"/>
          </a:xfrm>
        </p:spPr>
        <p:txBody>
          <a:bodyPr/>
          <a:lstStyle/>
          <a:p>
            <a:r>
              <a:rPr lang="zh-CN" altLang="en-US" dirty="0"/>
              <a:t>使在系统上线投入运行以前有相对较高的可靠性和稳定性，减少系统拓机时间。</a:t>
            </a:r>
          </a:p>
          <a:p>
            <a:r>
              <a:rPr lang="zh-CN" altLang="en-US" dirty="0"/>
              <a:t>检查设计的实现情况，提高系统的稳定性，</a:t>
            </a:r>
          </a:p>
          <a:p>
            <a:r>
              <a:rPr lang="zh-CN" altLang="en-US" dirty="0"/>
              <a:t>检测应用系统的负载限度、查找（定位）缺陷。</a:t>
            </a:r>
          </a:p>
          <a:p>
            <a:r>
              <a:rPr lang="zh-CN" altLang="en-US" dirty="0"/>
              <a:t>验证系统是否达到用户提出的性能指标。</a:t>
            </a:r>
          </a:p>
          <a:p>
            <a:endParaRPr lang="zh-CN" altLang="en-US" dirty="0"/>
          </a:p>
        </p:txBody>
      </p:sp>
    </p:spTree>
    <p:extLst>
      <p:ext uri="{BB962C8B-B14F-4D97-AF65-F5344CB8AC3E}">
        <p14:creationId xmlns:p14="http://schemas.microsoft.com/office/powerpoint/2010/main" val="24203380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性能测试</a:t>
            </a:r>
            <a:r>
              <a:rPr lang="zh-CN" altLang="en-US" dirty="0"/>
              <a:t>－原因</a:t>
            </a:r>
            <a:endParaRPr lang="zh-CN" altLang="en-US" dirty="0">
              <a:ea typeface="楷体_GB2312"/>
              <a:cs typeface="楷体_GB2312"/>
            </a:endParaRPr>
          </a:p>
        </p:txBody>
      </p:sp>
      <p:sp>
        <p:nvSpPr>
          <p:cNvPr id="287747" name="Rectangle 3"/>
          <p:cNvSpPr>
            <a:spLocks noGrp="1" noChangeArrowheads="1"/>
          </p:cNvSpPr>
          <p:nvPr>
            <p:ph idx="1"/>
          </p:nvPr>
        </p:nvSpPr>
        <p:spPr>
          <a:xfrm>
            <a:off x="468313" y="1319578"/>
            <a:ext cx="8229600" cy="4525476"/>
          </a:xfrm>
        </p:spPr>
        <p:txBody>
          <a:bodyPr>
            <a:normAutofit fontScale="92500" lnSpcReduction="10000"/>
          </a:bodyPr>
          <a:lstStyle/>
          <a:p>
            <a:r>
              <a:rPr lang="en-US" altLang="zh-CN" dirty="0"/>
              <a:t>09</a:t>
            </a:r>
            <a:r>
              <a:rPr lang="zh-CN" altLang="en-US" dirty="0"/>
              <a:t>年的淘宝双十一导致多家银行网银系统宕机</a:t>
            </a:r>
            <a:endParaRPr lang="en-US" altLang="zh-CN" dirty="0"/>
          </a:p>
          <a:p>
            <a:r>
              <a:rPr lang="en-US" altLang="zh-CN" dirty="0"/>
              <a:t>12306</a:t>
            </a:r>
            <a:r>
              <a:rPr lang="zh-CN" altLang="en-US" dirty="0"/>
              <a:t>购票难</a:t>
            </a:r>
            <a:endParaRPr lang="en-US" altLang="zh-CN" dirty="0"/>
          </a:p>
          <a:p>
            <a:r>
              <a:rPr lang="zh-CN" altLang="en-US" dirty="0"/>
              <a:t>聚美优品促销活动刚开始就遭秒杀</a:t>
            </a:r>
            <a:endParaRPr lang="en-US" altLang="zh-CN" dirty="0"/>
          </a:p>
          <a:p>
            <a:r>
              <a:rPr lang="zh-CN" altLang="en-US" dirty="0"/>
              <a:t>根据</a:t>
            </a:r>
            <a:r>
              <a:rPr lang="en-US" altLang="zh-CN" dirty="0"/>
              <a:t>Google</a:t>
            </a:r>
            <a:r>
              <a:rPr lang="zh-CN" altLang="en-US" dirty="0"/>
              <a:t>的统计，如果网站打开慢每</a:t>
            </a:r>
            <a:r>
              <a:rPr lang="en-US" altLang="zh-CN" dirty="0"/>
              <a:t>500</a:t>
            </a:r>
            <a:r>
              <a:rPr lang="zh-CN" altLang="en-US" dirty="0"/>
              <a:t>毫秒，用户访问量将下降</a:t>
            </a:r>
            <a:r>
              <a:rPr lang="en-US" altLang="zh-CN" dirty="0"/>
              <a:t>20%</a:t>
            </a:r>
          </a:p>
          <a:p>
            <a:r>
              <a:rPr lang="zh-CN" altLang="en-US" dirty="0"/>
              <a:t>根据</a:t>
            </a:r>
            <a:r>
              <a:rPr lang="en-US" altLang="zh-CN" dirty="0"/>
              <a:t>Amazon</a:t>
            </a:r>
            <a:r>
              <a:rPr lang="zh-CN" altLang="en-US" dirty="0"/>
              <a:t>统计，每慢</a:t>
            </a:r>
            <a:r>
              <a:rPr lang="en-US" altLang="zh-CN" dirty="0"/>
              <a:t>100</a:t>
            </a:r>
            <a:r>
              <a:rPr lang="zh-CN" altLang="en-US" dirty="0"/>
              <a:t>毫秒，交易额下降</a:t>
            </a:r>
            <a:r>
              <a:rPr lang="en-US" altLang="zh-CN" dirty="0"/>
              <a:t>1%</a:t>
            </a:r>
          </a:p>
          <a:p>
            <a:r>
              <a:rPr lang="zh-CN" altLang="en-US" dirty="0"/>
              <a:t>这些事件和统计数据为大家敲响了警钟，企业也越来越重视性能测试</a:t>
            </a:r>
          </a:p>
        </p:txBody>
      </p:sp>
    </p:spTree>
    <p:extLst>
      <p:ext uri="{BB962C8B-B14F-4D97-AF65-F5344CB8AC3E}">
        <p14:creationId xmlns:p14="http://schemas.microsoft.com/office/powerpoint/2010/main" val="5108808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性能测试</a:t>
            </a:r>
            <a:r>
              <a:rPr lang="zh-CN" altLang="en-US" dirty="0"/>
              <a:t>－</a:t>
            </a:r>
            <a:r>
              <a:rPr lang="zh-CN" altLang="en-US" dirty="0">
                <a:latin typeface="楷体_GB2312"/>
                <a:ea typeface="楷体_GB2312"/>
                <a:cs typeface="楷体_GB2312"/>
              </a:rPr>
              <a:t>基本方法</a:t>
            </a:r>
          </a:p>
        </p:txBody>
      </p:sp>
      <p:sp>
        <p:nvSpPr>
          <p:cNvPr id="288771" name="Rectangle 3"/>
          <p:cNvSpPr>
            <a:spLocks noGrp="1" noChangeArrowheads="1"/>
          </p:cNvSpPr>
          <p:nvPr>
            <p:ph idx="1"/>
          </p:nvPr>
        </p:nvSpPr>
        <p:spPr>
          <a:xfrm>
            <a:off x="468313" y="1319578"/>
            <a:ext cx="8229600" cy="5709822"/>
          </a:xfrm>
        </p:spPr>
        <p:txBody>
          <a:bodyPr>
            <a:normAutofit/>
          </a:bodyPr>
          <a:lstStyle/>
          <a:p>
            <a:pPr>
              <a:lnSpc>
                <a:spcPct val="80000"/>
              </a:lnSpc>
              <a:spcAft>
                <a:spcPct val="20000"/>
              </a:spcAft>
            </a:pPr>
            <a:r>
              <a:rPr lang="zh-CN" altLang="en-US" sz="3000" dirty="0"/>
              <a:t>将软件性能需求转化为性能测试需求</a:t>
            </a:r>
            <a:endParaRPr lang="en-US" altLang="zh-CN" sz="3000" dirty="0"/>
          </a:p>
          <a:p>
            <a:pPr lvl="1">
              <a:lnSpc>
                <a:spcPct val="120000"/>
              </a:lnSpc>
              <a:spcAft>
                <a:spcPct val="20000"/>
              </a:spcAft>
              <a:buFont typeface="Wingdings" panose="05000000000000000000" pitchFamily="2" charset="2"/>
              <a:buChar char="u"/>
            </a:pPr>
            <a:r>
              <a:rPr lang="zh-CN" altLang="en-US" sz="2400" dirty="0"/>
              <a:t>常见的业务需求如下：日交易量支持</a:t>
            </a:r>
            <a:r>
              <a:rPr lang="en-US" altLang="zh-CN" sz="2400" dirty="0"/>
              <a:t>1.4</a:t>
            </a:r>
            <a:r>
              <a:rPr lang="zh-CN" altLang="en-US" sz="2400" dirty="0"/>
              <a:t>亿，响应时间小于</a:t>
            </a:r>
            <a:r>
              <a:rPr lang="en-US" altLang="zh-CN" sz="2400" dirty="0"/>
              <a:t>2</a:t>
            </a:r>
            <a:r>
              <a:rPr lang="zh-CN" altLang="en-US" sz="2400" dirty="0"/>
              <a:t>秒，支持用户</a:t>
            </a:r>
            <a:r>
              <a:rPr lang="en-US" altLang="zh-CN" sz="2400" dirty="0"/>
              <a:t>2</a:t>
            </a:r>
            <a:r>
              <a:rPr lang="zh-CN" altLang="en-US" sz="2400" dirty="0"/>
              <a:t>亿</a:t>
            </a:r>
            <a:endParaRPr lang="en-US" altLang="zh-CN" sz="2400" dirty="0"/>
          </a:p>
          <a:p>
            <a:pPr lvl="1">
              <a:lnSpc>
                <a:spcPct val="120000"/>
              </a:lnSpc>
              <a:spcAft>
                <a:spcPct val="20000"/>
              </a:spcAft>
              <a:buFont typeface="Wingdings" panose="05000000000000000000" pitchFamily="2" charset="2"/>
              <a:buChar char="u"/>
            </a:pPr>
            <a:r>
              <a:rPr lang="zh-CN" altLang="en-US" sz="2400" dirty="0"/>
              <a:t>需要把这些指标转化为可以测试的指标和场景</a:t>
            </a:r>
            <a:endParaRPr lang="zh-CN" altLang="en-US" sz="1800" dirty="0"/>
          </a:p>
        </p:txBody>
      </p:sp>
    </p:spTree>
    <p:extLst>
      <p:ext uri="{BB962C8B-B14F-4D97-AF65-F5344CB8AC3E}">
        <p14:creationId xmlns:p14="http://schemas.microsoft.com/office/powerpoint/2010/main" val="3994578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性能测试</a:t>
            </a:r>
            <a:r>
              <a:rPr lang="zh-CN" altLang="en-US" dirty="0"/>
              <a:t>－</a:t>
            </a:r>
            <a:r>
              <a:rPr lang="zh-CN" altLang="en-US" dirty="0">
                <a:latin typeface="楷体_GB2312"/>
                <a:ea typeface="楷体_GB2312"/>
                <a:cs typeface="楷体_GB2312"/>
              </a:rPr>
              <a:t>基本方法</a:t>
            </a:r>
          </a:p>
        </p:txBody>
      </p:sp>
      <p:sp>
        <p:nvSpPr>
          <p:cNvPr id="288771" name="Rectangle 3"/>
          <p:cNvSpPr>
            <a:spLocks noGrp="1" noChangeArrowheads="1"/>
          </p:cNvSpPr>
          <p:nvPr>
            <p:ph idx="1"/>
          </p:nvPr>
        </p:nvSpPr>
        <p:spPr>
          <a:xfrm>
            <a:off x="468313" y="1319578"/>
            <a:ext cx="8229600" cy="5709822"/>
          </a:xfrm>
        </p:spPr>
        <p:txBody>
          <a:bodyPr>
            <a:normAutofit/>
          </a:bodyPr>
          <a:lstStyle/>
          <a:p>
            <a:pPr>
              <a:lnSpc>
                <a:spcPct val="80000"/>
              </a:lnSpc>
              <a:spcAft>
                <a:spcPct val="20000"/>
              </a:spcAft>
            </a:pPr>
            <a:r>
              <a:rPr lang="zh-CN" altLang="en-US" sz="3000" dirty="0"/>
              <a:t>针对每个性能测试需求进行测试数据设计</a:t>
            </a:r>
          </a:p>
          <a:p>
            <a:pPr marL="685800" lvl="1" indent="-342900">
              <a:lnSpc>
                <a:spcPct val="80000"/>
              </a:lnSpc>
              <a:spcAft>
                <a:spcPct val="20000"/>
              </a:spcAft>
              <a:buFont typeface="Wingdings" panose="05000000000000000000" pitchFamily="2" charset="2"/>
              <a:buChar char="u"/>
            </a:pPr>
            <a:r>
              <a:rPr lang="zh-CN" altLang="en-US" sz="2000" dirty="0"/>
              <a:t>测试软件配置项在获得定量结果时程序计算的精确性（处理精度） </a:t>
            </a:r>
          </a:p>
          <a:p>
            <a:pPr marL="685800" lvl="1" indent="-342900">
              <a:lnSpc>
                <a:spcPct val="80000"/>
              </a:lnSpc>
              <a:spcAft>
                <a:spcPct val="20000"/>
              </a:spcAft>
              <a:buFont typeface="Wingdings" panose="05000000000000000000" pitchFamily="2" charset="2"/>
              <a:buChar char="u"/>
            </a:pPr>
            <a:r>
              <a:rPr lang="zh-CN" altLang="en-US" sz="2000" dirty="0"/>
              <a:t>对有时间要求的软件配置项，测试其时间特性和实际完成功能的时间（时间响应） </a:t>
            </a:r>
          </a:p>
          <a:p>
            <a:pPr marL="685800" lvl="1" indent="-342900">
              <a:lnSpc>
                <a:spcPct val="80000"/>
              </a:lnSpc>
              <a:spcAft>
                <a:spcPct val="20000"/>
              </a:spcAft>
              <a:buFont typeface="Wingdings" panose="05000000000000000000" pitchFamily="2" charset="2"/>
              <a:buChar char="u"/>
            </a:pPr>
            <a:r>
              <a:rPr lang="zh-CN" altLang="en-US" sz="2000" dirty="0"/>
              <a:t>测试软件配置项完成功能所能处理的数据量 </a:t>
            </a:r>
          </a:p>
          <a:p>
            <a:pPr marL="685800" lvl="1" indent="-342900">
              <a:lnSpc>
                <a:spcPct val="80000"/>
              </a:lnSpc>
              <a:spcAft>
                <a:spcPct val="20000"/>
              </a:spcAft>
              <a:buFont typeface="Wingdings" panose="05000000000000000000" pitchFamily="2" charset="2"/>
              <a:buChar char="u"/>
            </a:pPr>
            <a:r>
              <a:rPr lang="zh-CN" altLang="en-US" sz="2000" dirty="0"/>
              <a:t>测试软件配置项各部分的协调性 </a:t>
            </a:r>
          </a:p>
          <a:p>
            <a:pPr marL="685800" lvl="1" indent="-342900">
              <a:lnSpc>
                <a:spcPct val="80000"/>
              </a:lnSpc>
              <a:spcAft>
                <a:spcPct val="20000"/>
              </a:spcAft>
              <a:buFont typeface="Wingdings" panose="05000000000000000000" pitchFamily="2" charset="2"/>
              <a:buChar char="u"/>
            </a:pPr>
            <a:r>
              <a:rPr lang="zh-CN" altLang="en-US" sz="2000" dirty="0"/>
              <a:t>测试程序运行占用的空间 </a:t>
            </a:r>
          </a:p>
          <a:p>
            <a:pPr marL="685800" lvl="1" indent="-342900">
              <a:lnSpc>
                <a:spcPct val="80000"/>
              </a:lnSpc>
              <a:spcAft>
                <a:spcPct val="20000"/>
              </a:spcAft>
              <a:buFont typeface="Wingdings" panose="05000000000000000000" pitchFamily="2" charset="2"/>
              <a:buChar char="u"/>
            </a:pPr>
            <a:r>
              <a:rPr lang="zh-CN" altLang="en-US" sz="2000" dirty="0"/>
              <a:t>测试软件配置项的负荷潜力 </a:t>
            </a:r>
          </a:p>
          <a:p>
            <a:pPr marL="685800" lvl="1" indent="-342900">
              <a:lnSpc>
                <a:spcPct val="80000"/>
              </a:lnSpc>
              <a:spcAft>
                <a:spcPct val="20000"/>
              </a:spcAft>
              <a:buFont typeface="Wingdings" panose="05000000000000000000" pitchFamily="2" charset="2"/>
              <a:buChar char="u"/>
            </a:pPr>
            <a:r>
              <a:rPr lang="zh-CN" altLang="en-US" sz="2000" dirty="0"/>
              <a:t>测试软件</a:t>
            </a:r>
            <a:r>
              <a:rPr lang="en-US" altLang="zh-CN" sz="2000" dirty="0"/>
              <a:t>/</a:t>
            </a:r>
            <a:r>
              <a:rPr lang="zh-CN" altLang="en-US" sz="2000" dirty="0"/>
              <a:t>硬件中是否存在限制软件性能的因素 </a:t>
            </a:r>
          </a:p>
          <a:p>
            <a:pPr marL="685800" lvl="1" indent="-342900">
              <a:lnSpc>
                <a:spcPct val="80000"/>
              </a:lnSpc>
              <a:spcAft>
                <a:spcPct val="20000"/>
              </a:spcAft>
              <a:buFont typeface="Wingdings" panose="05000000000000000000" pitchFamily="2" charset="2"/>
              <a:buChar char="u"/>
            </a:pPr>
            <a:r>
              <a:rPr lang="zh-CN" altLang="en-US" sz="2000" dirty="0"/>
              <a:t>测试软件性能和硬件性能的集成 </a:t>
            </a:r>
          </a:p>
          <a:p>
            <a:pPr marL="685800" lvl="1" indent="-342900">
              <a:lnSpc>
                <a:spcPct val="80000"/>
              </a:lnSpc>
              <a:spcAft>
                <a:spcPct val="20000"/>
              </a:spcAft>
              <a:buFont typeface="Wingdings" panose="05000000000000000000" pitchFamily="2" charset="2"/>
              <a:buChar char="u"/>
            </a:pPr>
            <a:r>
              <a:rPr lang="zh-CN" altLang="en-US" sz="2000" dirty="0"/>
              <a:t>测试系统对并发事物和并发用户访问的处理能力</a:t>
            </a:r>
          </a:p>
        </p:txBody>
      </p:sp>
    </p:spTree>
    <p:extLst>
      <p:ext uri="{BB962C8B-B14F-4D97-AF65-F5344CB8AC3E}">
        <p14:creationId xmlns:p14="http://schemas.microsoft.com/office/powerpoint/2010/main" val="12294265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性能测试</a:t>
            </a:r>
            <a:r>
              <a:rPr lang="zh-CN" altLang="en-US" dirty="0"/>
              <a:t>－</a:t>
            </a:r>
            <a:r>
              <a:rPr lang="zh-CN" altLang="en-US" dirty="0">
                <a:latin typeface="楷体_GB2312"/>
                <a:ea typeface="楷体_GB2312"/>
                <a:cs typeface="楷体_GB2312"/>
              </a:rPr>
              <a:t>典型案例</a:t>
            </a:r>
          </a:p>
        </p:txBody>
      </p:sp>
      <p:sp>
        <p:nvSpPr>
          <p:cNvPr id="289795" name="Rectangle 3"/>
          <p:cNvSpPr>
            <a:spLocks noGrp="1" noChangeArrowheads="1"/>
          </p:cNvSpPr>
          <p:nvPr>
            <p:ph idx="1"/>
          </p:nvPr>
        </p:nvSpPr>
        <p:spPr>
          <a:xfrm>
            <a:off x="468313" y="1319578"/>
            <a:ext cx="8229600" cy="4525476"/>
          </a:xfrm>
        </p:spPr>
        <p:txBody>
          <a:bodyPr/>
          <a:lstStyle/>
          <a:p>
            <a:r>
              <a:rPr lang="en-US" altLang="zh-CN"/>
              <a:t>CPU</a:t>
            </a:r>
            <a:r>
              <a:rPr lang="zh-CN" altLang="en-US"/>
              <a:t>、内存和磁盘的占用率</a:t>
            </a:r>
          </a:p>
          <a:p>
            <a:r>
              <a:rPr lang="zh-CN" altLang="en-US"/>
              <a:t>定时器，刷新率等</a:t>
            </a:r>
          </a:p>
        </p:txBody>
      </p:sp>
    </p:spTree>
    <p:extLst>
      <p:ext uri="{BB962C8B-B14F-4D97-AF65-F5344CB8AC3E}">
        <p14:creationId xmlns:p14="http://schemas.microsoft.com/office/powerpoint/2010/main" val="38402797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压力测试</a:t>
            </a:r>
            <a:r>
              <a:rPr lang="zh-CN" altLang="en-US" dirty="0"/>
              <a:t>－</a:t>
            </a:r>
            <a:r>
              <a:rPr lang="zh-CN" altLang="en-US" dirty="0">
                <a:ea typeface="楷体_GB2312"/>
                <a:cs typeface="楷体_GB2312"/>
              </a:rPr>
              <a:t>基本目标</a:t>
            </a:r>
          </a:p>
        </p:txBody>
      </p:sp>
      <p:sp>
        <p:nvSpPr>
          <p:cNvPr id="302083" name="Rectangle 3"/>
          <p:cNvSpPr>
            <a:spLocks noGrp="1" noChangeArrowheads="1"/>
          </p:cNvSpPr>
          <p:nvPr>
            <p:ph idx="1"/>
          </p:nvPr>
        </p:nvSpPr>
        <p:spPr>
          <a:xfrm>
            <a:off x="468313" y="1319578"/>
            <a:ext cx="8229600" cy="4525476"/>
          </a:xfrm>
        </p:spPr>
        <p:txBody>
          <a:bodyPr>
            <a:noAutofit/>
          </a:bodyPr>
          <a:lstStyle/>
          <a:p>
            <a:pPr>
              <a:lnSpc>
                <a:spcPct val="90000"/>
              </a:lnSpc>
            </a:pPr>
            <a:r>
              <a:rPr lang="zh-CN" altLang="en-US" sz="2400" dirty="0"/>
              <a:t>通过极端情况下运行产品来了解软件的能力和弱点</a:t>
            </a:r>
          </a:p>
          <a:p>
            <a:pPr>
              <a:lnSpc>
                <a:spcPct val="90000"/>
              </a:lnSpc>
            </a:pPr>
            <a:r>
              <a:rPr lang="zh-CN" altLang="en-US" sz="2400" dirty="0"/>
              <a:t>让极端环境下的失败告诉我们在正常情况下应该对软件进行什么修改</a:t>
            </a:r>
          </a:p>
          <a:p>
            <a:pPr>
              <a:lnSpc>
                <a:spcPct val="90000"/>
              </a:lnSpc>
            </a:pPr>
            <a:r>
              <a:rPr lang="zh-CN" altLang="en-US" sz="2400" dirty="0"/>
              <a:t>提供要求处理的信息量，超过设计允许的最大值 </a:t>
            </a:r>
          </a:p>
          <a:p>
            <a:pPr>
              <a:lnSpc>
                <a:spcPct val="90000"/>
              </a:lnSpc>
            </a:pPr>
            <a:r>
              <a:rPr lang="zh-CN" altLang="en-US" sz="2400" dirty="0"/>
              <a:t>数据能力的饱和实验，要求超过设计能力传输更多的数据 </a:t>
            </a:r>
          </a:p>
          <a:p>
            <a:pPr>
              <a:lnSpc>
                <a:spcPct val="90000"/>
              </a:lnSpc>
            </a:pPr>
            <a:r>
              <a:rPr lang="zh-CN" altLang="en-US" sz="2400" dirty="0"/>
              <a:t>存储范围（如常驻内存、缓冲、表格区和临时信息区）超过额定大小的能力 </a:t>
            </a:r>
          </a:p>
          <a:p>
            <a:pPr>
              <a:lnSpc>
                <a:spcPct val="90000"/>
              </a:lnSpc>
            </a:pPr>
            <a:r>
              <a:rPr lang="zh-CN" altLang="en-US" sz="2400" dirty="0"/>
              <a:t>降级能力强度测试 </a:t>
            </a:r>
          </a:p>
          <a:p>
            <a:pPr>
              <a:lnSpc>
                <a:spcPct val="90000"/>
              </a:lnSpc>
            </a:pPr>
            <a:r>
              <a:rPr lang="zh-CN" altLang="en-US" sz="2400" dirty="0"/>
              <a:t>健壮性测试（测试在人为错误下的反应，如寄存器数据跳变、错误的接口状态） </a:t>
            </a:r>
          </a:p>
          <a:p>
            <a:pPr>
              <a:lnSpc>
                <a:spcPct val="90000"/>
              </a:lnSpc>
            </a:pPr>
            <a:r>
              <a:rPr lang="zh-CN" altLang="en-US" sz="2400" dirty="0"/>
              <a:t>通过启动软件过载安全装置（例如，临界点警报、过载溢出功能、停止输入、取消低速设备等）生成必要条件进行计算过载的饱和测试 </a:t>
            </a:r>
          </a:p>
        </p:txBody>
      </p:sp>
    </p:spTree>
    <p:extLst>
      <p:ext uri="{BB962C8B-B14F-4D97-AF65-F5344CB8AC3E}">
        <p14:creationId xmlns:p14="http://schemas.microsoft.com/office/powerpoint/2010/main" val="14977629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压力测试</a:t>
            </a:r>
            <a:r>
              <a:rPr lang="zh-CN" altLang="en-US" dirty="0"/>
              <a:t>－</a:t>
            </a:r>
            <a:r>
              <a:rPr lang="zh-CN" altLang="en-US" dirty="0">
                <a:ea typeface="楷体_GB2312"/>
                <a:cs typeface="楷体_GB2312"/>
              </a:rPr>
              <a:t>能力</a:t>
            </a:r>
          </a:p>
        </p:txBody>
      </p:sp>
      <p:sp>
        <p:nvSpPr>
          <p:cNvPr id="303107" name="Rectangle 3"/>
          <p:cNvSpPr>
            <a:spLocks noGrp="1" noChangeArrowheads="1"/>
          </p:cNvSpPr>
          <p:nvPr>
            <p:ph idx="1"/>
          </p:nvPr>
        </p:nvSpPr>
        <p:spPr>
          <a:xfrm>
            <a:off x="468313" y="1319578"/>
            <a:ext cx="8229600" cy="4525476"/>
          </a:xfrm>
        </p:spPr>
        <p:txBody>
          <a:bodyPr/>
          <a:lstStyle/>
          <a:p>
            <a:r>
              <a:rPr lang="zh-CN" altLang="en-US"/>
              <a:t>暴露将会出现的弱点</a:t>
            </a:r>
          </a:p>
          <a:p>
            <a:r>
              <a:rPr lang="zh-CN" altLang="en-US"/>
              <a:t>暴露安全风险</a:t>
            </a:r>
          </a:p>
        </p:txBody>
      </p:sp>
    </p:spTree>
    <p:extLst>
      <p:ext uri="{BB962C8B-B14F-4D97-AF65-F5344CB8AC3E}">
        <p14:creationId xmlns:p14="http://schemas.microsoft.com/office/powerpoint/2010/main" val="10427000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压力测试</a:t>
            </a:r>
            <a:r>
              <a:rPr lang="zh-CN" altLang="en-US" dirty="0"/>
              <a:t>－</a:t>
            </a:r>
            <a:r>
              <a:rPr lang="zh-CN" altLang="en-US" dirty="0">
                <a:ea typeface="楷体_GB2312"/>
                <a:cs typeface="楷体_GB2312"/>
              </a:rPr>
              <a:t>基本方法</a:t>
            </a:r>
          </a:p>
        </p:txBody>
      </p:sp>
      <p:sp>
        <p:nvSpPr>
          <p:cNvPr id="1186819" name="Rectangle 3"/>
          <p:cNvSpPr>
            <a:spLocks noGrp="1" noChangeArrowheads="1"/>
          </p:cNvSpPr>
          <p:nvPr>
            <p:ph idx="1"/>
          </p:nvPr>
        </p:nvSpPr>
        <p:spPr>
          <a:xfrm>
            <a:off x="468313" y="1319578"/>
            <a:ext cx="8229600" cy="4525476"/>
          </a:xfrm>
        </p:spPr>
        <p:txBody>
          <a:bodyPr/>
          <a:lstStyle/>
          <a:p>
            <a:pPr marL="343220" indent="-343220">
              <a:buFont typeface="Wingdings" panose="05000000000000000000" pitchFamily="2" charset="2"/>
              <a:buAutoNum type="arabicPeriod"/>
              <a:defRPr/>
            </a:pPr>
            <a:r>
              <a:rPr lang="zh-CN" altLang="en-US" dirty="0"/>
              <a:t>规划</a:t>
            </a:r>
          </a:p>
          <a:p>
            <a:pPr marL="686440" lvl="1" indent="-343220">
              <a:defRPr/>
            </a:pPr>
            <a:r>
              <a:rPr lang="zh-CN" altLang="en-US" sz="1802" b="1" dirty="0"/>
              <a:t>确定性能目标</a:t>
            </a:r>
          </a:p>
          <a:p>
            <a:pPr marL="686440" lvl="1" indent="-343220">
              <a:defRPr/>
            </a:pPr>
            <a:r>
              <a:rPr lang="zh-CN" altLang="en-US" sz="1802" b="1" dirty="0"/>
              <a:t>剖析用户活动</a:t>
            </a:r>
          </a:p>
          <a:p>
            <a:pPr marL="686440" lvl="1" indent="-343220">
              <a:defRPr/>
            </a:pPr>
            <a:r>
              <a:rPr lang="zh-CN" altLang="en-US" sz="1802" b="1" dirty="0"/>
              <a:t>关键性能度量标准</a:t>
            </a:r>
          </a:p>
          <a:p>
            <a:pPr marL="686440" lvl="1" indent="-343220">
              <a:defRPr/>
            </a:pPr>
            <a:r>
              <a:rPr lang="zh-CN" altLang="en-US" sz="1802" b="1" dirty="0">
                <a:latin typeface="仿宋_GB2312" pitchFamily="49" charset="-122"/>
              </a:rPr>
              <a:t>选择压力测试工具</a:t>
            </a:r>
            <a:endParaRPr lang="zh-CN" altLang="en-US" sz="1802" b="1" dirty="0"/>
          </a:p>
          <a:p>
            <a:pPr marL="343220" indent="-343220">
              <a:buFont typeface="Wingdings" panose="05000000000000000000" pitchFamily="2" charset="2"/>
              <a:buAutoNum type="arabicPeriod"/>
              <a:defRPr/>
            </a:pPr>
            <a:r>
              <a:rPr lang="zh-CN" altLang="en-US" dirty="0"/>
              <a:t>设计</a:t>
            </a:r>
          </a:p>
          <a:p>
            <a:pPr marL="686440" lvl="1" indent="-343220">
              <a:defRPr/>
            </a:pPr>
            <a:r>
              <a:rPr lang="zh-CN" altLang="en-US" sz="1802" b="1" dirty="0">
                <a:latin typeface="楷体_GB2312" pitchFamily="49" charset="-122"/>
              </a:rPr>
              <a:t>规划测试想定</a:t>
            </a:r>
            <a:r>
              <a:rPr lang="en-US" altLang="zh-CN" sz="1802" b="1" dirty="0">
                <a:latin typeface="楷体_GB2312" pitchFamily="49" charset="-122"/>
              </a:rPr>
              <a:t>(</a:t>
            </a:r>
            <a:r>
              <a:rPr lang="zh-CN" altLang="en-US" sz="1802" b="1" dirty="0">
                <a:latin typeface="楷体_GB2312" pitchFamily="49" charset="-122"/>
              </a:rPr>
              <a:t>不同时段</a:t>
            </a:r>
            <a:r>
              <a:rPr lang="en-US" altLang="zh-CN" sz="1802" b="1" dirty="0">
                <a:latin typeface="楷体_GB2312" pitchFamily="49" charset="-122"/>
              </a:rPr>
              <a:t>)</a:t>
            </a:r>
          </a:p>
          <a:p>
            <a:pPr marL="686440" lvl="1" indent="-343220">
              <a:defRPr/>
            </a:pPr>
            <a:r>
              <a:rPr lang="zh-CN" altLang="en-US" sz="1802" b="1" dirty="0">
                <a:latin typeface="楷体_GB2312" pitchFamily="49" charset="-122"/>
              </a:rPr>
              <a:t>录制和修改脚本、补充脚本</a:t>
            </a:r>
          </a:p>
          <a:p>
            <a:pPr marL="686440" lvl="1" indent="-343220">
              <a:defRPr/>
            </a:pPr>
            <a:r>
              <a:rPr lang="zh-CN" altLang="en-US" sz="1802" b="1" dirty="0">
                <a:latin typeface="楷体_GB2312" pitchFamily="49" charset="-122"/>
              </a:rPr>
              <a:t>配置想定</a:t>
            </a:r>
          </a:p>
        </p:txBody>
      </p:sp>
      <p:sp>
        <p:nvSpPr>
          <p:cNvPr id="1186820" name="Rectangle 4"/>
          <p:cNvSpPr>
            <a:spLocks noChangeArrowheads="1"/>
          </p:cNvSpPr>
          <p:nvPr/>
        </p:nvSpPr>
        <p:spPr bwMode="auto">
          <a:xfrm>
            <a:off x="5652120" y="1268760"/>
            <a:ext cx="2647950" cy="475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Font typeface="Wingdings" panose="05000000000000000000" pitchFamily="2" charset="2"/>
              <a:buChar char="Ø"/>
              <a:defRPr kumimoji="1" sz="2800" b="1">
                <a:solidFill>
                  <a:srgbClr val="000000"/>
                </a:solidFill>
                <a:latin typeface="Tahoma" panose="020B0604030504040204" pitchFamily="34" charset="0"/>
                <a:ea typeface="仿宋_GB2312" pitchFamily="49" charset="-122"/>
              </a:defRPr>
            </a:lvl1pPr>
            <a:lvl2pPr marL="990600" indent="-533400" algn="l">
              <a:spcBef>
                <a:spcPct val="20000"/>
              </a:spcBef>
              <a:buClr>
                <a:schemeClr val="bg2"/>
              </a:buClr>
              <a:buSzPct val="85000"/>
              <a:buFont typeface="Wingdings" panose="05000000000000000000" pitchFamily="2" charset="2"/>
              <a:buChar char="v"/>
              <a:defRPr kumimoji="1" sz="2800">
                <a:solidFill>
                  <a:schemeClr val="tx1"/>
                </a:solidFill>
                <a:latin typeface="Tahoma" panose="020B0604030504040204" pitchFamily="34" charset="0"/>
                <a:ea typeface="楷体_GB2312" pitchFamily="49" charset="-122"/>
              </a:defRPr>
            </a:lvl2pPr>
            <a:lvl3pPr marL="1371600" indent="-457200" algn="l">
              <a:spcBef>
                <a:spcPct val="20000"/>
              </a:spcBef>
              <a:buFont typeface="Wingdings" panose="05000000000000000000" pitchFamily="2" charset="2"/>
              <a:buChar char="ü"/>
              <a:defRPr kumimoji="1" sz="2400">
                <a:solidFill>
                  <a:schemeClr val="tx1"/>
                </a:solidFill>
                <a:latin typeface="Comic Sans MS" panose="030F0702030302020204" pitchFamily="66" charset="0"/>
                <a:ea typeface="宋体" panose="02010600030101010101" pitchFamily="2" charset="-122"/>
              </a:defRPr>
            </a:lvl3pPr>
            <a:lvl4pPr marL="1752600" indent="-381000" algn="l">
              <a:spcBef>
                <a:spcPct val="20000"/>
              </a:spcBef>
              <a:buSzPct val="70000"/>
              <a:buFont typeface="Wingdings" panose="05000000000000000000" pitchFamily="2" charset="2"/>
              <a:buChar char="n"/>
              <a:defRPr kumimoji="1" sz="2000">
                <a:solidFill>
                  <a:srgbClr val="3F3B6F"/>
                </a:solidFill>
                <a:latin typeface="Comic Sans MS" panose="030F0702030302020204" pitchFamily="66" charset="0"/>
                <a:ea typeface="宋体" panose="02010600030101010101" pitchFamily="2" charset="-122"/>
              </a:defRPr>
            </a:lvl4pPr>
            <a:lvl5pPr marL="2209800" indent="-381000" algn="l">
              <a:spcBef>
                <a:spcPct val="20000"/>
              </a:spcBef>
              <a:buChar char="•"/>
              <a:defRPr kumimoji="1" sz="2000">
                <a:solidFill>
                  <a:srgbClr val="48447E"/>
                </a:solidFill>
                <a:latin typeface="Comic Sans MS" panose="030F0702030302020204" pitchFamily="66" charset="0"/>
                <a:ea typeface="宋体" panose="02010600030101010101" pitchFamily="2" charset="-122"/>
              </a:defRPr>
            </a:lvl5pPr>
            <a:lvl6pPr marL="2667000" indent="-381000" fontAlgn="base">
              <a:spcBef>
                <a:spcPct val="20000"/>
              </a:spcBef>
              <a:spcAft>
                <a:spcPct val="0"/>
              </a:spcAft>
              <a:buChar char="•"/>
              <a:defRPr kumimoji="1" sz="2000">
                <a:solidFill>
                  <a:srgbClr val="48447E"/>
                </a:solidFill>
                <a:latin typeface="Comic Sans MS" panose="030F0702030302020204" pitchFamily="66" charset="0"/>
                <a:ea typeface="宋体" panose="02010600030101010101" pitchFamily="2" charset="-122"/>
              </a:defRPr>
            </a:lvl6pPr>
            <a:lvl7pPr marL="3124200" indent="-381000" fontAlgn="base">
              <a:spcBef>
                <a:spcPct val="20000"/>
              </a:spcBef>
              <a:spcAft>
                <a:spcPct val="0"/>
              </a:spcAft>
              <a:buChar char="•"/>
              <a:defRPr kumimoji="1" sz="2000">
                <a:solidFill>
                  <a:srgbClr val="48447E"/>
                </a:solidFill>
                <a:latin typeface="Comic Sans MS" panose="030F0702030302020204" pitchFamily="66" charset="0"/>
                <a:ea typeface="宋体" panose="02010600030101010101" pitchFamily="2" charset="-122"/>
              </a:defRPr>
            </a:lvl7pPr>
            <a:lvl8pPr marL="3581400" indent="-381000" fontAlgn="base">
              <a:spcBef>
                <a:spcPct val="20000"/>
              </a:spcBef>
              <a:spcAft>
                <a:spcPct val="0"/>
              </a:spcAft>
              <a:buChar char="•"/>
              <a:defRPr kumimoji="1" sz="2000">
                <a:solidFill>
                  <a:srgbClr val="48447E"/>
                </a:solidFill>
                <a:latin typeface="Comic Sans MS" panose="030F0702030302020204" pitchFamily="66" charset="0"/>
                <a:ea typeface="宋体" panose="02010600030101010101" pitchFamily="2" charset="-122"/>
              </a:defRPr>
            </a:lvl8pPr>
            <a:lvl9pPr marL="4038600" indent="-381000" fontAlgn="base">
              <a:spcBef>
                <a:spcPct val="20000"/>
              </a:spcBef>
              <a:spcAft>
                <a:spcPct val="0"/>
              </a:spcAft>
              <a:buChar char="•"/>
              <a:defRPr kumimoji="1" sz="2000">
                <a:solidFill>
                  <a:srgbClr val="48447E"/>
                </a:solidFill>
                <a:latin typeface="Comic Sans MS" panose="030F0702030302020204" pitchFamily="66" charset="0"/>
                <a:ea typeface="宋体" panose="02010600030101010101" pitchFamily="2" charset="-122"/>
              </a:defRPr>
            </a:lvl9pPr>
          </a:lstStyle>
          <a:p>
            <a:pPr>
              <a:buFont typeface="Wingdings" panose="05000000000000000000" pitchFamily="2" charset="2"/>
              <a:buAutoNum type="arabicPeriod" startAt="3"/>
              <a:defRPr/>
            </a:pPr>
            <a:r>
              <a:rPr lang="zh-CN" altLang="en-US" sz="3200" b="0" dirty="0">
                <a:latin typeface="宋体" panose="02010600030101010101" pitchFamily="2" charset="-122"/>
                <a:ea typeface="宋体" panose="02010600030101010101" pitchFamily="2" charset="-122"/>
              </a:rPr>
              <a:t>实施</a:t>
            </a:r>
            <a:endParaRPr lang="en-US" altLang="zh-CN" sz="3200" b="0" dirty="0">
              <a:latin typeface="宋体" panose="02010600030101010101" pitchFamily="2" charset="-122"/>
              <a:ea typeface="宋体" panose="02010600030101010101" pitchFamily="2" charset="-122"/>
            </a:endParaRPr>
          </a:p>
          <a:p>
            <a:pPr marL="457200" lvl="1" indent="0">
              <a:buNone/>
              <a:defRPr/>
            </a:pPr>
            <a:r>
              <a:rPr lang="en-US" altLang="zh-CN" sz="1802" b="1" dirty="0">
                <a:latin typeface="宋体" panose="02010600030101010101" pitchFamily="2" charset="-122"/>
                <a:ea typeface="宋体" panose="02010600030101010101" pitchFamily="2" charset="-122"/>
              </a:rPr>
              <a:t>- </a:t>
            </a:r>
            <a:r>
              <a:rPr lang="zh-CN" altLang="en-US" sz="1802" b="1" dirty="0">
                <a:latin typeface="宋体" panose="02010600030101010101" pitchFamily="2" charset="-122"/>
                <a:ea typeface="宋体" panose="02010600030101010101" pitchFamily="2" charset="-122"/>
              </a:rPr>
              <a:t>镜像操作环境</a:t>
            </a:r>
          </a:p>
          <a:p>
            <a:pPr marL="457200" lvl="1" indent="0">
              <a:buNone/>
              <a:defRPr/>
            </a:pPr>
            <a:r>
              <a:rPr lang="en-US" altLang="zh-CN" sz="1802" b="1" dirty="0">
                <a:latin typeface="宋体" panose="02010600030101010101" pitchFamily="2" charset="-122"/>
                <a:ea typeface="宋体" panose="02010600030101010101" pitchFamily="2" charset="-122"/>
              </a:rPr>
              <a:t>- </a:t>
            </a:r>
            <a:r>
              <a:rPr lang="zh-CN" altLang="en-US" sz="1802" b="1" dirty="0">
                <a:latin typeface="宋体" panose="02010600030101010101" pitchFamily="2" charset="-122"/>
                <a:ea typeface="宋体" panose="02010600030101010101" pitchFamily="2" charset="-122"/>
              </a:rPr>
              <a:t>执行测试</a:t>
            </a:r>
            <a:endParaRPr lang="en-US" altLang="zh-CN" sz="1802" b="1" dirty="0">
              <a:latin typeface="宋体" panose="02010600030101010101" pitchFamily="2" charset="-122"/>
              <a:ea typeface="宋体" panose="02010600030101010101" pitchFamily="2" charset="-122"/>
            </a:endParaRPr>
          </a:p>
          <a:p>
            <a:pPr marL="457200" lvl="1" indent="0">
              <a:buNone/>
              <a:defRPr/>
            </a:pPr>
            <a:endParaRPr lang="en-US" altLang="zh-CN" sz="1802" b="1" dirty="0">
              <a:latin typeface="宋体" panose="02010600030101010101" pitchFamily="2" charset="-122"/>
              <a:ea typeface="宋体" panose="02010600030101010101" pitchFamily="2" charset="-122"/>
            </a:endParaRPr>
          </a:p>
          <a:p>
            <a:pPr marL="457200" lvl="1" indent="0">
              <a:buNone/>
              <a:defRPr/>
            </a:pPr>
            <a:endParaRPr lang="zh-CN" altLang="en-US" sz="1802" b="1" dirty="0">
              <a:latin typeface="宋体" panose="02010600030101010101" pitchFamily="2" charset="-122"/>
              <a:ea typeface="宋体" panose="02010600030101010101" pitchFamily="2" charset="-122"/>
            </a:endParaRPr>
          </a:p>
          <a:p>
            <a:pPr>
              <a:buFont typeface="Wingdings" panose="05000000000000000000" pitchFamily="2" charset="2"/>
              <a:buAutoNum type="arabicPeriod" startAt="3"/>
              <a:defRPr/>
            </a:pPr>
            <a:r>
              <a:rPr lang="zh-CN" altLang="en-US" sz="3200" b="0" dirty="0">
                <a:latin typeface="宋体" panose="02010600030101010101" pitchFamily="2" charset="-122"/>
                <a:ea typeface="宋体" panose="02010600030101010101" pitchFamily="2" charset="-122"/>
              </a:rPr>
              <a:t>评估</a:t>
            </a:r>
          </a:p>
          <a:p>
            <a:pPr marL="457200" lvl="1" indent="0">
              <a:buNone/>
              <a:defRPr/>
            </a:pPr>
            <a:r>
              <a:rPr lang="en-US" altLang="zh-CN" sz="1802" b="1" dirty="0">
                <a:latin typeface="宋体" panose="02010600030101010101" pitchFamily="2" charset="-122"/>
                <a:ea typeface="宋体" panose="02010600030101010101" pitchFamily="2" charset="-122"/>
              </a:rPr>
              <a:t>- </a:t>
            </a:r>
            <a:r>
              <a:rPr lang="zh-CN" altLang="en-US" sz="1802" b="1" dirty="0">
                <a:latin typeface="宋体" panose="02010600030101010101" pitchFamily="2" charset="-122"/>
                <a:ea typeface="宋体" panose="02010600030101010101" pitchFamily="2" charset="-122"/>
              </a:rPr>
              <a:t>监视系统性能</a:t>
            </a:r>
          </a:p>
          <a:p>
            <a:pPr marL="457200" lvl="1" indent="0">
              <a:buNone/>
              <a:defRPr/>
            </a:pPr>
            <a:r>
              <a:rPr lang="en-US" altLang="zh-CN" sz="1802" b="1" dirty="0">
                <a:latin typeface="宋体" panose="02010600030101010101" pitchFamily="2" charset="-122"/>
                <a:ea typeface="宋体" panose="02010600030101010101" pitchFamily="2" charset="-122"/>
              </a:rPr>
              <a:t>- </a:t>
            </a:r>
            <a:r>
              <a:rPr lang="zh-CN" altLang="en-US" sz="1802" b="1" dirty="0">
                <a:latin typeface="宋体" panose="02010600030101010101" pitchFamily="2" charset="-122"/>
                <a:ea typeface="宋体" panose="02010600030101010101" pitchFamily="2" charset="-122"/>
              </a:rPr>
              <a:t>确定性能瓶颈</a:t>
            </a:r>
          </a:p>
        </p:txBody>
      </p:sp>
    </p:spTree>
    <p:extLst>
      <p:ext uri="{BB962C8B-B14F-4D97-AF65-F5344CB8AC3E}">
        <p14:creationId xmlns:p14="http://schemas.microsoft.com/office/powerpoint/2010/main" val="1851501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压力测试</a:t>
            </a:r>
            <a:r>
              <a:rPr lang="zh-CN" altLang="en-US" dirty="0"/>
              <a:t>－</a:t>
            </a:r>
            <a:r>
              <a:rPr lang="zh-CN" altLang="en-US" dirty="0">
                <a:ea typeface="楷体_GB2312"/>
                <a:cs typeface="楷体_GB2312"/>
              </a:rPr>
              <a:t>典型案例</a:t>
            </a:r>
          </a:p>
        </p:txBody>
      </p:sp>
      <p:sp>
        <p:nvSpPr>
          <p:cNvPr id="305155" name="Rectangle 3"/>
          <p:cNvSpPr>
            <a:spLocks noGrp="1" noChangeArrowheads="1"/>
          </p:cNvSpPr>
          <p:nvPr>
            <p:ph idx="1"/>
          </p:nvPr>
        </p:nvSpPr>
        <p:spPr>
          <a:xfrm>
            <a:off x="468313" y="1319578"/>
            <a:ext cx="8229600" cy="4525476"/>
          </a:xfrm>
        </p:spPr>
        <p:txBody>
          <a:bodyPr/>
          <a:lstStyle/>
          <a:p>
            <a:r>
              <a:rPr lang="zh-CN" altLang="en-US" dirty="0"/>
              <a:t>缓冲区溢出缺陷</a:t>
            </a:r>
          </a:p>
          <a:p>
            <a:r>
              <a:rPr lang="zh-CN" altLang="en-US" dirty="0"/>
              <a:t>大数据量测试</a:t>
            </a:r>
          </a:p>
          <a:p>
            <a:r>
              <a:rPr lang="zh-CN" altLang="en-US" dirty="0"/>
              <a:t>超常事务链测试</a:t>
            </a:r>
          </a:p>
          <a:p>
            <a:r>
              <a:rPr lang="zh-CN" altLang="en-US" dirty="0"/>
              <a:t>大并发用户数测试</a:t>
            </a:r>
          </a:p>
          <a:p>
            <a:r>
              <a:rPr lang="zh-CN" altLang="en-US" dirty="0"/>
              <a:t>低内存条件</a:t>
            </a:r>
            <a:r>
              <a:rPr lang="en-US" altLang="zh-CN" dirty="0"/>
              <a:t>, </a:t>
            </a:r>
            <a:r>
              <a:rPr lang="zh-CN" altLang="en-US" dirty="0"/>
              <a:t>驱动程序失效</a:t>
            </a:r>
            <a:r>
              <a:rPr lang="en-US" altLang="zh-CN" dirty="0"/>
              <a:t>, </a:t>
            </a:r>
            <a:r>
              <a:rPr lang="zh-CN" altLang="en-US" dirty="0"/>
              <a:t>病毒</a:t>
            </a:r>
            <a:r>
              <a:rPr lang="en-US" altLang="zh-CN" dirty="0"/>
              <a:t>, </a:t>
            </a:r>
            <a:r>
              <a:rPr lang="zh-CN" altLang="en-US" dirty="0"/>
              <a:t>其它危险</a:t>
            </a:r>
          </a:p>
        </p:txBody>
      </p:sp>
    </p:spTree>
    <p:extLst>
      <p:ext uri="{BB962C8B-B14F-4D97-AF65-F5344CB8AC3E}">
        <p14:creationId xmlns:p14="http://schemas.microsoft.com/office/powerpoint/2010/main" val="2556926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外部接口测试</a:t>
            </a:r>
            <a:r>
              <a:rPr lang="zh-CN" altLang="en-US" dirty="0"/>
              <a:t>－</a:t>
            </a:r>
            <a:r>
              <a:rPr lang="zh-CN" altLang="en-US" dirty="0">
                <a:ea typeface="楷体_GB2312"/>
                <a:cs typeface="楷体_GB2312"/>
              </a:rPr>
              <a:t>基本目标</a:t>
            </a:r>
          </a:p>
        </p:txBody>
      </p:sp>
      <p:sp>
        <p:nvSpPr>
          <p:cNvPr id="291843" name="Rectangle 3"/>
          <p:cNvSpPr>
            <a:spLocks noGrp="1" noChangeArrowheads="1"/>
          </p:cNvSpPr>
          <p:nvPr>
            <p:ph idx="1"/>
          </p:nvPr>
        </p:nvSpPr>
        <p:spPr>
          <a:xfrm>
            <a:off x="468313" y="1319578"/>
            <a:ext cx="8229600" cy="4525476"/>
          </a:xfrm>
        </p:spPr>
        <p:txBody>
          <a:bodyPr/>
          <a:lstStyle/>
          <a:p>
            <a:r>
              <a:rPr lang="zh-CN" altLang="en-US"/>
              <a:t>测试接口文档中描述的每一个外部接口</a:t>
            </a:r>
          </a:p>
          <a:p>
            <a:r>
              <a:rPr lang="zh-CN" altLang="en-US"/>
              <a:t>验证外部接口的正确性</a:t>
            </a:r>
          </a:p>
          <a:p>
            <a:r>
              <a:rPr lang="zh-CN" altLang="en-US"/>
              <a:t>验证外部接口的协调性</a:t>
            </a:r>
          </a:p>
        </p:txBody>
      </p:sp>
    </p:spTree>
    <p:extLst>
      <p:ext uri="{BB962C8B-B14F-4D97-AF65-F5344CB8AC3E}">
        <p14:creationId xmlns:p14="http://schemas.microsoft.com/office/powerpoint/2010/main" val="42690553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外部接口测试</a:t>
            </a:r>
            <a:r>
              <a:rPr lang="zh-CN" altLang="en-US" dirty="0"/>
              <a:t>－</a:t>
            </a:r>
            <a:r>
              <a:rPr lang="zh-CN" altLang="en-US" dirty="0">
                <a:ea typeface="楷体_GB2312"/>
                <a:cs typeface="楷体_GB2312"/>
              </a:rPr>
              <a:t>能力</a:t>
            </a:r>
          </a:p>
        </p:txBody>
      </p:sp>
      <p:sp>
        <p:nvSpPr>
          <p:cNvPr id="292867" name="Rectangle 3"/>
          <p:cNvSpPr>
            <a:spLocks noGrp="1" noChangeArrowheads="1"/>
          </p:cNvSpPr>
          <p:nvPr>
            <p:ph idx="1"/>
          </p:nvPr>
        </p:nvSpPr>
        <p:spPr>
          <a:xfrm>
            <a:off x="468313" y="1319578"/>
            <a:ext cx="8229600" cy="4525476"/>
          </a:xfrm>
        </p:spPr>
        <p:txBody>
          <a:bodyPr/>
          <a:lstStyle/>
          <a:p>
            <a:r>
              <a:rPr lang="zh-CN" altLang="en-US"/>
              <a:t>考核与接口文档的符合性</a:t>
            </a:r>
          </a:p>
          <a:p>
            <a:r>
              <a:rPr lang="zh-CN" altLang="en-US"/>
              <a:t>考核软件与其他外部软硬件的交互能力</a:t>
            </a:r>
          </a:p>
          <a:p>
            <a:r>
              <a:rPr lang="zh-CN" altLang="en-US"/>
              <a:t>验证容错性设计</a:t>
            </a:r>
          </a:p>
          <a:p>
            <a:r>
              <a:rPr lang="zh-CN" altLang="en-US"/>
              <a:t>测试是否具有抵御非法入侵的能力</a:t>
            </a:r>
          </a:p>
        </p:txBody>
      </p:sp>
    </p:spTree>
    <p:extLst>
      <p:ext uri="{BB962C8B-B14F-4D97-AF65-F5344CB8AC3E}">
        <p14:creationId xmlns:p14="http://schemas.microsoft.com/office/powerpoint/2010/main" val="39592542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外部接口测试</a:t>
            </a:r>
            <a:r>
              <a:rPr lang="zh-CN" altLang="en-US" dirty="0"/>
              <a:t>－</a:t>
            </a:r>
            <a:r>
              <a:rPr lang="zh-CN" altLang="en-US" dirty="0">
                <a:ea typeface="楷体_GB2312"/>
                <a:cs typeface="楷体_GB2312"/>
              </a:rPr>
              <a:t>基本方法</a:t>
            </a:r>
          </a:p>
        </p:txBody>
      </p:sp>
      <p:sp>
        <p:nvSpPr>
          <p:cNvPr id="293891" name="Rectangle 3"/>
          <p:cNvSpPr>
            <a:spLocks noGrp="1" noChangeArrowheads="1"/>
          </p:cNvSpPr>
          <p:nvPr>
            <p:ph idx="1"/>
          </p:nvPr>
        </p:nvSpPr>
        <p:spPr>
          <a:xfrm>
            <a:off x="468313" y="1319578"/>
            <a:ext cx="8229600" cy="4525476"/>
          </a:xfrm>
        </p:spPr>
        <p:txBody>
          <a:bodyPr/>
          <a:lstStyle/>
          <a:p>
            <a:r>
              <a:rPr lang="zh-CN" altLang="en-US" sz="2800"/>
              <a:t>检查软件外部接口信息的格式及内容 </a:t>
            </a:r>
          </a:p>
          <a:p>
            <a:r>
              <a:rPr lang="zh-CN" altLang="en-US" sz="2800"/>
              <a:t>对外部输入</a:t>
            </a:r>
            <a:r>
              <a:rPr lang="en-US" altLang="zh-CN" sz="2800"/>
              <a:t>/</a:t>
            </a:r>
            <a:r>
              <a:rPr lang="zh-CN" altLang="en-US" sz="2800"/>
              <a:t>输出接口的正常情况测试 </a:t>
            </a:r>
          </a:p>
          <a:p>
            <a:r>
              <a:rPr lang="zh-CN" altLang="en-US" sz="2800"/>
              <a:t>对外部输入</a:t>
            </a:r>
            <a:r>
              <a:rPr lang="en-US" altLang="zh-CN" sz="2800"/>
              <a:t>/</a:t>
            </a:r>
            <a:r>
              <a:rPr lang="zh-CN" altLang="en-US" sz="2800"/>
              <a:t>输出接口的异常情况测试 </a:t>
            </a:r>
          </a:p>
          <a:p>
            <a:r>
              <a:rPr lang="zh-CN" altLang="en-US" sz="2800"/>
              <a:t>测试硬件提供的接口是否便于使用</a:t>
            </a:r>
          </a:p>
          <a:p>
            <a:r>
              <a:rPr lang="zh-CN" altLang="en-US" sz="2800"/>
              <a:t>测试系统特性对软件功能、性能特性的影响</a:t>
            </a:r>
          </a:p>
          <a:p>
            <a:pPr lvl="1"/>
            <a:r>
              <a:rPr lang="zh-CN" altLang="en-US" sz="2400" b="1"/>
              <a:t>数据特性</a:t>
            </a:r>
          </a:p>
          <a:p>
            <a:pPr lvl="1"/>
            <a:r>
              <a:rPr lang="zh-CN" altLang="en-US" sz="2400" b="1"/>
              <a:t>错误特性</a:t>
            </a:r>
          </a:p>
          <a:p>
            <a:pPr lvl="1"/>
            <a:r>
              <a:rPr lang="zh-CN" altLang="en-US" sz="2400" b="1"/>
              <a:t>速度特性</a:t>
            </a:r>
          </a:p>
        </p:txBody>
      </p:sp>
    </p:spTree>
    <p:extLst>
      <p:ext uri="{BB962C8B-B14F-4D97-AF65-F5344CB8AC3E}">
        <p14:creationId xmlns:p14="http://schemas.microsoft.com/office/powerpoint/2010/main" val="12581240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外部接口测试</a:t>
            </a:r>
            <a:r>
              <a:rPr lang="zh-CN" altLang="en-US" dirty="0"/>
              <a:t>－</a:t>
            </a:r>
            <a:r>
              <a:rPr lang="zh-CN" altLang="en-US" dirty="0">
                <a:ea typeface="楷体_GB2312"/>
                <a:cs typeface="楷体_GB2312"/>
              </a:rPr>
              <a:t>典型案例</a:t>
            </a:r>
          </a:p>
        </p:txBody>
      </p:sp>
      <p:sp>
        <p:nvSpPr>
          <p:cNvPr id="294915" name="Rectangle 3"/>
          <p:cNvSpPr>
            <a:spLocks noGrp="1" noChangeArrowheads="1"/>
          </p:cNvSpPr>
          <p:nvPr>
            <p:ph idx="1"/>
          </p:nvPr>
        </p:nvSpPr>
        <p:spPr>
          <a:xfrm>
            <a:off x="468313" y="1319578"/>
            <a:ext cx="8229600" cy="4525476"/>
          </a:xfrm>
        </p:spPr>
        <p:txBody>
          <a:bodyPr/>
          <a:lstStyle/>
          <a:p>
            <a:r>
              <a:rPr lang="zh-CN" altLang="en-US" dirty="0"/>
              <a:t>网络接口，</a:t>
            </a:r>
            <a:r>
              <a:rPr lang="en-US" altLang="zh-CN" dirty="0"/>
              <a:t>TCP/UDP</a:t>
            </a:r>
            <a:r>
              <a:rPr lang="zh-CN" altLang="en-US" dirty="0"/>
              <a:t>协议</a:t>
            </a:r>
          </a:p>
          <a:p>
            <a:r>
              <a:rPr lang="zh-CN" altLang="en-US" dirty="0"/>
              <a:t>串口</a:t>
            </a:r>
          </a:p>
          <a:p>
            <a:r>
              <a:rPr lang="zh-CN" altLang="en-US" dirty="0"/>
              <a:t>总线</a:t>
            </a:r>
          </a:p>
        </p:txBody>
      </p:sp>
    </p:spTree>
    <p:extLst>
      <p:ext uri="{BB962C8B-B14F-4D97-AF65-F5344CB8AC3E}">
        <p14:creationId xmlns:p14="http://schemas.microsoft.com/office/powerpoint/2010/main" val="17555506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a:xfrm>
            <a:off x="468313" y="359500"/>
            <a:ext cx="8229600" cy="862801"/>
          </a:xfrm>
        </p:spPr>
        <p:txBody>
          <a:bodyPr/>
          <a:lstStyle/>
          <a:p>
            <a:pPr algn="just"/>
            <a:r>
              <a:rPr lang="zh-CN" altLang="en-US" dirty="0"/>
              <a:t>人机交互界面测试－</a:t>
            </a:r>
            <a:r>
              <a:rPr lang="zh-CN" altLang="en-US" dirty="0">
                <a:ea typeface="楷体_GB2312"/>
                <a:cs typeface="楷体_GB2312"/>
              </a:rPr>
              <a:t>基本目标</a:t>
            </a:r>
          </a:p>
        </p:txBody>
      </p:sp>
      <p:sp>
        <p:nvSpPr>
          <p:cNvPr id="296963" name="Rectangle 3"/>
          <p:cNvSpPr>
            <a:spLocks noGrp="1" noChangeArrowheads="1"/>
          </p:cNvSpPr>
          <p:nvPr>
            <p:ph idx="1"/>
          </p:nvPr>
        </p:nvSpPr>
        <p:spPr>
          <a:xfrm>
            <a:off x="468313" y="1319578"/>
            <a:ext cx="8229600" cy="4525476"/>
          </a:xfrm>
        </p:spPr>
        <p:txBody>
          <a:bodyPr/>
          <a:lstStyle/>
          <a:p>
            <a:r>
              <a:rPr lang="zh-CN" altLang="en-US">
                <a:latin typeface="楷体_GB2312"/>
              </a:rPr>
              <a:t>人机交互界面测试是对所有人机交互界面提供的操作和显示界面进行的测试，以检验是否满足用户的需求。</a:t>
            </a:r>
          </a:p>
        </p:txBody>
      </p:sp>
    </p:spTree>
    <p:extLst>
      <p:ext uri="{BB962C8B-B14F-4D97-AF65-F5344CB8AC3E}">
        <p14:creationId xmlns:p14="http://schemas.microsoft.com/office/powerpoint/2010/main" val="7915595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468313" y="359500"/>
            <a:ext cx="8229600" cy="862801"/>
          </a:xfrm>
        </p:spPr>
        <p:txBody>
          <a:bodyPr/>
          <a:lstStyle/>
          <a:p>
            <a:pPr algn="just"/>
            <a:r>
              <a:rPr lang="zh-CN" altLang="en-US" dirty="0"/>
              <a:t>人机交互界面测试－</a:t>
            </a:r>
            <a:r>
              <a:rPr lang="zh-CN" altLang="en-US" dirty="0">
                <a:ea typeface="楷体_GB2312"/>
                <a:cs typeface="楷体_GB2312"/>
              </a:rPr>
              <a:t>能力</a:t>
            </a:r>
          </a:p>
        </p:txBody>
      </p:sp>
      <p:sp>
        <p:nvSpPr>
          <p:cNvPr id="297987" name="Rectangle 3"/>
          <p:cNvSpPr>
            <a:spLocks noGrp="1" noChangeArrowheads="1"/>
          </p:cNvSpPr>
          <p:nvPr>
            <p:ph idx="1"/>
          </p:nvPr>
        </p:nvSpPr>
        <p:spPr>
          <a:xfrm>
            <a:off x="468313" y="1319578"/>
            <a:ext cx="8229600" cy="4525476"/>
          </a:xfrm>
        </p:spPr>
        <p:txBody>
          <a:bodyPr/>
          <a:lstStyle/>
          <a:p>
            <a:r>
              <a:rPr lang="zh-CN" altLang="en-US" sz="2800">
                <a:latin typeface="楷体_GB2312"/>
              </a:rPr>
              <a:t>测试操作和显示界面及界面风格与软件需求规格说明中要求的一致性和符合性；</a:t>
            </a:r>
          </a:p>
          <a:p>
            <a:r>
              <a:rPr lang="zh-CN" altLang="en-US" sz="2800">
                <a:latin typeface="楷体_GB2312"/>
              </a:rPr>
              <a:t>检验人机界面的健壮性；</a:t>
            </a:r>
          </a:p>
          <a:p>
            <a:r>
              <a:rPr lang="zh-CN" altLang="en-US" sz="2800">
                <a:latin typeface="楷体_GB2312"/>
              </a:rPr>
              <a:t>测试对错误命令或非法数据输入的检测能力与提示情况；</a:t>
            </a:r>
          </a:p>
          <a:p>
            <a:r>
              <a:rPr lang="zh-CN" altLang="en-US" sz="2800">
                <a:latin typeface="楷体_GB2312"/>
              </a:rPr>
              <a:t>测试对错误操作流程的检测与提示；</a:t>
            </a:r>
          </a:p>
          <a:p>
            <a:r>
              <a:rPr lang="zh-CN" altLang="en-US" sz="2800">
                <a:latin typeface="楷体_GB2312"/>
              </a:rPr>
              <a:t>验证用户手册或操作手册的正确性。</a:t>
            </a:r>
          </a:p>
        </p:txBody>
      </p:sp>
    </p:spTree>
    <p:extLst>
      <p:ext uri="{BB962C8B-B14F-4D97-AF65-F5344CB8AC3E}">
        <p14:creationId xmlns:p14="http://schemas.microsoft.com/office/powerpoint/2010/main" val="19151001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468313" y="359500"/>
            <a:ext cx="8229600" cy="862801"/>
          </a:xfrm>
        </p:spPr>
        <p:txBody>
          <a:bodyPr/>
          <a:lstStyle/>
          <a:p>
            <a:pPr algn="just"/>
            <a:r>
              <a:rPr lang="zh-CN" altLang="en-US" dirty="0"/>
              <a:t>人机交互界面测试－</a:t>
            </a:r>
            <a:r>
              <a:rPr lang="zh-CN" altLang="en-US" dirty="0">
                <a:ea typeface="楷体_GB2312"/>
                <a:cs typeface="楷体_GB2312"/>
              </a:rPr>
              <a:t>基本方法</a:t>
            </a:r>
          </a:p>
        </p:txBody>
      </p:sp>
      <p:sp>
        <p:nvSpPr>
          <p:cNvPr id="299011" name="Rectangle 3"/>
          <p:cNvSpPr>
            <a:spLocks noGrp="1" noChangeArrowheads="1"/>
          </p:cNvSpPr>
          <p:nvPr>
            <p:ph idx="1"/>
          </p:nvPr>
        </p:nvSpPr>
        <p:spPr>
          <a:xfrm>
            <a:off x="468313" y="1319578"/>
            <a:ext cx="8229600" cy="4525476"/>
          </a:xfrm>
        </p:spPr>
        <p:txBody>
          <a:bodyPr/>
          <a:lstStyle/>
          <a:p>
            <a:r>
              <a:rPr lang="zh-CN" altLang="en-US" sz="2400"/>
              <a:t>操作和显示</a:t>
            </a:r>
            <a:r>
              <a:rPr lang="zh-CN" altLang="en-GB" sz="2400"/>
              <a:t>界面及界面风格与需求规格说明中要求的一致性和符合性（正确性、有效性） </a:t>
            </a:r>
          </a:p>
          <a:p>
            <a:r>
              <a:rPr lang="zh-CN" altLang="en-GB" sz="2400"/>
              <a:t>以非常规操作、误操作快速操作来检验人机界面的可靠性 </a:t>
            </a:r>
          </a:p>
          <a:p>
            <a:r>
              <a:rPr lang="zh-CN" altLang="en-GB" sz="2400"/>
              <a:t>对错误命令或非法数据输入的检测能力与提示情况（强壮性） </a:t>
            </a:r>
          </a:p>
          <a:p>
            <a:r>
              <a:rPr lang="zh-CN" altLang="en-GB" sz="2400"/>
              <a:t>对错误操作流程的检测与提示 </a:t>
            </a:r>
          </a:p>
          <a:p>
            <a:r>
              <a:rPr lang="zh-CN" altLang="en-GB" sz="2400"/>
              <a:t>对照用户或操作手册逐条进行操作和观察 </a:t>
            </a:r>
            <a:endParaRPr lang="zh-CN" altLang="en-US" sz="2400"/>
          </a:p>
        </p:txBody>
      </p:sp>
    </p:spTree>
    <p:extLst>
      <p:ext uri="{BB962C8B-B14F-4D97-AF65-F5344CB8AC3E}">
        <p14:creationId xmlns:p14="http://schemas.microsoft.com/office/powerpoint/2010/main" val="23891475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468313" y="359500"/>
            <a:ext cx="8229600" cy="862801"/>
          </a:xfrm>
        </p:spPr>
        <p:txBody>
          <a:bodyPr/>
          <a:lstStyle/>
          <a:p>
            <a:pPr algn="just"/>
            <a:r>
              <a:rPr lang="zh-CN" altLang="en-US" dirty="0"/>
              <a:t>人机交互界面测试－</a:t>
            </a:r>
            <a:r>
              <a:rPr lang="zh-CN" altLang="en-US" dirty="0">
                <a:ea typeface="楷体_GB2312"/>
                <a:cs typeface="楷体_GB2312"/>
              </a:rPr>
              <a:t>典型案例</a:t>
            </a:r>
          </a:p>
        </p:txBody>
      </p:sp>
      <p:sp>
        <p:nvSpPr>
          <p:cNvPr id="300035" name="Rectangle 3"/>
          <p:cNvSpPr>
            <a:spLocks noGrp="1" noChangeArrowheads="1"/>
          </p:cNvSpPr>
          <p:nvPr>
            <p:ph idx="1"/>
          </p:nvPr>
        </p:nvSpPr>
        <p:spPr>
          <a:xfrm>
            <a:off x="468313" y="1319578"/>
            <a:ext cx="8229600" cy="4525476"/>
          </a:xfrm>
        </p:spPr>
        <p:txBody>
          <a:bodyPr/>
          <a:lstStyle/>
          <a:p>
            <a:r>
              <a:rPr lang="zh-CN" altLang="en-US" dirty="0"/>
              <a:t>办公自动化系统</a:t>
            </a:r>
            <a:endParaRPr lang="en-US" altLang="zh-CN" dirty="0"/>
          </a:p>
          <a:p>
            <a:r>
              <a:rPr lang="zh-CN" altLang="en-US" dirty="0"/>
              <a:t>指挥控制系统</a:t>
            </a:r>
            <a:endParaRPr lang="en-US" altLang="zh-CN" dirty="0"/>
          </a:p>
          <a:p>
            <a:r>
              <a:rPr lang="zh-CN" altLang="en-US" dirty="0"/>
              <a:t>电子游戏</a:t>
            </a:r>
          </a:p>
        </p:txBody>
      </p:sp>
    </p:spTree>
    <p:extLst>
      <p:ext uri="{BB962C8B-B14F-4D97-AF65-F5344CB8AC3E}">
        <p14:creationId xmlns:p14="http://schemas.microsoft.com/office/powerpoint/2010/main" val="19818025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a:xfrm>
            <a:off x="468313" y="359500"/>
            <a:ext cx="8229600" cy="862801"/>
          </a:xfrm>
        </p:spPr>
        <p:txBody>
          <a:bodyPr/>
          <a:lstStyle/>
          <a:p>
            <a:pPr algn="just"/>
            <a:r>
              <a:rPr lang="zh-CN" altLang="en-US" dirty="0"/>
              <a:t>人机交互界面测试－</a:t>
            </a:r>
            <a:r>
              <a:rPr lang="zh-CN" altLang="en-US" dirty="0">
                <a:ea typeface="楷体_GB2312"/>
                <a:cs typeface="楷体_GB2312"/>
              </a:rPr>
              <a:t>盲点</a:t>
            </a:r>
          </a:p>
        </p:txBody>
      </p:sp>
      <p:sp>
        <p:nvSpPr>
          <p:cNvPr id="301059" name="内容占位符 1"/>
          <p:cNvSpPr>
            <a:spLocks noGrp="1"/>
          </p:cNvSpPr>
          <p:nvPr>
            <p:ph idx="1"/>
          </p:nvPr>
        </p:nvSpPr>
        <p:spPr>
          <a:xfrm>
            <a:off x="468313" y="1319578"/>
            <a:ext cx="8229600" cy="4525476"/>
          </a:xfrm>
        </p:spPr>
        <p:txBody>
          <a:bodyPr/>
          <a:lstStyle/>
          <a:p>
            <a:r>
              <a:rPr lang="zh-CN" altLang="en-US"/>
              <a:t>需求或设计上的错误</a:t>
            </a:r>
            <a:endParaRPr lang="en-US" altLang="zh-CN"/>
          </a:p>
          <a:p>
            <a:r>
              <a:rPr lang="zh-CN" altLang="en-US"/>
              <a:t>用户习惯的不同</a:t>
            </a:r>
          </a:p>
        </p:txBody>
      </p:sp>
    </p:spTree>
    <p:extLst>
      <p:ext uri="{BB962C8B-B14F-4D97-AF65-F5344CB8AC3E}">
        <p14:creationId xmlns:p14="http://schemas.microsoft.com/office/powerpoint/2010/main" val="30197552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descr="Large confetti"/>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介绍</a:t>
            </a:r>
            <a:r>
              <a:rPr lang="zh-CN" altLang="en-US" dirty="0"/>
              <a:t>－</a:t>
            </a:r>
            <a:r>
              <a:rPr lang="zh-CN" altLang="en-US" dirty="0">
                <a:ea typeface="楷体_GB2312"/>
                <a:cs typeface="楷体_GB2312"/>
              </a:rPr>
              <a:t>想定测试</a:t>
            </a:r>
          </a:p>
        </p:txBody>
      </p:sp>
      <p:sp>
        <p:nvSpPr>
          <p:cNvPr id="696323" name="Rectangle 3"/>
          <p:cNvSpPr>
            <a:spLocks noGrp="1" noChangeArrowheads="1"/>
          </p:cNvSpPr>
          <p:nvPr>
            <p:ph idx="1"/>
          </p:nvPr>
        </p:nvSpPr>
        <p:spPr>
          <a:xfrm>
            <a:off x="468313" y="1319578"/>
            <a:ext cx="8229600" cy="4525476"/>
          </a:xfrm>
        </p:spPr>
        <p:txBody>
          <a:bodyPr/>
          <a:lstStyle/>
          <a:p>
            <a:pPr>
              <a:defRPr/>
            </a:pPr>
            <a:r>
              <a:rPr lang="zh-CN" altLang="en-US" dirty="0"/>
              <a:t>基本目标</a:t>
            </a:r>
          </a:p>
          <a:p>
            <a:pPr lvl="1">
              <a:defRPr/>
            </a:pPr>
            <a:r>
              <a:rPr lang="zh-CN" altLang="en-US" sz="2400" dirty="0">
                <a:solidFill>
                  <a:srgbClr val="000000"/>
                </a:solidFill>
              </a:rPr>
              <a:t>挑战反映实际使用的用例</a:t>
            </a:r>
          </a:p>
          <a:p>
            <a:pPr>
              <a:defRPr/>
            </a:pPr>
            <a:r>
              <a:rPr lang="zh-CN" altLang="en-US" dirty="0"/>
              <a:t>典型案例</a:t>
            </a:r>
          </a:p>
          <a:p>
            <a:pPr lvl="1">
              <a:defRPr/>
            </a:pPr>
            <a:r>
              <a:rPr lang="zh-CN" altLang="en-US" sz="2400" dirty="0">
                <a:solidFill>
                  <a:srgbClr val="000000"/>
                </a:solidFill>
              </a:rPr>
              <a:t>用商业规则、客户数据、竞争者的结果来评价产品</a:t>
            </a:r>
          </a:p>
        </p:txBody>
      </p:sp>
      <p:sp>
        <p:nvSpPr>
          <p:cNvPr id="28058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62C3A05E-36A1-447C-9126-5A93EE65BF42}" type="slidenum">
              <a:rPr lang="en-US" altLang="zh-CN" sz="1800" b="0">
                <a:latin typeface="Times New Roman" pitchFamily="18" charset="0"/>
                <a:ea typeface="微软雅黑" pitchFamily="34" charset="-122"/>
              </a:rPr>
              <a:pPr algn="l" eaLnBrk="0" hangingPunct="0">
                <a:spcBef>
                  <a:spcPct val="0"/>
                </a:spcBef>
                <a:buFontTx/>
                <a:buNone/>
              </a:pPr>
              <a:t>85</a:t>
            </a:fld>
            <a:endParaRPr lang="en-US" altLang="zh-CN" sz="1800" b="0">
              <a:latin typeface="Times New Roman" pitchFamily="18" charset="0"/>
              <a:ea typeface="微软雅黑" pitchFamily="34" charset="-122"/>
            </a:endParaRPr>
          </a:p>
        </p:txBody>
      </p:sp>
    </p:spTree>
    <p:extLst>
      <p:ext uri="{BB962C8B-B14F-4D97-AF65-F5344CB8AC3E}">
        <p14:creationId xmlns:p14="http://schemas.microsoft.com/office/powerpoint/2010/main" val="3930689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descr="Large confetti"/>
          <p:cNvSpPr>
            <a:spLocks noGrp="1" noChangeArrowheads="1"/>
          </p:cNvSpPr>
          <p:nvPr>
            <p:ph type="title"/>
          </p:nvPr>
        </p:nvSpPr>
        <p:spPr>
          <a:xfrm>
            <a:off x="468313" y="359500"/>
            <a:ext cx="8229600" cy="862801"/>
          </a:xfrm>
        </p:spPr>
        <p:txBody>
          <a:bodyPr/>
          <a:lstStyle/>
          <a:p>
            <a:pPr algn="just"/>
            <a:r>
              <a:rPr lang="zh-CN" altLang="en-US" dirty="0">
                <a:ea typeface="楷体_GB2312"/>
                <a:cs typeface="楷体_GB2312"/>
              </a:rPr>
              <a:t>想定测试</a:t>
            </a:r>
          </a:p>
        </p:txBody>
      </p:sp>
      <p:sp>
        <p:nvSpPr>
          <p:cNvPr id="697347" name="Rectangle 3"/>
          <p:cNvSpPr>
            <a:spLocks noGrp="1" noChangeArrowheads="1"/>
          </p:cNvSpPr>
          <p:nvPr>
            <p:ph idx="1"/>
          </p:nvPr>
        </p:nvSpPr>
        <p:spPr>
          <a:xfrm>
            <a:off x="468313" y="1319578"/>
            <a:ext cx="8229600" cy="4525476"/>
          </a:xfrm>
        </p:spPr>
        <p:txBody>
          <a:bodyPr/>
          <a:lstStyle/>
          <a:p>
            <a:pPr>
              <a:spcBef>
                <a:spcPct val="15000"/>
              </a:spcBef>
              <a:defRPr/>
            </a:pPr>
            <a:r>
              <a:rPr lang="zh-CN" altLang="en-US" dirty="0"/>
              <a:t>能力</a:t>
            </a:r>
          </a:p>
          <a:p>
            <a:pPr lvl="1">
              <a:spcBef>
                <a:spcPct val="15000"/>
              </a:spcBef>
              <a:defRPr/>
            </a:pPr>
            <a:r>
              <a:rPr lang="zh-CN" altLang="en-US" sz="2400" dirty="0">
                <a:solidFill>
                  <a:srgbClr val="000000"/>
                </a:solidFill>
              </a:rPr>
              <a:t>复杂</a:t>
            </a:r>
            <a:r>
              <a:rPr lang="en-US" altLang="zh-CN" sz="2400" dirty="0">
                <a:solidFill>
                  <a:srgbClr val="000000"/>
                </a:solidFill>
              </a:rPr>
              <a:t>,</a:t>
            </a:r>
            <a:r>
              <a:rPr lang="zh-CN" altLang="en-US" sz="2400" dirty="0">
                <a:solidFill>
                  <a:srgbClr val="000000"/>
                </a:solidFill>
              </a:rPr>
              <a:t>现实的事件，可以处理复杂的不易于模型化的情况</a:t>
            </a:r>
          </a:p>
          <a:p>
            <a:pPr>
              <a:spcBef>
                <a:spcPct val="15000"/>
              </a:spcBef>
              <a:defRPr/>
            </a:pPr>
            <a:r>
              <a:rPr lang="zh-CN" altLang="en-US" dirty="0"/>
              <a:t>盲点</a:t>
            </a:r>
          </a:p>
          <a:p>
            <a:pPr lvl="1">
              <a:spcBef>
                <a:spcPct val="15000"/>
              </a:spcBef>
              <a:defRPr/>
            </a:pPr>
            <a:r>
              <a:rPr lang="zh-CN" altLang="en-US" sz="2400" dirty="0">
                <a:solidFill>
                  <a:srgbClr val="000000"/>
                </a:solidFill>
              </a:rPr>
              <a:t>单个功能失效会降低这个方法的效率</a:t>
            </a:r>
          </a:p>
          <a:p>
            <a:pPr lvl="1">
              <a:spcBef>
                <a:spcPct val="15000"/>
              </a:spcBef>
              <a:defRPr/>
            </a:pPr>
            <a:r>
              <a:rPr lang="zh-CN" altLang="en-US" sz="2400" dirty="0">
                <a:solidFill>
                  <a:srgbClr val="000000"/>
                </a:solidFill>
              </a:rPr>
              <a:t>必须仔细考虑以便达到好的覆盖</a:t>
            </a:r>
          </a:p>
        </p:txBody>
      </p:sp>
      <p:sp>
        <p:nvSpPr>
          <p:cNvPr id="281604"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456938C6-5BA3-442D-881F-B771E29A3026}" type="slidenum">
              <a:rPr lang="en-US" altLang="zh-CN" sz="1800" b="0">
                <a:latin typeface="Times New Roman" pitchFamily="18" charset="0"/>
                <a:ea typeface="微软雅黑" pitchFamily="34" charset="-122"/>
              </a:rPr>
              <a:pPr algn="l" eaLnBrk="0" hangingPunct="0">
                <a:spcBef>
                  <a:spcPct val="0"/>
                </a:spcBef>
                <a:buFontTx/>
                <a:buNone/>
              </a:pPr>
              <a:t>86</a:t>
            </a:fld>
            <a:endParaRPr lang="en-US" altLang="zh-CN" sz="1800" b="0">
              <a:latin typeface="Times New Roman" pitchFamily="18" charset="0"/>
              <a:ea typeface="微软雅黑" pitchFamily="34" charset="-122"/>
            </a:endParaRPr>
          </a:p>
        </p:txBody>
      </p:sp>
    </p:spTree>
    <p:extLst>
      <p:ext uri="{BB962C8B-B14F-4D97-AF65-F5344CB8AC3E}">
        <p14:creationId xmlns:p14="http://schemas.microsoft.com/office/powerpoint/2010/main" val="37869137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descr="Large confetti"/>
          <p:cNvSpPr>
            <a:spLocks noGrp="1" noChangeArrowheads="1"/>
          </p:cNvSpPr>
          <p:nvPr>
            <p:ph type="title"/>
          </p:nvPr>
        </p:nvSpPr>
        <p:spPr>
          <a:xfrm>
            <a:off x="468313" y="359500"/>
            <a:ext cx="8229600" cy="862801"/>
          </a:xfrm>
        </p:spPr>
        <p:txBody>
          <a:bodyPr/>
          <a:lstStyle/>
          <a:p>
            <a:pPr algn="just"/>
            <a:r>
              <a:rPr lang="zh-CN" altLang="en-US" dirty="0">
                <a:ea typeface="楷体_GB2312"/>
                <a:cs typeface="楷体_GB2312"/>
              </a:rPr>
              <a:t>想定测试</a:t>
            </a:r>
          </a:p>
        </p:txBody>
      </p:sp>
      <p:sp>
        <p:nvSpPr>
          <p:cNvPr id="698371" name="Rectangle 3"/>
          <p:cNvSpPr>
            <a:spLocks noGrp="1" noChangeArrowheads="1"/>
          </p:cNvSpPr>
          <p:nvPr>
            <p:ph idx="1"/>
          </p:nvPr>
        </p:nvSpPr>
        <p:spPr>
          <a:xfrm>
            <a:off x="468313" y="1319578"/>
            <a:ext cx="8229600" cy="4525476"/>
          </a:xfrm>
        </p:spPr>
        <p:txBody>
          <a:bodyPr/>
          <a:lstStyle/>
          <a:p>
            <a:pPr>
              <a:defRPr/>
            </a:pPr>
            <a:r>
              <a:rPr lang="zh-CN" altLang="en-US" dirty="0"/>
              <a:t>理想的想定测试的特征</a:t>
            </a:r>
          </a:p>
          <a:p>
            <a:pPr lvl="1">
              <a:defRPr/>
            </a:pPr>
            <a:r>
              <a:rPr lang="zh-CN" altLang="en-US" sz="2400" dirty="0">
                <a:solidFill>
                  <a:srgbClr val="000000"/>
                </a:solidFill>
              </a:rPr>
              <a:t>现实</a:t>
            </a:r>
            <a:r>
              <a:rPr lang="en-US" altLang="zh-CN" sz="2400" dirty="0">
                <a:solidFill>
                  <a:srgbClr val="000000"/>
                </a:solidFill>
              </a:rPr>
              <a:t>(</a:t>
            </a:r>
            <a:r>
              <a:rPr lang="zh-CN" altLang="en-US" sz="2400" dirty="0">
                <a:solidFill>
                  <a:srgbClr val="000000"/>
                </a:solidFill>
              </a:rPr>
              <a:t>来源于实际的客户或竞争对手的情景</a:t>
            </a:r>
            <a:r>
              <a:rPr lang="en-US" altLang="zh-CN" sz="2400" dirty="0">
                <a:solidFill>
                  <a:srgbClr val="000000"/>
                </a:solidFill>
              </a:rPr>
              <a:t>)</a:t>
            </a:r>
          </a:p>
          <a:p>
            <a:pPr lvl="1">
              <a:defRPr/>
            </a:pPr>
            <a:r>
              <a:rPr lang="zh-CN" altLang="en-US" sz="2400" dirty="0">
                <a:solidFill>
                  <a:srgbClr val="000000"/>
                </a:solidFill>
              </a:rPr>
              <a:t>测试是失败还是通过，很明确</a:t>
            </a:r>
          </a:p>
          <a:p>
            <a:pPr lvl="1">
              <a:defRPr/>
            </a:pPr>
            <a:r>
              <a:rPr lang="zh-CN" altLang="en-US" sz="2400" dirty="0">
                <a:solidFill>
                  <a:srgbClr val="000000"/>
                </a:solidFill>
              </a:rPr>
              <a:t>复杂</a:t>
            </a:r>
            <a:r>
              <a:rPr lang="en-US" altLang="zh-CN" sz="2400" dirty="0">
                <a:solidFill>
                  <a:srgbClr val="000000"/>
                </a:solidFill>
              </a:rPr>
              <a:t>, </a:t>
            </a:r>
            <a:r>
              <a:rPr lang="zh-CN" altLang="en-US" sz="2400" dirty="0">
                <a:solidFill>
                  <a:srgbClr val="000000"/>
                </a:solidFill>
              </a:rPr>
              <a:t>它使用了多个特征和功能</a:t>
            </a:r>
          </a:p>
        </p:txBody>
      </p:sp>
      <p:sp>
        <p:nvSpPr>
          <p:cNvPr id="282628"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B9144645-C28E-4B10-A184-838E98F9493C}" type="slidenum">
              <a:rPr lang="en-US" altLang="zh-CN" sz="1800" b="0">
                <a:latin typeface="Times New Roman" pitchFamily="18" charset="0"/>
                <a:ea typeface="微软雅黑" pitchFamily="34" charset="-122"/>
              </a:rPr>
              <a:pPr algn="l" eaLnBrk="0" hangingPunct="0">
                <a:spcBef>
                  <a:spcPct val="0"/>
                </a:spcBef>
                <a:buFontTx/>
                <a:buNone/>
              </a:pPr>
              <a:t>87</a:t>
            </a:fld>
            <a:endParaRPr lang="en-US" altLang="zh-CN" sz="1800" b="0">
              <a:latin typeface="Times New Roman" pitchFamily="18" charset="0"/>
              <a:ea typeface="微软雅黑" pitchFamily="34" charset="-122"/>
            </a:endParaRPr>
          </a:p>
        </p:txBody>
      </p:sp>
    </p:spTree>
    <p:extLst>
      <p:ext uri="{BB962C8B-B14F-4D97-AF65-F5344CB8AC3E}">
        <p14:creationId xmlns:p14="http://schemas.microsoft.com/office/powerpoint/2010/main" val="28265593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descr="Large confetti"/>
          <p:cNvSpPr>
            <a:spLocks noGrp="1" noChangeArrowheads="1"/>
          </p:cNvSpPr>
          <p:nvPr>
            <p:ph type="title"/>
          </p:nvPr>
        </p:nvSpPr>
        <p:spPr>
          <a:xfrm>
            <a:off x="468313" y="359500"/>
            <a:ext cx="8229600" cy="862801"/>
          </a:xfrm>
        </p:spPr>
        <p:txBody>
          <a:bodyPr/>
          <a:lstStyle/>
          <a:p>
            <a:pPr algn="just"/>
            <a:r>
              <a:rPr lang="zh-CN" altLang="en-US" dirty="0">
                <a:ea typeface="楷体_GB2312"/>
                <a:cs typeface="楷体_GB2312"/>
              </a:rPr>
              <a:t>域测试</a:t>
            </a:r>
          </a:p>
        </p:txBody>
      </p:sp>
      <p:sp>
        <p:nvSpPr>
          <p:cNvPr id="687107" name="Rectangle 3"/>
          <p:cNvSpPr>
            <a:spLocks noGrp="1" noChangeArrowheads="1"/>
          </p:cNvSpPr>
          <p:nvPr>
            <p:ph idx="1"/>
          </p:nvPr>
        </p:nvSpPr>
        <p:spPr>
          <a:xfrm>
            <a:off x="468313" y="1319578"/>
            <a:ext cx="8229600" cy="4525476"/>
          </a:xfrm>
        </p:spPr>
        <p:txBody>
          <a:bodyPr>
            <a:noAutofit/>
          </a:bodyPr>
          <a:lstStyle/>
          <a:p>
            <a:pPr>
              <a:lnSpc>
                <a:spcPct val="90000"/>
              </a:lnSpc>
              <a:defRPr/>
            </a:pPr>
            <a:r>
              <a:rPr lang="zh-CN" altLang="en-US" sz="2400" b="1" dirty="0"/>
              <a:t>基本目标</a:t>
            </a:r>
          </a:p>
          <a:p>
            <a:pPr lvl="1">
              <a:lnSpc>
                <a:spcPct val="90000"/>
              </a:lnSpc>
              <a:defRPr/>
            </a:pPr>
            <a:r>
              <a:rPr lang="zh-CN" altLang="en-US" sz="2400" dirty="0">
                <a:solidFill>
                  <a:srgbClr val="000000"/>
                </a:solidFill>
              </a:rPr>
              <a:t>所面对的问题需要太多的测试用例。采取分层抽样的策略，合理的从巨大的总量中选取较少的测试用例。</a:t>
            </a:r>
          </a:p>
          <a:p>
            <a:pPr>
              <a:lnSpc>
                <a:spcPct val="90000"/>
              </a:lnSpc>
              <a:defRPr/>
            </a:pPr>
            <a:r>
              <a:rPr lang="zh-CN" altLang="en-US" sz="2400" b="1" dirty="0"/>
              <a:t>能力</a:t>
            </a:r>
          </a:p>
          <a:p>
            <a:pPr lvl="1">
              <a:lnSpc>
                <a:spcPct val="90000"/>
              </a:lnSpc>
              <a:defRPr/>
            </a:pPr>
            <a:r>
              <a:rPr lang="zh-CN" altLang="en-US" sz="2400" dirty="0">
                <a:solidFill>
                  <a:srgbClr val="000000"/>
                </a:solidFill>
              </a:rPr>
              <a:t>用相对小的测试集高概率的发现问题</a:t>
            </a:r>
          </a:p>
          <a:p>
            <a:pPr lvl="1">
              <a:lnSpc>
                <a:spcPct val="90000"/>
              </a:lnSpc>
              <a:defRPr/>
            </a:pPr>
            <a:r>
              <a:rPr lang="zh-CN" altLang="en-US" sz="2400" dirty="0">
                <a:solidFill>
                  <a:srgbClr val="000000"/>
                </a:solidFill>
              </a:rPr>
              <a:t>直观清晰的方法</a:t>
            </a:r>
            <a:r>
              <a:rPr lang="en-US" altLang="zh-CN" sz="2400" dirty="0">
                <a:solidFill>
                  <a:srgbClr val="000000"/>
                </a:solidFill>
              </a:rPr>
              <a:t>, </a:t>
            </a:r>
            <a:r>
              <a:rPr lang="zh-CN" altLang="en-US" sz="2400" dirty="0">
                <a:solidFill>
                  <a:srgbClr val="000000"/>
                </a:solidFill>
              </a:rPr>
              <a:t>良好的归纳</a:t>
            </a:r>
          </a:p>
          <a:p>
            <a:pPr>
              <a:lnSpc>
                <a:spcPct val="90000"/>
              </a:lnSpc>
              <a:defRPr/>
            </a:pPr>
            <a:r>
              <a:rPr lang="zh-CN" altLang="en-US" sz="2400" b="1" dirty="0"/>
              <a:t>典型案例</a:t>
            </a:r>
          </a:p>
          <a:p>
            <a:pPr lvl="1">
              <a:lnSpc>
                <a:spcPct val="90000"/>
              </a:lnSpc>
              <a:defRPr/>
            </a:pPr>
            <a:r>
              <a:rPr lang="zh-CN" altLang="en-US" sz="2400" dirty="0">
                <a:solidFill>
                  <a:srgbClr val="000000"/>
                </a:solidFill>
              </a:rPr>
              <a:t>简单数值字段的等价类划分</a:t>
            </a:r>
          </a:p>
          <a:p>
            <a:pPr lvl="1">
              <a:lnSpc>
                <a:spcPct val="90000"/>
              </a:lnSpc>
              <a:defRPr/>
            </a:pPr>
            <a:r>
              <a:rPr lang="zh-CN" altLang="en-US" sz="2400" dirty="0">
                <a:solidFill>
                  <a:srgbClr val="000000"/>
                </a:solidFill>
              </a:rPr>
              <a:t>打印机兼容性测试</a:t>
            </a:r>
          </a:p>
          <a:p>
            <a:pPr>
              <a:lnSpc>
                <a:spcPct val="90000"/>
              </a:lnSpc>
              <a:defRPr/>
            </a:pPr>
            <a:r>
              <a:rPr lang="zh-CN" altLang="en-US" sz="2400" b="1" dirty="0"/>
              <a:t>盲点</a:t>
            </a:r>
          </a:p>
          <a:p>
            <a:pPr lvl="1">
              <a:lnSpc>
                <a:spcPct val="90000"/>
              </a:lnSpc>
              <a:defRPr/>
            </a:pPr>
            <a:r>
              <a:rPr lang="zh-CN" altLang="en-US" sz="2400" dirty="0">
                <a:solidFill>
                  <a:srgbClr val="000000"/>
                </a:solidFill>
              </a:rPr>
              <a:t>不在边界值或明显特别情况的缺陷</a:t>
            </a:r>
          </a:p>
          <a:p>
            <a:pPr lvl="1">
              <a:lnSpc>
                <a:spcPct val="90000"/>
              </a:lnSpc>
              <a:defRPr/>
            </a:pPr>
            <a:r>
              <a:rPr lang="zh-CN" altLang="en-US" sz="2400" dirty="0">
                <a:solidFill>
                  <a:srgbClr val="000000"/>
                </a:solidFill>
              </a:rPr>
              <a:t>实际的域经常是未知的</a:t>
            </a:r>
          </a:p>
        </p:txBody>
      </p:sp>
      <p:sp>
        <p:nvSpPr>
          <p:cNvPr id="283652"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33C74E8C-82A4-46B7-8161-860B1CE145FB}" type="slidenum">
              <a:rPr lang="en-US" altLang="zh-CN" sz="1800" b="0">
                <a:latin typeface="Times New Roman" pitchFamily="18" charset="0"/>
                <a:ea typeface="微软雅黑" pitchFamily="34" charset="-122"/>
              </a:rPr>
              <a:pPr algn="l" eaLnBrk="0" hangingPunct="0">
                <a:spcBef>
                  <a:spcPct val="0"/>
                </a:spcBef>
                <a:buFontTx/>
                <a:buNone/>
              </a:pPr>
              <a:t>88</a:t>
            </a:fld>
            <a:endParaRPr lang="en-US" altLang="zh-CN" sz="1800" b="0">
              <a:latin typeface="Times New Roman" pitchFamily="18" charset="0"/>
              <a:ea typeface="微软雅黑" pitchFamily="34" charset="-122"/>
            </a:endParaRPr>
          </a:p>
        </p:txBody>
      </p:sp>
    </p:spTree>
    <p:extLst>
      <p:ext uri="{BB962C8B-B14F-4D97-AF65-F5344CB8AC3E}">
        <p14:creationId xmlns:p14="http://schemas.microsoft.com/office/powerpoint/2010/main" val="7667823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descr="Large confetti"/>
          <p:cNvSpPr>
            <a:spLocks noGrp="1" noChangeArrowheads="1"/>
          </p:cNvSpPr>
          <p:nvPr>
            <p:ph type="title"/>
          </p:nvPr>
        </p:nvSpPr>
        <p:spPr>
          <a:xfrm>
            <a:off x="468313" y="359500"/>
            <a:ext cx="8229600" cy="862801"/>
          </a:xfrm>
        </p:spPr>
        <p:txBody>
          <a:bodyPr/>
          <a:lstStyle/>
          <a:p>
            <a:pPr algn="just"/>
            <a:r>
              <a:rPr lang="zh-CN" altLang="en-US" dirty="0">
                <a:ea typeface="楷体_GB2312"/>
                <a:cs typeface="楷体_GB2312"/>
              </a:rPr>
              <a:t>域测试</a:t>
            </a:r>
            <a:endParaRPr lang="zh-CN" altLang="en-US" dirty="0">
              <a:latin typeface="楷体_GB2312"/>
              <a:ea typeface="楷体_GB2312"/>
              <a:cs typeface="楷体_GB2312"/>
            </a:endParaRPr>
          </a:p>
        </p:txBody>
      </p:sp>
      <p:sp>
        <p:nvSpPr>
          <p:cNvPr id="688131" name="Rectangle 3"/>
          <p:cNvSpPr>
            <a:spLocks noGrp="1" noChangeArrowheads="1"/>
          </p:cNvSpPr>
          <p:nvPr>
            <p:ph idx="1"/>
          </p:nvPr>
        </p:nvSpPr>
        <p:spPr>
          <a:xfrm>
            <a:off x="468313" y="1319578"/>
            <a:ext cx="8229600" cy="4525476"/>
          </a:xfrm>
        </p:spPr>
        <p:txBody>
          <a:bodyPr>
            <a:normAutofit/>
          </a:bodyPr>
          <a:lstStyle/>
          <a:p>
            <a:pPr>
              <a:defRPr/>
            </a:pPr>
            <a:r>
              <a:rPr lang="zh-CN" altLang="en-US" dirty="0"/>
              <a:t>一般方法</a:t>
            </a:r>
          </a:p>
          <a:p>
            <a:pPr lvl="1">
              <a:defRPr/>
            </a:pPr>
            <a:r>
              <a:rPr lang="zh-CN" altLang="en-US" sz="2400" dirty="0">
                <a:solidFill>
                  <a:srgbClr val="000000"/>
                </a:solidFill>
              </a:rPr>
              <a:t>将一个字段的可能值的集化分成若干子集</a:t>
            </a:r>
            <a:r>
              <a:rPr lang="en-US" altLang="zh-CN" sz="2400" dirty="0">
                <a:solidFill>
                  <a:srgbClr val="000000"/>
                </a:solidFill>
              </a:rPr>
              <a:t>, </a:t>
            </a:r>
            <a:r>
              <a:rPr lang="zh-CN" altLang="en-US" sz="2400" dirty="0">
                <a:solidFill>
                  <a:srgbClr val="000000"/>
                </a:solidFill>
              </a:rPr>
              <a:t>挑选一些值代表每个子集。</a:t>
            </a:r>
          </a:p>
          <a:p>
            <a:pPr lvl="1">
              <a:defRPr/>
            </a:pPr>
            <a:r>
              <a:rPr lang="zh-CN" altLang="en-US" sz="2400" dirty="0">
                <a:solidFill>
                  <a:srgbClr val="000000"/>
                </a:solidFill>
              </a:rPr>
              <a:t>典型的值就是边界，更为一般的情况</a:t>
            </a:r>
            <a:r>
              <a:rPr lang="en-US" altLang="zh-CN" sz="2400" dirty="0">
                <a:solidFill>
                  <a:srgbClr val="000000"/>
                </a:solidFill>
              </a:rPr>
              <a:t>, </a:t>
            </a:r>
            <a:r>
              <a:rPr lang="zh-CN" altLang="en-US" sz="2400" dirty="0">
                <a:solidFill>
                  <a:srgbClr val="000000"/>
                </a:solidFill>
              </a:rPr>
              <a:t>找到每个子集的“最佳代表”</a:t>
            </a:r>
            <a:r>
              <a:rPr lang="en-US" altLang="zh-CN" sz="2400" dirty="0">
                <a:solidFill>
                  <a:srgbClr val="000000"/>
                </a:solidFill>
              </a:rPr>
              <a:t>, </a:t>
            </a:r>
            <a:r>
              <a:rPr lang="zh-CN" altLang="en-US" sz="2400" dirty="0">
                <a:solidFill>
                  <a:srgbClr val="000000"/>
                </a:solidFill>
              </a:rPr>
              <a:t>并用这些有代表性的值运行测试。</a:t>
            </a:r>
          </a:p>
          <a:p>
            <a:pPr>
              <a:defRPr/>
            </a:pPr>
            <a:r>
              <a:rPr lang="zh-CN" altLang="en-US" dirty="0"/>
              <a:t>更进一步方法</a:t>
            </a:r>
          </a:p>
          <a:p>
            <a:pPr lvl="1">
              <a:defRPr/>
            </a:pPr>
            <a:r>
              <a:rPr lang="zh-CN" altLang="en-US" sz="2400" dirty="0">
                <a:solidFill>
                  <a:srgbClr val="000000"/>
                </a:solidFill>
              </a:rPr>
              <a:t>将几个 “最佳代表”组合进行测试</a:t>
            </a:r>
          </a:p>
          <a:p>
            <a:pPr lvl="1">
              <a:defRPr/>
            </a:pPr>
            <a:r>
              <a:rPr lang="zh-CN" altLang="en-US" sz="2400" dirty="0">
                <a:solidFill>
                  <a:srgbClr val="000000"/>
                </a:solidFill>
              </a:rPr>
              <a:t>一些方法还选择最优化的组合子集</a:t>
            </a:r>
          </a:p>
        </p:txBody>
      </p:sp>
      <p:sp>
        <p:nvSpPr>
          <p:cNvPr id="28467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FA934FCC-6AED-4ABC-8F55-5C96D52061B4}" type="slidenum">
              <a:rPr lang="en-US" altLang="zh-CN" sz="1800" b="0">
                <a:latin typeface="Times New Roman" pitchFamily="18" charset="0"/>
                <a:ea typeface="微软雅黑" pitchFamily="34" charset="-122"/>
              </a:rPr>
              <a:pPr algn="l" eaLnBrk="0" hangingPunct="0">
                <a:spcBef>
                  <a:spcPct val="0"/>
                </a:spcBef>
                <a:buFontTx/>
                <a:buNone/>
              </a:pPr>
              <a:t>89</a:t>
            </a:fld>
            <a:endParaRPr lang="en-US" altLang="zh-CN" sz="1800" b="0">
              <a:latin typeface="Times New Roman" pitchFamily="18" charset="0"/>
              <a:ea typeface="微软雅黑" pitchFamily="34" charset="-122"/>
            </a:endParaRPr>
          </a:p>
        </p:txBody>
      </p:sp>
    </p:spTree>
    <p:extLst>
      <p:ext uri="{BB962C8B-B14F-4D97-AF65-F5344CB8AC3E}">
        <p14:creationId xmlns:p14="http://schemas.microsoft.com/office/powerpoint/2010/main" val="34253819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探索性测试</a:t>
            </a:r>
            <a:r>
              <a:rPr lang="zh-CN" altLang="en-US" dirty="0"/>
              <a:t>－</a:t>
            </a:r>
            <a:r>
              <a:rPr lang="zh-CN" altLang="en-US" dirty="0">
                <a:ea typeface="楷体_GB2312"/>
                <a:cs typeface="楷体_GB2312"/>
              </a:rPr>
              <a:t>基本目标</a:t>
            </a:r>
          </a:p>
        </p:txBody>
      </p:sp>
      <p:sp>
        <p:nvSpPr>
          <p:cNvPr id="316419" name="Rectangle 3"/>
          <p:cNvSpPr>
            <a:spLocks noGrp="1" noChangeArrowheads="1"/>
          </p:cNvSpPr>
          <p:nvPr>
            <p:ph idx="1"/>
          </p:nvPr>
        </p:nvSpPr>
        <p:spPr>
          <a:xfrm>
            <a:off x="468313" y="1319578"/>
            <a:ext cx="8229600" cy="4525476"/>
          </a:xfrm>
        </p:spPr>
        <p:txBody>
          <a:bodyPr/>
          <a:lstStyle/>
          <a:p>
            <a:r>
              <a:rPr lang="zh-CN" altLang="en-US"/>
              <a:t>测试人员得到的软件没有文档或者很迟才会有文档</a:t>
            </a:r>
          </a:p>
          <a:p>
            <a:r>
              <a:rPr lang="zh-CN" altLang="en-US"/>
              <a:t>测试人员必须一边了解产品，一边设计测试用例，以便运行测试寻找缺陷。</a:t>
            </a:r>
          </a:p>
        </p:txBody>
      </p:sp>
    </p:spTree>
    <p:extLst>
      <p:ext uri="{BB962C8B-B14F-4D97-AF65-F5344CB8AC3E}">
        <p14:creationId xmlns:p14="http://schemas.microsoft.com/office/powerpoint/2010/main" val="34513894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探索性测试</a:t>
            </a:r>
            <a:r>
              <a:rPr lang="zh-CN" altLang="en-US" dirty="0"/>
              <a:t>－</a:t>
            </a:r>
            <a:r>
              <a:rPr lang="zh-CN" altLang="en-US" dirty="0">
                <a:ea typeface="楷体_GB2312"/>
                <a:cs typeface="楷体_GB2312"/>
              </a:rPr>
              <a:t>能力</a:t>
            </a:r>
          </a:p>
        </p:txBody>
      </p:sp>
      <p:sp>
        <p:nvSpPr>
          <p:cNvPr id="317443" name="Rectangle 3"/>
          <p:cNvSpPr>
            <a:spLocks noGrp="1" noChangeArrowheads="1"/>
          </p:cNvSpPr>
          <p:nvPr>
            <p:ph idx="1"/>
          </p:nvPr>
        </p:nvSpPr>
        <p:spPr>
          <a:xfrm>
            <a:off x="468313" y="1319578"/>
            <a:ext cx="8229600" cy="4525476"/>
          </a:xfrm>
        </p:spPr>
        <p:txBody>
          <a:bodyPr/>
          <a:lstStyle/>
          <a:p>
            <a:r>
              <a:rPr lang="zh-CN" altLang="en-US"/>
              <a:t>关注客户</a:t>
            </a:r>
            <a:r>
              <a:rPr lang="en-US" altLang="zh-CN"/>
              <a:t>, </a:t>
            </a:r>
            <a:r>
              <a:rPr lang="zh-CN" altLang="en-US"/>
              <a:t>关注风险</a:t>
            </a:r>
          </a:p>
          <a:p>
            <a:r>
              <a:rPr lang="zh-CN" altLang="en-US"/>
              <a:t>发挥每个测试人员的能力优势</a:t>
            </a:r>
          </a:p>
          <a:p>
            <a:r>
              <a:rPr lang="zh-CN" altLang="en-US"/>
              <a:t>快速响应环境的变化</a:t>
            </a:r>
          </a:p>
          <a:p>
            <a:r>
              <a:rPr lang="zh-CN" altLang="en-US"/>
              <a:t>好管理</a:t>
            </a:r>
            <a:r>
              <a:rPr lang="en-US" altLang="zh-CN"/>
              <a:t>, </a:t>
            </a:r>
            <a:r>
              <a:rPr lang="zh-CN" altLang="en-US"/>
              <a:t>避免重复的分析和测试</a:t>
            </a:r>
          </a:p>
          <a:p>
            <a:r>
              <a:rPr lang="zh-CN" altLang="en-US"/>
              <a:t>高的缺陷发现率</a:t>
            </a:r>
          </a:p>
        </p:txBody>
      </p:sp>
    </p:spTree>
    <p:extLst>
      <p:ext uri="{BB962C8B-B14F-4D97-AF65-F5344CB8AC3E}">
        <p14:creationId xmlns:p14="http://schemas.microsoft.com/office/powerpoint/2010/main" val="5302159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探索性测试</a:t>
            </a:r>
            <a:r>
              <a:rPr lang="zh-CN" altLang="en-US" dirty="0"/>
              <a:t>－</a:t>
            </a:r>
            <a:r>
              <a:rPr lang="zh-CN" altLang="en-US" dirty="0">
                <a:ea typeface="楷体_GB2312"/>
                <a:cs typeface="楷体_GB2312"/>
              </a:rPr>
              <a:t>基本方法</a:t>
            </a:r>
          </a:p>
        </p:txBody>
      </p:sp>
      <p:sp>
        <p:nvSpPr>
          <p:cNvPr id="318467" name="Rectangle 3"/>
          <p:cNvSpPr>
            <a:spLocks noGrp="1" noChangeArrowheads="1"/>
          </p:cNvSpPr>
          <p:nvPr>
            <p:ph idx="1"/>
          </p:nvPr>
        </p:nvSpPr>
        <p:spPr>
          <a:xfrm>
            <a:off x="468313" y="1319578"/>
            <a:ext cx="8229600" cy="4525476"/>
          </a:xfrm>
        </p:spPr>
        <p:txBody>
          <a:bodyPr/>
          <a:lstStyle/>
          <a:p>
            <a:r>
              <a:rPr lang="zh-CN" altLang="en-US"/>
              <a:t>根据经验和相关知识列出测试要点</a:t>
            </a:r>
          </a:p>
          <a:p>
            <a:r>
              <a:rPr lang="zh-CN" altLang="en-US"/>
              <a:t>尝试执行测试要点中所列的测试</a:t>
            </a:r>
          </a:p>
          <a:p>
            <a:r>
              <a:rPr lang="zh-CN" altLang="en-US"/>
              <a:t>根据测试结果启发继续测试的思路</a:t>
            </a:r>
          </a:p>
          <a:p>
            <a:r>
              <a:rPr lang="zh-CN" altLang="en-US"/>
              <a:t>记录测试发现的问题和过程</a:t>
            </a:r>
          </a:p>
        </p:txBody>
      </p:sp>
    </p:spTree>
    <p:extLst>
      <p:ext uri="{BB962C8B-B14F-4D97-AF65-F5344CB8AC3E}">
        <p14:creationId xmlns:p14="http://schemas.microsoft.com/office/powerpoint/2010/main" val="37083513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探索性测试</a:t>
            </a:r>
            <a:r>
              <a:rPr lang="zh-CN" altLang="en-US" dirty="0"/>
              <a:t>－</a:t>
            </a:r>
            <a:r>
              <a:rPr lang="zh-CN" altLang="en-US" dirty="0">
                <a:ea typeface="楷体_GB2312"/>
                <a:cs typeface="楷体_GB2312"/>
              </a:rPr>
              <a:t>典型案例</a:t>
            </a:r>
          </a:p>
        </p:txBody>
      </p:sp>
      <p:sp>
        <p:nvSpPr>
          <p:cNvPr id="319491" name="Rectangle 3"/>
          <p:cNvSpPr>
            <a:spLocks noGrp="1" noChangeArrowheads="1"/>
          </p:cNvSpPr>
          <p:nvPr>
            <p:ph idx="1"/>
          </p:nvPr>
        </p:nvSpPr>
        <p:spPr>
          <a:xfrm>
            <a:off x="468313" y="1319578"/>
            <a:ext cx="8229600" cy="4525476"/>
          </a:xfrm>
        </p:spPr>
        <p:txBody>
          <a:bodyPr/>
          <a:lstStyle/>
          <a:p>
            <a:r>
              <a:rPr lang="zh-CN" altLang="en-US"/>
              <a:t>对整个产品进行技巧性探索测试</a:t>
            </a:r>
          </a:p>
          <a:p>
            <a:r>
              <a:rPr lang="zh-CN" altLang="en-US"/>
              <a:t>快速测试</a:t>
            </a:r>
          </a:p>
          <a:p>
            <a:r>
              <a:rPr lang="zh-CN" altLang="en-US"/>
              <a:t>紧急情况测试</a:t>
            </a:r>
          </a:p>
          <a:p>
            <a:r>
              <a:rPr lang="zh-CN" altLang="en-US"/>
              <a:t>第三方构件的测试</a:t>
            </a:r>
          </a:p>
          <a:p>
            <a:r>
              <a:rPr lang="zh-CN" altLang="en-US"/>
              <a:t>发现问题</a:t>
            </a:r>
            <a:r>
              <a:rPr lang="en-US" altLang="zh-CN"/>
              <a:t>/</a:t>
            </a:r>
            <a:r>
              <a:rPr lang="zh-CN" altLang="en-US"/>
              <a:t>继续探究缺陷的测试</a:t>
            </a:r>
          </a:p>
        </p:txBody>
      </p:sp>
    </p:spTree>
    <p:extLst>
      <p:ext uri="{BB962C8B-B14F-4D97-AF65-F5344CB8AC3E}">
        <p14:creationId xmlns:p14="http://schemas.microsoft.com/office/powerpoint/2010/main" val="23599521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探索性测试</a:t>
            </a:r>
            <a:r>
              <a:rPr lang="zh-CN" altLang="en-US" dirty="0"/>
              <a:t>－</a:t>
            </a:r>
            <a:r>
              <a:rPr lang="zh-CN" altLang="en-US" dirty="0">
                <a:ea typeface="楷体_GB2312"/>
                <a:cs typeface="楷体_GB2312"/>
              </a:rPr>
              <a:t>盲点</a:t>
            </a:r>
          </a:p>
        </p:txBody>
      </p:sp>
      <p:sp>
        <p:nvSpPr>
          <p:cNvPr id="320515" name="Rectangle 3"/>
          <p:cNvSpPr>
            <a:spLocks noGrp="1" noChangeArrowheads="1"/>
          </p:cNvSpPr>
          <p:nvPr>
            <p:ph idx="1"/>
          </p:nvPr>
        </p:nvSpPr>
        <p:spPr>
          <a:xfrm>
            <a:off x="468313" y="1319578"/>
            <a:ext cx="8229600" cy="4525476"/>
          </a:xfrm>
        </p:spPr>
        <p:txBody>
          <a:bodyPr/>
          <a:lstStyle/>
          <a:p>
            <a:r>
              <a:rPr lang="zh-CN" altLang="en-US"/>
              <a:t>遗漏的比知道的风险更多</a:t>
            </a:r>
          </a:p>
          <a:p>
            <a:r>
              <a:rPr lang="zh-CN" altLang="en-US"/>
              <a:t>受到每个测试人员弱点的局限</a:t>
            </a:r>
          </a:p>
          <a:p>
            <a:r>
              <a:rPr lang="zh-CN" altLang="en-US"/>
              <a:t>这是技巧性工作</a:t>
            </a:r>
            <a:r>
              <a:rPr lang="en-US" altLang="zh-CN"/>
              <a:t>, </a:t>
            </a:r>
            <a:r>
              <a:rPr lang="zh-CN" altLang="en-US"/>
              <a:t>不是很适合新手</a:t>
            </a:r>
          </a:p>
        </p:txBody>
      </p:sp>
    </p:spTree>
    <p:extLst>
      <p:ext uri="{BB962C8B-B14F-4D97-AF65-F5344CB8AC3E}">
        <p14:creationId xmlns:p14="http://schemas.microsoft.com/office/powerpoint/2010/main" val="28176965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随机测试</a:t>
            </a:r>
            <a:r>
              <a:rPr lang="zh-CN" altLang="en-US" dirty="0"/>
              <a:t>－</a:t>
            </a:r>
            <a:r>
              <a:rPr lang="zh-CN" altLang="en-US" dirty="0">
                <a:ea typeface="楷体_GB2312"/>
                <a:cs typeface="楷体_GB2312"/>
              </a:rPr>
              <a:t>基本目标</a:t>
            </a:r>
          </a:p>
        </p:txBody>
      </p:sp>
      <p:sp>
        <p:nvSpPr>
          <p:cNvPr id="1220611" name="Rectangle 3"/>
          <p:cNvSpPr>
            <a:spLocks noGrp="1" noChangeArrowheads="1"/>
          </p:cNvSpPr>
          <p:nvPr>
            <p:ph idx="1"/>
          </p:nvPr>
        </p:nvSpPr>
        <p:spPr>
          <a:xfrm>
            <a:off x="468313" y="1319578"/>
            <a:ext cx="8229600" cy="4525476"/>
          </a:xfrm>
        </p:spPr>
        <p:txBody>
          <a:bodyPr/>
          <a:lstStyle/>
          <a:p>
            <a:pPr>
              <a:lnSpc>
                <a:spcPct val="90000"/>
              </a:lnSpc>
              <a:defRPr/>
            </a:pPr>
            <a:r>
              <a:rPr lang="zh-CN" altLang="en-US" dirty="0"/>
              <a:t>利用计算机创建、执行、评价大量的测试</a:t>
            </a:r>
          </a:p>
          <a:p>
            <a:pPr lvl="1">
              <a:lnSpc>
                <a:spcPct val="90000"/>
              </a:lnSpc>
              <a:defRPr/>
            </a:pPr>
            <a:r>
              <a:rPr lang="zh-CN" altLang="en-US" sz="2400" dirty="0"/>
              <a:t>单个测试达不到能力，能力有赖于大量的测试。</a:t>
            </a:r>
          </a:p>
          <a:p>
            <a:pPr lvl="1">
              <a:lnSpc>
                <a:spcPct val="90000"/>
              </a:lnSpc>
              <a:defRPr/>
            </a:pPr>
            <a:r>
              <a:rPr lang="zh-CN" altLang="en-US" sz="2400" dirty="0"/>
              <a:t>可以在大范围内抽样</a:t>
            </a:r>
          </a:p>
          <a:p>
            <a:pPr lvl="1">
              <a:lnSpc>
                <a:spcPct val="90000"/>
              </a:lnSpc>
              <a:defRPr/>
            </a:pPr>
            <a:r>
              <a:rPr lang="zh-CN" altLang="en-US" sz="2400" dirty="0"/>
              <a:t>可以在超常的时间范围内测试</a:t>
            </a:r>
          </a:p>
          <a:p>
            <a:pPr lvl="1">
              <a:lnSpc>
                <a:spcPct val="90000"/>
              </a:lnSpc>
              <a:defRPr/>
            </a:pPr>
            <a:r>
              <a:rPr lang="zh-CN" altLang="en-US" sz="2400" dirty="0"/>
              <a:t>发现长时间、大量测试才能发现的缺陷</a:t>
            </a:r>
          </a:p>
        </p:txBody>
      </p:sp>
    </p:spTree>
    <p:extLst>
      <p:ext uri="{BB962C8B-B14F-4D97-AF65-F5344CB8AC3E}">
        <p14:creationId xmlns:p14="http://schemas.microsoft.com/office/powerpoint/2010/main" val="8928569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随机测试</a:t>
            </a:r>
            <a:r>
              <a:rPr lang="zh-CN" altLang="en-US" dirty="0"/>
              <a:t>－</a:t>
            </a:r>
            <a:r>
              <a:rPr lang="zh-CN" altLang="en-US" dirty="0">
                <a:ea typeface="楷体_GB2312"/>
                <a:cs typeface="楷体_GB2312"/>
              </a:rPr>
              <a:t>能力</a:t>
            </a:r>
          </a:p>
        </p:txBody>
      </p:sp>
      <p:sp>
        <p:nvSpPr>
          <p:cNvPr id="322563" name="Rectangle 3"/>
          <p:cNvSpPr>
            <a:spLocks noGrp="1" noChangeArrowheads="1"/>
          </p:cNvSpPr>
          <p:nvPr>
            <p:ph idx="1"/>
          </p:nvPr>
        </p:nvSpPr>
        <p:spPr>
          <a:xfrm>
            <a:off x="468313" y="1319578"/>
            <a:ext cx="8229600" cy="4525476"/>
          </a:xfrm>
        </p:spPr>
        <p:txBody>
          <a:bodyPr/>
          <a:lstStyle/>
          <a:p>
            <a:r>
              <a:rPr lang="zh-CN" altLang="en-US"/>
              <a:t>每次回归不依赖于旧的测试</a:t>
            </a:r>
          </a:p>
          <a:p>
            <a:r>
              <a:rPr lang="zh-CN" altLang="en-US"/>
              <a:t>部分预言可以在幼稚的代码中快速、经济的发现缺陷</a:t>
            </a:r>
          </a:p>
          <a:p>
            <a:r>
              <a:rPr lang="zh-CN" altLang="en-US"/>
              <a:t>可以发现长而复杂的操作链产生的问题，通过有计划的测试发现这些问题很困难</a:t>
            </a:r>
          </a:p>
        </p:txBody>
      </p:sp>
    </p:spTree>
    <p:extLst>
      <p:ext uri="{BB962C8B-B14F-4D97-AF65-F5344CB8AC3E}">
        <p14:creationId xmlns:p14="http://schemas.microsoft.com/office/powerpoint/2010/main" val="8476890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随机测试</a:t>
            </a:r>
            <a:r>
              <a:rPr lang="zh-CN" altLang="en-US" dirty="0"/>
              <a:t>－</a:t>
            </a:r>
            <a:r>
              <a:rPr lang="zh-CN" altLang="en-US" dirty="0">
                <a:ea typeface="楷体_GB2312"/>
                <a:cs typeface="楷体_GB2312"/>
              </a:rPr>
              <a:t>典型案例</a:t>
            </a:r>
          </a:p>
        </p:txBody>
      </p:sp>
      <p:graphicFrame>
        <p:nvGraphicFramePr>
          <p:cNvPr id="323587" name="Object 4"/>
          <p:cNvGraphicFramePr>
            <a:graphicFrameLocks noGrp="1" noChangeAspect="1"/>
          </p:cNvGraphicFramePr>
          <p:nvPr>
            <p:ph idx="1"/>
          </p:nvPr>
        </p:nvGraphicFramePr>
        <p:xfrm>
          <a:off x="6227764" y="1509903"/>
          <a:ext cx="2124075" cy="3057868"/>
        </p:xfrm>
        <a:graphic>
          <a:graphicData uri="http://schemas.openxmlformats.org/presentationml/2006/ole">
            <mc:AlternateContent xmlns:mc="http://schemas.openxmlformats.org/markup-compatibility/2006">
              <mc:Choice xmlns:v="urn:schemas-microsoft-com:vml" Requires="v">
                <p:oleObj name="Bitmap Image" r:id="rId2" imgW="2123810" imgH="2295238" progId="Paint.Picture">
                  <p:embed/>
                </p:oleObj>
              </mc:Choice>
              <mc:Fallback>
                <p:oleObj name="Bitmap Image" r:id="rId2" imgW="2123810" imgH="2295238" progId="Paint.Picture">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7764" y="1509903"/>
                        <a:ext cx="2124075" cy="305786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3588" name="Rectangle 3"/>
          <p:cNvSpPr>
            <a:spLocks noGrp="1" noChangeArrowheads="1"/>
          </p:cNvSpPr>
          <p:nvPr>
            <p:ph type="body" sz="half" idx="4294967295"/>
          </p:nvPr>
        </p:nvSpPr>
        <p:spPr>
          <a:xfrm>
            <a:off x="539751" y="1319579"/>
            <a:ext cx="5184775" cy="4464150"/>
          </a:xfrm>
        </p:spPr>
        <p:txBody>
          <a:bodyPr/>
          <a:lstStyle/>
          <a:p>
            <a:r>
              <a:rPr lang="zh-CN" altLang="en-US" sz="2800"/>
              <a:t>伪随机随机测试</a:t>
            </a:r>
          </a:p>
          <a:p>
            <a:r>
              <a:rPr lang="zh-CN" altLang="en-US" sz="2800"/>
              <a:t>统计可靠性评估测试</a:t>
            </a:r>
          </a:p>
          <a:p>
            <a:r>
              <a:rPr lang="zh-CN" altLang="en-US" sz="2800"/>
              <a:t>非模型化随机测试</a:t>
            </a:r>
          </a:p>
          <a:p>
            <a:r>
              <a:rPr lang="zh-CN" altLang="en-US" sz="2800"/>
              <a:t>模型化随机测试</a:t>
            </a:r>
          </a:p>
          <a:p>
            <a:r>
              <a:rPr lang="zh-CN" altLang="en-US" sz="2800"/>
              <a:t>基于其它属性的随机测试</a:t>
            </a:r>
          </a:p>
          <a:p>
            <a:r>
              <a:rPr lang="zh-CN" altLang="en-US" sz="2800"/>
              <a:t>“猴”测试</a:t>
            </a:r>
          </a:p>
        </p:txBody>
      </p:sp>
    </p:spTree>
    <p:extLst>
      <p:ext uri="{BB962C8B-B14F-4D97-AF65-F5344CB8AC3E}">
        <p14:creationId xmlns:p14="http://schemas.microsoft.com/office/powerpoint/2010/main" val="39705484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随机测试</a:t>
            </a:r>
            <a:r>
              <a:rPr lang="zh-CN" altLang="en-US" dirty="0"/>
              <a:t>－</a:t>
            </a:r>
            <a:r>
              <a:rPr lang="zh-CN" altLang="en-US" dirty="0">
                <a:ea typeface="楷体_GB2312"/>
                <a:cs typeface="楷体_GB2312"/>
              </a:rPr>
              <a:t>盲点</a:t>
            </a:r>
          </a:p>
        </p:txBody>
      </p:sp>
      <p:sp>
        <p:nvSpPr>
          <p:cNvPr id="324611" name="Rectangle 3"/>
          <p:cNvSpPr>
            <a:spLocks noGrp="1" noChangeArrowheads="1"/>
          </p:cNvSpPr>
          <p:nvPr>
            <p:ph idx="1"/>
          </p:nvPr>
        </p:nvSpPr>
        <p:spPr>
          <a:xfrm>
            <a:off x="468313" y="1319578"/>
            <a:ext cx="8229600" cy="4525476"/>
          </a:xfrm>
        </p:spPr>
        <p:txBody>
          <a:bodyPr/>
          <a:lstStyle/>
          <a:p>
            <a:r>
              <a:rPr lang="zh-CN" altLang="en-US"/>
              <a:t>需要辨别通过与失败的能力，太多的人认为 “不垮台</a:t>
            </a:r>
            <a:r>
              <a:rPr lang="en-US" altLang="zh-CN"/>
              <a:t>=</a:t>
            </a:r>
            <a:r>
              <a:rPr lang="zh-CN" altLang="en-US"/>
              <a:t>不失败”</a:t>
            </a:r>
          </a:p>
          <a:p>
            <a:r>
              <a:rPr lang="zh-CN" altLang="en-US"/>
              <a:t>执行的预期结果需要仔细管理</a:t>
            </a:r>
          </a:p>
          <a:p>
            <a:r>
              <a:rPr lang="zh-CN" altLang="en-US"/>
              <a:t>测试人员化费很多时间分析代码，很少时间用于分析客户</a:t>
            </a:r>
          </a:p>
        </p:txBody>
      </p:sp>
    </p:spTree>
    <p:extLst>
      <p:ext uri="{BB962C8B-B14F-4D97-AF65-F5344CB8AC3E}">
        <p14:creationId xmlns:p14="http://schemas.microsoft.com/office/powerpoint/2010/main" val="18770079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基于风险的测试</a:t>
            </a:r>
            <a:r>
              <a:rPr lang="zh-CN" altLang="en-US" dirty="0"/>
              <a:t>－</a:t>
            </a:r>
            <a:r>
              <a:rPr lang="zh-CN" altLang="en-US" dirty="0">
                <a:ea typeface="楷体_GB2312"/>
                <a:cs typeface="楷体_GB2312"/>
              </a:rPr>
              <a:t>基本目标</a:t>
            </a:r>
          </a:p>
        </p:txBody>
      </p:sp>
      <p:sp>
        <p:nvSpPr>
          <p:cNvPr id="311299" name="Rectangle 3"/>
          <p:cNvSpPr>
            <a:spLocks noGrp="1" noChangeArrowheads="1"/>
          </p:cNvSpPr>
          <p:nvPr>
            <p:ph idx="1"/>
          </p:nvPr>
        </p:nvSpPr>
        <p:spPr>
          <a:xfrm>
            <a:off x="468313" y="1319578"/>
            <a:ext cx="8229600" cy="4525476"/>
          </a:xfrm>
        </p:spPr>
        <p:txBody>
          <a:bodyPr/>
          <a:lstStyle/>
          <a:p>
            <a:pPr>
              <a:lnSpc>
                <a:spcPct val="95000"/>
              </a:lnSpc>
            </a:pPr>
            <a:r>
              <a:rPr lang="zh-CN" altLang="en-US"/>
              <a:t>根据你试图管理的问题</a:t>
            </a:r>
            <a:r>
              <a:rPr lang="en-US" altLang="zh-CN"/>
              <a:t>(</a:t>
            </a:r>
            <a:r>
              <a:rPr lang="zh-CN" altLang="en-US"/>
              <a:t>或风险</a:t>
            </a:r>
            <a:r>
              <a:rPr lang="en-US" altLang="zh-CN"/>
              <a:t>)</a:t>
            </a:r>
            <a:r>
              <a:rPr lang="zh-CN" altLang="en-US"/>
              <a:t>的类别定义和提练测试</a:t>
            </a:r>
          </a:p>
          <a:p>
            <a:pPr>
              <a:lnSpc>
                <a:spcPct val="95000"/>
              </a:lnSpc>
            </a:pPr>
            <a:r>
              <a:rPr lang="zh-CN" altLang="en-US"/>
              <a:t>根据测试的区域或问题的相关风险确定优先次序</a:t>
            </a:r>
          </a:p>
        </p:txBody>
      </p:sp>
    </p:spTree>
    <p:extLst>
      <p:ext uri="{BB962C8B-B14F-4D97-AF65-F5344CB8AC3E}">
        <p14:creationId xmlns:p14="http://schemas.microsoft.com/office/powerpoint/2010/main" val="164648313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基于风险的测试</a:t>
            </a:r>
            <a:r>
              <a:rPr lang="zh-CN" altLang="en-US" dirty="0"/>
              <a:t>－</a:t>
            </a:r>
            <a:r>
              <a:rPr lang="zh-CN" altLang="en-US" dirty="0">
                <a:ea typeface="楷体_GB2312"/>
                <a:cs typeface="楷体_GB2312"/>
              </a:rPr>
              <a:t>能力</a:t>
            </a:r>
          </a:p>
        </p:txBody>
      </p:sp>
      <p:sp>
        <p:nvSpPr>
          <p:cNvPr id="312323" name="Rectangle 3"/>
          <p:cNvSpPr>
            <a:spLocks noGrp="1" noChangeArrowheads="1"/>
          </p:cNvSpPr>
          <p:nvPr>
            <p:ph idx="1"/>
          </p:nvPr>
        </p:nvSpPr>
        <p:spPr>
          <a:xfrm>
            <a:off x="468313" y="1319578"/>
            <a:ext cx="8229600" cy="4525476"/>
          </a:xfrm>
        </p:spPr>
        <p:txBody>
          <a:bodyPr/>
          <a:lstStyle/>
          <a:p>
            <a:r>
              <a:rPr lang="zh-CN" altLang="en-US"/>
              <a:t>最佳优先次序</a:t>
            </a:r>
            <a:r>
              <a:rPr lang="en-US" altLang="zh-CN"/>
              <a:t>(</a:t>
            </a:r>
            <a:r>
              <a:rPr lang="zh-CN" altLang="en-US"/>
              <a:t>假设能正确识别风险并确定优先权</a:t>
            </a:r>
            <a:r>
              <a:rPr lang="en-US" altLang="zh-CN"/>
              <a:t>)</a:t>
            </a:r>
          </a:p>
          <a:p>
            <a:r>
              <a:rPr lang="zh-CN" altLang="en-US"/>
              <a:t>高能力测试</a:t>
            </a:r>
          </a:p>
        </p:txBody>
      </p:sp>
    </p:spTree>
    <p:extLst>
      <p:ext uri="{BB962C8B-B14F-4D97-AF65-F5344CB8AC3E}">
        <p14:creationId xmlns:p14="http://schemas.microsoft.com/office/powerpoint/2010/main" val="18889048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基于风险的测试</a:t>
            </a:r>
            <a:r>
              <a:rPr lang="zh-CN" altLang="en-US" dirty="0"/>
              <a:t>－</a:t>
            </a:r>
            <a:r>
              <a:rPr lang="zh-CN" altLang="en-US" dirty="0">
                <a:ea typeface="楷体_GB2312"/>
                <a:cs typeface="楷体_GB2312"/>
              </a:rPr>
              <a:t>基本方法</a:t>
            </a:r>
          </a:p>
        </p:txBody>
      </p:sp>
      <p:sp>
        <p:nvSpPr>
          <p:cNvPr id="313347" name="Rectangle 3"/>
          <p:cNvSpPr>
            <a:spLocks noGrp="1" noChangeArrowheads="1"/>
          </p:cNvSpPr>
          <p:nvPr>
            <p:ph idx="1"/>
          </p:nvPr>
        </p:nvSpPr>
        <p:spPr>
          <a:xfrm>
            <a:off x="468313" y="1319578"/>
            <a:ext cx="8229600" cy="4525476"/>
          </a:xfrm>
        </p:spPr>
        <p:txBody>
          <a:bodyPr/>
          <a:lstStyle/>
          <a:p>
            <a:r>
              <a:rPr lang="zh-CN" altLang="en-US"/>
              <a:t>对软件需求进行风险分析</a:t>
            </a:r>
          </a:p>
          <a:p>
            <a:r>
              <a:rPr lang="zh-CN" altLang="en-US"/>
              <a:t>列出高风险的测试需求</a:t>
            </a:r>
          </a:p>
          <a:p>
            <a:r>
              <a:rPr lang="zh-CN" altLang="en-US"/>
              <a:t>针对高风险的测试需求设计测试用例</a:t>
            </a:r>
          </a:p>
        </p:txBody>
      </p:sp>
    </p:spTree>
    <p:extLst>
      <p:ext uri="{BB962C8B-B14F-4D97-AF65-F5344CB8AC3E}">
        <p14:creationId xmlns:p14="http://schemas.microsoft.com/office/powerpoint/2010/main" val="28138085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基于风险的测试</a:t>
            </a:r>
            <a:r>
              <a:rPr lang="zh-CN" altLang="en-US" dirty="0"/>
              <a:t>－</a:t>
            </a:r>
            <a:r>
              <a:rPr lang="zh-CN" altLang="en-US" dirty="0">
                <a:ea typeface="楷体_GB2312"/>
                <a:cs typeface="楷体_GB2312"/>
              </a:rPr>
              <a:t>典型案例</a:t>
            </a:r>
          </a:p>
        </p:txBody>
      </p:sp>
      <p:sp>
        <p:nvSpPr>
          <p:cNvPr id="314371" name="Rectangle 3"/>
          <p:cNvSpPr>
            <a:spLocks noGrp="1" noChangeArrowheads="1"/>
          </p:cNvSpPr>
          <p:nvPr>
            <p:ph idx="1"/>
          </p:nvPr>
        </p:nvSpPr>
        <p:spPr>
          <a:xfrm>
            <a:off x="468313" y="1319578"/>
            <a:ext cx="8229600" cy="4525476"/>
          </a:xfrm>
        </p:spPr>
        <p:txBody>
          <a:bodyPr/>
          <a:lstStyle/>
          <a:p>
            <a:pPr>
              <a:lnSpc>
                <a:spcPct val="95000"/>
              </a:lnSpc>
            </a:pPr>
            <a:r>
              <a:rPr lang="zh-CN" altLang="en-US"/>
              <a:t>等价类分析</a:t>
            </a:r>
          </a:p>
          <a:p>
            <a:pPr>
              <a:lnSpc>
                <a:spcPct val="95000"/>
              </a:lnSpc>
            </a:pPr>
            <a:r>
              <a:rPr lang="zh-CN" altLang="en-US"/>
              <a:t>基于使用频度的测试</a:t>
            </a:r>
          </a:p>
          <a:p>
            <a:pPr>
              <a:lnSpc>
                <a:spcPct val="95000"/>
              </a:lnSpc>
            </a:pPr>
            <a:r>
              <a:rPr lang="zh-CN" altLang="en-US"/>
              <a:t>压力测试</a:t>
            </a:r>
          </a:p>
          <a:p>
            <a:pPr>
              <a:lnSpc>
                <a:spcPct val="95000"/>
              </a:lnSpc>
            </a:pPr>
            <a:r>
              <a:rPr lang="zh-CN" altLang="en-US"/>
              <a:t>错误处理测试</a:t>
            </a:r>
          </a:p>
          <a:p>
            <a:pPr>
              <a:lnSpc>
                <a:spcPct val="95000"/>
              </a:lnSpc>
            </a:pPr>
            <a:r>
              <a:rPr lang="zh-CN" altLang="en-US"/>
              <a:t>安全性测试</a:t>
            </a:r>
          </a:p>
          <a:p>
            <a:pPr>
              <a:lnSpc>
                <a:spcPct val="95000"/>
              </a:lnSpc>
            </a:pPr>
            <a:r>
              <a:rPr lang="zh-CN" altLang="en-US"/>
              <a:t>从预测错误列表中抽样测试</a:t>
            </a:r>
          </a:p>
          <a:p>
            <a:pPr>
              <a:lnSpc>
                <a:spcPct val="95000"/>
              </a:lnSpc>
            </a:pPr>
            <a:r>
              <a:rPr lang="zh-CN" altLang="en-US"/>
              <a:t>失效模式和影响分析</a:t>
            </a:r>
            <a:r>
              <a:rPr lang="en-US" altLang="zh-CN"/>
              <a:t>(FMEA)</a:t>
            </a:r>
          </a:p>
        </p:txBody>
      </p:sp>
    </p:spTree>
    <p:extLst>
      <p:ext uri="{BB962C8B-B14F-4D97-AF65-F5344CB8AC3E}">
        <p14:creationId xmlns:p14="http://schemas.microsoft.com/office/powerpoint/2010/main" val="283142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468313" y="359500"/>
            <a:ext cx="8229600" cy="862801"/>
          </a:xfrm>
        </p:spPr>
        <p:txBody>
          <a:bodyPr/>
          <a:lstStyle/>
          <a:p>
            <a:pPr algn="just"/>
            <a:r>
              <a:rPr lang="zh-CN" altLang="en-US" dirty="0">
                <a:latin typeface="Arial" pitchFamily="34" charset="0"/>
              </a:rPr>
              <a:t>基于风险的测试</a:t>
            </a:r>
            <a:r>
              <a:rPr lang="zh-CN" altLang="en-US" dirty="0"/>
              <a:t>－</a:t>
            </a:r>
            <a:r>
              <a:rPr lang="zh-CN" altLang="en-US" dirty="0">
                <a:ea typeface="楷体_GB2312"/>
                <a:cs typeface="楷体_GB2312"/>
              </a:rPr>
              <a:t>盲点</a:t>
            </a:r>
          </a:p>
        </p:txBody>
      </p:sp>
      <p:sp>
        <p:nvSpPr>
          <p:cNvPr id="315395" name="Rectangle 3"/>
          <p:cNvSpPr>
            <a:spLocks noGrp="1" noChangeArrowheads="1"/>
          </p:cNvSpPr>
          <p:nvPr>
            <p:ph idx="1"/>
          </p:nvPr>
        </p:nvSpPr>
        <p:spPr>
          <a:xfrm>
            <a:off x="468313" y="1319578"/>
            <a:ext cx="8229600" cy="4525476"/>
          </a:xfrm>
        </p:spPr>
        <p:txBody>
          <a:bodyPr/>
          <a:lstStyle/>
          <a:p>
            <a:r>
              <a:rPr lang="zh-CN" altLang="en-US" dirty="0"/>
              <a:t>无法确定的风险，更加像意外的风险</a:t>
            </a:r>
          </a:p>
          <a:p>
            <a:r>
              <a:rPr lang="zh-CN" altLang="en-US" dirty="0"/>
              <a:t>一些“风险驱动”的测试人员似乎比较主观</a:t>
            </a:r>
          </a:p>
          <a:p>
            <a:r>
              <a:rPr lang="zh-CN" altLang="en-US" dirty="0"/>
              <a:t>很难知道覆盖率水平</a:t>
            </a:r>
          </a:p>
          <a:p>
            <a:r>
              <a:rPr lang="zh-CN" altLang="en-US" dirty="0"/>
              <a:t>很难知道是否遗漏了关键内容</a:t>
            </a:r>
          </a:p>
        </p:txBody>
      </p:sp>
    </p:spTree>
    <p:extLst>
      <p:ext uri="{BB962C8B-B14F-4D97-AF65-F5344CB8AC3E}">
        <p14:creationId xmlns:p14="http://schemas.microsoft.com/office/powerpoint/2010/main" val="2324739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descr="Large confetti"/>
          <p:cNvSpPr>
            <a:spLocks noGrp="1" noChangeArrowheads="1"/>
          </p:cNvSpPr>
          <p:nvPr>
            <p:ph type="title"/>
          </p:nvPr>
        </p:nvSpPr>
        <p:spPr>
          <a:xfrm>
            <a:off x="468313" y="359500"/>
            <a:ext cx="8229600" cy="862801"/>
          </a:xfrm>
        </p:spPr>
        <p:txBody>
          <a:bodyPr/>
          <a:lstStyle/>
          <a:p>
            <a:pPr algn="just"/>
            <a:r>
              <a:rPr lang="zh-CN" altLang="en-US" dirty="0">
                <a:ea typeface="楷体_GB2312"/>
                <a:cs typeface="楷体_GB2312"/>
              </a:rPr>
              <a:t>基于规范的测试</a:t>
            </a:r>
          </a:p>
        </p:txBody>
      </p:sp>
      <p:sp>
        <p:nvSpPr>
          <p:cNvPr id="689155" name="Rectangle 3"/>
          <p:cNvSpPr>
            <a:spLocks noGrp="1" noChangeArrowheads="1"/>
          </p:cNvSpPr>
          <p:nvPr>
            <p:ph idx="1"/>
          </p:nvPr>
        </p:nvSpPr>
        <p:spPr>
          <a:xfrm>
            <a:off x="468313" y="1319578"/>
            <a:ext cx="8229600" cy="4525476"/>
          </a:xfrm>
        </p:spPr>
        <p:txBody>
          <a:bodyPr>
            <a:normAutofit lnSpcReduction="10000"/>
          </a:bodyPr>
          <a:lstStyle/>
          <a:p>
            <a:pPr>
              <a:defRPr/>
            </a:pPr>
            <a:r>
              <a:rPr lang="zh-CN" altLang="en-US" dirty="0"/>
              <a:t>基本目标</a:t>
            </a:r>
          </a:p>
          <a:p>
            <a:pPr lvl="1">
              <a:defRPr/>
            </a:pPr>
            <a:r>
              <a:rPr lang="zh-CN" altLang="en-US" sz="2400" dirty="0">
                <a:solidFill>
                  <a:srgbClr val="000000"/>
                </a:solidFill>
              </a:rPr>
              <a:t>检查产品与需求文档中每条规范的一致性</a:t>
            </a:r>
          </a:p>
          <a:p>
            <a:pPr>
              <a:defRPr/>
            </a:pPr>
            <a:r>
              <a:rPr lang="zh-CN" altLang="en-US" dirty="0"/>
              <a:t>能力</a:t>
            </a:r>
          </a:p>
          <a:p>
            <a:pPr lvl="1">
              <a:defRPr/>
            </a:pPr>
            <a:r>
              <a:rPr lang="zh-CN" altLang="en-US" sz="2400" dirty="0">
                <a:solidFill>
                  <a:srgbClr val="000000"/>
                </a:solidFill>
              </a:rPr>
              <a:t>发现需求规范实现的遗漏和问题</a:t>
            </a:r>
          </a:p>
          <a:p>
            <a:pPr>
              <a:defRPr/>
            </a:pPr>
            <a:r>
              <a:rPr lang="zh-CN" altLang="en-US" dirty="0"/>
              <a:t>典型案例</a:t>
            </a:r>
          </a:p>
          <a:p>
            <a:pPr lvl="1">
              <a:defRPr/>
            </a:pPr>
            <a:r>
              <a:rPr lang="zh-CN" altLang="en-US" sz="2400" dirty="0">
                <a:solidFill>
                  <a:srgbClr val="000000"/>
                </a:solidFill>
              </a:rPr>
              <a:t>可追溯矩阵</a:t>
            </a:r>
            <a:r>
              <a:rPr lang="en-US" altLang="zh-CN" sz="2400" dirty="0">
                <a:solidFill>
                  <a:srgbClr val="000000"/>
                </a:solidFill>
              </a:rPr>
              <a:t>, </a:t>
            </a:r>
            <a:r>
              <a:rPr lang="zh-CN" altLang="en-US" sz="2400" dirty="0">
                <a:solidFill>
                  <a:srgbClr val="000000"/>
                </a:solidFill>
              </a:rPr>
              <a:t>追踪测试用例与每个规范项</a:t>
            </a:r>
          </a:p>
          <a:p>
            <a:pPr lvl="1">
              <a:defRPr/>
            </a:pPr>
            <a:r>
              <a:rPr lang="zh-CN" altLang="en-US" sz="2400" dirty="0">
                <a:solidFill>
                  <a:srgbClr val="000000"/>
                </a:solidFill>
              </a:rPr>
              <a:t>用户文档测试</a:t>
            </a:r>
          </a:p>
          <a:p>
            <a:pPr>
              <a:defRPr/>
            </a:pPr>
            <a:r>
              <a:rPr lang="zh-CN" altLang="en-US" dirty="0"/>
              <a:t>盲点</a:t>
            </a:r>
          </a:p>
          <a:p>
            <a:pPr lvl="1">
              <a:defRPr/>
            </a:pPr>
            <a:r>
              <a:rPr lang="zh-CN" altLang="en-US" sz="2400" dirty="0">
                <a:solidFill>
                  <a:srgbClr val="000000"/>
                </a:solidFill>
              </a:rPr>
              <a:t>不在规范中的问题</a:t>
            </a:r>
          </a:p>
        </p:txBody>
      </p:sp>
      <p:sp>
        <p:nvSpPr>
          <p:cNvPr id="285700"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FCB07F5F-5F0B-49DD-84C5-0443513C9800}" type="slidenum">
              <a:rPr lang="en-US" altLang="zh-CN" sz="1800" b="0">
                <a:latin typeface="Times New Roman" pitchFamily="18" charset="0"/>
                <a:ea typeface="微软雅黑" pitchFamily="34" charset="-122"/>
              </a:rPr>
              <a:pPr algn="l" eaLnBrk="0" hangingPunct="0">
                <a:spcBef>
                  <a:spcPct val="0"/>
                </a:spcBef>
                <a:buFontTx/>
                <a:buNone/>
              </a:pPr>
              <a:t>104</a:t>
            </a:fld>
            <a:endParaRPr lang="en-US" altLang="zh-CN" sz="1800" b="0">
              <a:latin typeface="Times New Roman" pitchFamily="18" charset="0"/>
              <a:ea typeface="微软雅黑" pitchFamily="34" charset="-122"/>
            </a:endParaRPr>
          </a:p>
        </p:txBody>
      </p:sp>
    </p:spTree>
    <p:extLst>
      <p:ext uri="{BB962C8B-B14F-4D97-AF65-F5344CB8AC3E}">
        <p14:creationId xmlns:p14="http://schemas.microsoft.com/office/powerpoint/2010/main" val="33391070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468313" y="359500"/>
            <a:ext cx="8229600" cy="862801"/>
          </a:xfrm>
        </p:spPr>
        <p:txBody>
          <a:bodyPr/>
          <a:lstStyle/>
          <a:p>
            <a:pPr algn="just"/>
            <a:r>
              <a:rPr lang="zh-CN" altLang="en-US" dirty="0"/>
              <a:t>安装性测试</a:t>
            </a:r>
            <a:endParaRPr lang="zh-CN" altLang="en-US" dirty="0">
              <a:ea typeface="楷体_GB2312"/>
              <a:cs typeface="楷体_GB2312"/>
            </a:endParaRPr>
          </a:p>
        </p:txBody>
      </p:sp>
      <p:sp>
        <p:nvSpPr>
          <p:cNvPr id="310275" name="Rectangle 3"/>
          <p:cNvSpPr>
            <a:spLocks noGrp="1" noChangeArrowheads="1"/>
          </p:cNvSpPr>
          <p:nvPr>
            <p:ph idx="1"/>
          </p:nvPr>
        </p:nvSpPr>
        <p:spPr>
          <a:xfrm>
            <a:off x="468313" y="1319578"/>
            <a:ext cx="8229600" cy="4525476"/>
          </a:xfrm>
        </p:spPr>
        <p:txBody>
          <a:bodyPr/>
          <a:lstStyle/>
          <a:p>
            <a:r>
              <a:rPr lang="zh-CN" altLang="en-US"/>
              <a:t>不同配置下的安装和卸载测试 </a:t>
            </a:r>
          </a:p>
          <a:p>
            <a:r>
              <a:rPr lang="zh-CN" altLang="en-US"/>
              <a:t>对安装规程正确性的测试 </a:t>
            </a:r>
          </a:p>
        </p:txBody>
      </p:sp>
    </p:spTree>
    <p:extLst>
      <p:ext uri="{BB962C8B-B14F-4D97-AF65-F5344CB8AC3E}">
        <p14:creationId xmlns:p14="http://schemas.microsoft.com/office/powerpoint/2010/main" val="68229144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a:xfrm>
            <a:off x="468313" y="359500"/>
            <a:ext cx="8229600" cy="862801"/>
          </a:xfrm>
        </p:spPr>
        <p:txBody>
          <a:bodyPr/>
          <a:lstStyle/>
          <a:p>
            <a:pPr algn="just"/>
            <a:r>
              <a:rPr lang="zh-CN" altLang="en-US" dirty="0"/>
              <a:t>可靠性测试</a:t>
            </a:r>
            <a:endParaRPr lang="zh-CN" altLang="en-US" dirty="0">
              <a:ea typeface="楷体_GB2312"/>
              <a:cs typeface="楷体_GB2312"/>
            </a:endParaRPr>
          </a:p>
        </p:txBody>
      </p:sp>
      <p:sp>
        <p:nvSpPr>
          <p:cNvPr id="308227" name="Rectangle 3"/>
          <p:cNvSpPr>
            <a:spLocks noGrp="1" noChangeArrowheads="1"/>
          </p:cNvSpPr>
          <p:nvPr>
            <p:ph idx="1"/>
          </p:nvPr>
        </p:nvSpPr>
        <p:spPr>
          <a:xfrm>
            <a:off x="468313" y="1319578"/>
            <a:ext cx="8229600" cy="4525476"/>
          </a:xfrm>
        </p:spPr>
        <p:txBody>
          <a:bodyPr/>
          <a:lstStyle/>
          <a:p>
            <a:r>
              <a:rPr lang="zh-CN" altLang="en-US" sz="2800"/>
              <a:t>覆盖重要的输入变量值的测试（所有被测输入值域的概率之和必须大于软件可靠性要求） </a:t>
            </a:r>
          </a:p>
          <a:p>
            <a:r>
              <a:rPr lang="zh-CN" altLang="en-US" sz="2800"/>
              <a:t>覆盖各种使用功能 </a:t>
            </a:r>
          </a:p>
          <a:p>
            <a:r>
              <a:rPr lang="zh-CN" altLang="en-US" sz="2800"/>
              <a:t>覆盖输入变量的可能组合 </a:t>
            </a:r>
          </a:p>
          <a:p>
            <a:r>
              <a:rPr lang="zh-CN" altLang="en-US" sz="2800"/>
              <a:t>覆盖不合法的输入域 </a:t>
            </a:r>
          </a:p>
          <a:p>
            <a:r>
              <a:rPr lang="zh-CN" altLang="en-US" sz="2800"/>
              <a:t>对于可能导致软件运行方式改变的一些边界条件和环境条件所进行的针对性测试 </a:t>
            </a:r>
          </a:p>
        </p:txBody>
      </p:sp>
    </p:spTree>
    <p:extLst>
      <p:ext uri="{BB962C8B-B14F-4D97-AF65-F5344CB8AC3E}">
        <p14:creationId xmlns:p14="http://schemas.microsoft.com/office/powerpoint/2010/main" val="156943996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a:xfrm>
            <a:off x="468313" y="359500"/>
            <a:ext cx="8229600" cy="862801"/>
          </a:xfrm>
        </p:spPr>
        <p:txBody>
          <a:bodyPr/>
          <a:lstStyle/>
          <a:p>
            <a:pPr algn="just"/>
            <a:r>
              <a:rPr lang="zh-CN" altLang="en-US" dirty="0"/>
              <a:t>恢复性测试</a:t>
            </a:r>
            <a:endParaRPr lang="zh-CN" altLang="en-US" dirty="0">
              <a:ea typeface="楷体_GB2312"/>
              <a:cs typeface="楷体_GB2312"/>
            </a:endParaRPr>
          </a:p>
        </p:txBody>
      </p:sp>
      <p:sp>
        <p:nvSpPr>
          <p:cNvPr id="307203" name="Rectangle 3"/>
          <p:cNvSpPr>
            <a:spLocks noGrp="1" noChangeArrowheads="1"/>
          </p:cNvSpPr>
          <p:nvPr>
            <p:ph idx="1"/>
          </p:nvPr>
        </p:nvSpPr>
        <p:spPr>
          <a:xfrm>
            <a:off x="468313" y="1319578"/>
            <a:ext cx="8229600" cy="4525476"/>
          </a:xfrm>
        </p:spPr>
        <p:txBody>
          <a:bodyPr/>
          <a:lstStyle/>
          <a:p>
            <a:r>
              <a:rPr lang="zh-CN" altLang="en-US"/>
              <a:t>探测错误功能 </a:t>
            </a:r>
          </a:p>
          <a:p>
            <a:r>
              <a:rPr lang="zh-CN" altLang="en-GB"/>
              <a:t>能否切换或自动启动备用的硬件 </a:t>
            </a:r>
          </a:p>
          <a:p>
            <a:r>
              <a:rPr lang="zh-CN" altLang="en-US"/>
              <a:t>在故障发生时能否保护正在运行的作业和系统状态 </a:t>
            </a:r>
          </a:p>
          <a:p>
            <a:r>
              <a:rPr lang="zh-CN" altLang="en-GB"/>
              <a:t>在系统恢复后，能否从最后记录下来的无错误状态开始继续执行作业 </a:t>
            </a:r>
            <a:endParaRPr lang="zh-CN" altLang="en-US"/>
          </a:p>
        </p:txBody>
      </p:sp>
    </p:spTree>
    <p:extLst>
      <p:ext uri="{BB962C8B-B14F-4D97-AF65-F5344CB8AC3E}">
        <p14:creationId xmlns:p14="http://schemas.microsoft.com/office/powerpoint/2010/main" val="42901724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descr="Large confetti"/>
          <p:cNvSpPr>
            <a:spLocks noGrp="1" noChangeArrowheads="1"/>
          </p:cNvSpPr>
          <p:nvPr>
            <p:ph type="title"/>
          </p:nvPr>
        </p:nvSpPr>
        <p:spPr>
          <a:xfrm>
            <a:off x="468313" y="359500"/>
            <a:ext cx="8229600" cy="862801"/>
          </a:xfrm>
        </p:spPr>
        <p:txBody>
          <a:bodyPr/>
          <a:lstStyle/>
          <a:p>
            <a:r>
              <a:rPr lang="zh-CN" altLang="en-US" dirty="0"/>
              <a:t>软件测试类型</a:t>
            </a:r>
            <a:r>
              <a:rPr lang="zh-CN" altLang="en-US" dirty="0">
                <a:latin typeface="宋体" pitchFamily="2" charset="-122"/>
              </a:rPr>
              <a:t>－</a:t>
            </a:r>
            <a:r>
              <a:rPr lang="zh-CN" altLang="en-US" dirty="0">
                <a:latin typeface="楷体_GB2312"/>
                <a:ea typeface="楷体_GB2312"/>
                <a:cs typeface="楷体_GB2312"/>
              </a:rPr>
              <a:t>讨论</a:t>
            </a:r>
          </a:p>
        </p:txBody>
      </p:sp>
      <p:sp>
        <p:nvSpPr>
          <p:cNvPr id="325635" name="内容占位符 1"/>
          <p:cNvSpPr>
            <a:spLocks noGrp="1"/>
          </p:cNvSpPr>
          <p:nvPr>
            <p:ph idx="1"/>
          </p:nvPr>
        </p:nvSpPr>
        <p:spPr>
          <a:xfrm>
            <a:off x="468313" y="1319578"/>
            <a:ext cx="8229600" cy="4525476"/>
          </a:xfrm>
        </p:spPr>
        <p:txBody>
          <a:bodyPr/>
          <a:lstStyle/>
          <a:p>
            <a:endParaRPr lang="zh-CN" altLang="en-US"/>
          </a:p>
        </p:txBody>
      </p:sp>
      <p:sp>
        <p:nvSpPr>
          <p:cNvPr id="325636" name="灯片编号占位符 3"/>
          <p:cNvSpPr>
            <a:spLocks noGrp="1"/>
          </p:cNvSpPr>
          <p:nvPr>
            <p:ph type="sldNum" sz="quarter" idx="4294967295"/>
          </p:nvPr>
        </p:nvSpPr>
        <p:spPr>
          <a:noFill/>
        </p:spPr>
        <p:txBody>
          <a:bodyPr anchor="t"/>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l" eaLnBrk="0" hangingPunct="0">
              <a:spcBef>
                <a:spcPct val="0"/>
              </a:spcBef>
              <a:buFontTx/>
              <a:buNone/>
            </a:pPr>
            <a:fld id="{24893098-A7B7-41F8-90E6-D060D7DFA836}" type="slidenum">
              <a:rPr lang="en-US" altLang="zh-CN" sz="1800" b="0">
                <a:latin typeface="Times New Roman" pitchFamily="18" charset="0"/>
                <a:ea typeface="微软雅黑" pitchFamily="34" charset="-122"/>
              </a:rPr>
              <a:pPr algn="l" eaLnBrk="0" hangingPunct="0">
                <a:spcBef>
                  <a:spcPct val="0"/>
                </a:spcBef>
                <a:buFontTx/>
                <a:buNone/>
              </a:pPr>
              <a:t>108</a:t>
            </a:fld>
            <a:endParaRPr lang="en-US" altLang="zh-CN" sz="1800" b="0">
              <a:latin typeface="Times New Roman" pitchFamily="18" charset="0"/>
              <a:ea typeface="微软雅黑" pitchFamily="34" charset="-122"/>
            </a:endParaRPr>
          </a:p>
        </p:txBody>
      </p:sp>
      <p:pic>
        <p:nvPicPr>
          <p:cNvPr id="325637" name="Picture 4" descr="Cdi51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5726" y="1939189"/>
            <a:ext cx="4054475" cy="336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23183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Slide Number Placeholder 3"/>
          <p:cNvSpPr txBox="1">
            <a:spLocks noGrp="1" noChangeArrowheads="1"/>
          </p:cNvSpPr>
          <p:nvPr/>
        </p:nvSpPr>
        <p:spPr bwMode="auto">
          <a:xfrm>
            <a:off x="8027988" y="6729003"/>
            <a:ext cx="946150" cy="124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lgn="r" eaLnBrk="1" hangingPunct="1">
              <a:spcBef>
                <a:spcPct val="0"/>
              </a:spcBef>
              <a:buFont typeface="Arial" pitchFamily="34" charset="0"/>
              <a:buNone/>
            </a:pPr>
            <a:fld id="{E940CD21-DA82-4BE1-9CA2-D6328CD9C321}" type="slidenum">
              <a:rPr lang="zh-CN" altLang="zh-CN" sz="600" b="1">
                <a:solidFill>
                  <a:schemeClr val="bg1"/>
                </a:solidFill>
                <a:latin typeface="微软雅黑" pitchFamily="34" charset="-122"/>
                <a:ea typeface="微软雅黑" pitchFamily="34" charset="-122"/>
              </a:rPr>
              <a:pPr algn="r" eaLnBrk="1" hangingPunct="1">
                <a:spcBef>
                  <a:spcPct val="0"/>
                </a:spcBef>
                <a:buFont typeface="Arial" pitchFamily="34" charset="0"/>
                <a:buNone/>
              </a:pPr>
              <a:t>109</a:t>
            </a:fld>
            <a:endParaRPr lang="zh-CN" altLang="zh-CN" sz="600" b="1">
              <a:solidFill>
                <a:schemeClr val="bg1"/>
              </a:solidFill>
              <a:latin typeface="微软雅黑" pitchFamily="34" charset="-122"/>
              <a:ea typeface="微软雅黑" pitchFamily="34" charset="-122"/>
            </a:endParaRPr>
          </a:p>
        </p:txBody>
      </p:sp>
      <p:sp>
        <p:nvSpPr>
          <p:cNvPr id="408579" name="TextBox 7"/>
          <p:cNvSpPr txBox="1">
            <a:spLocks noChangeArrowheads="1"/>
          </p:cNvSpPr>
          <p:nvPr/>
        </p:nvSpPr>
        <p:spPr bwMode="auto">
          <a:xfrm>
            <a:off x="1979614" y="1012946"/>
            <a:ext cx="3671887"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lnSpc>
                <a:spcPct val="120000"/>
              </a:lnSpc>
              <a:spcBef>
                <a:spcPct val="0"/>
              </a:spcBef>
              <a:buFont typeface="Arial" pitchFamily="34" charset="0"/>
              <a:buNone/>
            </a:pPr>
            <a:r>
              <a:rPr lang="zh-CN" altLang="zh-CN" sz="7200">
                <a:solidFill>
                  <a:srgbClr val="002060"/>
                </a:solidFill>
                <a:latin typeface="微软雅黑" pitchFamily="34" charset="-122"/>
                <a:ea typeface="微软雅黑" pitchFamily="34" charset="-122"/>
              </a:rPr>
              <a:t>谢  谢！</a:t>
            </a:r>
          </a:p>
        </p:txBody>
      </p:sp>
      <p:sp>
        <p:nvSpPr>
          <p:cNvPr id="408580" name="Rectangle 3"/>
          <p:cNvSpPr>
            <a:spLocks noChangeArrowheads="1"/>
          </p:cNvSpPr>
          <p:nvPr/>
        </p:nvSpPr>
        <p:spPr bwMode="auto">
          <a:xfrm>
            <a:off x="7308851" y="0"/>
            <a:ext cx="1800225" cy="3827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grpSp>
        <p:nvGrpSpPr>
          <p:cNvPr id="408581" name="Group 4"/>
          <p:cNvGrpSpPr>
            <a:grpSpLocks/>
          </p:cNvGrpSpPr>
          <p:nvPr/>
        </p:nvGrpSpPr>
        <p:grpSpPr bwMode="auto">
          <a:xfrm>
            <a:off x="3175" y="-16917"/>
            <a:ext cx="9153525" cy="6881261"/>
            <a:chOff x="0" y="0"/>
            <a:chExt cx="14414" cy="8135"/>
          </a:xfrm>
        </p:grpSpPr>
        <p:sp>
          <p:nvSpPr>
            <p:cNvPr id="408583" name="AutoShape 5"/>
            <p:cNvSpPr>
              <a:spLocks noChangeArrowheads="1"/>
            </p:cNvSpPr>
            <p:nvPr/>
          </p:nvSpPr>
          <p:spPr bwMode="auto">
            <a:xfrm flipV="1">
              <a:off x="18" y="40"/>
              <a:ext cx="13642" cy="1653"/>
            </a:xfrm>
            <a:prstGeom prst="rtTriangle">
              <a:avLst/>
            </a:prstGeom>
            <a:solidFill>
              <a:srgbClr val="FF33CC"/>
            </a:solidFill>
            <a:ln w="38100">
              <a:solidFill>
                <a:srgbClr val="FF33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sp>
          <p:nvSpPr>
            <p:cNvPr id="408584" name="AutoShape 6"/>
            <p:cNvSpPr>
              <a:spLocks noChangeArrowheads="1"/>
            </p:cNvSpPr>
            <p:nvPr/>
          </p:nvSpPr>
          <p:spPr bwMode="auto">
            <a:xfrm rot="-5400000">
              <a:off x="7566" y="1291"/>
              <a:ext cx="7885" cy="5723"/>
            </a:xfrm>
            <a:prstGeom prst="rtTriangle">
              <a:avLst/>
            </a:prstGeom>
            <a:solidFill>
              <a:srgbClr val="0070C0"/>
            </a:solidFill>
            <a:ln w="381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sp>
          <p:nvSpPr>
            <p:cNvPr id="408585" name="AutoShape 7"/>
            <p:cNvSpPr>
              <a:spLocks noChangeArrowheads="1"/>
            </p:cNvSpPr>
            <p:nvPr/>
          </p:nvSpPr>
          <p:spPr bwMode="auto">
            <a:xfrm>
              <a:off x="0" y="5465"/>
              <a:ext cx="14140" cy="2670"/>
            </a:xfrm>
            <a:prstGeom prst="rtTriangle">
              <a:avLst/>
            </a:prstGeom>
            <a:solidFill>
              <a:schemeClr val="tx1">
                <a:alpha val="79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sp>
          <p:nvSpPr>
            <p:cNvPr id="408586" name="AutoShape 8"/>
            <p:cNvSpPr>
              <a:spLocks noChangeArrowheads="1"/>
            </p:cNvSpPr>
            <p:nvPr/>
          </p:nvSpPr>
          <p:spPr bwMode="auto">
            <a:xfrm rot="16200000" flipH="1">
              <a:off x="10461" y="1469"/>
              <a:ext cx="5415" cy="2477"/>
            </a:xfrm>
            <a:prstGeom prst="rtTriangle">
              <a:avLst/>
            </a:prstGeom>
            <a:solidFill>
              <a:srgbClr val="33CC33">
                <a:alpha val="7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eaLnBrk="1" hangingPunct="1">
                <a:spcBef>
                  <a:spcPct val="0"/>
                </a:spcBef>
                <a:buFont typeface="Arial" pitchFamily="34" charset="0"/>
                <a:buNone/>
              </a:pPr>
              <a:endParaRPr lang="en-US" altLang="zh-CN" sz="1800">
                <a:latin typeface="Times New Roman" pitchFamily="18" charset="0"/>
                <a:ea typeface="微软雅黑" pitchFamily="34" charset="-122"/>
              </a:endParaRPr>
            </a:p>
          </p:txBody>
        </p:sp>
      </p:grpSp>
      <p:sp>
        <p:nvSpPr>
          <p:cNvPr id="408582" name="TextBox 4"/>
          <p:cNvSpPr>
            <a:spLocks noChangeArrowheads="1"/>
          </p:cNvSpPr>
          <p:nvPr/>
        </p:nvSpPr>
        <p:spPr bwMode="auto">
          <a:xfrm>
            <a:off x="3924300" y="3525220"/>
            <a:ext cx="2951956"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Font typeface="Arial" pitchFamily="34" charset="0"/>
              <a:buChar char="•"/>
              <a:defRPr sz="3200">
                <a:solidFill>
                  <a:schemeClr val="tx1"/>
                </a:solidFill>
                <a:latin typeface="Arial" pitchFamily="34" charset="0"/>
                <a:ea typeface="黑体" pitchFamily="49" charset="-122"/>
              </a:defRPr>
            </a:lvl1pPr>
            <a:lvl2pPr marL="742950" indent="-285750">
              <a:spcBef>
                <a:spcPct val="20000"/>
              </a:spcBef>
              <a:buFont typeface="Arial" pitchFamily="34" charset="0"/>
              <a:buChar char="–"/>
              <a:defRPr sz="2800">
                <a:solidFill>
                  <a:schemeClr val="tx1"/>
                </a:solidFill>
                <a:latin typeface="Arial" pitchFamily="34" charset="0"/>
                <a:ea typeface="黑体" pitchFamily="49" charset="-122"/>
              </a:defRPr>
            </a:lvl2pPr>
            <a:lvl3pPr marL="1143000" indent="-228600">
              <a:spcBef>
                <a:spcPct val="20000"/>
              </a:spcBef>
              <a:buFont typeface="Arial" pitchFamily="34" charset="0"/>
              <a:buChar char="•"/>
              <a:defRPr sz="2400">
                <a:solidFill>
                  <a:schemeClr val="tx1"/>
                </a:solidFill>
                <a:latin typeface="Arial" pitchFamily="34" charset="0"/>
                <a:ea typeface="黑体" pitchFamily="49" charset="-122"/>
              </a:defRPr>
            </a:lvl3pPr>
            <a:lvl4pPr marL="1600200" indent="-228600">
              <a:spcBef>
                <a:spcPct val="20000"/>
              </a:spcBef>
              <a:buFont typeface="Arial" pitchFamily="34" charset="0"/>
              <a:buChar char="–"/>
              <a:defRPr sz="2000">
                <a:solidFill>
                  <a:schemeClr val="tx1"/>
                </a:solidFill>
                <a:latin typeface="Arial" pitchFamily="34" charset="0"/>
                <a:ea typeface="黑体" pitchFamily="49" charset="-122"/>
              </a:defRPr>
            </a:lvl4pPr>
            <a:lvl5pPr marL="2057400" indent="-228600">
              <a:spcBef>
                <a:spcPct val="20000"/>
              </a:spcBef>
              <a:buFont typeface="Arial" pitchFamily="34" charset="0"/>
              <a:buChar char="»"/>
              <a:defRPr sz="2000">
                <a:solidFill>
                  <a:schemeClr val="tx1"/>
                </a:solidFill>
                <a:latin typeface="Arial" pitchFamily="34" charset="0"/>
                <a:ea typeface="黑体" pitchFamily="49" charset="-122"/>
              </a:defRPr>
            </a:lvl5pPr>
            <a:lvl6pPr marL="25146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6pPr>
            <a:lvl7pPr marL="29718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7pPr>
            <a:lvl8pPr marL="34290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8pPr>
            <a:lvl9pPr marL="3886200" indent="-228600" eaLnBrk="0" fontAlgn="base" hangingPunct="0">
              <a:spcBef>
                <a:spcPct val="20000"/>
              </a:spcBef>
              <a:spcAft>
                <a:spcPct val="0"/>
              </a:spcAft>
              <a:buFont typeface="Arial" pitchFamily="34" charset="0"/>
              <a:buChar char="»"/>
              <a:defRPr sz="2000">
                <a:solidFill>
                  <a:schemeClr val="tx1"/>
                </a:solidFill>
                <a:latin typeface="Arial" pitchFamily="34" charset="0"/>
                <a:ea typeface="黑体" pitchFamily="49" charset="-122"/>
              </a:defRPr>
            </a:lvl9pPr>
          </a:lstStyle>
          <a:p>
            <a:pPr>
              <a:spcBef>
                <a:spcPct val="0"/>
              </a:spcBef>
              <a:buFont typeface="Arial" pitchFamily="34" charset="0"/>
              <a:buNone/>
            </a:pPr>
            <a:r>
              <a:rPr lang="zh-CN" altLang="en-US" sz="1200" b="1" dirty="0">
                <a:solidFill>
                  <a:srgbClr val="000000"/>
                </a:solidFill>
                <a:latin typeface="微软雅黑" pitchFamily="34" charset="-122"/>
                <a:ea typeface="微软雅黑" pitchFamily="34" charset="-122"/>
                <a:sym typeface="微软雅黑" pitchFamily="34" charset="-122"/>
              </a:rPr>
              <a:t>华南理工大学 计算机科学与工程学院</a:t>
            </a:r>
          </a:p>
          <a:p>
            <a:pPr>
              <a:spcBef>
                <a:spcPct val="0"/>
              </a:spcBef>
              <a:buFont typeface="Arial" pitchFamily="34" charset="0"/>
              <a:buNone/>
            </a:pPr>
            <a:endParaRPr lang="zh-CN" altLang="en-US" sz="1200" b="1" dirty="0">
              <a:solidFill>
                <a:srgbClr val="000000"/>
              </a:solidFill>
              <a:latin typeface="微软雅黑" pitchFamily="34" charset="-122"/>
              <a:ea typeface="微软雅黑" pitchFamily="34" charset="-122"/>
              <a:sym typeface="微软雅黑" pitchFamily="34" charset="-122"/>
            </a:endParaRPr>
          </a:p>
          <a:p>
            <a:pPr>
              <a:spcBef>
                <a:spcPct val="0"/>
              </a:spcBef>
              <a:buFont typeface="Arial" pitchFamily="34" charset="0"/>
              <a:buNone/>
            </a:pPr>
            <a:r>
              <a:rPr lang="zh-CN" altLang="en-US" sz="1200" dirty="0">
                <a:solidFill>
                  <a:srgbClr val="777777"/>
                </a:solidFill>
                <a:latin typeface="微软雅黑" pitchFamily="34" charset="-122"/>
                <a:ea typeface="微软雅黑" pitchFamily="34" charset="-122"/>
                <a:sym typeface="微软雅黑" pitchFamily="34" charset="-122"/>
              </a:rPr>
              <a:t>广州市番禺区大学城华南理工大学</a:t>
            </a:r>
          </a:p>
          <a:p>
            <a:pPr>
              <a:spcBef>
                <a:spcPct val="0"/>
              </a:spcBef>
              <a:buFont typeface="Arial" pitchFamily="34" charset="0"/>
              <a:buNone/>
            </a:pPr>
            <a:r>
              <a:rPr lang="zh-CN" altLang="en-US" sz="1200" dirty="0">
                <a:solidFill>
                  <a:srgbClr val="777777"/>
                </a:solidFill>
                <a:latin typeface="微软雅黑" pitchFamily="34" charset="-122"/>
                <a:ea typeface="微软雅黑" pitchFamily="34" charset="-122"/>
                <a:sym typeface="微软雅黑" pitchFamily="34" charset="-122"/>
              </a:rPr>
              <a:t>邮编：510006</a:t>
            </a:r>
          </a:p>
          <a:p>
            <a:pPr>
              <a:spcBef>
                <a:spcPct val="0"/>
              </a:spcBef>
              <a:buFont typeface="Arial" pitchFamily="34" charset="0"/>
              <a:buNone/>
            </a:pPr>
            <a:r>
              <a:rPr lang="zh-CN" altLang="en-US" sz="1200" dirty="0">
                <a:solidFill>
                  <a:srgbClr val="777777"/>
                </a:solidFill>
                <a:latin typeface="微软雅黑" pitchFamily="34" charset="-122"/>
                <a:ea typeface="微软雅黑" pitchFamily="34" charset="-122"/>
                <a:sym typeface="微软雅黑" pitchFamily="34" charset="-122"/>
              </a:rPr>
              <a:t>电子邮件：</a:t>
            </a:r>
            <a:r>
              <a:rPr lang="en-US" altLang="zh-CN" sz="1200" dirty="0" err="1">
                <a:solidFill>
                  <a:srgbClr val="777777"/>
                </a:solidFill>
                <a:latin typeface="微软雅黑" pitchFamily="34" charset="-122"/>
                <a:ea typeface="微软雅黑" pitchFamily="34" charset="-122"/>
                <a:sym typeface="微软雅黑" pitchFamily="34" charset="-122"/>
              </a:rPr>
              <a:t>nieyongwei</a:t>
            </a:r>
            <a:r>
              <a:rPr lang="zh-CN" altLang="en-US" sz="1200" dirty="0">
                <a:solidFill>
                  <a:srgbClr val="777777"/>
                </a:solidFill>
                <a:latin typeface="微软雅黑" pitchFamily="34" charset="-122"/>
                <a:ea typeface="微软雅黑" pitchFamily="34" charset="-122"/>
                <a:sym typeface="微软雅黑" pitchFamily="34" charset="-122"/>
              </a:rPr>
              <a:t>@scut.edu.cn</a:t>
            </a:r>
          </a:p>
        </p:txBody>
      </p:sp>
    </p:spTree>
    <p:extLst>
      <p:ext uri="{BB962C8B-B14F-4D97-AF65-F5344CB8AC3E}">
        <p14:creationId xmlns:p14="http://schemas.microsoft.com/office/powerpoint/2010/main" val="27398349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1350</TotalTime>
  <Words>4858</Words>
  <Application>Microsoft Office PowerPoint</Application>
  <PresentationFormat>全屏显示(4:3)</PresentationFormat>
  <Paragraphs>757</Paragraphs>
  <Slides>109</Slides>
  <Notes>19</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109</vt:i4>
      </vt:variant>
    </vt:vector>
  </HeadingPairs>
  <TitlesOfParts>
    <vt:vector size="120" baseType="lpstr">
      <vt:lpstr>仿宋_GB2312</vt:lpstr>
      <vt:lpstr>楷体_GB2312</vt:lpstr>
      <vt:lpstr>宋体</vt:lpstr>
      <vt:lpstr>微软雅黑</vt:lpstr>
      <vt:lpstr>Arial</vt:lpstr>
      <vt:lpstr>Calibri</vt:lpstr>
      <vt:lpstr>Times New Roman</vt:lpstr>
      <vt:lpstr>Wingdings</vt:lpstr>
      <vt:lpstr>Office 主题</vt:lpstr>
      <vt:lpstr>Clip</vt:lpstr>
      <vt:lpstr>Bitmap Image</vt:lpstr>
      <vt:lpstr>PowerPoint 演示文稿</vt:lpstr>
      <vt:lpstr>运用测试技术-概览</vt:lpstr>
      <vt:lpstr>配置测试</vt:lpstr>
      <vt:lpstr>配置测试</vt:lpstr>
      <vt:lpstr>配置测试</vt:lpstr>
      <vt:lpstr>配置测试</vt:lpstr>
      <vt:lpstr>配置测试</vt:lpstr>
      <vt:lpstr>配置测试</vt:lpstr>
      <vt:lpstr>配置测试</vt:lpstr>
      <vt:lpstr>配置测试</vt:lpstr>
      <vt:lpstr>配置测试</vt:lpstr>
      <vt:lpstr>配置测试</vt:lpstr>
      <vt:lpstr>配置测试</vt:lpstr>
      <vt:lpstr>配置测试</vt:lpstr>
      <vt:lpstr>配置测试</vt:lpstr>
      <vt:lpstr>配置测试</vt:lpstr>
      <vt:lpstr>配置测试</vt:lpstr>
      <vt:lpstr>兼容性测试</vt:lpstr>
      <vt:lpstr>兼容性测试</vt:lpstr>
      <vt:lpstr>兼容性测试</vt:lpstr>
      <vt:lpstr>兼容性测试</vt:lpstr>
      <vt:lpstr>兼容性测试</vt:lpstr>
      <vt:lpstr>兼容性测试</vt:lpstr>
      <vt:lpstr>兼容性测试</vt:lpstr>
      <vt:lpstr>兼容性测试</vt:lpstr>
      <vt:lpstr>外国语言测试</vt:lpstr>
      <vt:lpstr>外国语言测试</vt:lpstr>
      <vt:lpstr>外国语言测试</vt:lpstr>
      <vt:lpstr>外国语言测试</vt:lpstr>
      <vt:lpstr>外国语言测试</vt:lpstr>
      <vt:lpstr>外国语言测试</vt:lpstr>
      <vt:lpstr>外国语言测试</vt:lpstr>
      <vt:lpstr>外国语言测试</vt:lpstr>
      <vt:lpstr>易用性测试</vt:lpstr>
      <vt:lpstr>易用性测试</vt:lpstr>
      <vt:lpstr>易用性测试</vt:lpstr>
      <vt:lpstr>易用性测试</vt:lpstr>
      <vt:lpstr>文档测试</vt:lpstr>
      <vt:lpstr>文档测试</vt:lpstr>
      <vt:lpstr>文档测试</vt:lpstr>
      <vt:lpstr>文档测试</vt:lpstr>
      <vt:lpstr>软件安全性测试</vt:lpstr>
      <vt:lpstr>软件安全性测试</vt:lpstr>
      <vt:lpstr>软件安全性测试</vt:lpstr>
      <vt:lpstr>软件安全性测试</vt:lpstr>
      <vt:lpstr>软件安全性测试</vt:lpstr>
      <vt:lpstr>软件安全性测试</vt:lpstr>
      <vt:lpstr>网站测试</vt:lpstr>
      <vt:lpstr>网站测试</vt:lpstr>
      <vt:lpstr>网站测试</vt:lpstr>
      <vt:lpstr>网站测试</vt:lpstr>
      <vt:lpstr>网站测试</vt:lpstr>
      <vt:lpstr>网站测试</vt:lpstr>
      <vt:lpstr>网站测试</vt:lpstr>
      <vt:lpstr>其他典型类型</vt:lpstr>
      <vt:lpstr>功能测试－基本目标</vt:lpstr>
      <vt:lpstr>功能测试－能力</vt:lpstr>
      <vt:lpstr>功能测试－基本方法</vt:lpstr>
      <vt:lpstr>功能测试－功能列表来源</vt:lpstr>
      <vt:lpstr>功能测试－功能列表</vt:lpstr>
      <vt:lpstr>功能测试－单一功能测试用例</vt:lpstr>
      <vt:lpstr>功能测试－组合功能测试用例</vt:lpstr>
      <vt:lpstr>功能测试－典型案例</vt:lpstr>
      <vt:lpstr>功能测试－盲点</vt:lpstr>
      <vt:lpstr>功能测试－工具</vt:lpstr>
      <vt:lpstr>功能测试－范例</vt:lpstr>
      <vt:lpstr>性能测试－基本目标</vt:lpstr>
      <vt:lpstr>性能测试－原因</vt:lpstr>
      <vt:lpstr>性能测试－基本方法</vt:lpstr>
      <vt:lpstr>性能测试－基本方法</vt:lpstr>
      <vt:lpstr>性能测试－典型案例</vt:lpstr>
      <vt:lpstr>压力测试－基本目标</vt:lpstr>
      <vt:lpstr>压力测试－能力</vt:lpstr>
      <vt:lpstr>压力测试－基本方法</vt:lpstr>
      <vt:lpstr>压力测试－典型案例</vt:lpstr>
      <vt:lpstr>外部接口测试－基本目标</vt:lpstr>
      <vt:lpstr>外部接口测试－能力</vt:lpstr>
      <vt:lpstr>外部接口测试－基本方法</vt:lpstr>
      <vt:lpstr>外部接口测试－典型案例</vt:lpstr>
      <vt:lpstr>人机交互界面测试－基本目标</vt:lpstr>
      <vt:lpstr>人机交互界面测试－能力</vt:lpstr>
      <vt:lpstr>人机交互界面测试－基本方法</vt:lpstr>
      <vt:lpstr>人机交互界面测试－典型案例</vt:lpstr>
      <vt:lpstr>人机交互界面测试－盲点</vt:lpstr>
      <vt:lpstr>介绍－想定测试</vt:lpstr>
      <vt:lpstr>想定测试</vt:lpstr>
      <vt:lpstr>想定测试</vt:lpstr>
      <vt:lpstr>域测试</vt:lpstr>
      <vt:lpstr>域测试</vt:lpstr>
      <vt:lpstr>探索性测试－基本目标</vt:lpstr>
      <vt:lpstr>探索性测试－能力</vt:lpstr>
      <vt:lpstr>探索性测试－基本方法</vt:lpstr>
      <vt:lpstr>探索性测试－典型案例</vt:lpstr>
      <vt:lpstr>探索性测试－盲点</vt:lpstr>
      <vt:lpstr>随机测试－基本目标</vt:lpstr>
      <vt:lpstr>随机测试－能力</vt:lpstr>
      <vt:lpstr>随机测试－典型案例</vt:lpstr>
      <vt:lpstr>随机测试－盲点</vt:lpstr>
      <vt:lpstr>基于风险的测试－基本目标</vt:lpstr>
      <vt:lpstr>基于风险的测试－能力</vt:lpstr>
      <vt:lpstr>基于风险的测试－基本方法</vt:lpstr>
      <vt:lpstr>基于风险的测试－典型案例</vt:lpstr>
      <vt:lpstr>基于风险的测试－盲点</vt:lpstr>
      <vt:lpstr>基于规范的测试</vt:lpstr>
      <vt:lpstr>安装性测试</vt:lpstr>
      <vt:lpstr>可靠性测试</vt:lpstr>
      <vt:lpstr>恢复性测试</vt:lpstr>
      <vt:lpstr>软件测试类型－讨论</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yongwei nie</dc:creator>
  <cp:lastModifiedBy>nie yongwei</cp:lastModifiedBy>
  <cp:revision>76</cp:revision>
  <dcterms:created xsi:type="dcterms:W3CDTF">2017-03-21T08:31:42Z</dcterms:created>
  <dcterms:modified xsi:type="dcterms:W3CDTF">2021-04-08T02:21:01Z</dcterms:modified>
</cp:coreProperties>
</file>