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9"/>
  </p:notesMasterIdLst>
  <p:handoutMasterIdLst>
    <p:handoutMasterId r:id="rId120"/>
  </p:handoutMasterIdLst>
  <p:sldIdLst>
    <p:sldId id="406" r:id="rId2"/>
    <p:sldId id="853" r:id="rId3"/>
    <p:sldId id="854" r:id="rId4"/>
    <p:sldId id="979" r:id="rId5"/>
    <p:sldId id="855" r:id="rId6"/>
    <p:sldId id="856" r:id="rId7"/>
    <p:sldId id="857" r:id="rId8"/>
    <p:sldId id="858" r:id="rId9"/>
    <p:sldId id="859" r:id="rId10"/>
    <p:sldId id="913" r:id="rId11"/>
    <p:sldId id="905" r:id="rId12"/>
    <p:sldId id="909" r:id="rId13"/>
    <p:sldId id="910" r:id="rId14"/>
    <p:sldId id="911" r:id="rId15"/>
    <p:sldId id="912" r:id="rId16"/>
    <p:sldId id="906" r:id="rId17"/>
    <p:sldId id="907" r:id="rId18"/>
    <p:sldId id="908" r:id="rId19"/>
    <p:sldId id="915" r:id="rId20"/>
    <p:sldId id="916" r:id="rId21"/>
    <p:sldId id="919" r:id="rId22"/>
    <p:sldId id="920" r:id="rId23"/>
    <p:sldId id="921" r:id="rId24"/>
    <p:sldId id="863" r:id="rId25"/>
    <p:sldId id="922" r:id="rId26"/>
    <p:sldId id="864" r:id="rId27"/>
    <p:sldId id="865" r:id="rId28"/>
    <p:sldId id="866" r:id="rId29"/>
    <p:sldId id="918" r:id="rId30"/>
    <p:sldId id="934" r:id="rId31"/>
    <p:sldId id="924" r:id="rId32"/>
    <p:sldId id="928" r:id="rId33"/>
    <p:sldId id="929" r:id="rId34"/>
    <p:sldId id="930" r:id="rId35"/>
    <p:sldId id="931" r:id="rId36"/>
    <p:sldId id="932" r:id="rId37"/>
    <p:sldId id="933" r:id="rId38"/>
    <p:sldId id="935" r:id="rId39"/>
    <p:sldId id="877" r:id="rId40"/>
    <p:sldId id="878" r:id="rId41"/>
    <p:sldId id="936" r:id="rId42"/>
    <p:sldId id="937" r:id="rId43"/>
    <p:sldId id="938" r:id="rId44"/>
    <p:sldId id="879" r:id="rId45"/>
    <p:sldId id="885" r:id="rId46"/>
    <p:sldId id="886" r:id="rId47"/>
    <p:sldId id="887" r:id="rId48"/>
    <p:sldId id="888" r:id="rId49"/>
    <p:sldId id="889" r:id="rId50"/>
    <p:sldId id="940" r:id="rId51"/>
    <p:sldId id="942" r:id="rId52"/>
    <p:sldId id="1004" r:id="rId53"/>
    <p:sldId id="943" r:id="rId54"/>
    <p:sldId id="944" r:id="rId55"/>
    <p:sldId id="945" r:id="rId56"/>
    <p:sldId id="946" r:id="rId57"/>
    <p:sldId id="947" r:id="rId58"/>
    <p:sldId id="948" r:id="rId59"/>
    <p:sldId id="972" r:id="rId60"/>
    <p:sldId id="949" r:id="rId61"/>
    <p:sldId id="950" r:id="rId62"/>
    <p:sldId id="973" r:id="rId63"/>
    <p:sldId id="951" r:id="rId64"/>
    <p:sldId id="952" r:id="rId65"/>
    <p:sldId id="953" r:id="rId66"/>
    <p:sldId id="954" r:id="rId67"/>
    <p:sldId id="955" r:id="rId68"/>
    <p:sldId id="956" r:id="rId69"/>
    <p:sldId id="957" r:id="rId70"/>
    <p:sldId id="958" r:id="rId71"/>
    <p:sldId id="960" r:id="rId72"/>
    <p:sldId id="961" r:id="rId73"/>
    <p:sldId id="962" r:id="rId74"/>
    <p:sldId id="963" r:id="rId75"/>
    <p:sldId id="964" r:id="rId76"/>
    <p:sldId id="965" r:id="rId77"/>
    <p:sldId id="966" r:id="rId78"/>
    <p:sldId id="967" r:id="rId79"/>
    <p:sldId id="968" r:id="rId80"/>
    <p:sldId id="969" r:id="rId81"/>
    <p:sldId id="971" r:id="rId82"/>
    <p:sldId id="977" r:id="rId83"/>
    <p:sldId id="978" r:id="rId84"/>
    <p:sldId id="976" r:id="rId85"/>
    <p:sldId id="980" r:id="rId86"/>
    <p:sldId id="511" r:id="rId87"/>
    <p:sldId id="981" r:id="rId88"/>
    <p:sldId id="982" r:id="rId89"/>
    <p:sldId id="983" r:id="rId90"/>
    <p:sldId id="984" r:id="rId91"/>
    <p:sldId id="986" r:id="rId92"/>
    <p:sldId id="987" r:id="rId93"/>
    <p:sldId id="995" r:id="rId94"/>
    <p:sldId id="988" r:id="rId95"/>
    <p:sldId id="990" r:id="rId96"/>
    <p:sldId id="991" r:id="rId97"/>
    <p:sldId id="992" r:id="rId98"/>
    <p:sldId id="993" r:id="rId99"/>
    <p:sldId id="994" r:id="rId100"/>
    <p:sldId id="996" r:id="rId101"/>
    <p:sldId id="997" r:id="rId102"/>
    <p:sldId id="998" r:id="rId103"/>
    <p:sldId id="999" r:id="rId104"/>
    <p:sldId id="1000" r:id="rId105"/>
    <p:sldId id="1001" r:id="rId106"/>
    <p:sldId id="1002" r:id="rId107"/>
    <p:sldId id="1005" r:id="rId108"/>
    <p:sldId id="540" r:id="rId109"/>
    <p:sldId id="1006" r:id="rId110"/>
    <p:sldId id="541" r:id="rId111"/>
    <p:sldId id="592" r:id="rId112"/>
    <p:sldId id="1007" r:id="rId113"/>
    <p:sldId id="1008" r:id="rId114"/>
    <p:sldId id="1009" r:id="rId115"/>
    <p:sldId id="1010" r:id="rId116"/>
    <p:sldId id="594" r:id="rId117"/>
    <p:sldId id="312" r:id="rId118"/>
  </p:sldIdLst>
  <p:sldSz cx="9144000" cy="5148263"/>
  <p:notesSz cx="6858000" cy="9144000"/>
  <p:defaultTextStyle>
    <a:defPPr>
      <a:defRPr lang="zh-CN"/>
    </a:defPPr>
    <a:lvl1pPr algn="l" rtl="0" eaLnBrk="0" fontAlgn="base" hangingPunct="0">
      <a:spcBef>
        <a:spcPct val="0"/>
      </a:spcBef>
      <a:spcAft>
        <a:spcPct val="0"/>
      </a:spcAft>
      <a:defRPr kern="1200">
        <a:solidFill>
          <a:schemeClr val="tx1"/>
        </a:solidFill>
        <a:latin typeface="Times New Roman" pitchFamily="18" charset="0"/>
        <a:ea typeface="微软雅黑" pitchFamily="34" charset="-122"/>
        <a:cs typeface="+mn-cs"/>
      </a:defRPr>
    </a:lvl1pPr>
    <a:lvl2pPr marL="457200" algn="l" rtl="0" eaLnBrk="0" fontAlgn="base" hangingPunct="0">
      <a:spcBef>
        <a:spcPct val="0"/>
      </a:spcBef>
      <a:spcAft>
        <a:spcPct val="0"/>
      </a:spcAft>
      <a:defRPr kern="1200">
        <a:solidFill>
          <a:schemeClr val="tx1"/>
        </a:solidFill>
        <a:latin typeface="Times New Roman" pitchFamily="18" charset="0"/>
        <a:ea typeface="微软雅黑" pitchFamily="34" charset="-122"/>
        <a:cs typeface="+mn-cs"/>
      </a:defRPr>
    </a:lvl2pPr>
    <a:lvl3pPr marL="914400" algn="l" rtl="0" eaLnBrk="0" fontAlgn="base" hangingPunct="0">
      <a:spcBef>
        <a:spcPct val="0"/>
      </a:spcBef>
      <a:spcAft>
        <a:spcPct val="0"/>
      </a:spcAft>
      <a:defRPr kern="1200">
        <a:solidFill>
          <a:schemeClr val="tx1"/>
        </a:solidFill>
        <a:latin typeface="Times New Roman" pitchFamily="18" charset="0"/>
        <a:ea typeface="微软雅黑" pitchFamily="34" charset="-122"/>
        <a:cs typeface="+mn-cs"/>
      </a:defRPr>
    </a:lvl3pPr>
    <a:lvl4pPr marL="1371600" algn="l" rtl="0" eaLnBrk="0" fontAlgn="base" hangingPunct="0">
      <a:spcBef>
        <a:spcPct val="0"/>
      </a:spcBef>
      <a:spcAft>
        <a:spcPct val="0"/>
      </a:spcAft>
      <a:defRPr kern="1200">
        <a:solidFill>
          <a:schemeClr val="tx1"/>
        </a:solidFill>
        <a:latin typeface="Times New Roman" pitchFamily="18" charset="0"/>
        <a:ea typeface="微软雅黑" pitchFamily="34" charset="-122"/>
        <a:cs typeface="+mn-cs"/>
      </a:defRPr>
    </a:lvl4pPr>
    <a:lvl5pPr marL="1828800" algn="l" rtl="0" eaLnBrk="0" fontAlgn="base" hangingPunct="0">
      <a:spcBef>
        <a:spcPct val="0"/>
      </a:spcBef>
      <a:spcAft>
        <a:spcPct val="0"/>
      </a:spcAft>
      <a:defRPr kern="1200">
        <a:solidFill>
          <a:schemeClr val="tx1"/>
        </a:solidFill>
        <a:latin typeface="Times New Roman" pitchFamily="18" charset="0"/>
        <a:ea typeface="微软雅黑" pitchFamily="34" charset="-122"/>
        <a:cs typeface="+mn-cs"/>
      </a:defRPr>
    </a:lvl5pPr>
    <a:lvl6pPr marL="2286000" algn="l" defTabSz="914400" rtl="0" eaLnBrk="1" latinLnBrk="0" hangingPunct="1">
      <a:defRPr kern="1200">
        <a:solidFill>
          <a:schemeClr val="tx1"/>
        </a:solidFill>
        <a:latin typeface="Times New Roman" pitchFamily="18" charset="0"/>
        <a:ea typeface="微软雅黑" pitchFamily="34" charset="-122"/>
        <a:cs typeface="+mn-cs"/>
      </a:defRPr>
    </a:lvl6pPr>
    <a:lvl7pPr marL="2743200" algn="l" defTabSz="914400" rtl="0" eaLnBrk="1" latinLnBrk="0" hangingPunct="1">
      <a:defRPr kern="1200">
        <a:solidFill>
          <a:schemeClr val="tx1"/>
        </a:solidFill>
        <a:latin typeface="Times New Roman" pitchFamily="18" charset="0"/>
        <a:ea typeface="微软雅黑" pitchFamily="34" charset="-122"/>
        <a:cs typeface="+mn-cs"/>
      </a:defRPr>
    </a:lvl7pPr>
    <a:lvl8pPr marL="3200400" algn="l" defTabSz="914400" rtl="0" eaLnBrk="1" latinLnBrk="0" hangingPunct="1">
      <a:defRPr kern="1200">
        <a:solidFill>
          <a:schemeClr val="tx1"/>
        </a:solidFill>
        <a:latin typeface="Times New Roman" pitchFamily="18" charset="0"/>
        <a:ea typeface="微软雅黑" pitchFamily="34" charset="-122"/>
        <a:cs typeface="+mn-cs"/>
      </a:defRPr>
    </a:lvl8pPr>
    <a:lvl9pPr marL="3657600" algn="l" defTabSz="914400" rtl="0" eaLnBrk="1" latinLnBrk="0" hangingPunct="1">
      <a:defRPr kern="1200">
        <a:solidFill>
          <a:schemeClr val="tx1"/>
        </a:solidFill>
        <a:latin typeface="Times New Roman" pitchFamily="18" charset="0"/>
        <a:ea typeface="微软雅黑" pitchFamily="34" charset="-122"/>
        <a:cs typeface="+mn-cs"/>
      </a:defRPr>
    </a:lvl9pPr>
  </p:defaultTextStyle>
  <p:extLst>
    <p:ext uri="{EFAFB233-063F-42B5-8137-9DF3F51BA10A}">
      <p15:sldGuideLst xmlns:p15="http://schemas.microsoft.com/office/powerpoint/2012/main">
        <p15:guide id="1" orient="horz" pos="1670">
          <p15:clr>
            <a:srgbClr val="A4A3A4"/>
          </p15:clr>
        </p15:guide>
        <p15:guide id="2" pos="292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A41C73"/>
    <a:srgbClr val="33CCFF"/>
    <a:srgbClr val="FFCC99"/>
    <a:srgbClr val="FFCC66"/>
    <a:srgbClr val="FF9900"/>
    <a:srgbClr val="0C1BE0"/>
    <a:srgbClr val="0A13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42" autoAdjust="0"/>
    <p:restoredTop sz="86572" autoAdjust="0"/>
  </p:normalViewPr>
  <p:slideViewPr>
    <p:cSldViewPr>
      <p:cViewPr varScale="1">
        <p:scale>
          <a:sx n="102" d="100"/>
          <a:sy n="102" d="100"/>
        </p:scale>
        <p:origin x="300" y="48"/>
      </p:cViewPr>
      <p:guideLst>
        <p:guide orient="horz" pos="1670"/>
        <p:guide pos="2925"/>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notesViewPr>
    <p:cSldViewPr>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41.xml"/><Relationship Id="rId7" Type="http://schemas.openxmlformats.org/officeDocument/2006/relationships/slide" Target="slides/slide45.xml"/><Relationship Id="rId2" Type="http://schemas.openxmlformats.org/officeDocument/2006/relationships/slide" Target="slides/slide40.xml"/><Relationship Id="rId1" Type="http://schemas.openxmlformats.org/officeDocument/2006/relationships/slide" Target="slides/slide39.xml"/><Relationship Id="rId6" Type="http://schemas.openxmlformats.org/officeDocument/2006/relationships/slide" Target="slides/slide44.xml"/><Relationship Id="rId5" Type="http://schemas.openxmlformats.org/officeDocument/2006/relationships/slide" Target="slides/slide43.xml"/><Relationship Id="rId4" Type="http://schemas.openxmlformats.org/officeDocument/2006/relationships/slide" Target="slides/slide4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960120-F833-4889-92E1-871985C1D13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6039939-4361-48CC-9446-3A25A3419BAC}">
      <dgm:prSet phldrT="[文本]"/>
      <dgm:spPr/>
      <dgm:t>
        <a:bodyPr/>
        <a:lstStyle/>
        <a:p>
          <a:r>
            <a:rPr lang="zh-CN" altLang="en-US" b="1" dirty="0">
              <a:solidFill>
                <a:srgbClr val="FFFF00"/>
              </a:solidFill>
            </a:rPr>
            <a:t>黑盒测试，白盒测试，</a:t>
          </a:r>
          <a:r>
            <a:rPr lang="zh-CN" altLang="en-US" dirty="0"/>
            <a:t>灰盒测试</a:t>
          </a:r>
        </a:p>
      </dgm:t>
    </dgm:pt>
    <dgm:pt modelId="{66BD6603-CC1E-4BE4-9A86-D927F6A4F64C}" type="parTrans" cxnId="{E5E3C336-D509-4F5F-BA52-C87599A6F711}">
      <dgm:prSet/>
      <dgm:spPr/>
      <dgm:t>
        <a:bodyPr/>
        <a:lstStyle/>
        <a:p>
          <a:endParaRPr lang="zh-CN" altLang="en-US"/>
        </a:p>
      </dgm:t>
    </dgm:pt>
    <dgm:pt modelId="{FE0A6C59-ECAF-4E16-A545-6792E7B83B69}" type="sibTrans" cxnId="{E5E3C336-D509-4F5F-BA52-C87599A6F711}">
      <dgm:prSet/>
      <dgm:spPr/>
      <dgm:t>
        <a:bodyPr/>
        <a:lstStyle/>
        <a:p>
          <a:endParaRPr lang="zh-CN" altLang="en-US"/>
        </a:p>
      </dgm:t>
    </dgm:pt>
    <dgm:pt modelId="{B57C06BA-CEC2-4414-B7AF-7D801DE18EB0}">
      <dgm:prSet phldrT="[文本]"/>
      <dgm:spPr/>
      <dgm:t>
        <a:bodyPr/>
        <a:lstStyle/>
        <a:p>
          <a:r>
            <a:rPr lang="zh-CN" altLang="en-US" b="1" dirty="0">
              <a:solidFill>
                <a:srgbClr val="FFFF00"/>
              </a:solidFill>
            </a:rPr>
            <a:t>静态测试，</a:t>
          </a:r>
          <a:r>
            <a:rPr lang="zh-CN" altLang="en-US" dirty="0"/>
            <a:t>动态测试</a:t>
          </a:r>
        </a:p>
      </dgm:t>
    </dgm:pt>
    <dgm:pt modelId="{7562EA64-420F-4FDD-BCB9-0BFD31353935}" type="parTrans" cxnId="{A1D4C83A-83F3-4A67-9744-E5693554C66A}">
      <dgm:prSet/>
      <dgm:spPr/>
      <dgm:t>
        <a:bodyPr/>
        <a:lstStyle/>
        <a:p>
          <a:endParaRPr lang="zh-CN" altLang="en-US"/>
        </a:p>
      </dgm:t>
    </dgm:pt>
    <dgm:pt modelId="{89122596-8907-4340-A461-8CCB65829068}" type="sibTrans" cxnId="{A1D4C83A-83F3-4A67-9744-E5693554C66A}">
      <dgm:prSet/>
      <dgm:spPr/>
      <dgm:t>
        <a:bodyPr/>
        <a:lstStyle/>
        <a:p>
          <a:endParaRPr lang="zh-CN" altLang="en-US"/>
        </a:p>
      </dgm:t>
    </dgm:pt>
    <dgm:pt modelId="{9DC90A0E-256A-4C47-81C8-2F5B5451328C}">
      <dgm:prSet phldrT="[文本]"/>
      <dgm:spPr/>
      <dgm:t>
        <a:bodyPr/>
        <a:lstStyle/>
        <a:p>
          <a:r>
            <a:rPr lang="zh-CN" altLang="en-US" dirty="0"/>
            <a:t>手工测试，自动化测试</a:t>
          </a:r>
        </a:p>
      </dgm:t>
    </dgm:pt>
    <dgm:pt modelId="{EAD4AF9C-43A7-4F46-8E22-DE6B7D049258}" type="parTrans" cxnId="{1B05A76A-9989-4920-97CE-2E4F34A8D220}">
      <dgm:prSet/>
      <dgm:spPr/>
      <dgm:t>
        <a:bodyPr/>
        <a:lstStyle/>
        <a:p>
          <a:endParaRPr lang="zh-CN" altLang="en-US"/>
        </a:p>
      </dgm:t>
    </dgm:pt>
    <dgm:pt modelId="{4EC16954-B194-4E63-B2FE-123EF1266E23}" type="sibTrans" cxnId="{1B05A76A-9989-4920-97CE-2E4F34A8D220}">
      <dgm:prSet/>
      <dgm:spPr/>
      <dgm:t>
        <a:bodyPr/>
        <a:lstStyle/>
        <a:p>
          <a:endParaRPr lang="zh-CN" altLang="en-US"/>
        </a:p>
      </dgm:t>
    </dgm:pt>
    <dgm:pt modelId="{A22D0AC8-4C30-4D41-BDF8-C1A6C5594E08}" type="pres">
      <dgm:prSet presAssocID="{B7960120-F833-4889-92E1-871985C1D137}" presName="Name0" presStyleCnt="0">
        <dgm:presLayoutVars>
          <dgm:chMax val="7"/>
          <dgm:chPref val="7"/>
          <dgm:dir/>
        </dgm:presLayoutVars>
      </dgm:prSet>
      <dgm:spPr/>
    </dgm:pt>
    <dgm:pt modelId="{C52FA5B4-7577-4675-906C-E2E8440128F8}" type="pres">
      <dgm:prSet presAssocID="{B7960120-F833-4889-92E1-871985C1D137}" presName="Name1" presStyleCnt="0"/>
      <dgm:spPr/>
    </dgm:pt>
    <dgm:pt modelId="{6AAD178B-75BD-40A1-AF8A-51CE9A4868D6}" type="pres">
      <dgm:prSet presAssocID="{B7960120-F833-4889-92E1-871985C1D137}" presName="cycle" presStyleCnt="0"/>
      <dgm:spPr/>
    </dgm:pt>
    <dgm:pt modelId="{E7DF3791-7255-48B1-A54A-48575CA05885}" type="pres">
      <dgm:prSet presAssocID="{B7960120-F833-4889-92E1-871985C1D137}" presName="srcNode" presStyleLbl="node1" presStyleIdx="0" presStyleCnt="3"/>
      <dgm:spPr/>
    </dgm:pt>
    <dgm:pt modelId="{8C56C2DB-05D4-4AC6-AC51-6B6D273F5539}" type="pres">
      <dgm:prSet presAssocID="{B7960120-F833-4889-92E1-871985C1D137}" presName="conn" presStyleLbl="parChTrans1D2" presStyleIdx="0" presStyleCnt="1"/>
      <dgm:spPr/>
    </dgm:pt>
    <dgm:pt modelId="{B647B2F3-C5B7-48EF-BCE3-CFE25F2C2301}" type="pres">
      <dgm:prSet presAssocID="{B7960120-F833-4889-92E1-871985C1D137}" presName="extraNode" presStyleLbl="node1" presStyleIdx="0" presStyleCnt="3"/>
      <dgm:spPr/>
    </dgm:pt>
    <dgm:pt modelId="{8A7C21F8-611D-424E-9BDC-521070B42A8C}" type="pres">
      <dgm:prSet presAssocID="{B7960120-F833-4889-92E1-871985C1D137}" presName="dstNode" presStyleLbl="node1" presStyleIdx="0" presStyleCnt="3"/>
      <dgm:spPr/>
    </dgm:pt>
    <dgm:pt modelId="{5305CEED-D3F2-466A-B20D-2C1C773F883C}" type="pres">
      <dgm:prSet presAssocID="{26039939-4361-48CC-9446-3A25A3419BAC}" presName="text_1" presStyleLbl="node1" presStyleIdx="0" presStyleCnt="3">
        <dgm:presLayoutVars>
          <dgm:bulletEnabled val="1"/>
        </dgm:presLayoutVars>
      </dgm:prSet>
      <dgm:spPr/>
    </dgm:pt>
    <dgm:pt modelId="{1268DC7C-5EAE-4D2C-A4E2-A607FA2BEB2B}" type="pres">
      <dgm:prSet presAssocID="{26039939-4361-48CC-9446-3A25A3419BAC}" presName="accent_1" presStyleCnt="0"/>
      <dgm:spPr/>
    </dgm:pt>
    <dgm:pt modelId="{36CE1D15-F2E2-4AB7-987C-8FBA05011C1C}" type="pres">
      <dgm:prSet presAssocID="{26039939-4361-48CC-9446-3A25A3419BAC}" presName="accentRepeatNode" presStyleLbl="solidFgAcc1" presStyleIdx="0" presStyleCnt="3"/>
      <dgm:spPr/>
    </dgm:pt>
    <dgm:pt modelId="{DFD9F85C-E685-47CD-8CC6-B8249D9E15E0}" type="pres">
      <dgm:prSet presAssocID="{B57C06BA-CEC2-4414-B7AF-7D801DE18EB0}" presName="text_2" presStyleLbl="node1" presStyleIdx="1" presStyleCnt="3">
        <dgm:presLayoutVars>
          <dgm:bulletEnabled val="1"/>
        </dgm:presLayoutVars>
      </dgm:prSet>
      <dgm:spPr/>
    </dgm:pt>
    <dgm:pt modelId="{0DDDAFB9-B275-4FFC-8B56-004BF27E936A}" type="pres">
      <dgm:prSet presAssocID="{B57C06BA-CEC2-4414-B7AF-7D801DE18EB0}" presName="accent_2" presStyleCnt="0"/>
      <dgm:spPr/>
    </dgm:pt>
    <dgm:pt modelId="{2464E662-F45B-4F45-998E-30F2E99F59A7}" type="pres">
      <dgm:prSet presAssocID="{B57C06BA-CEC2-4414-B7AF-7D801DE18EB0}" presName="accentRepeatNode" presStyleLbl="solidFgAcc1" presStyleIdx="1" presStyleCnt="3"/>
      <dgm:spPr/>
    </dgm:pt>
    <dgm:pt modelId="{D113B17A-08B0-4DBC-AFDC-E53B4043EC5B}" type="pres">
      <dgm:prSet presAssocID="{9DC90A0E-256A-4C47-81C8-2F5B5451328C}" presName="text_3" presStyleLbl="node1" presStyleIdx="2" presStyleCnt="3">
        <dgm:presLayoutVars>
          <dgm:bulletEnabled val="1"/>
        </dgm:presLayoutVars>
      </dgm:prSet>
      <dgm:spPr/>
    </dgm:pt>
    <dgm:pt modelId="{6D73B1EE-E1C1-4007-9322-C307F61A3019}" type="pres">
      <dgm:prSet presAssocID="{9DC90A0E-256A-4C47-81C8-2F5B5451328C}" presName="accent_3" presStyleCnt="0"/>
      <dgm:spPr/>
    </dgm:pt>
    <dgm:pt modelId="{C0A4F76A-DC91-483A-97B7-13A412F82D22}" type="pres">
      <dgm:prSet presAssocID="{9DC90A0E-256A-4C47-81C8-2F5B5451328C}" presName="accentRepeatNode" presStyleLbl="solidFgAcc1" presStyleIdx="2" presStyleCnt="3"/>
      <dgm:spPr/>
    </dgm:pt>
  </dgm:ptLst>
  <dgm:cxnLst>
    <dgm:cxn modelId="{E5E3C336-D509-4F5F-BA52-C87599A6F711}" srcId="{B7960120-F833-4889-92E1-871985C1D137}" destId="{26039939-4361-48CC-9446-3A25A3419BAC}" srcOrd="0" destOrd="0" parTransId="{66BD6603-CC1E-4BE4-9A86-D927F6A4F64C}" sibTransId="{FE0A6C59-ECAF-4E16-A545-6792E7B83B69}"/>
    <dgm:cxn modelId="{A1D4C83A-83F3-4A67-9744-E5693554C66A}" srcId="{B7960120-F833-4889-92E1-871985C1D137}" destId="{B57C06BA-CEC2-4414-B7AF-7D801DE18EB0}" srcOrd="1" destOrd="0" parTransId="{7562EA64-420F-4FDD-BCB9-0BFD31353935}" sibTransId="{89122596-8907-4340-A461-8CCB65829068}"/>
    <dgm:cxn modelId="{1B05A76A-9989-4920-97CE-2E4F34A8D220}" srcId="{B7960120-F833-4889-92E1-871985C1D137}" destId="{9DC90A0E-256A-4C47-81C8-2F5B5451328C}" srcOrd="2" destOrd="0" parTransId="{EAD4AF9C-43A7-4F46-8E22-DE6B7D049258}" sibTransId="{4EC16954-B194-4E63-B2FE-123EF1266E23}"/>
    <dgm:cxn modelId="{9DFFE658-FDAD-4898-8AB6-30108C4EAB25}" type="presOf" srcId="{9DC90A0E-256A-4C47-81C8-2F5B5451328C}" destId="{D113B17A-08B0-4DBC-AFDC-E53B4043EC5B}" srcOrd="0" destOrd="0" presId="urn:microsoft.com/office/officeart/2008/layout/VerticalCurvedList"/>
    <dgm:cxn modelId="{74B01B59-CEEB-4842-ACFC-F9C76C9B11F6}" type="presOf" srcId="{B57C06BA-CEC2-4414-B7AF-7D801DE18EB0}" destId="{DFD9F85C-E685-47CD-8CC6-B8249D9E15E0}" srcOrd="0" destOrd="0" presId="urn:microsoft.com/office/officeart/2008/layout/VerticalCurvedList"/>
    <dgm:cxn modelId="{33180E8D-701C-429D-A984-7EE25F2D321B}" type="presOf" srcId="{B7960120-F833-4889-92E1-871985C1D137}" destId="{A22D0AC8-4C30-4D41-BDF8-C1A6C5594E08}" srcOrd="0" destOrd="0" presId="urn:microsoft.com/office/officeart/2008/layout/VerticalCurvedList"/>
    <dgm:cxn modelId="{2FD83A8E-9322-481A-A64F-0D5FF85F277B}" type="presOf" srcId="{FE0A6C59-ECAF-4E16-A545-6792E7B83B69}" destId="{8C56C2DB-05D4-4AC6-AC51-6B6D273F5539}" srcOrd="0" destOrd="0" presId="urn:microsoft.com/office/officeart/2008/layout/VerticalCurvedList"/>
    <dgm:cxn modelId="{CEAE6AE1-541B-4F81-9538-E90C975B2A3A}" type="presOf" srcId="{26039939-4361-48CC-9446-3A25A3419BAC}" destId="{5305CEED-D3F2-466A-B20D-2C1C773F883C}" srcOrd="0" destOrd="0" presId="urn:microsoft.com/office/officeart/2008/layout/VerticalCurvedList"/>
    <dgm:cxn modelId="{461B31FB-4D2E-425A-A2B1-BABD4D8E6C9F}" type="presParOf" srcId="{A22D0AC8-4C30-4D41-BDF8-C1A6C5594E08}" destId="{C52FA5B4-7577-4675-906C-E2E8440128F8}" srcOrd="0" destOrd="0" presId="urn:microsoft.com/office/officeart/2008/layout/VerticalCurvedList"/>
    <dgm:cxn modelId="{627894AD-BEFA-457F-9B97-BFC6421725A4}" type="presParOf" srcId="{C52FA5B4-7577-4675-906C-E2E8440128F8}" destId="{6AAD178B-75BD-40A1-AF8A-51CE9A4868D6}" srcOrd="0" destOrd="0" presId="urn:microsoft.com/office/officeart/2008/layout/VerticalCurvedList"/>
    <dgm:cxn modelId="{C8088BC3-498D-4F13-89EB-3513A20B86C2}" type="presParOf" srcId="{6AAD178B-75BD-40A1-AF8A-51CE9A4868D6}" destId="{E7DF3791-7255-48B1-A54A-48575CA05885}" srcOrd="0" destOrd="0" presId="urn:microsoft.com/office/officeart/2008/layout/VerticalCurvedList"/>
    <dgm:cxn modelId="{312CBE3B-86F4-4514-AE93-1B26101C247B}" type="presParOf" srcId="{6AAD178B-75BD-40A1-AF8A-51CE9A4868D6}" destId="{8C56C2DB-05D4-4AC6-AC51-6B6D273F5539}" srcOrd="1" destOrd="0" presId="urn:microsoft.com/office/officeart/2008/layout/VerticalCurvedList"/>
    <dgm:cxn modelId="{EAF14298-B673-48E4-A85A-E1EFE3671019}" type="presParOf" srcId="{6AAD178B-75BD-40A1-AF8A-51CE9A4868D6}" destId="{B647B2F3-C5B7-48EF-BCE3-CFE25F2C2301}" srcOrd="2" destOrd="0" presId="urn:microsoft.com/office/officeart/2008/layout/VerticalCurvedList"/>
    <dgm:cxn modelId="{19A3D785-418A-4055-8C2A-6868EF99A4CA}" type="presParOf" srcId="{6AAD178B-75BD-40A1-AF8A-51CE9A4868D6}" destId="{8A7C21F8-611D-424E-9BDC-521070B42A8C}" srcOrd="3" destOrd="0" presId="urn:microsoft.com/office/officeart/2008/layout/VerticalCurvedList"/>
    <dgm:cxn modelId="{FF3ECF1D-A371-49AB-B7BE-4423564DF08E}" type="presParOf" srcId="{C52FA5B4-7577-4675-906C-E2E8440128F8}" destId="{5305CEED-D3F2-466A-B20D-2C1C773F883C}" srcOrd="1" destOrd="0" presId="urn:microsoft.com/office/officeart/2008/layout/VerticalCurvedList"/>
    <dgm:cxn modelId="{6A32B9C4-D547-43FA-B6A1-38AE64EBBCB3}" type="presParOf" srcId="{C52FA5B4-7577-4675-906C-E2E8440128F8}" destId="{1268DC7C-5EAE-4D2C-A4E2-A607FA2BEB2B}" srcOrd="2" destOrd="0" presId="urn:microsoft.com/office/officeart/2008/layout/VerticalCurvedList"/>
    <dgm:cxn modelId="{B4717FA0-134C-4B67-A63E-B6689FFADDC9}" type="presParOf" srcId="{1268DC7C-5EAE-4D2C-A4E2-A607FA2BEB2B}" destId="{36CE1D15-F2E2-4AB7-987C-8FBA05011C1C}" srcOrd="0" destOrd="0" presId="urn:microsoft.com/office/officeart/2008/layout/VerticalCurvedList"/>
    <dgm:cxn modelId="{29878190-4147-4C70-876E-8B86D9259EC8}" type="presParOf" srcId="{C52FA5B4-7577-4675-906C-E2E8440128F8}" destId="{DFD9F85C-E685-47CD-8CC6-B8249D9E15E0}" srcOrd="3" destOrd="0" presId="urn:microsoft.com/office/officeart/2008/layout/VerticalCurvedList"/>
    <dgm:cxn modelId="{56C9BB20-7419-4C4C-91B1-5D21C6CAC2EB}" type="presParOf" srcId="{C52FA5B4-7577-4675-906C-E2E8440128F8}" destId="{0DDDAFB9-B275-4FFC-8B56-004BF27E936A}" srcOrd="4" destOrd="0" presId="urn:microsoft.com/office/officeart/2008/layout/VerticalCurvedList"/>
    <dgm:cxn modelId="{A0EB8822-C09F-44C6-A740-33D68F14B2FE}" type="presParOf" srcId="{0DDDAFB9-B275-4FFC-8B56-004BF27E936A}" destId="{2464E662-F45B-4F45-998E-30F2E99F59A7}" srcOrd="0" destOrd="0" presId="urn:microsoft.com/office/officeart/2008/layout/VerticalCurvedList"/>
    <dgm:cxn modelId="{6AD1CD22-A844-4EF7-8A31-05B1BB093DD6}" type="presParOf" srcId="{C52FA5B4-7577-4675-906C-E2E8440128F8}" destId="{D113B17A-08B0-4DBC-AFDC-E53B4043EC5B}" srcOrd="5" destOrd="0" presId="urn:microsoft.com/office/officeart/2008/layout/VerticalCurvedList"/>
    <dgm:cxn modelId="{7FDBB6A8-8274-46AC-8573-2C5670A82733}" type="presParOf" srcId="{C52FA5B4-7577-4675-906C-E2E8440128F8}" destId="{6D73B1EE-E1C1-4007-9322-C307F61A3019}" srcOrd="6" destOrd="0" presId="urn:microsoft.com/office/officeart/2008/layout/VerticalCurvedList"/>
    <dgm:cxn modelId="{5FF5ACCA-D3FF-4C34-BF16-C9F10AA73E6D}" type="presParOf" srcId="{6D73B1EE-E1C1-4007-9322-C307F61A3019}" destId="{C0A4F76A-DC91-483A-97B7-13A412F82D2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960120-F833-4889-92E1-871985C1D13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6039939-4361-48CC-9446-3A25A3419BAC}">
      <dgm:prSet phldrT="[文本]">
        <dgm:style>
          <a:lnRef idx="0">
            <a:schemeClr val="accent3"/>
          </a:lnRef>
          <a:fillRef idx="3">
            <a:schemeClr val="accent3"/>
          </a:fillRef>
          <a:effectRef idx="3">
            <a:schemeClr val="accent3"/>
          </a:effectRef>
          <a:fontRef idx="minor">
            <a:schemeClr val="lt1"/>
          </a:fontRef>
        </dgm:style>
      </dgm:prSet>
      <dgm:spPr/>
      <dgm:t>
        <a:bodyPr/>
        <a:lstStyle/>
        <a:p>
          <a:r>
            <a:rPr lang="zh-CN" altLang="en-US" dirty="0"/>
            <a:t>黑盒测试，白盒测试，灰盒测试</a:t>
          </a:r>
        </a:p>
      </dgm:t>
    </dgm:pt>
    <dgm:pt modelId="{66BD6603-CC1E-4BE4-9A86-D927F6A4F64C}" type="parTrans" cxnId="{E5E3C336-D509-4F5F-BA52-C87599A6F711}">
      <dgm:prSet/>
      <dgm:spPr/>
      <dgm:t>
        <a:bodyPr/>
        <a:lstStyle/>
        <a:p>
          <a:endParaRPr lang="zh-CN" altLang="en-US"/>
        </a:p>
      </dgm:t>
    </dgm:pt>
    <dgm:pt modelId="{FE0A6C59-ECAF-4E16-A545-6792E7B83B69}" type="sibTrans" cxnId="{E5E3C336-D509-4F5F-BA52-C87599A6F711}">
      <dgm:prSet/>
      <dgm:spPr/>
      <dgm:t>
        <a:bodyPr/>
        <a:lstStyle/>
        <a:p>
          <a:endParaRPr lang="zh-CN" altLang="en-US"/>
        </a:p>
      </dgm:t>
    </dgm:pt>
    <dgm:pt modelId="{B57C06BA-CEC2-4414-B7AF-7D801DE18EB0}">
      <dgm:prSet phldrT="[文本]"/>
      <dgm:spPr/>
      <dgm:t>
        <a:bodyPr/>
        <a:lstStyle/>
        <a:p>
          <a:r>
            <a:rPr lang="zh-CN" altLang="en-US" dirty="0"/>
            <a:t>静态测试，动态测试</a:t>
          </a:r>
        </a:p>
      </dgm:t>
    </dgm:pt>
    <dgm:pt modelId="{7562EA64-420F-4FDD-BCB9-0BFD31353935}" type="parTrans" cxnId="{A1D4C83A-83F3-4A67-9744-E5693554C66A}">
      <dgm:prSet/>
      <dgm:spPr/>
      <dgm:t>
        <a:bodyPr/>
        <a:lstStyle/>
        <a:p>
          <a:endParaRPr lang="zh-CN" altLang="en-US"/>
        </a:p>
      </dgm:t>
    </dgm:pt>
    <dgm:pt modelId="{89122596-8907-4340-A461-8CCB65829068}" type="sibTrans" cxnId="{A1D4C83A-83F3-4A67-9744-E5693554C66A}">
      <dgm:prSet/>
      <dgm:spPr/>
      <dgm:t>
        <a:bodyPr/>
        <a:lstStyle/>
        <a:p>
          <a:endParaRPr lang="zh-CN" altLang="en-US"/>
        </a:p>
      </dgm:t>
    </dgm:pt>
    <dgm:pt modelId="{9DC90A0E-256A-4C47-81C8-2F5B5451328C}">
      <dgm:prSet phldrT="[文本]"/>
      <dgm:spPr/>
      <dgm:t>
        <a:bodyPr/>
        <a:lstStyle/>
        <a:p>
          <a:r>
            <a:rPr lang="zh-CN" altLang="en-US" dirty="0"/>
            <a:t>手工测试，自动化测试</a:t>
          </a:r>
        </a:p>
      </dgm:t>
    </dgm:pt>
    <dgm:pt modelId="{EAD4AF9C-43A7-4F46-8E22-DE6B7D049258}" type="parTrans" cxnId="{1B05A76A-9989-4920-97CE-2E4F34A8D220}">
      <dgm:prSet/>
      <dgm:spPr/>
      <dgm:t>
        <a:bodyPr/>
        <a:lstStyle/>
        <a:p>
          <a:endParaRPr lang="zh-CN" altLang="en-US"/>
        </a:p>
      </dgm:t>
    </dgm:pt>
    <dgm:pt modelId="{4EC16954-B194-4E63-B2FE-123EF1266E23}" type="sibTrans" cxnId="{1B05A76A-9989-4920-97CE-2E4F34A8D220}">
      <dgm:prSet/>
      <dgm:spPr/>
      <dgm:t>
        <a:bodyPr/>
        <a:lstStyle/>
        <a:p>
          <a:endParaRPr lang="zh-CN" altLang="en-US"/>
        </a:p>
      </dgm:t>
    </dgm:pt>
    <dgm:pt modelId="{A22D0AC8-4C30-4D41-BDF8-C1A6C5594E08}" type="pres">
      <dgm:prSet presAssocID="{B7960120-F833-4889-92E1-871985C1D137}" presName="Name0" presStyleCnt="0">
        <dgm:presLayoutVars>
          <dgm:chMax val="7"/>
          <dgm:chPref val="7"/>
          <dgm:dir/>
        </dgm:presLayoutVars>
      </dgm:prSet>
      <dgm:spPr/>
    </dgm:pt>
    <dgm:pt modelId="{C52FA5B4-7577-4675-906C-E2E8440128F8}" type="pres">
      <dgm:prSet presAssocID="{B7960120-F833-4889-92E1-871985C1D137}" presName="Name1" presStyleCnt="0"/>
      <dgm:spPr/>
    </dgm:pt>
    <dgm:pt modelId="{6AAD178B-75BD-40A1-AF8A-51CE9A4868D6}" type="pres">
      <dgm:prSet presAssocID="{B7960120-F833-4889-92E1-871985C1D137}" presName="cycle" presStyleCnt="0"/>
      <dgm:spPr/>
    </dgm:pt>
    <dgm:pt modelId="{E7DF3791-7255-48B1-A54A-48575CA05885}" type="pres">
      <dgm:prSet presAssocID="{B7960120-F833-4889-92E1-871985C1D137}" presName="srcNode" presStyleLbl="node1" presStyleIdx="0" presStyleCnt="3"/>
      <dgm:spPr/>
    </dgm:pt>
    <dgm:pt modelId="{8C56C2DB-05D4-4AC6-AC51-6B6D273F5539}" type="pres">
      <dgm:prSet presAssocID="{B7960120-F833-4889-92E1-871985C1D137}" presName="conn" presStyleLbl="parChTrans1D2" presStyleIdx="0" presStyleCnt="1"/>
      <dgm:spPr/>
    </dgm:pt>
    <dgm:pt modelId="{B647B2F3-C5B7-48EF-BCE3-CFE25F2C2301}" type="pres">
      <dgm:prSet presAssocID="{B7960120-F833-4889-92E1-871985C1D137}" presName="extraNode" presStyleLbl="node1" presStyleIdx="0" presStyleCnt="3"/>
      <dgm:spPr/>
    </dgm:pt>
    <dgm:pt modelId="{8A7C21F8-611D-424E-9BDC-521070B42A8C}" type="pres">
      <dgm:prSet presAssocID="{B7960120-F833-4889-92E1-871985C1D137}" presName="dstNode" presStyleLbl="node1" presStyleIdx="0" presStyleCnt="3"/>
      <dgm:spPr/>
    </dgm:pt>
    <dgm:pt modelId="{5305CEED-D3F2-466A-B20D-2C1C773F883C}" type="pres">
      <dgm:prSet presAssocID="{26039939-4361-48CC-9446-3A25A3419BAC}" presName="text_1" presStyleLbl="node1" presStyleIdx="0" presStyleCnt="3">
        <dgm:presLayoutVars>
          <dgm:bulletEnabled val="1"/>
        </dgm:presLayoutVars>
      </dgm:prSet>
      <dgm:spPr/>
    </dgm:pt>
    <dgm:pt modelId="{1268DC7C-5EAE-4D2C-A4E2-A607FA2BEB2B}" type="pres">
      <dgm:prSet presAssocID="{26039939-4361-48CC-9446-3A25A3419BAC}" presName="accent_1" presStyleCnt="0"/>
      <dgm:spPr/>
    </dgm:pt>
    <dgm:pt modelId="{36CE1D15-F2E2-4AB7-987C-8FBA05011C1C}" type="pres">
      <dgm:prSet presAssocID="{26039939-4361-48CC-9446-3A25A3419BAC}" presName="accentRepeatNode" presStyleLbl="solidFgAcc1" presStyleIdx="0" presStyleCnt="3"/>
      <dgm:spPr/>
    </dgm:pt>
    <dgm:pt modelId="{DFD9F85C-E685-47CD-8CC6-B8249D9E15E0}" type="pres">
      <dgm:prSet presAssocID="{B57C06BA-CEC2-4414-B7AF-7D801DE18EB0}" presName="text_2" presStyleLbl="node1" presStyleIdx="1" presStyleCnt="3">
        <dgm:presLayoutVars>
          <dgm:bulletEnabled val="1"/>
        </dgm:presLayoutVars>
      </dgm:prSet>
      <dgm:spPr/>
    </dgm:pt>
    <dgm:pt modelId="{0DDDAFB9-B275-4FFC-8B56-004BF27E936A}" type="pres">
      <dgm:prSet presAssocID="{B57C06BA-CEC2-4414-B7AF-7D801DE18EB0}" presName="accent_2" presStyleCnt="0"/>
      <dgm:spPr/>
    </dgm:pt>
    <dgm:pt modelId="{2464E662-F45B-4F45-998E-30F2E99F59A7}" type="pres">
      <dgm:prSet presAssocID="{B57C06BA-CEC2-4414-B7AF-7D801DE18EB0}" presName="accentRepeatNode" presStyleLbl="solidFgAcc1" presStyleIdx="1" presStyleCnt="3"/>
      <dgm:spPr/>
    </dgm:pt>
    <dgm:pt modelId="{D113B17A-08B0-4DBC-AFDC-E53B4043EC5B}" type="pres">
      <dgm:prSet presAssocID="{9DC90A0E-256A-4C47-81C8-2F5B5451328C}" presName="text_3" presStyleLbl="node1" presStyleIdx="2" presStyleCnt="3">
        <dgm:presLayoutVars>
          <dgm:bulletEnabled val="1"/>
        </dgm:presLayoutVars>
      </dgm:prSet>
      <dgm:spPr/>
    </dgm:pt>
    <dgm:pt modelId="{6D73B1EE-E1C1-4007-9322-C307F61A3019}" type="pres">
      <dgm:prSet presAssocID="{9DC90A0E-256A-4C47-81C8-2F5B5451328C}" presName="accent_3" presStyleCnt="0"/>
      <dgm:spPr/>
    </dgm:pt>
    <dgm:pt modelId="{C0A4F76A-DC91-483A-97B7-13A412F82D22}" type="pres">
      <dgm:prSet presAssocID="{9DC90A0E-256A-4C47-81C8-2F5B5451328C}" presName="accentRepeatNode" presStyleLbl="solidFgAcc1" presStyleIdx="2" presStyleCnt="3"/>
      <dgm:spPr/>
    </dgm:pt>
  </dgm:ptLst>
  <dgm:cxnLst>
    <dgm:cxn modelId="{E5E3C336-D509-4F5F-BA52-C87599A6F711}" srcId="{B7960120-F833-4889-92E1-871985C1D137}" destId="{26039939-4361-48CC-9446-3A25A3419BAC}" srcOrd="0" destOrd="0" parTransId="{66BD6603-CC1E-4BE4-9A86-D927F6A4F64C}" sibTransId="{FE0A6C59-ECAF-4E16-A545-6792E7B83B69}"/>
    <dgm:cxn modelId="{A1D4C83A-83F3-4A67-9744-E5693554C66A}" srcId="{B7960120-F833-4889-92E1-871985C1D137}" destId="{B57C06BA-CEC2-4414-B7AF-7D801DE18EB0}" srcOrd="1" destOrd="0" parTransId="{7562EA64-420F-4FDD-BCB9-0BFD31353935}" sibTransId="{89122596-8907-4340-A461-8CCB65829068}"/>
    <dgm:cxn modelId="{B9052C5F-8677-4BCA-B5F2-8F5A13C699D7}" type="presOf" srcId="{B57C06BA-CEC2-4414-B7AF-7D801DE18EB0}" destId="{DFD9F85C-E685-47CD-8CC6-B8249D9E15E0}" srcOrd="0" destOrd="0" presId="urn:microsoft.com/office/officeart/2008/layout/VerticalCurvedList"/>
    <dgm:cxn modelId="{1B05A76A-9989-4920-97CE-2E4F34A8D220}" srcId="{B7960120-F833-4889-92E1-871985C1D137}" destId="{9DC90A0E-256A-4C47-81C8-2F5B5451328C}" srcOrd="2" destOrd="0" parTransId="{EAD4AF9C-43A7-4F46-8E22-DE6B7D049258}" sibTransId="{4EC16954-B194-4E63-B2FE-123EF1266E23}"/>
    <dgm:cxn modelId="{A9A3CF8A-D4D3-47B0-B6ED-146113A60269}" type="presOf" srcId="{9DC90A0E-256A-4C47-81C8-2F5B5451328C}" destId="{D113B17A-08B0-4DBC-AFDC-E53B4043EC5B}" srcOrd="0" destOrd="0" presId="urn:microsoft.com/office/officeart/2008/layout/VerticalCurvedList"/>
    <dgm:cxn modelId="{5239E9AD-3FAB-4593-BECC-292FCACA0453}" type="presOf" srcId="{26039939-4361-48CC-9446-3A25A3419BAC}" destId="{5305CEED-D3F2-466A-B20D-2C1C773F883C}" srcOrd="0" destOrd="0" presId="urn:microsoft.com/office/officeart/2008/layout/VerticalCurvedList"/>
    <dgm:cxn modelId="{A24E47B3-612B-4EF0-A5EC-B819EF597E34}" type="presOf" srcId="{FE0A6C59-ECAF-4E16-A545-6792E7B83B69}" destId="{8C56C2DB-05D4-4AC6-AC51-6B6D273F5539}" srcOrd="0" destOrd="0" presId="urn:microsoft.com/office/officeart/2008/layout/VerticalCurvedList"/>
    <dgm:cxn modelId="{FA0366E8-C61B-477C-A82E-DD2FDE281EB7}" type="presOf" srcId="{B7960120-F833-4889-92E1-871985C1D137}" destId="{A22D0AC8-4C30-4D41-BDF8-C1A6C5594E08}" srcOrd="0" destOrd="0" presId="urn:microsoft.com/office/officeart/2008/layout/VerticalCurvedList"/>
    <dgm:cxn modelId="{C6FECA55-EDCB-48EA-9156-49EC3BB3671C}" type="presParOf" srcId="{A22D0AC8-4C30-4D41-BDF8-C1A6C5594E08}" destId="{C52FA5B4-7577-4675-906C-E2E8440128F8}" srcOrd="0" destOrd="0" presId="urn:microsoft.com/office/officeart/2008/layout/VerticalCurvedList"/>
    <dgm:cxn modelId="{DB458CCF-B0EB-42D4-995C-0CBB0D291586}" type="presParOf" srcId="{C52FA5B4-7577-4675-906C-E2E8440128F8}" destId="{6AAD178B-75BD-40A1-AF8A-51CE9A4868D6}" srcOrd="0" destOrd="0" presId="urn:microsoft.com/office/officeart/2008/layout/VerticalCurvedList"/>
    <dgm:cxn modelId="{B8D94CB9-5E07-4EAA-8140-19554591024E}" type="presParOf" srcId="{6AAD178B-75BD-40A1-AF8A-51CE9A4868D6}" destId="{E7DF3791-7255-48B1-A54A-48575CA05885}" srcOrd="0" destOrd="0" presId="urn:microsoft.com/office/officeart/2008/layout/VerticalCurvedList"/>
    <dgm:cxn modelId="{79D2C21D-A4F3-462A-8849-F9092A155CA7}" type="presParOf" srcId="{6AAD178B-75BD-40A1-AF8A-51CE9A4868D6}" destId="{8C56C2DB-05D4-4AC6-AC51-6B6D273F5539}" srcOrd="1" destOrd="0" presId="urn:microsoft.com/office/officeart/2008/layout/VerticalCurvedList"/>
    <dgm:cxn modelId="{E43AE43B-2660-48E2-B754-2B7E315E7338}" type="presParOf" srcId="{6AAD178B-75BD-40A1-AF8A-51CE9A4868D6}" destId="{B647B2F3-C5B7-48EF-BCE3-CFE25F2C2301}" srcOrd="2" destOrd="0" presId="urn:microsoft.com/office/officeart/2008/layout/VerticalCurvedList"/>
    <dgm:cxn modelId="{72DCE133-48A7-400C-8CED-273EBCCA0639}" type="presParOf" srcId="{6AAD178B-75BD-40A1-AF8A-51CE9A4868D6}" destId="{8A7C21F8-611D-424E-9BDC-521070B42A8C}" srcOrd="3" destOrd="0" presId="urn:microsoft.com/office/officeart/2008/layout/VerticalCurvedList"/>
    <dgm:cxn modelId="{AEB343CF-0AF3-40FB-8A91-1962040352D8}" type="presParOf" srcId="{C52FA5B4-7577-4675-906C-E2E8440128F8}" destId="{5305CEED-D3F2-466A-B20D-2C1C773F883C}" srcOrd="1" destOrd="0" presId="urn:microsoft.com/office/officeart/2008/layout/VerticalCurvedList"/>
    <dgm:cxn modelId="{4E97665D-7827-4302-ACC8-756695609B8E}" type="presParOf" srcId="{C52FA5B4-7577-4675-906C-E2E8440128F8}" destId="{1268DC7C-5EAE-4D2C-A4E2-A607FA2BEB2B}" srcOrd="2" destOrd="0" presId="urn:microsoft.com/office/officeart/2008/layout/VerticalCurvedList"/>
    <dgm:cxn modelId="{87634DFD-398C-4E01-96FA-E998822AA784}" type="presParOf" srcId="{1268DC7C-5EAE-4D2C-A4E2-A607FA2BEB2B}" destId="{36CE1D15-F2E2-4AB7-987C-8FBA05011C1C}" srcOrd="0" destOrd="0" presId="urn:microsoft.com/office/officeart/2008/layout/VerticalCurvedList"/>
    <dgm:cxn modelId="{BDA1191A-290B-4F71-A30A-3803DEF1E76B}" type="presParOf" srcId="{C52FA5B4-7577-4675-906C-E2E8440128F8}" destId="{DFD9F85C-E685-47CD-8CC6-B8249D9E15E0}" srcOrd="3" destOrd="0" presId="urn:microsoft.com/office/officeart/2008/layout/VerticalCurvedList"/>
    <dgm:cxn modelId="{FACC547A-4D32-45B9-BC28-AF784ABA40A3}" type="presParOf" srcId="{C52FA5B4-7577-4675-906C-E2E8440128F8}" destId="{0DDDAFB9-B275-4FFC-8B56-004BF27E936A}" srcOrd="4" destOrd="0" presId="urn:microsoft.com/office/officeart/2008/layout/VerticalCurvedList"/>
    <dgm:cxn modelId="{75828B05-3FA5-4AF5-BBA4-553F4A2017AF}" type="presParOf" srcId="{0DDDAFB9-B275-4FFC-8B56-004BF27E936A}" destId="{2464E662-F45B-4F45-998E-30F2E99F59A7}" srcOrd="0" destOrd="0" presId="urn:microsoft.com/office/officeart/2008/layout/VerticalCurvedList"/>
    <dgm:cxn modelId="{CC86BD14-CAB9-4C58-8CE2-46CD1AC3DE83}" type="presParOf" srcId="{C52FA5B4-7577-4675-906C-E2E8440128F8}" destId="{D113B17A-08B0-4DBC-AFDC-E53B4043EC5B}" srcOrd="5" destOrd="0" presId="urn:microsoft.com/office/officeart/2008/layout/VerticalCurvedList"/>
    <dgm:cxn modelId="{D8DCAA0A-C047-4BAC-8D0D-71B904A1A965}" type="presParOf" srcId="{C52FA5B4-7577-4675-906C-E2E8440128F8}" destId="{6D73B1EE-E1C1-4007-9322-C307F61A3019}" srcOrd="6" destOrd="0" presId="urn:microsoft.com/office/officeart/2008/layout/VerticalCurvedList"/>
    <dgm:cxn modelId="{5C871FE6-4B99-49AF-8E3D-B9EAA54D9C68}" type="presParOf" srcId="{6D73B1EE-E1C1-4007-9322-C307F61A3019}" destId="{C0A4F76A-DC91-483A-97B7-13A412F82D2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960120-F833-4889-92E1-871985C1D13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6039939-4361-48CC-9446-3A25A3419BAC}">
      <dgm:prSet phldrT="[文本]">
        <dgm:style>
          <a:lnRef idx="0">
            <a:schemeClr val="accent1"/>
          </a:lnRef>
          <a:fillRef idx="3">
            <a:schemeClr val="accent1"/>
          </a:fillRef>
          <a:effectRef idx="3">
            <a:schemeClr val="accent1"/>
          </a:effectRef>
          <a:fontRef idx="minor">
            <a:schemeClr val="lt1"/>
          </a:fontRef>
        </dgm:style>
      </dgm:prSet>
      <dgm:spPr/>
      <dgm:t>
        <a:bodyPr/>
        <a:lstStyle/>
        <a:p>
          <a:r>
            <a:rPr lang="zh-CN" altLang="en-US" dirty="0"/>
            <a:t>黑盒测试，白盒测试，灰盒测试</a:t>
          </a:r>
        </a:p>
      </dgm:t>
    </dgm:pt>
    <dgm:pt modelId="{66BD6603-CC1E-4BE4-9A86-D927F6A4F64C}" type="parTrans" cxnId="{E5E3C336-D509-4F5F-BA52-C87599A6F711}">
      <dgm:prSet/>
      <dgm:spPr/>
      <dgm:t>
        <a:bodyPr/>
        <a:lstStyle/>
        <a:p>
          <a:endParaRPr lang="zh-CN" altLang="en-US"/>
        </a:p>
      </dgm:t>
    </dgm:pt>
    <dgm:pt modelId="{FE0A6C59-ECAF-4E16-A545-6792E7B83B69}" type="sibTrans" cxnId="{E5E3C336-D509-4F5F-BA52-C87599A6F711}">
      <dgm:prSet/>
      <dgm:spPr/>
      <dgm:t>
        <a:bodyPr/>
        <a:lstStyle/>
        <a:p>
          <a:endParaRPr lang="zh-CN" altLang="en-US"/>
        </a:p>
      </dgm:t>
    </dgm:pt>
    <dgm:pt modelId="{B57C06BA-CEC2-4414-B7AF-7D801DE18EB0}">
      <dgm:prSet phldrT="[文本]">
        <dgm:style>
          <a:lnRef idx="0">
            <a:schemeClr val="accent3"/>
          </a:lnRef>
          <a:fillRef idx="3">
            <a:schemeClr val="accent3"/>
          </a:fillRef>
          <a:effectRef idx="3">
            <a:schemeClr val="accent3"/>
          </a:effectRef>
          <a:fontRef idx="minor">
            <a:schemeClr val="lt1"/>
          </a:fontRef>
        </dgm:style>
      </dgm:prSet>
      <dgm:spPr/>
      <dgm:t>
        <a:bodyPr/>
        <a:lstStyle/>
        <a:p>
          <a:r>
            <a:rPr lang="zh-CN" altLang="en-US" dirty="0"/>
            <a:t>静态测试，动态测试</a:t>
          </a:r>
        </a:p>
      </dgm:t>
    </dgm:pt>
    <dgm:pt modelId="{7562EA64-420F-4FDD-BCB9-0BFD31353935}" type="parTrans" cxnId="{A1D4C83A-83F3-4A67-9744-E5693554C66A}">
      <dgm:prSet/>
      <dgm:spPr/>
      <dgm:t>
        <a:bodyPr/>
        <a:lstStyle/>
        <a:p>
          <a:endParaRPr lang="zh-CN" altLang="en-US"/>
        </a:p>
      </dgm:t>
    </dgm:pt>
    <dgm:pt modelId="{89122596-8907-4340-A461-8CCB65829068}" type="sibTrans" cxnId="{A1D4C83A-83F3-4A67-9744-E5693554C66A}">
      <dgm:prSet/>
      <dgm:spPr/>
      <dgm:t>
        <a:bodyPr/>
        <a:lstStyle/>
        <a:p>
          <a:endParaRPr lang="zh-CN" altLang="en-US"/>
        </a:p>
      </dgm:t>
    </dgm:pt>
    <dgm:pt modelId="{9DC90A0E-256A-4C47-81C8-2F5B5451328C}">
      <dgm:prSet phldrT="[文本]"/>
      <dgm:spPr/>
      <dgm:t>
        <a:bodyPr/>
        <a:lstStyle/>
        <a:p>
          <a:r>
            <a:rPr lang="zh-CN" altLang="en-US" dirty="0"/>
            <a:t>手工测试，自动化测试</a:t>
          </a:r>
        </a:p>
      </dgm:t>
    </dgm:pt>
    <dgm:pt modelId="{EAD4AF9C-43A7-4F46-8E22-DE6B7D049258}" type="parTrans" cxnId="{1B05A76A-9989-4920-97CE-2E4F34A8D220}">
      <dgm:prSet/>
      <dgm:spPr/>
      <dgm:t>
        <a:bodyPr/>
        <a:lstStyle/>
        <a:p>
          <a:endParaRPr lang="zh-CN" altLang="en-US"/>
        </a:p>
      </dgm:t>
    </dgm:pt>
    <dgm:pt modelId="{4EC16954-B194-4E63-B2FE-123EF1266E23}" type="sibTrans" cxnId="{1B05A76A-9989-4920-97CE-2E4F34A8D220}">
      <dgm:prSet/>
      <dgm:spPr/>
      <dgm:t>
        <a:bodyPr/>
        <a:lstStyle/>
        <a:p>
          <a:endParaRPr lang="zh-CN" altLang="en-US"/>
        </a:p>
      </dgm:t>
    </dgm:pt>
    <dgm:pt modelId="{A22D0AC8-4C30-4D41-BDF8-C1A6C5594E08}" type="pres">
      <dgm:prSet presAssocID="{B7960120-F833-4889-92E1-871985C1D137}" presName="Name0" presStyleCnt="0">
        <dgm:presLayoutVars>
          <dgm:chMax val="7"/>
          <dgm:chPref val="7"/>
          <dgm:dir/>
        </dgm:presLayoutVars>
      </dgm:prSet>
      <dgm:spPr/>
    </dgm:pt>
    <dgm:pt modelId="{C52FA5B4-7577-4675-906C-E2E8440128F8}" type="pres">
      <dgm:prSet presAssocID="{B7960120-F833-4889-92E1-871985C1D137}" presName="Name1" presStyleCnt="0"/>
      <dgm:spPr/>
    </dgm:pt>
    <dgm:pt modelId="{6AAD178B-75BD-40A1-AF8A-51CE9A4868D6}" type="pres">
      <dgm:prSet presAssocID="{B7960120-F833-4889-92E1-871985C1D137}" presName="cycle" presStyleCnt="0"/>
      <dgm:spPr/>
    </dgm:pt>
    <dgm:pt modelId="{E7DF3791-7255-48B1-A54A-48575CA05885}" type="pres">
      <dgm:prSet presAssocID="{B7960120-F833-4889-92E1-871985C1D137}" presName="srcNode" presStyleLbl="node1" presStyleIdx="0" presStyleCnt="3"/>
      <dgm:spPr/>
    </dgm:pt>
    <dgm:pt modelId="{8C56C2DB-05D4-4AC6-AC51-6B6D273F5539}" type="pres">
      <dgm:prSet presAssocID="{B7960120-F833-4889-92E1-871985C1D137}" presName="conn" presStyleLbl="parChTrans1D2" presStyleIdx="0" presStyleCnt="1"/>
      <dgm:spPr/>
    </dgm:pt>
    <dgm:pt modelId="{B647B2F3-C5B7-48EF-BCE3-CFE25F2C2301}" type="pres">
      <dgm:prSet presAssocID="{B7960120-F833-4889-92E1-871985C1D137}" presName="extraNode" presStyleLbl="node1" presStyleIdx="0" presStyleCnt="3"/>
      <dgm:spPr/>
    </dgm:pt>
    <dgm:pt modelId="{8A7C21F8-611D-424E-9BDC-521070B42A8C}" type="pres">
      <dgm:prSet presAssocID="{B7960120-F833-4889-92E1-871985C1D137}" presName="dstNode" presStyleLbl="node1" presStyleIdx="0" presStyleCnt="3"/>
      <dgm:spPr/>
    </dgm:pt>
    <dgm:pt modelId="{5305CEED-D3F2-466A-B20D-2C1C773F883C}" type="pres">
      <dgm:prSet presAssocID="{26039939-4361-48CC-9446-3A25A3419BAC}" presName="text_1" presStyleLbl="node1" presStyleIdx="0" presStyleCnt="3">
        <dgm:presLayoutVars>
          <dgm:bulletEnabled val="1"/>
        </dgm:presLayoutVars>
      </dgm:prSet>
      <dgm:spPr/>
    </dgm:pt>
    <dgm:pt modelId="{1268DC7C-5EAE-4D2C-A4E2-A607FA2BEB2B}" type="pres">
      <dgm:prSet presAssocID="{26039939-4361-48CC-9446-3A25A3419BAC}" presName="accent_1" presStyleCnt="0"/>
      <dgm:spPr/>
    </dgm:pt>
    <dgm:pt modelId="{36CE1D15-F2E2-4AB7-987C-8FBA05011C1C}" type="pres">
      <dgm:prSet presAssocID="{26039939-4361-48CC-9446-3A25A3419BAC}" presName="accentRepeatNode" presStyleLbl="solidFgAcc1" presStyleIdx="0" presStyleCnt="3"/>
      <dgm:spPr/>
    </dgm:pt>
    <dgm:pt modelId="{DFD9F85C-E685-47CD-8CC6-B8249D9E15E0}" type="pres">
      <dgm:prSet presAssocID="{B57C06BA-CEC2-4414-B7AF-7D801DE18EB0}" presName="text_2" presStyleLbl="node1" presStyleIdx="1" presStyleCnt="3">
        <dgm:presLayoutVars>
          <dgm:bulletEnabled val="1"/>
        </dgm:presLayoutVars>
      </dgm:prSet>
      <dgm:spPr/>
    </dgm:pt>
    <dgm:pt modelId="{0DDDAFB9-B275-4FFC-8B56-004BF27E936A}" type="pres">
      <dgm:prSet presAssocID="{B57C06BA-CEC2-4414-B7AF-7D801DE18EB0}" presName="accent_2" presStyleCnt="0"/>
      <dgm:spPr/>
    </dgm:pt>
    <dgm:pt modelId="{2464E662-F45B-4F45-998E-30F2E99F59A7}" type="pres">
      <dgm:prSet presAssocID="{B57C06BA-CEC2-4414-B7AF-7D801DE18EB0}" presName="accentRepeatNode" presStyleLbl="solidFgAcc1" presStyleIdx="1" presStyleCnt="3"/>
      <dgm:spPr/>
    </dgm:pt>
    <dgm:pt modelId="{D113B17A-08B0-4DBC-AFDC-E53B4043EC5B}" type="pres">
      <dgm:prSet presAssocID="{9DC90A0E-256A-4C47-81C8-2F5B5451328C}" presName="text_3" presStyleLbl="node1" presStyleIdx="2" presStyleCnt="3">
        <dgm:presLayoutVars>
          <dgm:bulletEnabled val="1"/>
        </dgm:presLayoutVars>
      </dgm:prSet>
      <dgm:spPr/>
    </dgm:pt>
    <dgm:pt modelId="{6D73B1EE-E1C1-4007-9322-C307F61A3019}" type="pres">
      <dgm:prSet presAssocID="{9DC90A0E-256A-4C47-81C8-2F5B5451328C}" presName="accent_3" presStyleCnt="0"/>
      <dgm:spPr/>
    </dgm:pt>
    <dgm:pt modelId="{C0A4F76A-DC91-483A-97B7-13A412F82D22}" type="pres">
      <dgm:prSet presAssocID="{9DC90A0E-256A-4C47-81C8-2F5B5451328C}" presName="accentRepeatNode" presStyleLbl="solidFgAcc1" presStyleIdx="2" presStyleCnt="3"/>
      <dgm:spPr/>
    </dgm:pt>
  </dgm:ptLst>
  <dgm:cxnLst>
    <dgm:cxn modelId="{E9793D0E-E90B-41D6-B5F4-51CE5D5C2669}" type="presOf" srcId="{B7960120-F833-4889-92E1-871985C1D137}" destId="{A22D0AC8-4C30-4D41-BDF8-C1A6C5594E08}" srcOrd="0" destOrd="0" presId="urn:microsoft.com/office/officeart/2008/layout/VerticalCurvedList"/>
    <dgm:cxn modelId="{E5E3C336-D509-4F5F-BA52-C87599A6F711}" srcId="{B7960120-F833-4889-92E1-871985C1D137}" destId="{26039939-4361-48CC-9446-3A25A3419BAC}" srcOrd="0" destOrd="0" parTransId="{66BD6603-CC1E-4BE4-9A86-D927F6A4F64C}" sibTransId="{FE0A6C59-ECAF-4E16-A545-6792E7B83B69}"/>
    <dgm:cxn modelId="{A1D4C83A-83F3-4A67-9744-E5693554C66A}" srcId="{B7960120-F833-4889-92E1-871985C1D137}" destId="{B57C06BA-CEC2-4414-B7AF-7D801DE18EB0}" srcOrd="1" destOrd="0" parTransId="{7562EA64-420F-4FDD-BCB9-0BFD31353935}" sibTransId="{89122596-8907-4340-A461-8CCB65829068}"/>
    <dgm:cxn modelId="{66E8A65F-5D90-4BB7-AF35-140D785F86AD}" type="presOf" srcId="{26039939-4361-48CC-9446-3A25A3419BAC}" destId="{5305CEED-D3F2-466A-B20D-2C1C773F883C}" srcOrd="0" destOrd="0" presId="urn:microsoft.com/office/officeart/2008/layout/VerticalCurvedList"/>
    <dgm:cxn modelId="{1B05A76A-9989-4920-97CE-2E4F34A8D220}" srcId="{B7960120-F833-4889-92E1-871985C1D137}" destId="{9DC90A0E-256A-4C47-81C8-2F5B5451328C}" srcOrd="2" destOrd="0" parTransId="{EAD4AF9C-43A7-4F46-8E22-DE6B7D049258}" sibTransId="{4EC16954-B194-4E63-B2FE-123EF1266E23}"/>
    <dgm:cxn modelId="{7399327E-9872-47CE-8238-9F60D0C775BD}" type="presOf" srcId="{FE0A6C59-ECAF-4E16-A545-6792E7B83B69}" destId="{8C56C2DB-05D4-4AC6-AC51-6B6D273F5539}" srcOrd="0" destOrd="0" presId="urn:microsoft.com/office/officeart/2008/layout/VerticalCurvedList"/>
    <dgm:cxn modelId="{A5C38ACB-F4EA-44D0-9050-C00F02CC150C}" type="presOf" srcId="{9DC90A0E-256A-4C47-81C8-2F5B5451328C}" destId="{D113B17A-08B0-4DBC-AFDC-E53B4043EC5B}" srcOrd="0" destOrd="0" presId="urn:microsoft.com/office/officeart/2008/layout/VerticalCurvedList"/>
    <dgm:cxn modelId="{E421BDFA-9810-4CEB-A56E-184601D53D17}" type="presOf" srcId="{B57C06BA-CEC2-4414-B7AF-7D801DE18EB0}" destId="{DFD9F85C-E685-47CD-8CC6-B8249D9E15E0}" srcOrd="0" destOrd="0" presId="urn:microsoft.com/office/officeart/2008/layout/VerticalCurvedList"/>
    <dgm:cxn modelId="{741019F7-DA86-403C-8D7A-F7B821080F34}" type="presParOf" srcId="{A22D0AC8-4C30-4D41-BDF8-C1A6C5594E08}" destId="{C52FA5B4-7577-4675-906C-E2E8440128F8}" srcOrd="0" destOrd="0" presId="urn:microsoft.com/office/officeart/2008/layout/VerticalCurvedList"/>
    <dgm:cxn modelId="{70833B68-F247-4E08-88B0-E18C00A5F69F}" type="presParOf" srcId="{C52FA5B4-7577-4675-906C-E2E8440128F8}" destId="{6AAD178B-75BD-40A1-AF8A-51CE9A4868D6}" srcOrd="0" destOrd="0" presId="urn:microsoft.com/office/officeart/2008/layout/VerticalCurvedList"/>
    <dgm:cxn modelId="{0978E7C3-41D0-4D30-8733-373AA95082EE}" type="presParOf" srcId="{6AAD178B-75BD-40A1-AF8A-51CE9A4868D6}" destId="{E7DF3791-7255-48B1-A54A-48575CA05885}" srcOrd="0" destOrd="0" presId="urn:microsoft.com/office/officeart/2008/layout/VerticalCurvedList"/>
    <dgm:cxn modelId="{0D51480D-D8F6-4B38-AB7F-E642434BC620}" type="presParOf" srcId="{6AAD178B-75BD-40A1-AF8A-51CE9A4868D6}" destId="{8C56C2DB-05D4-4AC6-AC51-6B6D273F5539}" srcOrd="1" destOrd="0" presId="urn:microsoft.com/office/officeart/2008/layout/VerticalCurvedList"/>
    <dgm:cxn modelId="{36981954-8D6E-4B42-A343-FD7E419B7D6A}" type="presParOf" srcId="{6AAD178B-75BD-40A1-AF8A-51CE9A4868D6}" destId="{B647B2F3-C5B7-48EF-BCE3-CFE25F2C2301}" srcOrd="2" destOrd="0" presId="urn:microsoft.com/office/officeart/2008/layout/VerticalCurvedList"/>
    <dgm:cxn modelId="{24075F9D-80D8-454D-B175-0AE29570952A}" type="presParOf" srcId="{6AAD178B-75BD-40A1-AF8A-51CE9A4868D6}" destId="{8A7C21F8-611D-424E-9BDC-521070B42A8C}" srcOrd="3" destOrd="0" presId="urn:microsoft.com/office/officeart/2008/layout/VerticalCurvedList"/>
    <dgm:cxn modelId="{5FC7DAEE-3BF3-43F1-95A7-B8CDB53C0DB9}" type="presParOf" srcId="{C52FA5B4-7577-4675-906C-E2E8440128F8}" destId="{5305CEED-D3F2-466A-B20D-2C1C773F883C}" srcOrd="1" destOrd="0" presId="urn:microsoft.com/office/officeart/2008/layout/VerticalCurvedList"/>
    <dgm:cxn modelId="{AE528596-6396-497A-B594-272F665830D1}" type="presParOf" srcId="{C52FA5B4-7577-4675-906C-E2E8440128F8}" destId="{1268DC7C-5EAE-4D2C-A4E2-A607FA2BEB2B}" srcOrd="2" destOrd="0" presId="urn:microsoft.com/office/officeart/2008/layout/VerticalCurvedList"/>
    <dgm:cxn modelId="{054332B9-73AA-458C-81AE-00D31C20BE87}" type="presParOf" srcId="{1268DC7C-5EAE-4D2C-A4E2-A607FA2BEB2B}" destId="{36CE1D15-F2E2-4AB7-987C-8FBA05011C1C}" srcOrd="0" destOrd="0" presId="urn:microsoft.com/office/officeart/2008/layout/VerticalCurvedList"/>
    <dgm:cxn modelId="{7B66DCAA-24FF-42B1-96E4-AB6389252DEE}" type="presParOf" srcId="{C52FA5B4-7577-4675-906C-E2E8440128F8}" destId="{DFD9F85C-E685-47CD-8CC6-B8249D9E15E0}" srcOrd="3" destOrd="0" presId="urn:microsoft.com/office/officeart/2008/layout/VerticalCurvedList"/>
    <dgm:cxn modelId="{9969D9C7-5047-4870-9829-43C0F20F381C}" type="presParOf" srcId="{C52FA5B4-7577-4675-906C-E2E8440128F8}" destId="{0DDDAFB9-B275-4FFC-8B56-004BF27E936A}" srcOrd="4" destOrd="0" presId="urn:microsoft.com/office/officeart/2008/layout/VerticalCurvedList"/>
    <dgm:cxn modelId="{B37C6ABE-AAA5-48EC-90BD-74C21D121909}" type="presParOf" srcId="{0DDDAFB9-B275-4FFC-8B56-004BF27E936A}" destId="{2464E662-F45B-4F45-998E-30F2E99F59A7}" srcOrd="0" destOrd="0" presId="urn:microsoft.com/office/officeart/2008/layout/VerticalCurvedList"/>
    <dgm:cxn modelId="{97B7B9AA-4DBC-4EE9-B163-71360DC25037}" type="presParOf" srcId="{C52FA5B4-7577-4675-906C-E2E8440128F8}" destId="{D113B17A-08B0-4DBC-AFDC-E53B4043EC5B}" srcOrd="5" destOrd="0" presId="urn:microsoft.com/office/officeart/2008/layout/VerticalCurvedList"/>
    <dgm:cxn modelId="{78674392-1234-409F-94A0-FB8351238C2B}" type="presParOf" srcId="{C52FA5B4-7577-4675-906C-E2E8440128F8}" destId="{6D73B1EE-E1C1-4007-9322-C307F61A3019}" srcOrd="6" destOrd="0" presId="urn:microsoft.com/office/officeart/2008/layout/VerticalCurvedList"/>
    <dgm:cxn modelId="{15F13C6D-D062-4048-8406-3F7771AB33BC}" type="presParOf" srcId="{6D73B1EE-E1C1-4007-9322-C307F61A3019}" destId="{C0A4F76A-DC91-483A-97B7-13A412F82D2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7960120-F833-4889-92E1-871985C1D13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6039939-4361-48CC-9446-3A25A3419BAC}">
      <dgm:prSet phldrT="[文本]">
        <dgm:style>
          <a:lnRef idx="0">
            <a:schemeClr val="accent1"/>
          </a:lnRef>
          <a:fillRef idx="3">
            <a:schemeClr val="accent1"/>
          </a:fillRef>
          <a:effectRef idx="3">
            <a:schemeClr val="accent1"/>
          </a:effectRef>
          <a:fontRef idx="minor">
            <a:schemeClr val="lt1"/>
          </a:fontRef>
        </dgm:style>
      </dgm:prSet>
      <dgm:spPr/>
      <dgm:t>
        <a:bodyPr/>
        <a:lstStyle/>
        <a:p>
          <a:r>
            <a:rPr lang="zh-CN" altLang="en-US" dirty="0"/>
            <a:t>黑盒测试，白盒测试，灰盒测试</a:t>
          </a:r>
        </a:p>
      </dgm:t>
    </dgm:pt>
    <dgm:pt modelId="{66BD6603-CC1E-4BE4-9A86-D927F6A4F64C}" type="parTrans" cxnId="{E5E3C336-D509-4F5F-BA52-C87599A6F711}">
      <dgm:prSet/>
      <dgm:spPr/>
      <dgm:t>
        <a:bodyPr/>
        <a:lstStyle/>
        <a:p>
          <a:endParaRPr lang="zh-CN" altLang="en-US"/>
        </a:p>
      </dgm:t>
    </dgm:pt>
    <dgm:pt modelId="{FE0A6C59-ECAF-4E16-A545-6792E7B83B69}" type="sibTrans" cxnId="{E5E3C336-D509-4F5F-BA52-C87599A6F711}">
      <dgm:prSet/>
      <dgm:spPr/>
      <dgm:t>
        <a:bodyPr/>
        <a:lstStyle/>
        <a:p>
          <a:endParaRPr lang="zh-CN" altLang="en-US"/>
        </a:p>
      </dgm:t>
    </dgm:pt>
    <dgm:pt modelId="{B57C06BA-CEC2-4414-B7AF-7D801DE18EB0}">
      <dgm:prSet phldrT="[文本]">
        <dgm:style>
          <a:lnRef idx="0">
            <a:schemeClr val="accent1"/>
          </a:lnRef>
          <a:fillRef idx="3">
            <a:schemeClr val="accent1"/>
          </a:fillRef>
          <a:effectRef idx="3">
            <a:schemeClr val="accent1"/>
          </a:effectRef>
          <a:fontRef idx="minor">
            <a:schemeClr val="lt1"/>
          </a:fontRef>
        </dgm:style>
      </dgm:prSet>
      <dgm:spPr/>
      <dgm:t>
        <a:bodyPr/>
        <a:lstStyle/>
        <a:p>
          <a:r>
            <a:rPr lang="zh-CN" altLang="en-US" dirty="0"/>
            <a:t>静态测试，动态测试</a:t>
          </a:r>
        </a:p>
      </dgm:t>
    </dgm:pt>
    <dgm:pt modelId="{7562EA64-420F-4FDD-BCB9-0BFD31353935}" type="parTrans" cxnId="{A1D4C83A-83F3-4A67-9744-E5693554C66A}">
      <dgm:prSet/>
      <dgm:spPr/>
      <dgm:t>
        <a:bodyPr/>
        <a:lstStyle/>
        <a:p>
          <a:endParaRPr lang="zh-CN" altLang="en-US"/>
        </a:p>
      </dgm:t>
    </dgm:pt>
    <dgm:pt modelId="{89122596-8907-4340-A461-8CCB65829068}" type="sibTrans" cxnId="{A1D4C83A-83F3-4A67-9744-E5693554C66A}">
      <dgm:prSet/>
      <dgm:spPr/>
      <dgm:t>
        <a:bodyPr/>
        <a:lstStyle/>
        <a:p>
          <a:endParaRPr lang="zh-CN" altLang="en-US"/>
        </a:p>
      </dgm:t>
    </dgm:pt>
    <dgm:pt modelId="{9DC90A0E-256A-4C47-81C8-2F5B5451328C}">
      <dgm:prSet phldrT="[文本]">
        <dgm:style>
          <a:lnRef idx="0">
            <a:schemeClr val="accent3"/>
          </a:lnRef>
          <a:fillRef idx="3">
            <a:schemeClr val="accent3"/>
          </a:fillRef>
          <a:effectRef idx="3">
            <a:schemeClr val="accent3"/>
          </a:effectRef>
          <a:fontRef idx="minor">
            <a:schemeClr val="lt1"/>
          </a:fontRef>
        </dgm:style>
      </dgm:prSet>
      <dgm:spPr/>
      <dgm:t>
        <a:bodyPr/>
        <a:lstStyle/>
        <a:p>
          <a:r>
            <a:rPr lang="zh-CN" altLang="en-US" dirty="0"/>
            <a:t>手工测试，自动化测试</a:t>
          </a:r>
        </a:p>
      </dgm:t>
    </dgm:pt>
    <dgm:pt modelId="{EAD4AF9C-43A7-4F46-8E22-DE6B7D049258}" type="parTrans" cxnId="{1B05A76A-9989-4920-97CE-2E4F34A8D220}">
      <dgm:prSet/>
      <dgm:spPr/>
      <dgm:t>
        <a:bodyPr/>
        <a:lstStyle/>
        <a:p>
          <a:endParaRPr lang="zh-CN" altLang="en-US"/>
        </a:p>
      </dgm:t>
    </dgm:pt>
    <dgm:pt modelId="{4EC16954-B194-4E63-B2FE-123EF1266E23}" type="sibTrans" cxnId="{1B05A76A-9989-4920-97CE-2E4F34A8D220}">
      <dgm:prSet/>
      <dgm:spPr/>
      <dgm:t>
        <a:bodyPr/>
        <a:lstStyle/>
        <a:p>
          <a:endParaRPr lang="zh-CN" altLang="en-US"/>
        </a:p>
      </dgm:t>
    </dgm:pt>
    <dgm:pt modelId="{A22D0AC8-4C30-4D41-BDF8-C1A6C5594E08}" type="pres">
      <dgm:prSet presAssocID="{B7960120-F833-4889-92E1-871985C1D137}" presName="Name0" presStyleCnt="0">
        <dgm:presLayoutVars>
          <dgm:chMax val="7"/>
          <dgm:chPref val="7"/>
          <dgm:dir/>
        </dgm:presLayoutVars>
      </dgm:prSet>
      <dgm:spPr/>
    </dgm:pt>
    <dgm:pt modelId="{C52FA5B4-7577-4675-906C-E2E8440128F8}" type="pres">
      <dgm:prSet presAssocID="{B7960120-F833-4889-92E1-871985C1D137}" presName="Name1" presStyleCnt="0"/>
      <dgm:spPr/>
    </dgm:pt>
    <dgm:pt modelId="{6AAD178B-75BD-40A1-AF8A-51CE9A4868D6}" type="pres">
      <dgm:prSet presAssocID="{B7960120-F833-4889-92E1-871985C1D137}" presName="cycle" presStyleCnt="0"/>
      <dgm:spPr/>
    </dgm:pt>
    <dgm:pt modelId="{E7DF3791-7255-48B1-A54A-48575CA05885}" type="pres">
      <dgm:prSet presAssocID="{B7960120-F833-4889-92E1-871985C1D137}" presName="srcNode" presStyleLbl="node1" presStyleIdx="0" presStyleCnt="3"/>
      <dgm:spPr/>
    </dgm:pt>
    <dgm:pt modelId="{8C56C2DB-05D4-4AC6-AC51-6B6D273F5539}" type="pres">
      <dgm:prSet presAssocID="{B7960120-F833-4889-92E1-871985C1D137}" presName="conn" presStyleLbl="parChTrans1D2" presStyleIdx="0" presStyleCnt="1"/>
      <dgm:spPr/>
    </dgm:pt>
    <dgm:pt modelId="{B647B2F3-C5B7-48EF-BCE3-CFE25F2C2301}" type="pres">
      <dgm:prSet presAssocID="{B7960120-F833-4889-92E1-871985C1D137}" presName="extraNode" presStyleLbl="node1" presStyleIdx="0" presStyleCnt="3"/>
      <dgm:spPr/>
    </dgm:pt>
    <dgm:pt modelId="{8A7C21F8-611D-424E-9BDC-521070B42A8C}" type="pres">
      <dgm:prSet presAssocID="{B7960120-F833-4889-92E1-871985C1D137}" presName="dstNode" presStyleLbl="node1" presStyleIdx="0" presStyleCnt="3"/>
      <dgm:spPr/>
    </dgm:pt>
    <dgm:pt modelId="{5305CEED-D3F2-466A-B20D-2C1C773F883C}" type="pres">
      <dgm:prSet presAssocID="{26039939-4361-48CC-9446-3A25A3419BAC}" presName="text_1" presStyleLbl="node1" presStyleIdx="0" presStyleCnt="3">
        <dgm:presLayoutVars>
          <dgm:bulletEnabled val="1"/>
        </dgm:presLayoutVars>
      </dgm:prSet>
      <dgm:spPr/>
    </dgm:pt>
    <dgm:pt modelId="{1268DC7C-5EAE-4D2C-A4E2-A607FA2BEB2B}" type="pres">
      <dgm:prSet presAssocID="{26039939-4361-48CC-9446-3A25A3419BAC}" presName="accent_1" presStyleCnt="0"/>
      <dgm:spPr/>
    </dgm:pt>
    <dgm:pt modelId="{36CE1D15-F2E2-4AB7-987C-8FBA05011C1C}" type="pres">
      <dgm:prSet presAssocID="{26039939-4361-48CC-9446-3A25A3419BAC}" presName="accentRepeatNode" presStyleLbl="solidFgAcc1" presStyleIdx="0" presStyleCnt="3"/>
      <dgm:spPr/>
    </dgm:pt>
    <dgm:pt modelId="{DFD9F85C-E685-47CD-8CC6-B8249D9E15E0}" type="pres">
      <dgm:prSet presAssocID="{B57C06BA-CEC2-4414-B7AF-7D801DE18EB0}" presName="text_2" presStyleLbl="node1" presStyleIdx="1" presStyleCnt="3">
        <dgm:presLayoutVars>
          <dgm:bulletEnabled val="1"/>
        </dgm:presLayoutVars>
      </dgm:prSet>
      <dgm:spPr/>
    </dgm:pt>
    <dgm:pt modelId="{0DDDAFB9-B275-4FFC-8B56-004BF27E936A}" type="pres">
      <dgm:prSet presAssocID="{B57C06BA-CEC2-4414-B7AF-7D801DE18EB0}" presName="accent_2" presStyleCnt="0"/>
      <dgm:spPr/>
    </dgm:pt>
    <dgm:pt modelId="{2464E662-F45B-4F45-998E-30F2E99F59A7}" type="pres">
      <dgm:prSet presAssocID="{B57C06BA-CEC2-4414-B7AF-7D801DE18EB0}" presName="accentRepeatNode" presStyleLbl="solidFgAcc1" presStyleIdx="1" presStyleCnt="3"/>
      <dgm:spPr/>
    </dgm:pt>
    <dgm:pt modelId="{D113B17A-08B0-4DBC-AFDC-E53B4043EC5B}" type="pres">
      <dgm:prSet presAssocID="{9DC90A0E-256A-4C47-81C8-2F5B5451328C}" presName="text_3" presStyleLbl="node1" presStyleIdx="2" presStyleCnt="3">
        <dgm:presLayoutVars>
          <dgm:bulletEnabled val="1"/>
        </dgm:presLayoutVars>
      </dgm:prSet>
      <dgm:spPr/>
    </dgm:pt>
    <dgm:pt modelId="{6D73B1EE-E1C1-4007-9322-C307F61A3019}" type="pres">
      <dgm:prSet presAssocID="{9DC90A0E-256A-4C47-81C8-2F5B5451328C}" presName="accent_3" presStyleCnt="0"/>
      <dgm:spPr/>
    </dgm:pt>
    <dgm:pt modelId="{C0A4F76A-DC91-483A-97B7-13A412F82D22}" type="pres">
      <dgm:prSet presAssocID="{9DC90A0E-256A-4C47-81C8-2F5B5451328C}" presName="accentRepeatNode" presStyleLbl="solidFgAcc1" presStyleIdx="2" presStyleCnt="3"/>
      <dgm:spPr/>
    </dgm:pt>
  </dgm:ptLst>
  <dgm:cxnLst>
    <dgm:cxn modelId="{E5E3C336-D509-4F5F-BA52-C87599A6F711}" srcId="{B7960120-F833-4889-92E1-871985C1D137}" destId="{26039939-4361-48CC-9446-3A25A3419BAC}" srcOrd="0" destOrd="0" parTransId="{66BD6603-CC1E-4BE4-9A86-D927F6A4F64C}" sibTransId="{FE0A6C59-ECAF-4E16-A545-6792E7B83B69}"/>
    <dgm:cxn modelId="{A1D4C83A-83F3-4A67-9744-E5693554C66A}" srcId="{B7960120-F833-4889-92E1-871985C1D137}" destId="{B57C06BA-CEC2-4414-B7AF-7D801DE18EB0}" srcOrd="1" destOrd="0" parTransId="{7562EA64-420F-4FDD-BCB9-0BFD31353935}" sibTransId="{89122596-8907-4340-A461-8CCB65829068}"/>
    <dgm:cxn modelId="{1B05A76A-9989-4920-97CE-2E4F34A8D220}" srcId="{B7960120-F833-4889-92E1-871985C1D137}" destId="{9DC90A0E-256A-4C47-81C8-2F5B5451328C}" srcOrd="2" destOrd="0" parTransId="{EAD4AF9C-43A7-4F46-8E22-DE6B7D049258}" sibTransId="{4EC16954-B194-4E63-B2FE-123EF1266E23}"/>
    <dgm:cxn modelId="{4473D674-4642-42DD-A238-D46010E5DC03}" type="presOf" srcId="{B7960120-F833-4889-92E1-871985C1D137}" destId="{A22D0AC8-4C30-4D41-BDF8-C1A6C5594E08}" srcOrd="0" destOrd="0" presId="urn:microsoft.com/office/officeart/2008/layout/VerticalCurvedList"/>
    <dgm:cxn modelId="{CDC01B8A-FB94-41F6-A9E3-6974F4177872}" type="presOf" srcId="{9DC90A0E-256A-4C47-81C8-2F5B5451328C}" destId="{D113B17A-08B0-4DBC-AFDC-E53B4043EC5B}" srcOrd="0" destOrd="0" presId="urn:microsoft.com/office/officeart/2008/layout/VerticalCurvedList"/>
    <dgm:cxn modelId="{581011AD-9CEB-4BBA-9C3D-01AC228F730A}" type="presOf" srcId="{FE0A6C59-ECAF-4E16-A545-6792E7B83B69}" destId="{8C56C2DB-05D4-4AC6-AC51-6B6D273F5539}" srcOrd="0" destOrd="0" presId="urn:microsoft.com/office/officeart/2008/layout/VerticalCurvedList"/>
    <dgm:cxn modelId="{C3009DD2-03A9-4927-BDF0-181D6098EE50}" type="presOf" srcId="{B57C06BA-CEC2-4414-B7AF-7D801DE18EB0}" destId="{DFD9F85C-E685-47CD-8CC6-B8249D9E15E0}" srcOrd="0" destOrd="0" presId="urn:microsoft.com/office/officeart/2008/layout/VerticalCurvedList"/>
    <dgm:cxn modelId="{CE5124F7-64E6-47C4-8207-C4271F4FF169}" type="presOf" srcId="{26039939-4361-48CC-9446-3A25A3419BAC}" destId="{5305CEED-D3F2-466A-B20D-2C1C773F883C}" srcOrd="0" destOrd="0" presId="urn:microsoft.com/office/officeart/2008/layout/VerticalCurvedList"/>
    <dgm:cxn modelId="{3DB78D47-F2EC-4A89-8248-07797D540C8C}" type="presParOf" srcId="{A22D0AC8-4C30-4D41-BDF8-C1A6C5594E08}" destId="{C52FA5B4-7577-4675-906C-E2E8440128F8}" srcOrd="0" destOrd="0" presId="urn:microsoft.com/office/officeart/2008/layout/VerticalCurvedList"/>
    <dgm:cxn modelId="{9990D242-3D93-44C1-9671-80C7D1705661}" type="presParOf" srcId="{C52FA5B4-7577-4675-906C-E2E8440128F8}" destId="{6AAD178B-75BD-40A1-AF8A-51CE9A4868D6}" srcOrd="0" destOrd="0" presId="urn:microsoft.com/office/officeart/2008/layout/VerticalCurvedList"/>
    <dgm:cxn modelId="{8CBA5A8E-5528-4ECE-904D-F1BAEC75D0B9}" type="presParOf" srcId="{6AAD178B-75BD-40A1-AF8A-51CE9A4868D6}" destId="{E7DF3791-7255-48B1-A54A-48575CA05885}" srcOrd="0" destOrd="0" presId="urn:microsoft.com/office/officeart/2008/layout/VerticalCurvedList"/>
    <dgm:cxn modelId="{D5B29DCC-35E9-4646-8D43-2C615F05D190}" type="presParOf" srcId="{6AAD178B-75BD-40A1-AF8A-51CE9A4868D6}" destId="{8C56C2DB-05D4-4AC6-AC51-6B6D273F5539}" srcOrd="1" destOrd="0" presId="urn:microsoft.com/office/officeart/2008/layout/VerticalCurvedList"/>
    <dgm:cxn modelId="{31E2F451-32E6-4369-81A4-77E164C5A138}" type="presParOf" srcId="{6AAD178B-75BD-40A1-AF8A-51CE9A4868D6}" destId="{B647B2F3-C5B7-48EF-BCE3-CFE25F2C2301}" srcOrd="2" destOrd="0" presId="urn:microsoft.com/office/officeart/2008/layout/VerticalCurvedList"/>
    <dgm:cxn modelId="{6ABBBCBD-5D77-4746-8D32-B7F1ABCB25D6}" type="presParOf" srcId="{6AAD178B-75BD-40A1-AF8A-51CE9A4868D6}" destId="{8A7C21F8-611D-424E-9BDC-521070B42A8C}" srcOrd="3" destOrd="0" presId="urn:microsoft.com/office/officeart/2008/layout/VerticalCurvedList"/>
    <dgm:cxn modelId="{2CFE45E6-07F0-49DC-AF98-2DFF5D17A4A0}" type="presParOf" srcId="{C52FA5B4-7577-4675-906C-E2E8440128F8}" destId="{5305CEED-D3F2-466A-B20D-2C1C773F883C}" srcOrd="1" destOrd="0" presId="urn:microsoft.com/office/officeart/2008/layout/VerticalCurvedList"/>
    <dgm:cxn modelId="{04E04E67-368B-4E8A-91AF-E386B8FEF048}" type="presParOf" srcId="{C52FA5B4-7577-4675-906C-E2E8440128F8}" destId="{1268DC7C-5EAE-4D2C-A4E2-A607FA2BEB2B}" srcOrd="2" destOrd="0" presId="urn:microsoft.com/office/officeart/2008/layout/VerticalCurvedList"/>
    <dgm:cxn modelId="{92BFF282-061B-4110-8F46-25C924EC1396}" type="presParOf" srcId="{1268DC7C-5EAE-4D2C-A4E2-A607FA2BEB2B}" destId="{36CE1D15-F2E2-4AB7-987C-8FBA05011C1C}" srcOrd="0" destOrd="0" presId="urn:microsoft.com/office/officeart/2008/layout/VerticalCurvedList"/>
    <dgm:cxn modelId="{A85E003F-042A-46A7-B062-5F909BB5EEE6}" type="presParOf" srcId="{C52FA5B4-7577-4675-906C-E2E8440128F8}" destId="{DFD9F85C-E685-47CD-8CC6-B8249D9E15E0}" srcOrd="3" destOrd="0" presId="urn:microsoft.com/office/officeart/2008/layout/VerticalCurvedList"/>
    <dgm:cxn modelId="{6E91B224-E1AE-4873-8BE2-5A4002C7713E}" type="presParOf" srcId="{C52FA5B4-7577-4675-906C-E2E8440128F8}" destId="{0DDDAFB9-B275-4FFC-8B56-004BF27E936A}" srcOrd="4" destOrd="0" presId="urn:microsoft.com/office/officeart/2008/layout/VerticalCurvedList"/>
    <dgm:cxn modelId="{D4FC4059-022A-41E3-9497-ED71B5BAEC2A}" type="presParOf" srcId="{0DDDAFB9-B275-4FFC-8B56-004BF27E936A}" destId="{2464E662-F45B-4F45-998E-30F2E99F59A7}" srcOrd="0" destOrd="0" presId="urn:microsoft.com/office/officeart/2008/layout/VerticalCurvedList"/>
    <dgm:cxn modelId="{C12E0F21-9D2C-45C9-927A-006417800AB9}" type="presParOf" srcId="{C52FA5B4-7577-4675-906C-E2E8440128F8}" destId="{D113B17A-08B0-4DBC-AFDC-E53B4043EC5B}" srcOrd="5" destOrd="0" presId="urn:microsoft.com/office/officeart/2008/layout/VerticalCurvedList"/>
    <dgm:cxn modelId="{EFDF4A68-6FF3-4D7E-8E5F-E32C75F26646}" type="presParOf" srcId="{C52FA5B4-7577-4675-906C-E2E8440128F8}" destId="{6D73B1EE-E1C1-4007-9322-C307F61A3019}" srcOrd="6" destOrd="0" presId="urn:microsoft.com/office/officeart/2008/layout/VerticalCurvedList"/>
    <dgm:cxn modelId="{353E6459-37AD-4729-986B-85C69164FF0B}" type="presParOf" srcId="{6D73B1EE-E1C1-4007-9322-C307F61A3019}" destId="{C0A4F76A-DC91-483A-97B7-13A412F82D2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6C2DB-05D4-4AC6-AC51-6B6D273F5539}">
      <dsp:nvSpPr>
        <dsp:cNvPr id="0" name=""/>
        <dsp:cNvSpPr/>
      </dsp:nvSpPr>
      <dsp:spPr>
        <a:xfrm>
          <a:off x="-4594335" y="-704407"/>
          <a:ext cx="5472816" cy="5472816"/>
        </a:xfrm>
        <a:prstGeom prst="blockArc">
          <a:avLst>
            <a:gd name="adj1" fmla="val 18900000"/>
            <a:gd name="adj2" fmla="val 2700000"/>
            <a:gd name="adj3" fmla="val 39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05CEED-D3F2-466A-B20D-2C1C773F883C}">
      <dsp:nvSpPr>
        <dsp:cNvPr id="0" name=""/>
        <dsp:cNvSpPr/>
      </dsp:nvSpPr>
      <dsp:spPr>
        <a:xfrm>
          <a:off x="564979" y="406400"/>
          <a:ext cx="5475833" cy="8128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b="1" kern="1200" dirty="0">
              <a:solidFill>
                <a:srgbClr val="FFFF00"/>
              </a:solidFill>
            </a:rPr>
            <a:t>黑盒测试，白盒测试，</a:t>
          </a:r>
          <a:r>
            <a:rPr lang="zh-CN" altLang="en-US" sz="2600" kern="1200" dirty="0"/>
            <a:t>灰盒测试</a:t>
          </a:r>
        </a:p>
      </dsp:txBody>
      <dsp:txXfrm>
        <a:off x="564979" y="406400"/>
        <a:ext cx="5475833" cy="812800"/>
      </dsp:txXfrm>
    </dsp:sp>
    <dsp:sp modelId="{36CE1D15-F2E2-4AB7-987C-8FBA05011C1C}">
      <dsp:nvSpPr>
        <dsp:cNvPr id="0" name=""/>
        <dsp:cNvSpPr/>
      </dsp:nvSpPr>
      <dsp:spPr>
        <a:xfrm>
          <a:off x="56979" y="3048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D9F85C-E685-47CD-8CC6-B8249D9E15E0}">
      <dsp:nvSpPr>
        <dsp:cNvPr id="0" name=""/>
        <dsp:cNvSpPr/>
      </dsp:nvSpPr>
      <dsp:spPr>
        <a:xfrm>
          <a:off x="860432" y="1625599"/>
          <a:ext cx="5180380" cy="8128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b="1" kern="1200" dirty="0">
              <a:solidFill>
                <a:srgbClr val="FFFF00"/>
              </a:solidFill>
            </a:rPr>
            <a:t>静态测试，</a:t>
          </a:r>
          <a:r>
            <a:rPr lang="zh-CN" altLang="en-US" sz="2600" kern="1200" dirty="0"/>
            <a:t>动态测试</a:t>
          </a:r>
        </a:p>
      </dsp:txBody>
      <dsp:txXfrm>
        <a:off x="860432" y="1625599"/>
        <a:ext cx="5180380" cy="812800"/>
      </dsp:txXfrm>
    </dsp:sp>
    <dsp:sp modelId="{2464E662-F45B-4F45-998E-30F2E99F59A7}">
      <dsp:nvSpPr>
        <dsp:cNvPr id="0" name=""/>
        <dsp:cNvSpPr/>
      </dsp:nvSpPr>
      <dsp:spPr>
        <a:xfrm>
          <a:off x="352432" y="1523999"/>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13B17A-08B0-4DBC-AFDC-E53B4043EC5B}">
      <dsp:nvSpPr>
        <dsp:cNvPr id="0" name=""/>
        <dsp:cNvSpPr/>
      </dsp:nvSpPr>
      <dsp:spPr>
        <a:xfrm>
          <a:off x="564979" y="2844800"/>
          <a:ext cx="5475833" cy="8128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手工测试，自动化测试</a:t>
          </a:r>
        </a:p>
      </dsp:txBody>
      <dsp:txXfrm>
        <a:off x="564979" y="2844800"/>
        <a:ext cx="5475833" cy="812800"/>
      </dsp:txXfrm>
    </dsp:sp>
    <dsp:sp modelId="{C0A4F76A-DC91-483A-97B7-13A412F82D22}">
      <dsp:nvSpPr>
        <dsp:cNvPr id="0" name=""/>
        <dsp:cNvSpPr/>
      </dsp:nvSpPr>
      <dsp:spPr>
        <a:xfrm>
          <a:off x="56979" y="27432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6C2DB-05D4-4AC6-AC51-6B6D273F5539}">
      <dsp:nvSpPr>
        <dsp:cNvPr id="0" name=""/>
        <dsp:cNvSpPr/>
      </dsp:nvSpPr>
      <dsp:spPr>
        <a:xfrm>
          <a:off x="-4594335" y="-704407"/>
          <a:ext cx="5472816" cy="5472816"/>
        </a:xfrm>
        <a:prstGeom prst="blockArc">
          <a:avLst>
            <a:gd name="adj1" fmla="val 18900000"/>
            <a:gd name="adj2" fmla="val 2700000"/>
            <a:gd name="adj3" fmla="val 39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05CEED-D3F2-466A-B20D-2C1C773F883C}">
      <dsp:nvSpPr>
        <dsp:cNvPr id="0" name=""/>
        <dsp:cNvSpPr/>
      </dsp:nvSpPr>
      <dsp:spPr>
        <a:xfrm>
          <a:off x="564979" y="406400"/>
          <a:ext cx="5475833" cy="812800"/>
        </a:xfrm>
        <a:prstGeom prst="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黑盒测试，白盒测试，灰盒测试</a:t>
          </a:r>
        </a:p>
      </dsp:txBody>
      <dsp:txXfrm>
        <a:off x="564979" y="406400"/>
        <a:ext cx="5475833" cy="812800"/>
      </dsp:txXfrm>
    </dsp:sp>
    <dsp:sp modelId="{36CE1D15-F2E2-4AB7-987C-8FBA05011C1C}">
      <dsp:nvSpPr>
        <dsp:cNvPr id="0" name=""/>
        <dsp:cNvSpPr/>
      </dsp:nvSpPr>
      <dsp:spPr>
        <a:xfrm>
          <a:off x="56979" y="3048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D9F85C-E685-47CD-8CC6-B8249D9E15E0}">
      <dsp:nvSpPr>
        <dsp:cNvPr id="0" name=""/>
        <dsp:cNvSpPr/>
      </dsp:nvSpPr>
      <dsp:spPr>
        <a:xfrm>
          <a:off x="860432" y="1625599"/>
          <a:ext cx="5180380" cy="8128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静态测试，动态测试</a:t>
          </a:r>
        </a:p>
      </dsp:txBody>
      <dsp:txXfrm>
        <a:off x="860432" y="1625599"/>
        <a:ext cx="5180380" cy="812800"/>
      </dsp:txXfrm>
    </dsp:sp>
    <dsp:sp modelId="{2464E662-F45B-4F45-998E-30F2E99F59A7}">
      <dsp:nvSpPr>
        <dsp:cNvPr id="0" name=""/>
        <dsp:cNvSpPr/>
      </dsp:nvSpPr>
      <dsp:spPr>
        <a:xfrm>
          <a:off x="352432" y="1523999"/>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13B17A-08B0-4DBC-AFDC-E53B4043EC5B}">
      <dsp:nvSpPr>
        <dsp:cNvPr id="0" name=""/>
        <dsp:cNvSpPr/>
      </dsp:nvSpPr>
      <dsp:spPr>
        <a:xfrm>
          <a:off x="564979" y="2844800"/>
          <a:ext cx="5475833" cy="8128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手工测试，自动化测试</a:t>
          </a:r>
        </a:p>
      </dsp:txBody>
      <dsp:txXfrm>
        <a:off x="564979" y="2844800"/>
        <a:ext cx="5475833" cy="812800"/>
      </dsp:txXfrm>
    </dsp:sp>
    <dsp:sp modelId="{C0A4F76A-DC91-483A-97B7-13A412F82D22}">
      <dsp:nvSpPr>
        <dsp:cNvPr id="0" name=""/>
        <dsp:cNvSpPr/>
      </dsp:nvSpPr>
      <dsp:spPr>
        <a:xfrm>
          <a:off x="56979" y="27432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6C2DB-05D4-4AC6-AC51-6B6D273F5539}">
      <dsp:nvSpPr>
        <dsp:cNvPr id="0" name=""/>
        <dsp:cNvSpPr/>
      </dsp:nvSpPr>
      <dsp:spPr>
        <a:xfrm>
          <a:off x="-4594335" y="-704407"/>
          <a:ext cx="5472816" cy="5472816"/>
        </a:xfrm>
        <a:prstGeom prst="blockArc">
          <a:avLst>
            <a:gd name="adj1" fmla="val 18900000"/>
            <a:gd name="adj2" fmla="val 2700000"/>
            <a:gd name="adj3" fmla="val 39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05CEED-D3F2-466A-B20D-2C1C773F883C}">
      <dsp:nvSpPr>
        <dsp:cNvPr id="0" name=""/>
        <dsp:cNvSpPr/>
      </dsp:nvSpPr>
      <dsp:spPr>
        <a:xfrm>
          <a:off x="564979" y="406400"/>
          <a:ext cx="5475833" cy="8128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黑盒测试，白盒测试，灰盒测试</a:t>
          </a:r>
        </a:p>
      </dsp:txBody>
      <dsp:txXfrm>
        <a:off x="564979" y="406400"/>
        <a:ext cx="5475833" cy="812800"/>
      </dsp:txXfrm>
    </dsp:sp>
    <dsp:sp modelId="{36CE1D15-F2E2-4AB7-987C-8FBA05011C1C}">
      <dsp:nvSpPr>
        <dsp:cNvPr id="0" name=""/>
        <dsp:cNvSpPr/>
      </dsp:nvSpPr>
      <dsp:spPr>
        <a:xfrm>
          <a:off x="56979" y="3048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D9F85C-E685-47CD-8CC6-B8249D9E15E0}">
      <dsp:nvSpPr>
        <dsp:cNvPr id="0" name=""/>
        <dsp:cNvSpPr/>
      </dsp:nvSpPr>
      <dsp:spPr>
        <a:xfrm>
          <a:off x="860432" y="1625599"/>
          <a:ext cx="5180380" cy="812800"/>
        </a:xfrm>
        <a:prstGeom prst="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静态测试，动态测试</a:t>
          </a:r>
        </a:p>
      </dsp:txBody>
      <dsp:txXfrm>
        <a:off x="860432" y="1625599"/>
        <a:ext cx="5180380" cy="812800"/>
      </dsp:txXfrm>
    </dsp:sp>
    <dsp:sp modelId="{2464E662-F45B-4F45-998E-30F2E99F59A7}">
      <dsp:nvSpPr>
        <dsp:cNvPr id="0" name=""/>
        <dsp:cNvSpPr/>
      </dsp:nvSpPr>
      <dsp:spPr>
        <a:xfrm>
          <a:off x="352432" y="1523999"/>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13B17A-08B0-4DBC-AFDC-E53B4043EC5B}">
      <dsp:nvSpPr>
        <dsp:cNvPr id="0" name=""/>
        <dsp:cNvSpPr/>
      </dsp:nvSpPr>
      <dsp:spPr>
        <a:xfrm>
          <a:off x="564979" y="2844800"/>
          <a:ext cx="5475833" cy="8128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手工测试，自动化测试</a:t>
          </a:r>
        </a:p>
      </dsp:txBody>
      <dsp:txXfrm>
        <a:off x="564979" y="2844800"/>
        <a:ext cx="5475833" cy="812800"/>
      </dsp:txXfrm>
    </dsp:sp>
    <dsp:sp modelId="{C0A4F76A-DC91-483A-97B7-13A412F82D22}">
      <dsp:nvSpPr>
        <dsp:cNvPr id="0" name=""/>
        <dsp:cNvSpPr/>
      </dsp:nvSpPr>
      <dsp:spPr>
        <a:xfrm>
          <a:off x="56979" y="27432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6C2DB-05D4-4AC6-AC51-6B6D273F5539}">
      <dsp:nvSpPr>
        <dsp:cNvPr id="0" name=""/>
        <dsp:cNvSpPr/>
      </dsp:nvSpPr>
      <dsp:spPr>
        <a:xfrm>
          <a:off x="-4594335" y="-704407"/>
          <a:ext cx="5472816" cy="5472816"/>
        </a:xfrm>
        <a:prstGeom prst="blockArc">
          <a:avLst>
            <a:gd name="adj1" fmla="val 18900000"/>
            <a:gd name="adj2" fmla="val 2700000"/>
            <a:gd name="adj3" fmla="val 39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05CEED-D3F2-466A-B20D-2C1C773F883C}">
      <dsp:nvSpPr>
        <dsp:cNvPr id="0" name=""/>
        <dsp:cNvSpPr/>
      </dsp:nvSpPr>
      <dsp:spPr>
        <a:xfrm>
          <a:off x="564979" y="406400"/>
          <a:ext cx="5475833" cy="8128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黑盒测试，白盒测试，灰盒测试</a:t>
          </a:r>
        </a:p>
      </dsp:txBody>
      <dsp:txXfrm>
        <a:off x="564979" y="406400"/>
        <a:ext cx="5475833" cy="812800"/>
      </dsp:txXfrm>
    </dsp:sp>
    <dsp:sp modelId="{36CE1D15-F2E2-4AB7-987C-8FBA05011C1C}">
      <dsp:nvSpPr>
        <dsp:cNvPr id="0" name=""/>
        <dsp:cNvSpPr/>
      </dsp:nvSpPr>
      <dsp:spPr>
        <a:xfrm>
          <a:off x="56979" y="3048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D9F85C-E685-47CD-8CC6-B8249D9E15E0}">
      <dsp:nvSpPr>
        <dsp:cNvPr id="0" name=""/>
        <dsp:cNvSpPr/>
      </dsp:nvSpPr>
      <dsp:spPr>
        <a:xfrm>
          <a:off x="860432" y="1625599"/>
          <a:ext cx="5180380" cy="81280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静态测试，动态测试</a:t>
          </a:r>
        </a:p>
      </dsp:txBody>
      <dsp:txXfrm>
        <a:off x="860432" y="1625599"/>
        <a:ext cx="5180380" cy="812800"/>
      </dsp:txXfrm>
    </dsp:sp>
    <dsp:sp modelId="{2464E662-F45B-4F45-998E-30F2E99F59A7}">
      <dsp:nvSpPr>
        <dsp:cNvPr id="0" name=""/>
        <dsp:cNvSpPr/>
      </dsp:nvSpPr>
      <dsp:spPr>
        <a:xfrm>
          <a:off x="352432" y="1523999"/>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13B17A-08B0-4DBC-AFDC-E53B4043EC5B}">
      <dsp:nvSpPr>
        <dsp:cNvPr id="0" name=""/>
        <dsp:cNvSpPr/>
      </dsp:nvSpPr>
      <dsp:spPr>
        <a:xfrm>
          <a:off x="564979" y="2844800"/>
          <a:ext cx="5475833" cy="812800"/>
        </a:xfrm>
        <a:prstGeom prst="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645160" tIns="66040" rIns="66040" bIns="66040" numCol="1" spcCol="1270" anchor="ctr" anchorCtr="0">
          <a:noAutofit/>
        </a:bodyPr>
        <a:lstStyle/>
        <a:p>
          <a:pPr marL="0" lvl="0" indent="0" algn="l" defTabSz="1155700">
            <a:lnSpc>
              <a:spcPct val="90000"/>
            </a:lnSpc>
            <a:spcBef>
              <a:spcPct val="0"/>
            </a:spcBef>
            <a:spcAft>
              <a:spcPct val="35000"/>
            </a:spcAft>
            <a:buNone/>
          </a:pPr>
          <a:r>
            <a:rPr lang="zh-CN" altLang="en-US" sz="2600" kern="1200" dirty="0"/>
            <a:t>手工测试，自动化测试</a:t>
          </a:r>
        </a:p>
      </dsp:txBody>
      <dsp:txXfrm>
        <a:off x="564979" y="2844800"/>
        <a:ext cx="5475833" cy="812800"/>
      </dsp:txXfrm>
    </dsp:sp>
    <dsp:sp modelId="{C0A4F76A-DC91-483A-97B7-13A412F82D22}">
      <dsp:nvSpPr>
        <dsp:cNvPr id="0" name=""/>
        <dsp:cNvSpPr/>
      </dsp:nvSpPr>
      <dsp:spPr>
        <a:xfrm>
          <a:off x="56979" y="2743200"/>
          <a:ext cx="1016000" cy="101600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fld id="{3247E435-CBE6-4D6A-AECB-C4DBE6D7193E}" type="datetimeFigureOut">
              <a:rPr lang="zh-CN" altLang="en-US"/>
              <a:pPr>
                <a:defRPr/>
              </a:pPr>
              <a:t>2024/5/31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itchFamily="34" charset="0"/>
              <a:buNone/>
              <a:defRPr sz="1200"/>
            </a:lvl1pPr>
          </a:lstStyle>
          <a:p>
            <a:pPr>
              <a:defRPr/>
            </a:pPr>
            <a:fld id="{E5176F71-DC5B-45B2-B32E-198E41363E67}" type="slidenum">
              <a:rPr lang="zh-CN" altLang="en-US"/>
              <a:pPr>
                <a:defRPr/>
              </a:pPr>
              <a:t>‹#›</a:t>
            </a:fld>
            <a:endParaRPr lang="zh-CN" altLang="en-US"/>
          </a:p>
        </p:txBody>
      </p:sp>
    </p:spTree>
    <p:extLst>
      <p:ext uri="{BB962C8B-B14F-4D97-AF65-F5344CB8AC3E}">
        <p14:creationId xmlns:p14="http://schemas.microsoft.com/office/powerpoint/2010/main" val="12425892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fld id="{6018389F-DBF8-4D9B-93E2-740C83DE2302}" type="datetime1">
              <a:rPr lang="zh-CN" altLang="en-US"/>
              <a:pPr>
                <a:defRPr/>
              </a:pPr>
              <a:t>2024/5/31</a:t>
            </a:fld>
            <a:endParaRPr lang="zh-CN" altLang="en-US"/>
          </a:p>
        </p:txBody>
      </p:sp>
      <p:sp>
        <p:nvSpPr>
          <p:cNvPr id="409604" name="幻灯片图像占位符 3"/>
          <p:cNvSpPr>
            <a:spLocks noGrp="1" noRot="1" noChangeAspect="1" noChangeArrowheads="1"/>
          </p:cNvSpPr>
          <p:nvPr>
            <p:ph type="sldImg" idx="2"/>
          </p:nvPr>
        </p:nvSpPr>
        <p:spPr bwMode="auto">
          <a:xfrm>
            <a:off x="384175" y="685800"/>
            <a:ext cx="608965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buFont typeface="Arial" pitchFamily="34" charset="0"/>
              <a:buNone/>
              <a:defRPr sz="1200">
                <a:latin typeface="Calibri" pitchFamily="34" charset="0"/>
                <a:ea typeface="宋体" pitchFamily="2" charset="-122"/>
              </a:defRPr>
            </a:lvl1pPr>
          </a:lstStyle>
          <a:p>
            <a:pPr>
              <a:defRPr/>
            </a:pPr>
            <a:fld id="{351EE095-9113-4F19-814B-80EC02E6CDFF}" type="slidenum">
              <a:rPr lang="zh-CN" altLang="en-US"/>
              <a:pPr>
                <a:defRPr/>
              </a:pPr>
              <a:t>‹#›</a:t>
            </a:fld>
            <a:endParaRPr lang="zh-CN" altLang="en-US"/>
          </a:p>
        </p:txBody>
      </p:sp>
    </p:spTree>
    <p:extLst>
      <p:ext uri="{BB962C8B-B14F-4D97-AF65-F5344CB8AC3E}">
        <p14:creationId xmlns:p14="http://schemas.microsoft.com/office/powerpoint/2010/main" val="27696590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Rot="1" noChangeAspect="1" noChangeArrowheads="1" noTextEdit="1"/>
          </p:cNvSpPr>
          <p:nvPr>
            <p:ph type="sldImg"/>
          </p:nvPr>
        </p:nvSpPr>
        <p:spPr/>
      </p:sp>
      <p:sp>
        <p:nvSpPr>
          <p:cNvPr id="451587" name="Rectangle 3"/>
          <p:cNvSpPr>
            <a:spLocks noGrp="1" noChangeArrowheads="1"/>
          </p:cNvSpPr>
          <p:nvPr>
            <p:ph type="body" idx="1"/>
          </p:nvPr>
        </p:nvSpPr>
        <p:spPr>
          <a:xfrm>
            <a:off x="506413" y="4178300"/>
            <a:ext cx="5864225" cy="4078288"/>
          </a:xfrm>
          <a:noFill/>
        </p:spPr>
        <p:txBody>
          <a:bodyPr/>
          <a:lstStyle/>
          <a:p>
            <a:r>
              <a:rPr kumimoji="1" lang="zh-CN" altLang="en-US" sz="1000">
                <a:latin typeface="Arial" pitchFamily="34" charset="0"/>
              </a:rPr>
              <a:t>也</a:t>
            </a:r>
            <a:r>
              <a:rPr lang="zh-CN" altLang="en-US" sz="1000">
                <a:latin typeface="Arial" pitchFamily="34" charset="0"/>
              </a:rPr>
              <a:t>就是</a:t>
            </a:r>
            <a:r>
              <a:rPr kumimoji="1" lang="zh-CN" altLang="en-US" sz="1000">
                <a:latin typeface="Arial" pitchFamily="34" charset="0"/>
              </a:rPr>
              <a:t>在这些逻辑条件取值的组合所构成的多种情况下，分别执行不同的操作，获得不同的结果</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Rot="1" noChangeAspect="1" noChangeArrowheads="1" noTextEdit="1"/>
          </p:cNvSpPr>
          <p:nvPr>
            <p:ph type="sldImg"/>
          </p:nvPr>
        </p:nvSpPr>
        <p:spPr/>
      </p:sp>
      <p:sp>
        <p:nvSpPr>
          <p:cNvPr id="439299" name="Rectangle 3"/>
          <p:cNvSpPr>
            <a:spLocks noGrp="1" noChangeArrowheads="1"/>
          </p:cNvSpPr>
          <p:nvPr>
            <p:ph type="body" idx="1"/>
          </p:nvPr>
        </p:nvSpPr>
        <p:spPr>
          <a:xfrm>
            <a:off x="506413" y="4178300"/>
            <a:ext cx="5864225" cy="4078288"/>
          </a:xfrm>
          <a:noFill/>
        </p:spPr>
        <p:txBody>
          <a:bodyPr/>
          <a:lstStyle/>
          <a:p>
            <a:r>
              <a:rPr lang="zh-CN" altLang="en-US">
                <a:latin typeface="Arial" pitchFamily="34" charset="0"/>
              </a:rPr>
              <a:t>因果图法是一种比较高效的测试用例设计方法，它使用输入输出数据之间的因果关系来有效的降低了测试用例的数目</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Rot="1" noChangeAspect="1" noChangeArrowheads="1" noTextEdit="1"/>
          </p:cNvSpPr>
          <p:nvPr>
            <p:ph type="sldImg"/>
          </p:nvPr>
        </p:nvSpPr>
        <p:spPr/>
      </p:sp>
      <p:sp>
        <p:nvSpPr>
          <p:cNvPr id="440323" name="Rectangle 3"/>
          <p:cNvSpPr>
            <a:spLocks noGrp="1" noChangeArrowheads="1"/>
          </p:cNvSpPr>
          <p:nvPr>
            <p:ph type="body" idx="1"/>
          </p:nvPr>
        </p:nvSpPr>
        <p:spPr>
          <a:xfrm>
            <a:off x="914400" y="4343400"/>
            <a:ext cx="5029200" cy="4114800"/>
          </a:xfrm>
          <a:noFill/>
        </p:spPr>
        <p:txBody>
          <a:bodyPr/>
          <a:lstStyle/>
          <a:p>
            <a:r>
              <a:rPr lang="zh-CN" altLang="en-US">
                <a:latin typeface="Arial" pitchFamily="34" charset="0"/>
              </a:rPr>
              <a:t>决策表通过增加了不可能选项，来否决现实中不可能的情况。</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Rot="1" noChangeAspect="1" noChangeArrowheads="1" noTextEdit="1"/>
          </p:cNvSpPr>
          <p:nvPr>
            <p:ph type="sldImg"/>
          </p:nvPr>
        </p:nvSpPr>
        <p:spPr/>
      </p:sp>
      <p:sp>
        <p:nvSpPr>
          <p:cNvPr id="441347" name="Rectangle 3"/>
          <p:cNvSpPr>
            <a:spLocks noGrp="1" noChangeArrowheads="1"/>
          </p:cNvSpPr>
          <p:nvPr>
            <p:ph type="body" idx="1"/>
          </p:nvPr>
        </p:nvSpPr>
        <p:spPr>
          <a:xfrm>
            <a:off x="914400" y="4343400"/>
            <a:ext cx="5029200" cy="4114800"/>
          </a:xfrm>
          <a:noFill/>
        </p:spPr>
        <p:txBody>
          <a:bodyPr/>
          <a:lstStyle/>
          <a:p>
            <a:endParaRPr lang="zh-CN" altLang="en-US">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86</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87</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88</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89</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90</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91</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92</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93</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94</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95</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96</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97</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98</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99</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100</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101</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102</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103</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104</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105</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106</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1EE095-9113-4F19-814B-80EC02E6CDFF}" type="slidenum">
              <a:rPr lang="zh-CN" altLang="en-US" smtClean="0"/>
              <a:pPr>
                <a:defRPr/>
              </a:pPr>
              <a:t>107</a:t>
            </a:fld>
            <a:endParaRPr lang="zh-CN" altLang="en-US"/>
          </a:p>
        </p:txBody>
      </p:sp>
    </p:spTree>
    <p:extLst>
      <p:ext uri="{BB962C8B-B14F-4D97-AF65-F5344CB8AC3E}">
        <p14:creationId xmlns:p14="http://schemas.microsoft.com/office/powerpoint/2010/main" val="10256335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Rot="1" noChangeAspect="1" noChangeArrowheads="1" noTextEdit="1"/>
          </p:cNvSpPr>
          <p:nvPr>
            <p:ph type="sldImg"/>
          </p:nvPr>
        </p:nvSpPr>
        <p:spPr>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2131"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Rot="1" noChangeAspect="1" noChangeArrowheads="1" noTextEdit="1"/>
          </p:cNvSpPr>
          <p:nvPr>
            <p:ph type="sldImg"/>
          </p:nvPr>
        </p:nvSpPr>
        <p:spPr>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2131"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Rot="1" noChangeAspect="1" noChangeArrowheads="1" noTextEdit="1"/>
          </p:cNvSpPr>
          <p:nvPr>
            <p:ph type="sldImg"/>
          </p:nvPr>
        </p:nvSpPr>
        <p:spPr>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2131"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Rot="1" noChangeAspect="1" noChangeArrowheads="1" noTextEdit="1"/>
          </p:cNvSpPr>
          <p:nvPr>
            <p:ph type="sldImg"/>
          </p:nvPr>
        </p:nvSpPr>
        <p:spPr>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2131"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271463" y="341883"/>
            <a:ext cx="8229600" cy="857250"/>
          </a:xfrm>
        </p:spPr>
        <p:txBody>
          <a:bodyPr/>
          <a:lstStyle>
            <a:lvl1pPr algn="l">
              <a:defRPr>
                <a:solidFill>
                  <a:srgbClr val="0070C0"/>
                </a:solidFill>
              </a:defRPr>
            </a:lvl1pPr>
          </a:lstStyle>
          <a:p>
            <a:r>
              <a:rPr lang="zh-CN" altLang="en-US" dirty="0"/>
              <a:t>单击此处编辑母版标题样式</a:t>
            </a:r>
          </a:p>
        </p:txBody>
      </p:sp>
      <p:sp>
        <p:nvSpPr>
          <p:cNvPr id="3" name="灯片编号占位符 5"/>
          <p:cNvSpPr>
            <a:spLocks noGrp="1" noChangeArrowheads="1"/>
          </p:cNvSpPr>
          <p:nvPr>
            <p:ph type="sldNum" sz="quarter" idx="10"/>
          </p:nvPr>
        </p:nvSpPr>
        <p:spPr>
          <a:ln/>
        </p:spPr>
        <p:txBody>
          <a:bodyPr/>
          <a:lstStyle>
            <a:lvl1pPr>
              <a:defRPr/>
            </a:lvl1pPr>
          </a:lstStyle>
          <a:p>
            <a:pPr>
              <a:defRPr/>
            </a:pPr>
            <a:fld id="{4DF4E16E-7170-48D5-A6E1-422276291D21}" type="slidenum">
              <a:rPr lang="zh-CN" altLang="en-US"/>
              <a:pPr>
                <a:defRPr/>
              </a:pPr>
              <a:t>‹#›</a:t>
            </a:fld>
            <a:endParaRPr lang="zh-CN" altLang="en-US"/>
          </a:p>
        </p:txBody>
      </p:sp>
    </p:spTree>
    <p:extLst>
      <p:ext uri="{BB962C8B-B14F-4D97-AF65-F5344CB8AC3E}">
        <p14:creationId xmlns:p14="http://schemas.microsoft.com/office/powerpoint/2010/main" val="3593986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68313" y="269875"/>
            <a:ext cx="8229600" cy="648072"/>
          </a:xfrm>
        </p:spPr>
        <p:txBody>
          <a:bodyPr/>
          <a:lstStyle/>
          <a:p>
            <a:r>
              <a:rPr lang="zh-CN" altLang="en-US" dirty="0"/>
              <a:t>单击此处编辑母版标题样式</a:t>
            </a:r>
          </a:p>
        </p:txBody>
      </p:sp>
      <p:sp>
        <p:nvSpPr>
          <p:cNvPr id="3" name="内容占位符 2"/>
          <p:cNvSpPr>
            <a:spLocks noGrp="1"/>
          </p:cNvSpPr>
          <p:nvPr>
            <p:ph idx="1"/>
          </p:nvPr>
        </p:nvSpPr>
        <p:spPr>
          <a:xfrm>
            <a:off x="468313" y="989955"/>
            <a:ext cx="8229600" cy="339725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01966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826" y="114406"/>
            <a:ext cx="8569325" cy="622082"/>
          </a:xfrm>
        </p:spPr>
        <p:txBody>
          <a:bodyPr/>
          <a:lstStyle/>
          <a:p>
            <a:r>
              <a:rPr lang="zh-CN" altLang="en-US"/>
              <a:t>单击此处编辑母版标题样式</a:t>
            </a:r>
          </a:p>
        </p:txBody>
      </p:sp>
      <p:sp>
        <p:nvSpPr>
          <p:cNvPr id="3" name="表格占位符 2"/>
          <p:cNvSpPr>
            <a:spLocks noGrp="1"/>
          </p:cNvSpPr>
          <p:nvPr>
            <p:ph type="tbl" idx="1"/>
          </p:nvPr>
        </p:nvSpPr>
        <p:spPr>
          <a:xfrm>
            <a:off x="755650" y="898563"/>
            <a:ext cx="8064500" cy="3621660"/>
          </a:xfrm>
        </p:spPr>
        <p:txBody>
          <a:bodyPr/>
          <a:lstStyle/>
          <a:p>
            <a:pPr lvl="0"/>
            <a:endParaRPr lang="zh-CN" altLang="en-US" noProof="0"/>
          </a:p>
        </p:txBody>
      </p:sp>
      <p:sp>
        <p:nvSpPr>
          <p:cNvPr id="4" name="灯片编号占位符 3"/>
          <p:cNvSpPr>
            <a:spLocks noGrp="1"/>
          </p:cNvSpPr>
          <p:nvPr>
            <p:ph type="sldNum" sz="quarter" idx="10"/>
          </p:nvPr>
        </p:nvSpPr>
        <p:spPr>
          <a:xfrm>
            <a:off x="8388350" y="4883150"/>
            <a:ext cx="434975" cy="231775"/>
          </a:xfrm>
        </p:spPr>
        <p:txBody>
          <a:bodyPr/>
          <a:lstStyle>
            <a:lvl1pPr>
              <a:defRPr/>
            </a:lvl1pPr>
          </a:lstStyle>
          <a:p>
            <a:pPr>
              <a:defRPr/>
            </a:pPr>
            <a:fld id="{27B51C05-FD85-4D84-ACD0-508617A108B6}" type="slidenum">
              <a:rPr lang="en-US" altLang="zh-CN"/>
              <a:pPr>
                <a:defRPr/>
              </a:pPr>
              <a:t>‹#›</a:t>
            </a:fld>
            <a:endParaRPr lang="en-US" altLang="zh-CN"/>
          </a:p>
        </p:txBody>
      </p:sp>
    </p:spTree>
    <p:extLst>
      <p:ext uri="{BB962C8B-B14F-4D97-AF65-F5344CB8AC3E}">
        <p14:creationId xmlns:p14="http://schemas.microsoft.com/office/powerpoint/2010/main" val="407841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6525" y="114406"/>
            <a:ext cx="7558088" cy="62208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114266"/>
            <a:ext cx="3924300" cy="340595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888" y="1114266"/>
            <a:ext cx="3924300" cy="340595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a:xfrm>
            <a:off x="8458200" y="4691063"/>
            <a:ext cx="533400" cy="285750"/>
          </a:xfrm>
        </p:spPr>
        <p:txBody>
          <a:bodyPr/>
          <a:lstStyle>
            <a:lvl1pPr>
              <a:defRPr/>
            </a:lvl1pPr>
          </a:lstStyle>
          <a:p>
            <a:pPr>
              <a:defRPr/>
            </a:pPr>
            <a:fld id="{CAED48BA-9671-4FE1-B4B0-B6CD59ADD6FA}" type="slidenum">
              <a:rPr lang="en-US" altLang="zh-CN"/>
              <a:pPr>
                <a:defRPr/>
              </a:pPr>
              <a:t>‹#›</a:t>
            </a:fld>
            <a:endParaRPr lang="en-US" altLang="zh-CN"/>
          </a:p>
        </p:txBody>
      </p:sp>
    </p:spTree>
    <p:extLst>
      <p:ext uri="{BB962C8B-B14F-4D97-AF65-F5344CB8AC3E}">
        <p14:creationId xmlns:p14="http://schemas.microsoft.com/office/powerpoint/2010/main" val="88208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468313" y="412750"/>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文本占位符 2"/>
          <p:cNvSpPr>
            <a:spLocks noGrp="1" noChangeArrowheads="1"/>
          </p:cNvSpPr>
          <p:nvPr>
            <p:ph type="body" idx="1"/>
          </p:nvPr>
        </p:nvSpPr>
        <p:spPr bwMode="auto">
          <a:xfrm>
            <a:off x="468313" y="1422400"/>
            <a:ext cx="82296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0" name="Rectangle 6"/>
          <p:cNvSpPr>
            <a:spLocks noChangeArrowheads="1"/>
          </p:cNvSpPr>
          <p:nvPr userDrawn="1"/>
        </p:nvSpPr>
        <p:spPr bwMode="auto">
          <a:xfrm>
            <a:off x="3175" y="0"/>
            <a:ext cx="9144000" cy="260350"/>
          </a:xfrm>
          <a:prstGeom prst="rect">
            <a:avLst/>
          </a:prstGeom>
          <a:solidFill>
            <a:srgbClr val="007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Times New Roman" panose="02020603050405020304" pitchFamily="18" charset="0"/>
                <a:ea typeface="微软雅黑" panose="020B0503020204020204" pitchFamily="34" charset="-122"/>
              </a:defRPr>
            </a:lvl1pPr>
            <a:lvl2pPr marL="742950" indent="-285750" eaLnBrk="0" hangingPunct="0">
              <a:defRPr>
                <a:solidFill>
                  <a:schemeClr val="tx1"/>
                </a:solidFill>
                <a:latin typeface="Times New Roman" panose="02020603050405020304" pitchFamily="18" charset="0"/>
                <a:ea typeface="微软雅黑" panose="020B0503020204020204" pitchFamily="34" charset="-122"/>
              </a:defRPr>
            </a:lvl2pPr>
            <a:lvl3pPr marL="1143000" indent="-228600" eaLnBrk="0" hangingPunct="0">
              <a:defRPr>
                <a:solidFill>
                  <a:schemeClr val="tx1"/>
                </a:solidFill>
                <a:latin typeface="Times New Roman" panose="02020603050405020304" pitchFamily="18" charset="0"/>
                <a:ea typeface="微软雅黑" panose="020B0503020204020204" pitchFamily="34" charset="-122"/>
              </a:defRPr>
            </a:lvl3pPr>
            <a:lvl4pPr marL="1600200" indent="-228600" eaLnBrk="0" hangingPunct="0">
              <a:defRPr>
                <a:solidFill>
                  <a:schemeClr val="tx1"/>
                </a:solidFill>
                <a:latin typeface="Times New Roman" panose="02020603050405020304" pitchFamily="18" charset="0"/>
                <a:ea typeface="微软雅黑" panose="020B0503020204020204" pitchFamily="34" charset="-122"/>
              </a:defRPr>
            </a:lvl4pPr>
            <a:lvl5pPr marL="2057400" indent="-228600" eaLnBrk="0" hangingPunct="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9pPr>
          </a:lstStyle>
          <a:p>
            <a:pPr eaLnBrk="1" hangingPunct="1">
              <a:buFont typeface="Arial" panose="020B0604020202020204" pitchFamily="34" charset="0"/>
              <a:buNone/>
              <a:defRPr/>
            </a:pPr>
            <a:endParaRPr lang="en-US" altLang="zh-CN"/>
          </a:p>
        </p:txBody>
      </p:sp>
      <p:sp>
        <p:nvSpPr>
          <p:cNvPr id="1031" name="Rectangle 7"/>
          <p:cNvSpPr>
            <a:spLocks noChangeArrowheads="1"/>
          </p:cNvSpPr>
          <p:nvPr userDrawn="1"/>
        </p:nvSpPr>
        <p:spPr bwMode="auto">
          <a:xfrm>
            <a:off x="6661150" y="0"/>
            <a:ext cx="2489200" cy="3429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Times New Roman" panose="02020603050405020304" pitchFamily="18" charset="0"/>
                <a:ea typeface="微软雅黑" panose="020B0503020204020204" pitchFamily="34" charset="-122"/>
              </a:defRPr>
            </a:lvl1pPr>
            <a:lvl2pPr marL="742950" indent="-285750" eaLnBrk="0" hangingPunct="0">
              <a:defRPr>
                <a:solidFill>
                  <a:schemeClr val="tx1"/>
                </a:solidFill>
                <a:latin typeface="Times New Roman" panose="02020603050405020304" pitchFamily="18" charset="0"/>
                <a:ea typeface="微软雅黑" panose="020B0503020204020204" pitchFamily="34" charset="-122"/>
              </a:defRPr>
            </a:lvl2pPr>
            <a:lvl3pPr marL="1143000" indent="-228600" eaLnBrk="0" hangingPunct="0">
              <a:defRPr>
                <a:solidFill>
                  <a:schemeClr val="tx1"/>
                </a:solidFill>
                <a:latin typeface="Times New Roman" panose="02020603050405020304" pitchFamily="18" charset="0"/>
                <a:ea typeface="微软雅黑" panose="020B0503020204020204" pitchFamily="34" charset="-122"/>
              </a:defRPr>
            </a:lvl3pPr>
            <a:lvl4pPr marL="1600200" indent="-228600" eaLnBrk="0" hangingPunct="0">
              <a:defRPr>
                <a:solidFill>
                  <a:schemeClr val="tx1"/>
                </a:solidFill>
                <a:latin typeface="Times New Roman" panose="02020603050405020304" pitchFamily="18" charset="0"/>
                <a:ea typeface="微软雅黑" panose="020B0503020204020204" pitchFamily="34" charset="-122"/>
              </a:defRPr>
            </a:lvl4pPr>
            <a:lvl5pPr marL="2057400" indent="-228600" eaLnBrk="0" hangingPunct="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9pPr>
          </a:lstStyle>
          <a:p>
            <a:pPr eaLnBrk="1" hangingPunct="1">
              <a:buFont typeface="Arial" panose="020B0604020202020204" pitchFamily="34" charset="0"/>
              <a:buNone/>
              <a:defRPr/>
            </a:pPr>
            <a:endParaRPr lang="en-US" altLang="zh-CN"/>
          </a:p>
        </p:txBody>
      </p:sp>
      <p:sp>
        <p:nvSpPr>
          <p:cNvPr id="1032" name="Rectangle 8"/>
          <p:cNvSpPr>
            <a:spLocks noChangeArrowheads="1"/>
          </p:cNvSpPr>
          <p:nvPr userDrawn="1"/>
        </p:nvSpPr>
        <p:spPr bwMode="auto">
          <a:xfrm>
            <a:off x="5646738" y="5045075"/>
            <a:ext cx="3506787" cy="107950"/>
          </a:xfrm>
          <a:prstGeom prst="rect">
            <a:avLst/>
          </a:prstGeom>
          <a:solidFill>
            <a:srgbClr val="007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Times New Roman" panose="02020603050405020304" pitchFamily="18" charset="0"/>
                <a:ea typeface="微软雅黑" panose="020B0503020204020204" pitchFamily="34" charset="-122"/>
              </a:defRPr>
            </a:lvl1pPr>
            <a:lvl2pPr marL="742950" indent="-285750" eaLnBrk="0" hangingPunct="0">
              <a:defRPr>
                <a:solidFill>
                  <a:schemeClr val="tx1"/>
                </a:solidFill>
                <a:latin typeface="Times New Roman" panose="02020603050405020304" pitchFamily="18" charset="0"/>
                <a:ea typeface="微软雅黑" panose="020B0503020204020204" pitchFamily="34" charset="-122"/>
              </a:defRPr>
            </a:lvl2pPr>
            <a:lvl3pPr marL="1143000" indent="-228600" eaLnBrk="0" hangingPunct="0">
              <a:defRPr>
                <a:solidFill>
                  <a:schemeClr val="tx1"/>
                </a:solidFill>
                <a:latin typeface="Times New Roman" panose="02020603050405020304" pitchFamily="18" charset="0"/>
                <a:ea typeface="微软雅黑" panose="020B0503020204020204" pitchFamily="34" charset="-122"/>
              </a:defRPr>
            </a:lvl3pPr>
            <a:lvl4pPr marL="1600200" indent="-228600" eaLnBrk="0" hangingPunct="0">
              <a:defRPr>
                <a:solidFill>
                  <a:schemeClr val="tx1"/>
                </a:solidFill>
                <a:latin typeface="Times New Roman" panose="02020603050405020304" pitchFamily="18" charset="0"/>
                <a:ea typeface="微软雅黑" panose="020B0503020204020204" pitchFamily="34" charset="-122"/>
              </a:defRPr>
            </a:lvl4pPr>
            <a:lvl5pPr marL="2057400" indent="-228600" eaLnBrk="0" hangingPunct="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9pPr>
          </a:lstStyle>
          <a:p>
            <a:pPr eaLnBrk="1" hangingPunct="1">
              <a:buFont typeface="Arial" panose="020B0604020202020204" pitchFamily="34" charset="0"/>
              <a:buNone/>
              <a:defRPr/>
            </a:pPr>
            <a:endParaRPr lang="en-US" altLang="zh-CN"/>
          </a:p>
        </p:txBody>
      </p:sp>
      <p:sp>
        <p:nvSpPr>
          <p:cNvPr id="1035" name="AutoShape 11"/>
          <p:cNvSpPr>
            <a:spLocks noChangeArrowheads="1"/>
          </p:cNvSpPr>
          <p:nvPr userDrawn="1"/>
        </p:nvSpPr>
        <p:spPr bwMode="auto">
          <a:xfrm rot="5400000">
            <a:off x="6684963" y="-30163"/>
            <a:ext cx="266700" cy="327025"/>
          </a:xfrm>
          <a:prstGeom prst="rtTriangle">
            <a:avLst/>
          </a:prstGeom>
          <a:solidFill>
            <a:srgbClr val="007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Times New Roman" panose="02020603050405020304" pitchFamily="18" charset="0"/>
                <a:ea typeface="微软雅黑" panose="020B0503020204020204" pitchFamily="34" charset="-122"/>
              </a:defRPr>
            </a:lvl1pPr>
            <a:lvl2pPr marL="742950" indent="-285750" eaLnBrk="0" hangingPunct="0">
              <a:defRPr>
                <a:solidFill>
                  <a:schemeClr val="tx1"/>
                </a:solidFill>
                <a:latin typeface="Times New Roman" panose="02020603050405020304" pitchFamily="18" charset="0"/>
                <a:ea typeface="微软雅黑" panose="020B0503020204020204" pitchFamily="34" charset="-122"/>
              </a:defRPr>
            </a:lvl2pPr>
            <a:lvl3pPr marL="1143000" indent="-228600" eaLnBrk="0" hangingPunct="0">
              <a:defRPr>
                <a:solidFill>
                  <a:schemeClr val="tx1"/>
                </a:solidFill>
                <a:latin typeface="Times New Roman" panose="02020603050405020304" pitchFamily="18" charset="0"/>
                <a:ea typeface="微软雅黑" panose="020B0503020204020204" pitchFamily="34" charset="-122"/>
              </a:defRPr>
            </a:lvl3pPr>
            <a:lvl4pPr marL="1600200" indent="-228600" eaLnBrk="0" hangingPunct="0">
              <a:defRPr>
                <a:solidFill>
                  <a:schemeClr val="tx1"/>
                </a:solidFill>
                <a:latin typeface="Times New Roman" panose="02020603050405020304" pitchFamily="18" charset="0"/>
                <a:ea typeface="微软雅黑" panose="020B0503020204020204" pitchFamily="34" charset="-122"/>
              </a:defRPr>
            </a:lvl4pPr>
            <a:lvl5pPr marL="2057400" indent="-228600" eaLnBrk="0" hangingPunct="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9pPr>
          </a:lstStyle>
          <a:p>
            <a:pPr eaLnBrk="1" hangingPunct="1">
              <a:buFont typeface="Arial" panose="020B0604020202020204" pitchFamily="34" charset="0"/>
              <a:buNone/>
              <a:defRPr/>
            </a:pPr>
            <a:endParaRPr lang="en-US" altLang="zh-CN"/>
          </a:p>
        </p:txBody>
      </p:sp>
      <p:sp>
        <p:nvSpPr>
          <p:cNvPr id="1036" name="AutoShape 12"/>
          <p:cNvSpPr>
            <a:spLocks noChangeArrowheads="1"/>
          </p:cNvSpPr>
          <p:nvPr userDrawn="1"/>
        </p:nvSpPr>
        <p:spPr bwMode="auto">
          <a:xfrm rot="16260000">
            <a:off x="5522913" y="5026025"/>
            <a:ext cx="111125" cy="142875"/>
          </a:xfrm>
          <a:prstGeom prst="rtTriangle">
            <a:avLst/>
          </a:prstGeom>
          <a:solidFill>
            <a:srgbClr val="007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Times New Roman" panose="02020603050405020304" pitchFamily="18" charset="0"/>
                <a:ea typeface="微软雅黑" panose="020B0503020204020204" pitchFamily="34" charset="-122"/>
              </a:defRPr>
            </a:lvl1pPr>
            <a:lvl2pPr marL="742950" indent="-285750" eaLnBrk="0" hangingPunct="0">
              <a:defRPr>
                <a:solidFill>
                  <a:schemeClr val="tx1"/>
                </a:solidFill>
                <a:latin typeface="Times New Roman" panose="02020603050405020304" pitchFamily="18" charset="0"/>
                <a:ea typeface="微软雅黑" panose="020B0503020204020204" pitchFamily="34" charset="-122"/>
              </a:defRPr>
            </a:lvl2pPr>
            <a:lvl3pPr marL="1143000" indent="-228600" eaLnBrk="0" hangingPunct="0">
              <a:defRPr>
                <a:solidFill>
                  <a:schemeClr val="tx1"/>
                </a:solidFill>
                <a:latin typeface="Times New Roman" panose="02020603050405020304" pitchFamily="18" charset="0"/>
                <a:ea typeface="微软雅黑" panose="020B0503020204020204" pitchFamily="34" charset="-122"/>
              </a:defRPr>
            </a:lvl3pPr>
            <a:lvl4pPr marL="1600200" indent="-228600" eaLnBrk="0" hangingPunct="0">
              <a:defRPr>
                <a:solidFill>
                  <a:schemeClr val="tx1"/>
                </a:solidFill>
                <a:latin typeface="Times New Roman" panose="02020603050405020304" pitchFamily="18" charset="0"/>
                <a:ea typeface="微软雅黑" panose="020B0503020204020204" pitchFamily="34" charset="-122"/>
              </a:defRPr>
            </a:lvl4pPr>
            <a:lvl5pPr marL="2057400" indent="-228600" eaLnBrk="0" hangingPunct="0">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微软雅黑" panose="020B0503020204020204" pitchFamily="34" charset="-122"/>
              </a:defRPr>
            </a:lvl9pPr>
          </a:lstStyle>
          <a:p>
            <a:pPr eaLnBrk="1" hangingPunct="1">
              <a:buFont typeface="Arial" panose="020B0604020202020204" pitchFamily="34" charset="0"/>
              <a:buNone/>
              <a:defRPr/>
            </a:pPr>
            <a:endParaRPr lang="en-US" altLang="zh-CN"/>
          </a:p>
        </p:txBody>
      </p:sp>
      <p:sp>
        <p:nvSpPr>
          <p:cNvPr id="1037" name="灯片编号占位符 5"/>
          <p:cNvSpPr>
            <a:spLocks noGrp="1" noChangeArrowheads="1"/>
          </p:cNvSpPr>
          <p:nvPr>
            <p:ph type="sldNum" sz="quarter" idx="4"/>
          </p:nvPr>
        </p:nvSpPr>
        <p:spPr bwMode="auto">
          <a:xfrm>
            <a:off x="8027988" y="5051425"/>
            <a:ext cx="946150" cy="9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buFont typeface="Arial" pitchFamily="34" charset="0"/>
              <a:buNone/>
              <a:defRPr sz="600" b="1">
                <a:solidFill>
                  <a:schemeClr val="bg1"/>
                </a:solidFill>
                <a:latin typeface="黑体" pitchFamily="49" charset="-122"/>
              </a:defRPr>
            </a:lvl1pPr>
          </a:lstStyle>
          <a:p>
            <a:pPr>
              <a:defRPr/>
            </a:pPr>
            <a:fld id="{921058D4-06FB-4475-ACA9-DD727F61B8F4}" type="slidenum">
              <a:rPr lang="zh-CN" altLang="en-US"/>
              <a:pPr>
                <a:defRPr/>
              </a:pPr>
              <a:t>‹#›</a:t>
            </a:fld>
            <a:endParaRPr lang="zh-CN" altLang="en-US"/>
          </a:p>
        </p:txBody>
      </p:sp>
      <p:pic>
        <p:nvPicPr>
          <p:cNvPr id="1034" name="Picture 9"/>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7593013" y="14288"/>
            <a:ext cx="252412"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0"/>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7870825" y="19050"/>
            <a:ext cx="109855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9" r:id="rId4"/>
  </p:sldLayoutIdLst>
  <p:txStyles>
    <p:titleStyle>
      <a:lvl1pPr algn="l" rtl="0" eaLnBrk="0" fontAlgn="base" hangingPunct="0">
        <a:spcBef>
          <a:spcPct val="0"/>
        </a:spcBef>
        <a:spcAft>
          <a:spcPct val="0"/>
        </a:spcAft>
        <a:defRPr sz="4400" kern="1200">
          <a:solidFill>
            <a:srgbClr val="0070C0"/>
          </a:solidFill>
          <a:latin typeface="+mj-lt"/>
          <a:ea typeface="+mj-ea"/>
          <a:cs typeface="+mj-cs"/>
        </a:defRPr>
      </a:lvl1pPr>
      <a:lvl2pPr algn="l" rtl="0" eaLnBrk="0" fontAlgn="base" hangingPunct="0">
        <a:spcBef>
          <a:spcPct val="0"/>
        </a:spcBef>
        <a:spcAft>
          <a:spcPct val="0"/>
        </a:spcAft>
        <a:defRPr sz="4400">
          <a:solidFill>
            <a:srgbClr val="0070C0"/>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4400">
          <a:solidFill>
            <a:srgbClr val="0070C0"/>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4400">
          <a:solidFill>
            <a:srgbClr val="0070C0"/>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4400">
          <a:solidFill>
            <a:srgbClr val="0070C0"/>
          </a:solidFill>
          <a:latin typeface="Arial Black" panose="020B0A04020102020204" pitchFamily="34" charset="0"/>
          <a:ea typeface="微软雅黑" panose="020B0503020204020204" pitchFamily="34" charset="-122"/>
        </a:defRPr>
      </a:lvl5pPr>
      <a:lvl6pPr marL="457200" algn="ctr" rtl="0" eaLnBrk="0" fontAlgn="base" hangingPunct="0">
        <a:spcBef>
          <a:spcPct val="0"/>
        </a:spcBef>
        <a:spcAft>
          <a:spcPct val="0"/>
        </a:spcAft>
        <a:defRPr sz="4400">
          <a:solidFill>
            <a:schemeClr val="tx1"/>
          </a:solidFill>
          <a:latin typeface="Impact" panose="020B0806030902050204" pitchFamily="34" charset="0"/>
          <a:ea typeface="微软雅黑" panose="020B0503020204020204" pitchFamily="34" charset="-122"/>
        </a:defRPr>
      </a:lvl6pPr>
      <a:lvl7pPr marL="914400" algn="ctr" rtl="0" eaLnBrk="0" fontAlgn="base" hangingPunct="0">
        <a:spcBef>
          <a:spcPct val="0"/>
        </a:spcBef>
        <a:spcAft>
          <a:spcPct val="0"/>
        </a:spcAft>
        <a:defRPr sz="4400">
          <a:solidFill>
            <a:schemeClr val="tx1"/>
          </a:solidFill>
          <a:latin typeface="Impact" panose="020B0806030902050204" pitchFamily="34" charset="0"/>
          <a:ea typeface="微软雅黑" panose="020B0503020204020204" pitchFamily="34" charset="-122"/>
        </a:defRPr>
      </a:lvl7pPr>
      <a:lvl8pPr marL="1371600" algn="ctr" rtl="0" eaLnBrk="0" fontAlgn="base" hangingPunct="0">
        <a:spcBef>
          <a:spcPct val="0"/>
        </a:spcBef>
        <a:spcAft>
          <a:spcPct val="0"/>
        </a:spcAft>
        <a:defRPr sz="4400">
          <a:solidFill>
            <a:schemeClr val="tx1"/>
          </a:solidFill>
          <a:latin typeface="Impact" panose="020B0806030902050204" pitchFamily="34" charset="0"/>
          <a:ea typeface="微软雅黑" panose="020B0503020204020204" pitchFamily="34" charset="-122"/>
        </a:defRPr>
      </a:lvl8pPr>
      <a:lvl9pPr marL="1828800" algn="ctr" rtl="0" eaLnBrk="0" fontAlgn="base" hangingPunct="0">
        <a:spcBef>
          <a:spcPct val="0"/>
        </a:spcBef>
        <a:spcAft>
          <a:spcPct val="0"/>
        </a:spcAft>
        <a:defRPr sz="4400">
          <a:solidFill>
            <a:schemeClr val="tx1"/>
          </a:solidFill>
          <a:latin typeface="Impact" panose="020B080603090205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txBox="1">
            <a:spLocks noGrp="1" noChangeArrowheads="1"/>
          </p:cNvSpPr>
          <p:nvPr/>
        </p:nvSpPr>
        <p:spPr bwMode="auto">
          <a:xfrm>
            <a:off x="8027988" y="5051425"/>
            <a:ext cx="946150" cy="9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r" eaLnBrk="1" hangingPunct="1">
              <a:spcBef>
                <a:spcPct val="0"/>
              </a:spcBef>
              <a:buFont typeface="Arial" pitchFamily="34" charset="0"/>
              <a:buNone/>
            </a:pPr>
            <a:fld id="{DB36BB42-5087-4044-A62F-5A01E19A348B}" type="slidenum">
              <a:rPr lang="zh-CN" altLang="zh-CN" sz="600" b="1">
                <a:solidFill>
                  <a:schemeClr val="bg1"/>
                </a:solidFill>
                <a:latin typeface="微软雅黑" pitchFamily="34" charset="-122"/>
                <a:ea typeface="微软雅黑" pitchFamily="34" charset="-122"/>
              </a:rPr>
              <a:pPr algn="r" eaLnBrk="1" hangingPunct="1">
                <a:spcBef>
                  <a:spcPct val="0"/>
                </a:spcBef>
                <a:buFont typeface="Arial" pitchFamily="34" charset="0"/>
                <a:buNone/>
              </a:pPr>
              <a:t>1</a:t>
            </a:fld>
            <a:endParaRPr lang="zh-CN" altLang="zh-CN" sz="600" b="1">
              <a:solidFill>
                <a:schemeClr val="bg1"/>
              </a:solidFill>
              <a:latin typeface="微软雅黑" pitchFamily="34" charset="-122"/>
              <a:ea typeface="微软雅黑" pitchFamily="34" charset="-122"/>
            </a:endParaRPr>
          </a:p>
        </p:txBody>
      </p:sp>
      <p:sp>
        <p:nvSpPr>
          <p:cNvPr id="8195" name="矩形 6"/>
          <p:cNvSpPr>
            <a:spLocks noChangeArrowheads="1"/>
          </p:cNvSpPr>
          <p:nvPr/>
        </p:nvSpPr>
        <p:spPr bwMode="auto">
          <a:xfrm>
            <a:off x="539750" y="846138"/>
            <a:ext cx="8143875" cy="3890962"/>
          </a:xfrm>
          <a:prstGeom prst="rect">
            <a:avLst/>
          </a:prstGeom>
          <a:solidFill>
            <a:srgbClr val="F2F2F2"/>
          </a:solidFill>
          <a:ln>
            <a:noFill/>
          </a:ln>
          <a:effectLst>
            <a:outerShdw dist="38100" dir="2700000" algn="ctr" rotWithShape="0">
              <a:srgbClr val="000000">
                <a:alpha val="29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r>
              <a:rPr lang="en-US" altLang="zh-CN" sz="1800">
                <a:solidFill>
                  <a:srgbClr val="FFFFFF"/>
                </a:solidFill>
                <a:latin typeface="微软雅黑" pitchFamily="34" charset="-122"/>
                <a:ea typeface="微软雅黑" pitchFamily="34" charset="-122"/>
              </a:rPr>
              <a:t>2010</a:t>
            </a:r>
            <a:r>
              <a:rPr lang="zh-CN" altLang="en-US" sz="1800">
                <a:solidFill>
                  <a:srgbClr val="FFFFFF"/>
                </a:solidFill>
                <a:latin typeface="微软雅黑" pitchFamily="34" charset="-122"/>
                <a:ea typeface="微软雅黑" pitchFamily="34" charset="-122"/>
              </a:rPr>
              <a:t>年度广州市电子商务发展专项资金</a:t>
            </a:r>
          </a:p>
          <a:p>
            <a:pPr eaLnBrk="1" hangingPunct="1">
              <a:spcBef>
                <a:spcPct val="0"/>
              </a:spcBef>
              <a:buFont typeface="Arial" pitchFamily="34" charset="0"/>
              <a:buNone/>
            </a:pPr>
            <a:r>
              <a:rPr lang="zh-CN" altLang="en-US" sz="1800">
                <a:solidFill>
                  <a:srgbClr val="FFFFFF"/>
                </a:solidFill>
                <a:latin typeface="微软雅黑" pitchFamily="34" charset="-122"/>
                <a:ea typeface="微软雅黑" pitchFamily="34" charset="-122"/>
              </a:rPr>
              <a:t>扶持项目</a:t>
            </a:r>
          </a:p>
        </p:txBody>
      </p:sp>
      <p:sp>
        <p:nvSpPr>
          <p:cNvPr id="8196" name="TextBox 6"/>
          <p:cNvSpPr txBox="1">
            <a:spLocks noChangeArrowheads="1"/>
          </p:cNvSpPr>
          <p:nvPr/>
        </p:nvSpPr>
        <p:spPr bwMode="auto">
          <a:xfrm>
            <a:off x="468313" y="1114425"/>
            <a:ext cx="8215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 typeface="Arial" pitchFamily="34" charset="0"/>
              <a:buNone/>
            </a:pPr>
            <a:r>
              <a:rPr lang="zh-CN" altLang="en-US" sz="2800" b="1">
                <a:solidFill>
                  <a:srgbClr val="0070C0"/>
                </a:solidFill>
                <a:latin typeface="微软雅黑" pitchFamily="34" charset="-122"/>
                <a:ea typeface="微软雅黑" pitchFamily="34" charset="-122"/>
              </a:rPr>
              <a:t>软件测试与质量保障</a:t>
            </a:r>
            <a:endParaRPr lang="en-US" altLang="zh-CN" sz="2800" b="1">
              <a:solidFill>
                <a:srgbClr val="0070C0"/>
              </a:solidFill>
              <a:latin typeface="微软雅黑" pitchFamily="34" charset="-122"/>
              <a:ea typeface="微软雅黑" pitchFamily="34" charset="-122"/>
            </a:endParaRPr>
          </a:p>
        </p:txBody>
      </p:sp>
      <p:sp>
        <p:nvSpPr>
          <p:cNvPr id="8197" name="TextBox 10"/>
          <p:cNvSpPr txBox="1">
            <a:spLocks noChangeArrowheads="1"/>
          </p:cNvSpPr>
          <p:nvPr/>
        </p:nvSpPr>
        <p:spPr bwMode="auto">
          <a:xfrm>
            <a:off x="1403350" y="3654425"/>
            <a:ext cx="67691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lnSpc>
                <a:spcPts val="2400"/>
              </a:lnSpc>
              <a:spcBef>
                <a:spcPct val="0"/>
              </a:spcBef>
              <a:buFont typeface="Arial" pitchFamily="34" charset="0"/>
              <a:buNone/>
            </a:pPr>
            <a:r>
              <a:rPr lang="zh-CN" altLang="en-US" sz="2000" b="1" dirty="0">
                <a:solidFill>
                  <a:srgbClr val="0070C0"/>
                </a:solidFill>
                <a:latin typeface="微软雅黑" pitchFamily="34" charset="-122"/>
                <a:ea typeface="微软雅黑" pitchFamily="34" charset="-122"/>
              </a:rPr>
              <a:t>华南理工大学计算机科学与工程学院</a:t>
            </a:r>
            <a:endParaRPr lang="en-US" altLang="zh-CN" sz="2000" b="1" dirty="0">
              <a:solidFill>
                <a:srgbClr val="0070C0"/>
              </a:solidFill>
              <a:latin typeface="微软雅黑" pitchFamily="34" charset="-122"/>
              <a:ea typeface="微软雅黑" pitchFamily="34" charset="-122"/>
            </a:endParaRPr>
          </a:p>
          <a:p>
            <a:pPr eaLnBrk="1" hangingPunct="1">
              <a:lnSpc>
                <a:spcPts val="2400"/>
              </a:lnSpc>
              <a:spcBef>
                <a:spcPct val="0"/>
              </a:spcBef>
              <a:buFont typeface="Arial" pitchFamily="34" charset="0"/>
              <a:buNone/>
            </a:pPr>
            <a:r>
              <a:rPr lang="zh-CN" altLang="en-US" sz="2000" b="1" dirty="0">
                <a:solidFill>
                  <a:srgbClr val="0070C0"/>
                </a:solidFill>
                <a:latin typeface="微软雅黑" pitchFamily="34" charset="-122"/>
                <a:ea typeface="微软雅黑" pitchFamily="34" charset="-122"/>
              </a:rPr>
              <a:t>聂勇伟 副教授</a:t>
            </a:r>
            <a:endParaRPr lang="en-US" altLang="zh-CN" sz="2000" b="1" dirty="0">
              <a:solidFill>
                <a:srgbClr val="0070C0"/>
              </a:solidFill>
              <a:latin typeface="微软雅黑" pitchFamily="34" charset="-122"/>
              <a:ea typeface="微软雅黑" pitchFamily="34" charset="-122"/>
            </a:endParaRPr>
          </a:p>
          <a:p>
            <a:pPr eaLnBrk="1" hangingPunct="1">
              <a:lnSpc>
                <a:spcPts val="2400"/>
              </a:lnSpc>
              <a:spcBef>
                <a:spcPct val="0"/>
              </a:spcBef>
              <a:buFont typeface="Arial" pitchFamily="34" charset="0"/>
              <a:buNone/>
            </a:pPr>
            <a:r>
              <a:rPr lang="en-US" altLang="zh-CN" sz="2000" b="1" dirty="0">
                <a:solidFill>
                  <a:srgbClr val="0070C0"/>
                </a:solidFill>
                <a:latin typeface="微软雅黑" pitchFamily="34" charset="-122"/>
                <a:ea typeface="微软雅黑" pitchFamily="34" charset="-122"/>
              </a:rPr>
              <a:t>nieyongwei@scut.edu.cn</a:t>
            </a:r>
            <a:endParaRPr lang="zh-CN" altLang="en-US" sz="2000" dirty="0">
              <a:solidFill>
                <a:srgbClr val="0070C0"/>
              </a:solidFill>
              <a:latin typeface="微软雅黑" pitchFamily="34" charset="-122"/>
              <a:ea typeface="微软雅黑" pitchFamily="34" charset="-122"/>
            </a:endParaRPr>
          </a:p>
        </p:txBody>
      </p:sp>
      <p:sp>
        <p:nvSpPr>
          <p:cNvPr id="8198" name="矩形 8"/>
          <p:cNvSpPr>
            <a:spLocks noChangeArrowheads="1"/>
          </p:cNvSpPr>
          <p:nvPr/>
        </p:nvSpPr>
        <p:spPr bwMode="auto">
          <a:xfrm>
            <a:off x="539750" y="1998663"/>
            <a:ext cx="8143875" cy="1368425"/>
          </a:xfrm>
          <a:prstGeom prst="rect">
            <a:avLst/>
          </a:prstGeom>
          <a:solidFill>
            <a:srgbClr val="0033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lnSpc>
                <a:spcPct val="120000"/>
              </a:lnSpc>
              <a:spcBef>
                <a:spcPct val="0"/>
              </a:spcBef>
              <a:buFont typeface="Arial" pitchFamily="34" charset="0"/>
              <a:buNone/>
            </a:pPr>
            <a:r>
              <a:rPr lang="zh-CN" altLang="en-US" b="1" dirty="0">
                <a:solidFill>
                  <a:srgbClr val="FFFFFF"/>
                </a:solidFill>
                <a:ea typeface="微软雅黑" pitchFamily="34" charset="-122"/>
              </a:rPr>
              <a:t>第二章 </a:t>
            </a:r>
            <a:r>
              <a:rPr lang="en-US" altLang="zh-CN" b="1" dirty="0">
                <a:solidFill>
                  <a:srgbClr val="FFFFFF"/>
                </a:solidFill>
                <a:ea typeface="微软雅黑" pitchFamily="34" charset="-122"/>
              </a:rPr>
              <a:t>- </a:t>
            </a:r>
            <a:r>
              <a:rPr lang="zh-CN" altLang="en-US" b="1" dirty="0">
                <a:solidFill>
                  <a:srgbClr val="FFFFFF"/>
                </a:solidFill>
                <a:ea typeface="微软雅黑" pitchFamily="34" charset="-122"/>
              </a:rPr>
              <a:t>软件测试方法</a:t>
            </a:r>
            <a:endParaRPr lang="en-US" altLang="zh-CN" b="1" dirty="0">
              <a:solidFill>
                <a:srgbClr val="FFFFFF"/>
              </a:solidFill>
              <a:ea typeface="微软雅黑"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课程回顾</a:t>
            </a:r>
          </a:p>
        </p:txBody>
      </p:sp>
      <p:sp>
        <p:nvSpPr>
          <p:cNvPr id="5" name="左大括号 4"/>
          <p:cNvSpPr/>
          <p:nvPr/>
        </p:nvSpPr>
        <p:spPr bwMode="auto">
          <a:xfrm>
            <a:off x="971600" y="1268694"/>
            <a:ext cx="432048" cy="3105636"/>
          </a:xfrm>
          <a:prstGeom prst="leftBrace">
            <a:avLst/>
          </a:prstGeom>
          <a:ln>
            <a:prstDash val="solid"/>
            <a:headEnd type="none" w="med" len="med"/>
            <a:tailEnd type="none" w="med" len="med"/>
          </a:ln>
        </p:spPr>
        <p:style>
          <a:lnRef idx="3">
            <a:schemeClr val="accent1"/>
          </a:lnRef>
          <a:fillRef idx="0">
            <a:schemeClr val="accent1"/>
          </a:fillRef>
          <a:effectRef idx="2">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Times New Roman" panose="02020603050405020304" pitchFamily="18" charset="0"/>
              <a:ea typeface="微软雅黑" panose="020B0503020204020204" pitchFamily="34" charset="-122"/>
            </a:endParaRPr>
          </a:p>
        </p:txBody>
      </p:sp>
      <p:sp>
        <p:nvSpPr>
          <p:cNvPr id="8" name="TextBox 7"/>
          <p:cNvSpPr txBox="1"/>
          <p:nvPr/>
        </p:nvSpPr>
        <p:spPr>
          <a:xfrm>
            <a:off x="395536" y="2313681"/>
            <a:ext cx="461665" cy="1015663"/>
          </a:xfrm>
          <a:prstGeom prst="rect">
            <a:avLst/>
          </a:prstGeom>
          <a:noFill/>
        </p:spPr>
        <p:txBody>
          <a:bodyPr vert="eaVert" wrap="none" rtlCol="0">
            <a:spAutoFit/>
          </a:bodyPr>
          <a:lstStyle/>
          <a:p>
            <a:r>
              <a:rPr lang="zh-CN" altLang="en-US" dirty="0"/>
              <a:t>软件测试</a:t>
            </a:r>
          </a:p>
        </p:txBody>
      </p:sp>
      <p:sp>
        <p:nvSpPr>
          <p:cNvPr id="9" name="TextBox 8"/>
          <p:cNvSpPr txBox="1"/>
          <p:nvPr/>
        </p:nvSpPr>
        <p:spPr>
          <a:xfrm>
            <a:off x="1687319" y="1139706"/>
            <a:ext cx="2954655" cy="369332"/>
          </a:xfrm>
          <a:prstGeom prst="rect">
            <a:avLst/>
          </a:prstGeom>
          <a:noFill/>
        </p:spPr>
        <p:txBody>
          <a:bodyPr wrap="none" rtlCol="0">
            <a:spAutoFit/>
          </a:bodyPr>
          <a:lstStyle/>
          <a:p>
            <a:r>
              <a:rPr lang="zh-CN" altLang="en-US" dirty="0"/>
              <a:t>基本概念：重要意义，法则</a:t>
            </a:r>
            <a:endParaRPr lang="en-US" altLang="zh-CN" dirty="0"/>
          </a:p>
        </p:txBody>
      </p:sp>
      <p:sp>
        <p:nvSpPr>
          <p:cNvPr id="10" name="TextBox 9"/>
          <p:cNvSpPr txBox="1"/>
          <p:nvPr/>
        </p:nvSpPr>
        <p:spPr>
          <a:xfrm>
            <a:off x="1687319" y="1876354"/>
            <a:ext cx="4628190" cy="369332"/>
          </a:xfrm>
          <a:prstGeom prst="rect">
            <a:avLst/>
          </a:prstGeom>
          <a:noFill/>
        </p:spPr>
        <p:txBody>
          <a:bodyPr wrap="none" rtlCol="0">
            <a:spAutoFit/>
          </a:bodyPr>
          <a:lstStyle/>
          <a:p>
            <a:r>
              <a:rPr lang="zh-CN" altLang="en-US" dirty="0"/>
              <a:t>方法（手段）：静态、动态、黑盒、白盒 </a:t>
            </a:r>
            <a:r>
              <a:rPr lang="en-US" altLang="zh-CN" dirty="0"/>
              <a:t>…</a:t>
            </a:r>
            <a:endParaRPr lang="zh-CN" altLang="en-US" dirty="0"/>
          </a:p>
        </p:txBody>
      </p:sp>
      <p:sp>
        <p:nvSpPr>
          <p:cNvPr id="11" name="TextBox 10"/>
          <p:cNvSpPr txBox="1"/>
          <p:nvPr/>
        </p:nvSpPr>
        <p:spPr>
          <a:xfrm>
            <a:off x="1687319" y="2613002"/>
            <a:ext cx="5032147" cy="369332"/>
          </a:xfrm>
          <a:prstGeom prst="rect">
            <a:avLst/>
          </a:prstGeom>
          <a:noFill/>
        </p:spPr>
        <p:txBody>
          <a:bodyPr wrap="none" rtlCol="0">
            <a:spAutoFit/>
          </a:bodyPr>
          <a:lstStyle/>
          <a:p>
            <a:r>
              <a:rPr lang="zh-CN" altLang="en-US" dirty="0"/>
              <a:t>级别（阶段）：单元、集成、确认、系统、验收</a:t>
            </a:r>
          </a:p>
        </p:txBody>
      </p:sp>
      <p:sp>
        <p:nvSpPr>
          <p:cNvPr id="12" name="TextBox 11"/>
          <p:cNvSpPr txBox="1"/>
          <p:nvPr/>
        </p:nvSpPr>
        <p:spPr>
          <a:xfrm>
            <a:off x="1687319" y="3349650"/>
            <a:ext cx="3416320" cy="369332"/>
          </a:xfrm>
          <a:prstGeom prst="rect">
            <a:avLst/>
          </a:prstGeom>
          <a:noFill/>
        </p:spPr>
        <p:txBody>
          <a:bodyPr wrap="none" rtlCol="0">
            <a:spAutoFit/>
          </a:bodyPr>
          <a:lstStyle/>
          <a:p>
            <a:r>
              <a:rPr lang="zh-CN" altLang="en-US" dirty="0"/>
              <a:t>过程：计划、设计、执行、评估</a:t>
            </a:r>
          </a:p>
        </p:txBody>
      </p:sp>
      <p:sp>
        <p:nvSpPr>
          <p:cNvPr id="13" name="TextBox 12"/>
          <p:cNvSpPr txBox="1"/>
          <p:nvPr/>
        </p:nvSpPr>
        <p:spPr>
          <a:xfrm>
            <a:off x="1687319" y="4086299"/>
            <a:ext cx="877163" cy="369332"/>
          </a:xfrm>
          <a:prstGeom prst="rect">
            <a:avLst/>
          </a:prstGeom>
          <a:noFill/>
        </p:spPr>
        <p:txBody>
          <a:bodyPr wrap="none" rtlCol="0">
            <a:spAutoFit/>
          </a:bodyPr>
          <a:lstStyle/>
          <a:p>
            <a:r>
              <a:rPr lang="zh-CN" altLang="en-US" dirty="0"/>
              <a:t>自动化</a:t>
            </a:r>
          </a:p>
        </p:txBody>
      </p:sp>
      <p:sp>
        <p:nvSpPr>
          <p:cNvPr id="14" name="左箭头 13"/>
          <p:cNvSpPr/>
          <p:nvPr/>
        </p:nvSpPr>
        <p:spPr bwMode="auto">
          <a:xfrm>
            <a:off x="6588224" y="1876354"/>
            <a:ext cx="1008112" cy="369332"/>
          </a:xfrm>
          <a:prstGeom prst="leftArrow">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accent1">
                <a:gamma/>
                <a:shade val="60000"/>
                <a:invGamma/>
              </a:scheme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77221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p:bldP spid="10" grpId="0"/>
      <p:bldP spid="11" grpId="0"/>
      <p:bldP spid="12" grpId="0"/>
      <p:bldP spid="13" grpId="0"/>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按方法（手段）分类</a:t>
            </a:r>
          </a:p>
        </p:txBody>
      </p:sp>
      <p:graphicFrame>
        <p:nvGraphicFramePr>
          <p:cNvPr id="4" name="图示 3"/>
          <p:cNvGraphicFramePr/>
          <p:nvPr>
            <p:extLst>
              <p:ext uri="{D42A27DB-BD31-4B8C-83A1-F6EECF244321}">
                <p14:modId xmlns:p14="http://schemas.microsoft.com/office/powerpoint/2010/main" val="2260991220"/>
              </p:ext>
            </p:extLst>
          </p:nvPr>
        </p:nvGraphicFramePr>
        <p:xfrm>
          <a:off x="971600" y="98995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244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按方法（手段）分类</a:t>
            </a:r>
          </a:p>
        </p:txBody>
      </p:sp>
      <p:graphicFrame>
        <p:nvGraphicFramePr>
          <p:cNvPr id="4" name="图示 3"/>
          <p:cNvGraphicFramePr/>
          <p:nvPr>
            <p:extLst>
              <p:ext uri="{D42A27DB-BD31-4B8C-83A1-F6EECF244321}">
                <p14:modId xmlns:p14="http://schemas.microsoft.com/office/powerpoint/2010/main" val="1724721959"/>
              </p:ext>
            </p:extLst>
          </p:nvPr>
        </p:nvGraphicFramePr>
        <p:xfrm>
          <a:off x="971600" y="98995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503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黑盒测试</a:t>
            </a:r>
          </a:p>
        </p:txBody>
      </p:sp>
      <p:sp>
        <p:nvSpPr>
          <p:cNvPr id="4" name="立方体 3"/>
          <p:cNvSpPr/>
          <p:nvPr/>
        </p:nvSpPr>
        <p:spPr bwMode="auto">
          <a:xfrm>
            <a:off x="3059832" y="1987301"/>
            <a:ext cx="2160240" cy="1224136"/>
          </a:xfrm>
          <a:prstGeom prst="cube">
            <a:avLst/>
          </a:prstGeom>
          <a:ln/>
        </p:spPr>
        <p:style>
          <a:lnRef idx="0">
            <a:schemeClr val="dk1"/>
          </a:lnRef>
          <a:fillRef idx="3">
            <a:schemeClr val="dk1"/>
          </a:fillRef>
          <a:effectRef idx="3">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
        <p:nvSpPr>
          <p:cNvPr id="6" name="右箭头 5"/>
          <p:cNvSpPr/>
          <p:nvPr/>
        </p:nvSpPr>
        <p:spPr bwMode="auto">
          <a:xfrm>
            <a:off x="1907704" y="2455353"/>
            <a:ext cx="720080" cy="288032"/>
          </a:xfrm>
          <a:prstGeom prst="rightArrow">
            <a:avLst/>
          </a:prstGeom>
          <a:ln/>
        </p:spPr>
        <p:style>
          <a:lnRef idx="1">
            <a:schemeClr val="accent5"/>
          </a:lnRef>
          <a:fillRef idx="3">
            <a:schemeClr val="accent5"/>
          </a:fillRef>
          <a:effectRef idx="2">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rPr>
              <a:t>输入</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endParaRPr>
          </a:p>
        </p:txBody>
      </p:sp>
      <p:sp>
        <p:nvSpPr>
          <p:cNvPr id="7" name="右箭头 6"/>
          <p:cNvSpPr/>
          <p:nvPr/>
        </p:nvSpPr>
        <p:spPr bwMode="auto">
          <a:xfrm>
            <a:off x="5580112" y="2455353"/>
            <a:ext cx="720080" cy="288032"/>
          </a:xfrm>
          <a:prstGeom prst="rightArrow">
            <a:avLst/>
          </a:prstGeom>
          <a:ln/>
        </p:spPr>
        <p:style>
          <a:lnRef idx="1">
            <a:schemeClr val="accent5"/>
          </a:lnRef>
          <a:fillRef idx="3">
            <a:schemeClr val="accent5"/>
          </a:fillRef>
          <a:effectRef idx="2">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rPr>
              <a:t>输</a:t>
            </a:r>
            <a:r>
              <a:rPr lang="zh-CN" altLang="en-US" dirty="0">
                <a:solidFill>
                  <a:schemeClr val="tx1"/>
                </a:solidFill>
                <a:latin typeface="Times New Roman" panose="02020603050405020304" pitchFamily="18" charset="0"/>
                <a:ea typeface="微软雅黑" panose="020B0503020204020204" pitchFamily="34" charset="-122"/>
              </a:rPr>
              <a:t>出</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endParaRPr>
          </a:p>
        </p:txBody>
      </p:sp>
      <p:sp>
        <p:nvSpPr>
          <p:cNvPr id="8" name="下箭头 7"/>
          <p:cNvSpPr/>
          <p:nvPr/>
        </p:nvSpPr>
        <p:spPr bwMode="auto">
          <a:xfrm>
            <a:off x="3491880" y="989955"/>
            <a:ext cx="1296144" cy="720080"/>
          </a:xfrm>
          <a:prstGeom prst="downArrow">
            <a:avLst/>
          </a:prstGeom>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rPr>
              <a:t>用户需求</a:t>
            </a:r>
          </a:p>
        </p:txBody>
      </p:sp>
      <p:sp>
        <p:nvSpPr>
          <p:cNvPr id="11" name="上箭头 10"/>
          <p:cNvSpPr/>
          <p:nvPr/>
        </p:nvSpPr>
        <p:spPr bwMode="auto">
          <a:xfrm>
            <a:off x="3491880" y="3438227"/>
            <a:ext cx="1296000" cy="864096"/>
          </a:xfrm>
          <a:prstGeom prst="upArrow">
            <a:avLst/>
          </a:prstGeom>
          <a:ln/>
        </p:spPr>
        <p:style>
          <a:lnRef idx="1">
            <a:schemeClr val="accent4"/>
          </a:lnRef>
          <a:fillRef idx="3">
            <a:schemeClr val="accent4"/>
          </a:fillRef>
          <a:effectRef idx="2">
            <a:schemeClr val="accent4"/>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solidFill>
                  <a:schemeClr val="tx1"/>
                </a:solidFill>
                <a:latin typeface="Times New Roman" panose="02020603050405020304" pitchFamily="18" charset="0"/>
                <a:ea typeface="微软雅黑" panose="020B0503020204020204" pitchFamily="34" charset="-122"/>
              </a:rPr>
              <a:t>事件</a:t>
            </a: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rPr>
              <a:t>驱动</a:t>
            </a:r>
          </a:p>
        </p:txBody>
      </p:sp>
    </p:spTree>
    <p:extLst>
      <p:ext uri="{BB962C8B-B14F-4D97-AF65-F5344CB8AC3E}">
        <p14:creationId xmlns:p14="http://schemas.microsoft.com/office/powerpoint/2010/main" val="557916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33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28" y="1277987"/>
            <a:ext cx="4287516" cy="3123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697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5F2C41CB-FC0A-46FD-8C25-56A5D0C6D662}" type="slidenum">
              <a:rPr lang="en-US" altLang="zh-CN" sz="1800" b="0" smtClean="0">
                <a:latin typeface="Times New Roman" pitchFamily="18" charset="0"/>
                <a:ea typeface="微软雅黑" pitchFamily="34" charset="-122"/>
              </a:rPr>
              <a:pPr algn="l" eaLnBrk="0" hangingPunct="0">
                <a:spcBef>
                  <a:spcPct val="0"/>
                </a:spcBef>
                <a:buFontTx/>
                <a:buNone/>
              </a:pPr>
              <a:t>6</a:t>
            </a:fld>
            <a:endParaRPr lang="en-US" altLang="zh-CN" sz="1800" b="0">
              <a:latin typeface="Times New Roman" pitchFamily="18" charset="0"/>
              <a:ea typeface="微软雅黑" pitchFamily="34" charset="-122"/>
            </a:endParaRPr>
          </a:p>
        </p:txBody>
      </p:sp>
      <p:sp>
        <p:nvSpPr>
          <p:cNvPr id="126979" name="Rectangle 2" descr="Large confetti"/>
          <p:cNvSpPr>
            <a:spLocks noGrp="1" noChangeArrowheads="1"/>
          </p:cNvSpPr>
          <p:nvPr>
            <p:ph type="title"/>
          </p:nvPr>
        </p:nvSpPr>
        <p:spPr>
          <a:xfrm>
            <a:off x="468313" y="269875"/>
            <a:ext cx="6365875" cy="622300"/>
          </a:xfrm>
        </p:spPr>
        <p:txBody>
          <a:bodyPr/>
          <a:lstStyle/>
          <a:p>
            <a:r>
              <a:rPr lang="zh-CN" altLang="en-US" dirty="0">
                <a:latin typeface="楷体_GB2312"/>
                <a:ea typeface="楷体_GB2312"/>
                <a:cs typeface="楷体_GB2312"/>
              </a:rPr>
              <a:t>黑盒测试</a:t>
            </a:r>
          </a:p>
        </p:txBody>
      </p:sp>
      <p:sp>
        <p:nvSpPr>
          <p:cNvPr id="126980" name="Rectangle 3"/>
          <p:cNvSpPr>
            <a:spLocks noGrp="1" noChangeArrowheads="1"/>
          </p:cNvSpPr>
          <p:nvPr>
            <p:ph type="body" idx="1"/>
          </p:nvPr>
        </p:nvSpPr>
        <p:spPr>
          <a:xfrm>
            <a:off x="4451971" y="1063701"/>
            <a:ext cx="4176464" cy="3343275"/>
          </a:xfrm>
        </p:spPr>
        <p:txBody>
          <a:bodyPr/>
          <a:lstStyle/>
          <a:p>
            <a:pPr marL="457200" indent="-457200">
              <a:buClr>
                <a:schemeClr val="tx2"/>
              </a:buClr>
            </a:pPr>
            <a:r>
              <a:rPr lang="zh-CN" altLang="en-US" sz="1800" dirty="0"/>
              <a:t>已知软件产品应该具有的功能，通过测试来检测每个功能是否都能正常使用；</a:t>
            </a:r>
          </a:p>
          <a:p>
            <a:pPr marL="457200" indent="-457200">
              <a:buClr>
                <a:schemeClr val="tx2"/>
              </a:buClr>
            </a:pPr>
            <a:r>
              <a:rPr lang="zh-CN" altLang="en-US" sz="1800" dirty="0"/>
              <a:t>黑盒法着眼于程序外部结构，不考虑内部逻辑结构；</a:t>
            </a:r>
          </a:p>
          <a:p>
            <a:pPr marL="457200" indent="-457200">
              <a:buClr>
                <a:schemeClr val="tx2"/>
              </a:buClr>
            </a:pPr>
            <a:r>
              <a:rPr lang="zh-CN" altLang="en-US" sz="1800" dirty="0"/>
              <a:t>穷举输入</a:t>
            </a:r>
            <a:r>
              <a:rPr lang="en-US" altLang="zh-CN" sz="1800" dirty="0"/>
              <a:t>/</a:t>
            </a:r>
            <a:r>
              <a:rPr lang="zh-CN" altLang="en-US" sz="1800" dirty="0"/>
              <a:t>状态测试，测试情况有无穷多个；</a:t>
            </a:r>
          </a:p>
          <a:p>
            <a:pPr marL="457200" indent="-457200">
              <a:buClr>
                <a:schemeClr val="tx2"/>
              </a:buClr>
            </a:pPr>
            <a:r>
              <a:rPr lang="zh-CN" altLang="en-US" sz="1800" dirty="0"/>
              <a:t>依据需求规范；</a:t>
            </a:r>
          </a:p>
          <a:p>
            <a:pPr marL="457200" indent="-457200">
              <a:buClr>
                <a:schemeClr val="tx2"/>
              </a:buClr>
            </a:pPr>
            <a:r>
              <a:rPr lang="zh-CN" altLang="en-US" sz="1800" dirty="0"/>
              <a:t>检查程序实现的功能，是一种确认技术；</a:t>
            </a:r>
          </a:p>
          <a:p>
            <a:pPr marL="457200" indent="-457200">
              <a:buClr>
                <a:schemeClr val="tx2"/>
              </a:buClr>
            </a:pPr>
            <a:r>
              <a:rPr lang="zh-CN" altLang="en-US" sz="1800" dirty="0"/>
              <a:t>也称为功能测试或数据驱动测试。</a:t>
            </a:r>
          </a:p>
        </p:txBody>
      </p:sp>
    </p:spTree>
    <p:extLst>
      <p:ext uri="{BB962C8B-B14F-4D97-AF65-F5344CB8AC3E}">
        <p14:creationId xmlns:p14="http://schemas.microsoft.com/office/powerpoint/2010/main" val="277504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29406FA7-7A4D-45F9-B598-50DA19331EF5}" type="slidenum">
              <a:rPr lang="en-US" altLang="zh-CN" sz="1800" b="0" smtClean="0">
                <a:latin typeface="Times New Roman" pitchFamily="18" charset="0"/>
                <a:ea typeface="微软雅黑" pitchFamily="34" charset="-122"/>
              </a:rPr>
              <a:pPr algn="l" eaLnBrk="0" hangingPunct="0">
                <a:spcBef>
                  <a:spcPct val="0"/>
                </a:spcBef>
                <a:buFontTx/>
                <a:buNone/>
              </a:pPr>
              <a:t>7</a:t>
            </a:fld>
            <a:endParaRPr lang="en-US" altLang="zh-CN" sz="1800" b="0">
              <a:latin typeface="Times New Roman" pitchFamily="18" charset="0"/>
              <a:ea typeface="微软雅黑" pitchFamily="34" charset="-122"/>
            </a:endParaRPr>
          </a:p>
        </p:txBody>
      </p:sp>
      <p:sp>
        <p:nvSpPr>
          <p:cNvPr id="128003" name="Rectangle 5122" descr="Large confetti"/>
          <p:cNvSpPr>
            <a:spLocks noGrp="1" noChangeArrowheads="1"/>
          </p:cNvSpPr>
          <p:nvPr>
            <p:ph type="title"/>
          </p:nvPr>
        </p:nvSpPr>
        <p:spPr>
          <a:xfrm>
            <a:off x="468313" y="269875"/>
            <a:ext cx="8229600" cy="647700"/>
          </a:xfrm>
        </p:spPr>
        <p:txBody>
          <a:bodyPr/>
          <a:lstStyle/>
          <a:p>
            <a:r>
              <a:rPr lang="zh-CN" altLang="en-US" dirty="0">
                <a:latin typeface="楷体_GB2312"/>
                <a:ea typeface="楷体_GB2312"/>
                <a:cs typeface="楷体_GB2312"/>
              </a:rPr>
              <a:t>输入</a:t>
            </a:r>
            <a:r>
              <a:rPr lang="en-US" altLang="zh-CN" dirty="0">
                <a:latin typeface="楷体_GB2312"/>
                <a:ea typeface="楷体_GB2312"/>
                <a:cs typeface="楷体_GB2312"/>
              </a:rPr>
              <a:t>/</a:t>
            </a:r>
            <a:r>
              <a:rPr lang="zh-CN" altLang="en-US" dirty="0">
                <a:latin typeface="楷体_GB2312"/>
                <a:ea typeface="楷体_GB2312"/>
                <a:cs typeface="楷体_GB2312"/>
              </a:rPr>
              <a:t>状态空间</a:t>
            </a:r>
          </a:p>
        </p:txBody>
      </p:sp>
      <p:sp>
        <p:nvSpPr>
          <p:cNvPr id="600067" name="Rectangle 5123"/>
          <p:cNvSpPr>
            <a:spLocks noGrp="1" noChangeArrowheads="1"/>
          </p:cNvSpPr>
          <p:nvPr>
            <p:ph type="body" idx="1"/>
          </p:nvPr>
        </p:nvSpPr>
        <p:spPr>
          <a:xfrm>
            <a:off x="468313" y="990600"/>
            <a:ext cx="8229600" cy="3397250"/>
          </a:xfrm>
        </p:spPr>
        <p:txBody>
          <a:bodyPr/>
          <a:lstStyle/>
          <a:p>
            <a:pPr>
              <a:buFont typeface="Wingdings" panose="05000000000000000000" pitchFamily="2" charset="2"/>
              <a:buNone/>
              <a:defRPr/>
            </a:pPr>
            <a:r>
              <a:rPr lang="en-US" altLang="zh-CN" sz="1501" dirty="0"/>
              <a:t>     </a:t>
            </a:r>
            <a:r>
              <a:rPr lang="zh-CN" altLang="en-US" dirty="0"/>
              <a:t>一些很普通的程序所包含的输入输出组合的数目都是非常惊人的，有些更是天文数字</a:t>
            </a:r>
          </a:p>
          <a:p>
            <a:pPr>
              <a:buFontTx/>
              <a:buNone/>
              <a:defRPr/>
            </a:pPr>
            <a:r>
              <a:rPr lang="zh-CN" altLang="en-US" sz="1501" dirty="0"/>
              <a:t> </a:t>
            </a:r>
            <a:r>
              <a:rPr lang="zh-CN" altLang="en-US" sz="1802" dirty="0">
                <a:ea typeface="楷体_GB2312"/>
                <a:cs typeface="楷体_GB2312"/>
              </a:rPr>
              <a:t>例：读入三个数值，表示三角形的三条边，程序输出一条信息，说明该三角形是等边三角形、等腰三角形、不等边三角形。</a:t>
            </a:r>
          </a:p>
          <a:p>
            <a:pPr>
              <a:buFontTx/>
              <a:buNone/>
              <a:defRPr/>
            </a:pPr>
            <a:r>
              <a:rPr lang="zh-CN" altLang="en-US" sz="1802" dirty="0">
                <a:ea typeface="楷体_GB2312"/>
                <a:cs typeface="楷体_GB2312"/>
              </a:rPr>
              <a:t> 解：在限制坐标点取值为</a:t>
            </a:r>
            <a:r>
              <a:rPr lang="en-US" altLang="zh-CN" sz="1802" dirty="0">
                <a:ea typeface="楷体_GB2312"/>
                <a:cs typeface="楷体_GB2312"/>
              </a:rPr>
              <a:t>1~10^4</a:t>
            </a:r>
            <a:r>
              <a:rPr lang="zh-CN" altLang="en-US" sz="1802" dirty="0">
                <a:ea typeface="楷体_GB2312"/>
                <a:cs typeface="楷体_GB2312"/>
              </a:rPr>
              <a:t>的整数的情况下，</a:t>
            </a:r>
            <a:r>
              <a:rPr lang="en-US" altLang="zh-CN" sz="1802" dirty="0">
                <a:ea typeface="楷体_GB2312"/>
                <a:cs typeface="楷体_GB2312"/>
              </a:rPr>
              <a:t>3</a:t>
            </a:r>
            <a:r>
              <a:rPr lang="zh-CN" altLang="en-US" sz="1802" dirty="0">
                <a:ea typeface="楷体_GB2312"/>
                <a:cs typeface="楷体_GB2312"/>
              </a:rPr>
              <a:t>条直线有</a:t>
            </a:r>
            <a:r>
              <a:rPr lang="en-US" altLang="zh-CN" sz="1802" dirty="0">
                <a:ea typeface="楷体_GB2312"/>
                <a:cs typeface="楷体_GB2312"/>
              </a:rPr>
              <a:t>10^4╳10^4╳10^4</a:t>
            </a:r>
            <a:r>
              <a:rPr lang="zh-CN" altLang="en-US" sz="1802" dirty="0">
                <a:ea typeface="楷体_GB2312"/>
                <a:cs typeface="楷体_GB2312"/>
              </a:rPr>
              <a:t>＝</a:t>
            </a:r>
            <a:r>
              <a:rPr lang="en-US" altLang="zh-CN" sz="1802" dirty="0">
                <a:ea typeface="楷体_GB2312"/>
                <a:cs typeface="楷体_GB2312"/>
              </a:rPr>
              <a:t>10^12</a:t>
            </a:r>
            <a:r>
              <a:rPr lang="zh-CN" altLang="en-US" sz="1802" dirty="0">
                <a:ea typeface="楷体_GB2312"/>
                <a:cs typeface="楷体_GB2312"/>
              </a:rPr>
              <a:t>种可能的输入，每秒测试</a:t>
            </a:r>
            <a:r>
              <a:rPr lang="en-US" altLang="zh-CN" sz="1802" dirty="0">
                <a:ea typeface="楷体_GB2312"/>
                <a:cs typeface="楷体_GB2312"/>
              </a:rPr>
              <a:t>1000</a:t>
            </a:r>
            <a:r>
              <a:rPr lang="zh-CN" altLang="en-US" sz="1802" dirty="0">
                <a:ea typeface="楷体_GB2312"/>
                <a:cs typeface="楷体_GB2312"/>
              </a:rPr>
              <a:t>条直线，需要</a:t>
            </a:r>
            <a:r>
              <a:rPr lang="en-US" altLang="zh-CN" sz="1802" dirty="0">
                <a:ea typeface="楷体_GB2312"/>
                <a:cs typeface="楷体_GB2312"/>
              </a:rPr>
              <a:t>10^12/10^3</a:t>
            </a:r>
            <a:r>
              <a:rPr lang="zh-CN" altLang="en-US" sz="1802" dirty="0">
                <a:ea typeface="楷体_GB2312"/>
                <a:cs typeface="楷体_GB2312"/>
              </a:rPr>
              <a:t>＝</a:t>
            </a:r>
            <a:r>
              <a:rPr lang="en-US" altLang="zh-CN" sz="1802" dirty="0">
                <a:ea typeface="楷体_GB2312"/>
                <a:cs typeface="楷体_GB2312"/>
              </a:rPr>
              <a:t>10^9s</a:t>
            </a:r>
            <a:r>
              <a:rPr lang="zh-CN" altLang="en-US" sz="1802" dirty="0">
                <a:ea typeface="楷体_GB2312"/>
                <a:cs typeface="楷体_GB2312"/>
              </a:rPr>
              <a:t>，每年按</a:t>
            </a:r>
            <a:r>
              <a:rPr lang="en-US" altLang="zh-CN" sz="1802" dirty="0">
                <a:ea typeface="楷体_GB2312"/>
                <a:cs typeface="楷体_GB2312"/>
              </a:rPr>
              <a:t>3.1536╳10^7s</a:t>
            </a:r>
            <a:r>
              <a:rPr lang="zh-CN" altLang="en-US" sz="1802" dirty="0">
                <a:ea typeface="楷体_GB2312"/>
                <a:cs typeface="楷体_GB2312"/>
              </a:rPr>
              <a:t>计算，需要</a:t>
            </a:r>
            <a:r>
              <a:rPr lang="en-US" altLang="zh-CN" sz="1802" dirty="0">
                <a:ea typeface="楷体_GB2312"/>
                <a:cs typeface="楷体_GB2312"/>
              </a:rPr>
              <a:t>10^9/(3.1536╳10^7)=31.7</a:t>
            </a:r>
            <a:r>
              <a:rPr lang="zh-CN" altLang="en-US" sz="1802" dirty="0">
                <a:ea typeface="楷体_GB2312"/>
                <a:cs typeface="楷体_GB2312"/>
              </a:rPr>
              <a:t>年。</a:t>
            </a:r>
          </a:p>
          <a:p>
            <a:pPr>
              <a:buFontTx/>
              <a:buNone/>
              <a:defRPr/>
            </a:pPr>
            <a:r>
              <a:rPr lang="zh-CN" altLang="en-US" sz="1802" dirty="0">
                <a:ea typeface="楷体_GB2312"/>
                <a:cs typeface="楷体_GB2312"/>
              </a:rPr>
              <a:t> 注：考虑输入域之外</a:t>
            </a:r>
            <a:r>
              <a:rPr lang="en-US" altLang="zh-CN" sz="1802" dirty="0">
                <a:ea typeface="楷体_GB2312"/>
                <a:cs typeface="楷体_GB2312"/>
              </a:rPr>
              <a:t>/</a:t>
            </a:r>
            <a:r>
              <a:rPr lang="zh-CN" altLang="en-US" sz="1802" dirty="0">
                <a:ea typeface="楷体_GB2312"/>
                <a:cs typeface="楷体_GB2312"/>
              </a:rPr>
              <a:t>实数</a:t>
            </a:r>
            <a:r>
              <a:rPr lang="en-US" altLang="zh-CN" sz="1802" dirty="0">
                <a:ea typeface="楷体_GB2312"/>
                <a:cs typeface="楷体_GB2312"/>
              </a:rPr>
              <a:t>/</a:t>
            </a:r>
            <a:r>
              <a:rPr lang="zh-CN" altLang="en-US" sz="1802" dirty="0">
                <a:ea typeface="楷体_GB2312"/>
                <a:cs typeface="楷体_GB2312"/>
              </a:rPr>
              <a:t>更大范围</a:t>
            </a:r>
          </a:p>
        </p:txBody>
      </p:sp>
    </p:spTree>
    <p:extLst>
      <p:ext uri="{BB962C8B-B14F-4D97-AF65-F5344CB8AC3E}">
        <p14:creationId xmlns:p14="http://schemas.microsoft.com/office/powerpoint/2010/main" val="2836187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07F19770-3556-461D-A806-3559E482D441}" type="slidenum">
              <a:rPr lang="en-US" altLang="zh-CN" sz="1800" b="0" smtClean="0">
                <a:latin typeface="Times New Roman" pitchFamily="18" charset="0"/>
                <a:ea typeface="微软雅黑" pitchFamily="34" charset="-122"/>
              </a:rPr>
              <a:pPr algn="l" eaLnBrk="0" hangingPunct="0">
                <a:spcBef>
                  <a:spcPct val="0"/>
                </a:spcBef>
                <a:buFontTx/>
                <a:buNone/>
              </a:pPr>
              <a:t>8</a:t>
            </a:fld>
            <a:endParaRPr lang="en-US" altLang="zh-CN" sz="1800" b="0">
              <a:latin typeface="Times New Roman" pitchFamily="18" charset="0"/>
              <a:ea typeface="微软雅黑" pitchFamily="34" charset="-122"/>
            </a:endParaRPr>
          </a:p>
        </p:txBody>
      </p:sp>
      <p:sp>
        <p:nvSpPr>
          <p:cNvPr id="129027" name="Rectangle 2050" descr="Large confetti"/>
          <p:cNvSpPr>
            <a:spLocks noGrp="1" noChangeArrowheads="1"/>
          </p:cNvSpPr>
          <p:nvPr>
            <p:ph type="title"/>
          </p:nvPr>
        </p:nvSpPr>
        <p:spPr>
          <a:xfrm>
            <a:off x="468313" y="269875"/>
            <a:ext cx="8229600" cy="647700"/>
          </a:xfrm>
        </p:spPr>
        <p:txBody>
          <a:bodyPr/>
          <a:lstStyle/>
          <a:p>
            <a:r>
              <a:rPr lang="zh-CN" altLang="en-US" dirty="0">
                <a:latin typeface="楷体_GB2312"/>
                <a:ea typeface="楷体_GB2312"/>
                <a:cs typeface="楷体_GB2312"/>
              </a:rPr>
              <a:t>黑盒测试不彻底性</a:t>
            </a:r>
          </a:p>
        </p:txBody>
      </p:sp>
      <p:sp>
        <p:nvSpPr>
          <p:cNvPr id="605187" name="Rectangle 2051"/>
          <p:cNvSpPr>
            <a:spLocks noGrp="1" noChangeArrowheads="1"/>
          </p:cNvSpPr>
          <p:nvPr>
            <p:ph type="body" idx="1"/>
          </p:nvPr>
        </p:nvSpPr>
        <p:spPr>
          <a:xfrm>
            <a:off x="468313" y="990600"/>
            <a:ext cx="8229600" cy="3397250"/>
          </a:xfrm>
        </p:spPr>
        <p:txBody>
          <a:bodyPr/>
          <a:lstStyle/>
          <a:p>
            <a:pPr marL="457627" indent="-457627">
              <a:defRPr/>
            </a:pPr>
            <a:r>
              <a:rPr lang="zh-CN" altLang="en-US"/>
              <a:t>不可能测试</a:t>
            </a:r>
            <a:r>
              <a:rPr lang="zh-CN" altLang="en-US" u="sng">
                <a:solidFill>
                  <a:srgbClr val="FF0000"/>
                </a:solidFill>
              </a:rPr>
              <a:t>所有</a:t>
            </a:r>
            <a:r>
              <a:rPr lang="zh-CN" altLang="en-US"/>
              <a:t>的输入</a:t>
            </a:r>
          </a:p>
          <a:p>
            <a:pPr marL="743643" lvl="1" indent="-400423">
              <a:buFont typeface="Wingdings" panose="05000000000000000000" pitchFamily="2" charset="2"/>
              <a:buAutoNum type="arabicParenR"/>
              <a:defRPr/>
            </a:pPr>
            <a:r>
              <a:rPr lang="zh-CN" altLang="en-US" sz="1802" b="1">
                <a:solidFill>
                  <a:srgbClr val="000000"/>
                </a:solidFill>
              </a:rPr>
              <a:t>有效的输入</a:t>
            </a:r>
          </a:p>
          <a:p>
            <a:pPr marL="743643" lvl="1" indent="-400423">
              <a:buFont typeface="Wingdings" panose="05000000000000000000" pitchFamily="2" charset="2"/>
              <a:buAutoNum type="arabicParenR"/>
              <a:defRPr/>
            </a:pPr>
            <a:r>
              <a:rPr lang="zh-CN" altLang="en-US" sz="1802" b="1">
                <a:solidFill>
                  <a:srgbClr val="000000"/>
                </a:solidFill>
              </a:rPr>
              <a:t>无效的输入</a:t>
            </a:r>
          </a:p>
          <a:p>
            <a:pPr marL="743643" lvl="1" indent="-400423">
              <a:buFont typeface="Wingdings" panose="05000000000000000000" pitchFamily="2" charset="2"/>
              <a:buAutoNum type="arabicParenR"/>
              <a:defRPr/>
            </a:pPr>
            <a:r>
              <a:rPr lang="zh-CN" altLang="en-US" sz="1802" b="1">
                <a:solidFill>
                  <a:srgbClr val="000000"/>
                </a:solidFill>
              </a:rPr>
              <a:t>输入的编辑特性</a:t>
            </a:r>
          </a:p>
          <a:p>
            <a:pPr marL="743643" lvl="1" indent="-400423">
              <a:buFont typeface="Wingdings" panose="05000000000000000000" pitchFamily="2" charset="2"/>
              <a:buAutoNum type="arabicParenR"/>
              <a:defRPr/>
            </a:pPr>
            <a:r>
              <a:rPr lang="zh-CN" altLang="en-US" sz="1802" b="1">
                <a:solidFill>
                  <a:srgbClr val="000000"/>
                </a:solidFill>
              </a:rPr>
              <a:t>输入时间的考虑</a:t>
            </a:r>
          </a:p>
          <a:p>
            <a:pPr marL="457627" indent="-457627">
              <a:defRPr/>
            </a:pPr>
            <a:r>
              <a:rPr lang="zh-CN" altLang="en-US"/>
              <a:t>不可能测试多个输入的所有组合</a:t>
            </a:r>
          </a:p>
        </p:txBody>
      </p:sp>
      <p:grpSp>
        <p:nvGrpSpPr>
          <p:cNvPr id="605188" name="Group 2052"/>
          <p:cNvGrpSpPr>
            <a:grpSpLocks/>
          </p:cNvGrpSpPr>
          <p:nvPr/>
        </p:nvGrpSpPr>
        <p:grpSpPr bwMode="auto">
          <a:xfrm>
            <a:off x="5940425" y="1206500"/>
            <a:ext cx="2573338" cy="1658938"/>
            <a:chOff x="251" y="629"/>
            <a:chExt cx="4891" cy="3691"/>
          </a:xfrm>
        </p:grpSpPr>
        <p:pic>
          <p:nvPicPr>
            <p:cNvPr id="129030" name="Picture 2053" descr="pe0148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 y="629"/>
              <a:ext cx="4891" cy="3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1" name="WordArt 2054"/>
            <p:cNvSpPr>
              <a:spLocks noChangeArrowheads="1" noChangeShapeType="1" noTextEdit="1"/>
            </p:cNvSpPr>
            <p:nvPr/>
          </p:nvSpPr>
          <p:spPr bwMode="auto">
            <a:xfrm>
              <a:off x="1988" y="2681"/>
              <a:ext cx="1264" cy="993"/>
            </a:xfrm>
            <a:prstGeom prst="rect">
              <a:avLst/>
            </a:prstGeom>
          </p:spPr>
          <p:txBody>
            <a:bodyPr wrap="none" fromWordArt="1">
              <a:prstTxWarp prst="textStop">
                <a:avLst>
                  <a:gd name="adj" fmla="val 35125"/>
                </a:avLst>
              </a:prstTxWarp>
            </a:bodyPr>
            <a:lstStyle/>
            <a:p>
              <a:pPr algn="ctr"/>
              <a:r>
                <a:rPr lang="en-US" altLang="zh-CN" sz="2703" b="1" kern="10" spc="541">
                  <a:ln w="9525">
                    <a:solidFill>
                      <a:srgbClr val="000000"/>
                    </a:solidFill>
                    <a:round/>
                    <a:headEnd/>
                    <a:tailEnd/>
                  </a:ln>
                  <a:solidFill>
                    <a:schemeClr val="bg2"/>
                  </a:solidFill>
                  <a:latin typeface="Courier New"/>
                  <a:cs typeface="Courier New"/>
                </a:rPr>
                <a:t>State Space Explosion</a:t>
              </a:r>
              <a:endParaRPr lang="zh-CN" altLang="en-US" sz="2703" b="1" kern="10" spc="541">
                <a:ln w="9525">
                  <a:solidFill>
                    <a:srgbClr val="000000"/>
                  </a:solidFill>
                  <a:round/>
                  <a:headEnd/>
                  <a:tailEnd/>
                </a:ln>
                <a:solidFill>
                  <a:schemeClr val="bg2"/>
                </a:solidFill>
                <a:latin typeface="Courier New"/>
                <a:cs typeface="Courier New"/>
              </a:endParaRPr>
            </a:p>
          </p:txBody>
        </p:sp>
      </p:grpSp>
    </p:spTree>
    <p:extLst>
      <p:ext uri="{BB962C8B-B14F-4D97-AF65-F5344CB8AC3E}">
        <p14:creationId xmlns:p14="http://schemas.microsoft.com/office/powerpoint/2010/main" val="3871117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605188"/>
                                        </p:tgtEl>
                                        <p:attrNameLst>
                                          <p:attrName>style.visibility</p:attrName>
                                        </p:attrNameLst>
                                      </p:cBhvr>
                                      <p:to>
                                        <p:strVal val="visible"/>
                                      </p:to>
                                    </p:set>
                                    <p:anim calcmode="lin" valueType="num">
                                      <p:cBhvr>
                                        <p:cTn id="7" dur="500" fill="hold"/>
                                        <p:tgtEl>
                                          <p:spTgt spid="605188"/>
                                        </p:tgtEl>
                                        <p:attrNameLst>
                                          <p:attrName>ppt_w</p:attrName>
                                        </p:attrNameLst>
                                      </p:cBhvr>
                                      <p:tavLst>
                                        <p:tav tm="0">
                                          <p:val>
                                            <p:fltVal val="0"/>
                                          </p:val>
                                        </p:tav>
                                        <p:tav tm="100000">
                                          <p:val>
                                            <p:strVal val="#ppt_w"/>
                                          </p:val>
                                        </p:tav>
                                      </p:tavLst>
                                    </p:anim>
                                    <p:anim calcmode="lin" valueType="num">
                                      <p:cBhvr>
                                        <p:cTn id="8" dur="500" fill="hold"/>
                                        <p:tgtEl>
                                          <p:spTgt spid="60518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8C94C04-3436-4792-BA31-60DA60B3D743}" type="slidenum">
              <a:rPr lang="en-US" altLang="zh-CN" sz="1800" b="0" smtClean="0">
                <a:latin typeface="Times New Roman" pitchFamily="18" charset="0"/>
                <a:ea typeface="微软雅黑" pitchFamily="34" charset="-122"/>
              </a:rPr>
              <a:pPr algn="l" eaLnBrk="0" hangingPunct="0">
                <a:spcBef>
                  <a:spcPct val="0"/>
                </a:spcBef>
                <a:buFontTx/>
                <a:buNone/>
              </a:pPr>
              <a:t>9</a:t>
            </a:fld>
            <a:endParaRPr lang="en-US" altLang="zh-CN" sz="1800" b="0">
              <a:latin typeface="Times New Roman" pitchFamily="18" charset="0"/>
              <a:ea typeface="微软雅黑" pitchFamily="34" charset="-122"/>
            </a:endParaRPr>
          </a:p>
        </p:txBody>
      </p:sp>
      <p:sp>
        <p:nvSpPr>
          <p:cNvPr id="130051" name="Rectangle 2" descr="Large confetti"/>
          <p:cNvSpPr>
            <a:spLocks noGrp="1" noChangeArrowheads="1"/>
          </p:cNvSpPr>
          <p:nvPr>
            <p:ph type="title"/>
          </p:nvPr>
        </p:nvSpPr>
        <p:spPr>
          <a:xfrm>
            <a:off x="468313" y="414338"/>
            <a:ext cx="7559675" cy="622300"/>
          </a:xfrm>
        </p:spPr>
        <p:txBody>
          <a:bodyPr/>
          <a:lstStyle/>
          <a:p>
            <a:r>
              <a:rPr lang="zh-CN" altLang="en-US" dirty="0">
                <a:latin typeface="楷体_GB2312"/>
                <a:ea typeface="楷体_GB2312"/>
                <a:cs typeface="楷体_GB2312"/>
              </a:rPr>
              <a:t>黑盒测试常用方法</a:t>
            </a:r>
          </a:p>
        </p:txBody>
      </p:sp>
      <p:pic>
        <p:nvPicPr>
          <p:cNvPr id="4843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33971"/>
            <a:ext cx="3681413" cy="337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8878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33971"/>
            <a:ext cx="3681413" cy="337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00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8C94C04-3436-4792-BA31-60DA60B3D743}" type="slidenum">
              <a:rPr lang="en-US" altLang="zh-CN" sz="1800" b="0" smtClean="0">
                <a:latin typeface="Times New Roman" pitchFamily="18" charset="0"/>
                <a:ea typeface="微软雅黑" pitchFamily="34" charset="-122"/>
              </a:rPr>
              <a:pPr algn="l" eaLnBrk="0" hangingPunct="0">
                <a:spcBef>
                  <a:spcPct val="0"/>
                </a:spcBef>
                <a:buFontTx/>
                <a:buNone/>
              </a:pPr>
              <a:t>10</a:t>
            </a:fld>
            <a:endParaRPr lang="en-US" altLang="zh-CN" sz="1800" b="0">
              <a:latin typeface="Times New Roman" pitchFamily="18" charset="0"/>
              <a:ea typeface="微软雅黑" pitchFamily="34" charset="-122"/>
            </a:endParaRPr>
          </a:p>
        </p:txBody>
      </p:sp>
      <p:sp>
        <p:nvSpPr>
          <p:cNvPr id="130051" name="Rectangle 2" descr="Large confetti"/>
          <p:cNvSpPr>
            <a:spLocks noGrp="1" noChangeArrowheads="1"/>
          </p:cNvSpPr>
          <p:nvPr>
            <p:ph type="title"/>
          </p:nvPr>
        </p:nvSpPr>
        <p:spPr>
          <a:xfrm>
            <a:off x="468313" y="414338"/>
            <a:ext cx="7559675" cy="622300"/>
          </a:xfrm>
        </p:spPr>
        <p:txBody>
          <a:bodyPr/>
          <a:lstStyle/>
          <a:p>
            <a:r>
              <a:rPr lang="zh-CN" altLang="en-US" dirty="0">
                <a:latin typeface="楷体_GB2312"/>
                <a:ea typeface="楷体_GB2312"/>
                <a:cs typeface="楷体_GB2312"/>
              </a:rPr>
              <a:t>黑盒测试常用方法</a:t>
            </a:r>
          </a:p>
        </p:txBody>
      </p:sp>
      <p:sp>
        <p:nvSpPr>
          <p:cNvPr id="2" name="左箭头 1"/>
          <p:cNvSpPr/>
          <p:nvPr/>
        </p:nvSpPr>
        <p:spPr bwMode="auto">
          <a:xfrm rot="20017491">
            <a:off x="4593972" y="1073385"/>
            <a:ext cx="936104" cy="360040"/>
          </a:xfrm>
          <a:prstGeom prst="leftArrow">
            <a:avLst/>
          </a:prstGeom>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68477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idx="1"/>
          </p:nvPr>
        </p:nvSpPr>
        <p:spPr>
          <a:xfrm>
            <a:off x="467544" y="989955"/>
            <a:ext cx="7920880" cy="3397250"/>
          </a:xfrm>
        </p:spPr>
        <p:txBody>
          <a:bodyPr/>
          <a:lstStyle/>
          <a:p>
            <a:r>
              <a:rPr lang="zh-CN" altLang="en-US" sz="2400" dirty="0"/>
              <a:t>等价类划分法</a:t>
            </a:r>
            <a:endParaRPr lang="en-US" altLang="zh-CN" sz="2400" dirty="0"/>
          </a:p>
          <a:p>
            <a:pPr lvl="1"/>
            <a:r>
              <a:rPr lang="zh-CN" altLang="en-US" sz="1800" dirty="0"/>
              <a:t>是把所有可能的输入数据</a:t>
            </a:r>
            <a:r>
              <a:rPr lang="en-US" altLang="zh-CN" sz="1800" dirty="0"/>
              <a:t>,</a:t>
            </a:r>
            <a:r>
              <a:rPr lang="zh-CN" altLang="en-US" sz="1800" dirty="0"/>
              <a:t>即程序的输入域划分成若干部分（子集）</a:t>
            </a:r>
            <a:r>
              <a:rPr lang="en-US" altLang="zh-CN" sz="1800" dirty="0"/>
              <a:t>,</a:t>
            </a:r>
            <a:r>
              <a:rPr lang="zh-CN" altLang="en-US" sz="1800" dirty="0"/>
              <a:t>然后从每一个子集中选取少数具有代表性的数据作为测试用例。该方法是一种重要的</a:t>
            </a:r>
            <a:r>
              <a:rPr lang="en-US" altLang="zh-CN" sz="1800" dirty="0"/>
              <a:t>,</a:t>
            </a:r>
            <a:r>
              <a:rPr lang="zh-CN" altLang="en-US" sz="1800" dirty="0"/>
              <a:t>常用的黑盒测试用例设计方法。</a:t>
            </a:r>
            <a:endParaRPr lang="en-US" altLang="zh-CN" sz="1800" dirty="0"/>
          </a:p>
          <a:p>
            <a:r>
              <a:rPr lang="zh-CN" altLang="en-US" sz="2400" dirty="0"/>
              <a:t>等价类</a:t>
            </a:r>
            <a:endParaRPr lang="en-US" altLang="zh-CN" sz="2400" dirty="0"/>
          </a:p>
          <a:p>
            <a:pPr lvl="1"/>
            <a:r>
              <a:rPr lang="zh-CN" altLang="en-US" sz="1800" dirty="0"/>
              <a:t> 等价类是指某个输入域的子集合。在该子集合中</a:t>
            </a:r>
            <a:r>
              <a:rPr lang="en-US" altLang="zh-CN" sz="1800" dirty="0"/>
              <a:t>,</a:t>
            </a:r>
            <a:r>
              <a:rPr lang="zh-CN" altLang="en-US" sz="1800" dirty="0"/>
              <a:t>各个输入数据对于揭露程序中的错误都是等效的，并合理地假定：测试某等价类的代表值就等于对这一类其它值的测试，因此</a:t>
            </a:r>
            <a:r>
              <a:rPr lang="en-US" altLang="zh-CN" sz="1800" dirty="0"/>
              <a:t>,</a:t>
            </a:r>
            <a:r>
              <a:rPr lang="zh-CN" altLang="en-US" sz="1800" dirty="0"/>
              <a:t>可以把全部输入数据合理划分为若干等价类</a:t>
            </a:r>
            <a:r>
              <a:rPr lang="en-US" altLang="zh-CN" sz="1800" dirty="0"/>
              <a:t>,</a:t>
            </a:r>
            <a:r>
              <a:rPr lang="zh-CN" altLang="en-US" sz="1800" dirty="0"/>
              <a:t>在每一个等价类中取一个数据作为测试的输入条件就可以用少量代表性的测试数据取得较好的测试结果。</a:t>
            </a:r>
            <a:endParaRPr lang="en-US" altLang="zh-CN" sz="1800" dirty="0"/>
          </a:p>
        </p:txBody>
      </p:sp>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定义</a:t>
            </a:r>
          </a:p>
        </p:txBody>
      </p:sp>
    </p:spTree>
    <p:extLst>
      <p:ext uri="{BB962C8B-B14F-4D97-AF65-F5344CB8AC3E}">
        <p14:creationId xmlns:p14="http://schemas.microsoft.com/office/powerpoint/2010/main" val="152309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idx="1"/>
          </p:nvPr>
        </p:nvSpPr>
        <p:spPr>
          <a:xfrm>
            <a:off x="467544" y="989955"/>
            <a:ext cx="7920880" cy="3397250"/>
          </a:xfrm>
        </p:spPr>
        <p:txBody>
          <a:bodyPr/>
          <a:lstStyle/>
          <a:p>
            <a:r>
              <a:rPr lang="zh-CN" altLang="en-US" sz="2400" dirty="0"/>
              <a:t>有效等价类</a:t>
            </a:r>
            <a:endParaRPr lang="en-US" altLang="zh-CN" sz="2400" dirty="0"/>
          </a:p>
          <a:p>
            <a:pPr lvl="1"/>
            <a:r>
              <a:rPr lang="zh-CN" altLang="en-US" sz="1800" dirty="0"/>
              <a:t>是指对于程序的规格说明来说是合理的、有意义的输入数据构成的集合。利用有效等价类可检验程序是否实现了规格说明中所规定的功能和性能。</a:t>
            </a:r>
            <a:endParaRPr lang="en-US" altLang="zh-CN" sz="1800" dirty="0"/>
          </a:p>
          <a:p>
            <a:r>
              <a:rPr lang="zh-CN" altLang="en-US" sz="2400" dirty="0"/>
              <a:t>无效等价类</a:t>
            </a:r>
            <a:endParaRPr lang="en-US" altLang="zh-CN" sz="2400" dirty="0"/>
          </a:p>
          <a:p>
            <a:pPr lvl="1"/>
            <a:r>
              <a:rPr lang="zh-CN" altLang="en-US" sz="1800" dirty="0"/>
              <a:t> 与有效等价类的定义恰巧相反。无效等价类指对程序的规格说明是不合理的或无意义的输入数据所构成的集合。对于具体的问题，无效等价类至少应有一个，也可能有多个。</a:t>
            </a:r>
            <a:endParaRPr lang="en-US" altLang="zh-CN" sz="1800" dirty="0"/>
          </a:p>
          <a:p>
            <a:pPr algn="just"/>
            <a:r>
              <a:rPr lang="zh-CN" altLang="en-US" sz="2200" dirty="0">
                <a:solidFill>
                  <a:srgbClr val="FF0000"/>
                </a:solidFill>
              </a:rPr>
              <a:t>设计测试用例时</a:t>
            </a:r>
            <a:r>
              <a:rPr lang="en-US" altLang="zh-CN" sz="2200" dirty="0">
                <a:solidFill>
                  <a:srgbClr val="FF0000"/>
                </a:solidFill>
              </a:rPr>
              <a:t>,</a:t>
            </a:r>
            <a:r>
              <a:rPr lang="zh-CN" altLang="en-US" sz="2200" dirty="0">
                <a:solidFill>
                  <a:srgbClr val="FF0000"/>
                </a:solidFill>
              </a:rPr>
              <a:t>要同时考虑这两种等价类。因为软件不仅要能接收合理的数据</a:t>
            </a:r>
            <a:r>
              <a:rPr lang="en-US" altLang="zh-CN" sz="2200" dirty="0">
                <a:solidFill>
                  <a:srgbClr val="FF0000"/>
                </a:solidFill>
              </a:rPr>
              <a:t>,</a:t>
            </a:r>
            <a:r>
              <a:rPr lang="zh-CN" altLang="en-US" sz="2200" dirty="0">
                <a:solidFill>
                  <a:srgbClr val="FF0000"/>
                </a:solidFill>
              </a:rPr>
              <a:t>也要能经受意外的考验，这样的测试才能确保软件具有更高的可靠性。</a:t>
            </a:r>
            <a:endParaRPr lang="en-US" altLang="zh-CN" sz="2200" dirty="0">
              <a:solidFill>
                <a:srgbClr val="FF0000"/>
              </a:solidFill>
            </a:endParaRPr>
          </a:p>
        </p:txBody>
      </p:sp>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定义</a:t>
            </a:r>
          </a:p>
        </p:txBody>
      </p:sp>
    </p:spTree>
    <p:extLst>
      <p:ext uri="{BB962C8B-B14F-4D97-AF65-F5344CB8AC3E}">
        <p14:creationId xmlns:p14="http://schemas.microsoft.com/office/powerpoint/2010/main" val="3731019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idx="1"/>
          </p:nvPr>
        </p:nvSpPr>
        <p:spPr>
          <a:xfrm>
            <a:off x="467544" y="989955"/>
            <a:ext cx="7920880" cy="3397250"/>
          </a:xfrm>
        </p:spPr>
        <p:txBody>
          <a:bodyPr/>
          <a:lstStyle/>
          <a:p>
            <a:pPr marL="0" indent="0">
              <a:buNone/>
            </a:pPr>
            <a:r>
              <a:rPr lang="zh-CN" altLang="en-US" sz="2400" dirty="0"/>
              <a:t>完备测试、避免冗余</a:t>
            </a:r>
            <a:r>
              <a:rPr lang="en-US" altLang="zh-CN" sz="2400" dirty="0"/>
              <a:t>;</a:t>
            </a:r>
          </a:p>
          <a:p>
            <a:pPr marL="857250" lvl="1" indent="-457200">
              <a:buFont typeface="+mj-ea"/>
              <a:buAutoNum type="circleNumDbPlain"/>
            </a:pPr>
            <a:r>
              <a:rPr lang="zh-CN" altLang="en-US" sz="1800" dirty="0"/>
              <a:t>划分等价类重要的是：集合的划分，划分为互不相交的一组子集，而子集的并是整个集合</a:t>
            </a:r>
            <a:r>
              <a:rPr lang="en-US" altLang="zh-CN" sz="1800" dirty="0"/>
              <a:t>;</a:t>
            </a:r>
          </a:p>
          <a:p>
            <a:pPr marL="857250" lvl="1" indent="-457200">
              <a:buFont typeface="+mj-ea"/>
              <a:buAutoNum type="circleNumDbPlain"/>
            </a:pPr>
            <a:r>
              <a:rPr lang="zh-CN" altLang="en-US" sz="1800" dirty="0"/>
              <a:t>完备性：并是整个集合</a:t>
            </a:r>
            <a:endParaRPr lang="en-US" altLang="zh-CN" sz="1800" dirty="0"/>
          </a:p>
          <a:p>
            <a:pPr marL="857250" lvl="1" indent="-457200">
              <a:buFont typeface="+mj-ea"/>
              <a:buAutoNum type="circleNumDbPlain"/>
            </a:pPr>
            <a:r>
              <a:rPr lang="zh-CN" altLang="en-US" sz="1800" dirty="0"/>
              <a:t>子集互不相交：保证一种形式的无冗余性</a:t>
            </a:r>
            <a:endParaRPr lang="en-US" altLang="zh-CN" sz="1800" dirty="0"/>
          </a:p>
          <a:p>
            <a:pPr marL="857250" lvl="1" indent="-457200">
              <a:buFont typeface="+mj-ea"/>
              <a:buAutoNum type="circleNumDbPlain"/>
            </a:pPr>
            <a:r>
              <a:rPr lang="zh-CN" altLang="en-US" sz="1800" dirty="0"/>
              <a:t>同一类中标识（选择）一个测试用例，同一等价类中，往往处理相同，相同处理映射到</a:t>
            </a:r>
            <a:r>
              <a:rPr lang="en-US" altLang="zh-CN" sz="1800" dirty="0"/>
              <a:t>"</a:t>
            </a:r>
            <a:r>
              <a:rPr lang="zh-CN" altLang="en-US" sz="1800" dirty="0"/>
              <a:t>相同的执行路径</a:t>
            </a:r>
            <a:r>
              <a:rPr lang="en-US" altLang="zh-CN" sz="1800" dirty="0"/>
              <a:t>"</a:t>
            </a:r>
            <a:r>
              <a:rPr lang="zh-CN" altLang="en-US" sz="1800" dirty="0"/>
              <a:t>。</a:t>
            </a:r>
            <a:endParaRPr lang="en-US" altLang="zh-CN" sz="1800" dirty="0"/>
          </a:p>
        </p:txBody>
      </p:sp>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标准</a:t>
            </a:r>
          </a:p>
        </p:txBody>
      </p:sp>
    </p:spTree>
    <p:extLst>
      <p:ext uri="{BB962C8B-B14F-4D97-AF65-F5344CB8AC3E}">
        <p14:creationId xmlns:p14="http://schemas.microsoft.com/office/powerpoint/2010/main" val="1596702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idx="1"/>
          </p:nvPr>
        </p:nvSpPr>
        <p:spPr>
          <a:xfrm>
            <a:off x="467544" y="989955"/>
            <a:ext cx="7920880" cy="3888432"/>
          </a:xfrm>
        </p:spPr>
        <p:txBody>
          <a:bodyPr/>
          <a:lstStyle/>
          <a:p>
            <a:pPr>
              <a:buFont typeface="+mj-lt"/>
              <a:buAutoNum type="arabicPeriod"/>
            </a:pPr>
            <a:r>
              <a:rPr lang="zh-CN" altLang="en-US" sz="1800" dirty="0"/>
              <a:t>在输入条件规定了取值范围或值的个数的情况下</a:t>
            </a:r>
            <a:r>
              <a:rPr lang="en-US" altLang="zh-CN" sz="1800" dirty="0"/>
              <a:t>,</a:t>
            </a:r>
            <a:r>
              <a:rPr lang="zh-CN" altLang="en-US" sz="1800" dirty="0"/>
              <a:t>则可以确立一个有效等价类和两个无效等价类。如：输入值是学生成绩，范围是</a:t>
            </a:r>
            <a:r>
              <a:rPr lang="en-US" altLang="zh-CN" sz="1800" dirty="0"/>
              <a:t>0</a:t>
            </a:r>
            <a:r>
              <a:rPr lang="zh-CN" altLang="en-US" sz="1800" dirty="0"/>
              <a:t>～</a:t>
            </a:r>
            <a:r>
              <a:rPr lang="en-US" altLang="zh-CN" sz="1800" dirty="0"/>
              <a:t>100</a:t>
            </a:r>
            <a:r>
              <a:rPr lang="zh-CN" altLang="en-US" sz="1800" dirty="0"/>
              <a:t>；</a:t>
            </a:r>
            <a:endParaRPr lang="en-US" altLang="zh-CN" sz="1800" dirty="0"/>
          </a:p>
          <a:p>
            <a:pPr>
              <a:buFont typeface="+mj-lt"/>
              <a:buAutoNum type="arabicPeriod"/>
            </a:pPr>
            <a:r>
              <a:rPr lang="zh-CN" altLang="en-US" sz="1800" dirty="0"/>
              <a:t>在输入条件规定了输入值的集合或者规定了</a:t>
            </a:r>
            <a:r>
              <a:rPr lang="en-US" altLang="zh-CN" sz="1800" dirty="0"/>
              <a:t>"</a:t>
            </a:r>
            <a:r>
              <a:rPr lang="zh-CN" altLang="en-US" sz="1800" dirty="0"/>
              <a:t>必须如何</a:t>
            </a:r>
            <a:r>
              <a:rPr lang="en-US" altLang="zh-CN" sz="1800" dirty="0"/>
              <a:t>"</a:t>
            </a:r>
            <a:r>
              <a:rPr lang="zh-CN" altLang="en-US" sz="1800" dirty="0"/>
              <a:t>的条件的情况下</a:t>
            </a:r>
            <a:r>
              <a:rPr lang="en-US" altLang="zh-CN" sz="1800" dirty="0"/>
              <a:t>,</a:t>
            </a:r>
            <a:r>
              <a:rPr lang="zh-CN" altLang="en-US" sz="1800" dirty="0"/>
              <a:t>可确立一个有效等价类和一个无效等价类；</a:t>
            </a:r>
            <a:endParaRPr lang="en-US" altLang="zh-CN" sz="1800" dirty="0"/>
          </a:p>
          <a:p>
            <a:pPr>
              <a:buFont typeface="+mj-lt"/>
              <a:buAutoNum type="arabicPeriod"/>
            </a:pPr>
            <a:r>
              <a:rPr lang="zh-CN" altLang="en-US" sz="1800" dirty="0"/>
              <a:t>在输入条件是一个布尔量的情况下</a:t>
            </a:r>
            <a:r>
              <a:rPr lang="en-US" altLang="zh-CN" sz="1800" dirty="0"/>
              <a:t>,</a:t>
            </a:r>
            <a:r>
              <a:rPr lang="zh-CN" altLang="en-US" sz="1800" dirty="0"/>
              <a:t>可确定一个有效等价类和一个无效等价类。</a:t>
            </a:r>
            <a:endParaRPr lang="en-US" altLang="zh-CN" sz="1800" dirty="0"/>
          </a:p>
          <a:p>
            <a:pPr>
              <a:buFont typeface="+mj-lt"/>
              <a:buAutoNum type="arabicPeriod"/>
            </a:pPr>
            <a:r>
              <a:rPr lang="zh-CN" altLang="en-US" sz="1800" dirty="0"/>
              <a:t>在规定了输入数据的一组值（假定</a:t>
            </a:r>
            <a:r>
              <a:rPr lang="en-US" altLang="zh-CN" sz="1800" dirty="0"/>
              <a:t>n</a:t>
            </a:r>
            <a:r>
              <a:rPr lang="zh-CN" altLang="en-US" sz="1800" dirty="0"/>
              <a:t>个）</a:t>
            </a:r>
            <a:r>
              <a:rPr lang="en-US" altLang="zh-CN" sz="1800" dirty="0"/>
              <a:t>,</a:t>
            </a:r>
            <a:r>
              <a:rPr lang="zh-CN" altLang="en-US" sz="1800" dirty="0"/>
              <a:t>并且程序要对每一个输入值分别处理的情况下</a:t>
            </a:r>
            <a:r>
              <a:rPr lang="en-US" altLang="zh-CN" sz="1800" dirty="0"/>
              <a:t>,</a:t>
            </a:r>
            <a:r>
              <a:rPr lang="zh-CN" altLang="en-US" sz="1800" dirty="0"/>
              <a:t>可确立</a:t>
            </a:r>
            <a:r>
              <a:rPr lang="en-US" altLang="zh-CN" sz="1800" dirty="0"/>
              <a:t>n</a:t>
            </a:r>
            <a:r>
              <a:rPr lang="zh-CN" altLang="en-US" sz="1800" dirty="0"/>
              <a:t>个有效等价类和一个无效等价类。</a:t>
            </a:r>
            <a:endParaRPr lang="en-US" altLang="zh-CN" sz="1800" dirty="0"/>
          </a:p>
          <a:p>
            <a:pPr>
              <a:buFont typeface="+mj-lt"/>
              <a:buAutoNum type="arabicPeriod"/>
            </a:pPr>
            <a:r>
              <a:rPr lang="zh-CN" altLang="en-US" sz="1800" dirty="0"/>
              <a:t>在规定了输入数据必须遵守的规则的情况下</a:t>
            </a:r>
            <a:r>
              <a:rPr lang="en-US" altLang="zh-CN" sz="1800" dirty="0"/>
              <a:t>,</a:t>
            </a:r>
            <a:r>
              <a:rPr lang="zh-CN" altLang="en-US" sz="1800" dirty="0"/>
              <a:t>可确立一个有效等价类（符合规则）和若干个无效等价类（从不同角度违反规则）；</a:t>
            </a:r>
            <a:endParaRPr lang="en-US" altLang="zh-CN" sz="1800" dirty="0"/>
          </a:p>
          <a:p>
            <a:pPr>
              <a:buFont typeface="+mj-lt"/>
              <a:buAutoNum type="arabicPeriod"/>
            </a:pPr>
            <a:r>
              <a:rPr lang="zh-CN" altLang="en-US" sz="1800" dirty="0"/>
              <a:t>在确知已划分的等价类中各元素在程序处理中的方式不同的情况下</a:t>
            </a:r>
            <a:r>
              <a:rPr lang="en-US" altLang="zh-CN" sz="1800" dirty="0"/>
              <a:t>,</a:t>
            </a:r>
            <a:r>
              <a:rPr lang="zh-CN" altLang="en-US" sz="1800" dirty="0"/>
              <a:t>则应再将该等价类进一步的划分为更小的等价类。</a:t>
            </a:r>
            <a:endParaRPr lang="en-US" altLang="zh-CN" sz="1800" dirty="0"/>
          </a:p>
        </p:txBody>
      </p:sp>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方法</a:t>
            </a:r>
          </a:p>
        </p:txBody>
      </p:sp>
      <p:pic>
        <p:nvPicPr>
          <p:cNvPr id="4884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566019"/>
            <a:ext cx="5367337" cy="1390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84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438227"/>
            <a:ext cx="6810375" cy="44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055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8450"/>
                                        </p:tgtEl>
                                        <p:attrNameLst>
                                          <p:attrName>style.visibility</p:attrName>
                                        </p:attrNameLst>
                                      </p:cBhvr>
                                      <p:to>
                                        <p:strVal val="visible"/>
                                      </p:to>
                                    </p:set>
                                    <p:anim calcmode="lin" valueType="num">
                                      <p:cBhvr additive="base">
                                        <p:cTn id="13" dur="500" fill="hold"/>
                                        <p:tgtEl>
                                          <p:spTgt spid="488450"/>
                                        </p:tgtEl>
                                        <p:attrNameLst>
                                          <p:attrName>ppt_x</p:attrName>
                                        </p:attrNameLst>
                                      </p:cBhvr>
                                      <p:tavLst>
                                        <p:tav tm="0">
                                          <p:val>
                                            <p:strVal val="#ppt_x"/>
                                          </p:val>
                                        </p:tav>
                                        <p:tav tm="100000">
                                          <p:val>
                                            <p:strVal val="#ppt_x"/>
                                          </p:val>
                                        </p:tav>
                                      </p:tavLst>
                                    </p:anim>
                                    <p:anim calcmode="lin" valueType="num">
                                      <p:cBhvr additive="base">
                                        <p:cTn id="14" dur="500" fill="hold"/>
                                        <p:tgtEl>
                                          <p:spTgt spid="48845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488450"/>
                                        </p:tgtEl>
                                        <p:attrNameLst>
                                          <p:attrName>ppt_x</p:attrName>
                                        </p:attrNameLst>
                                      </p:cBhvr>
                                      <p:tavLst>
                                        <p:tav tm="0">
                                          <p:val>
                                            <p:strVal val="ppt_x"/>
                                          </p:val>
                                        </p:tav>
                                        <p:tav tm="100000">
                                          <p:val>
                                            <p:strVal val="ppt_x"/>
                                          </p:val>
                                        </p:tav>
                                      </p:tavLst>
                                    </p:anim>
                                    <p:anim calcmode="lin" valueType="num">
                                      <p:cBhvr additive="base">
                                        <p:cTn id="19" dur="500"/>
                                        <p:tgtEl>
                                          <p:spTgt spid="488450"/>
                                        </p:tgtEl>
                                        <p:attrNameLst>
                                          <p:attrName>ppt_y</p:attrName>
                                        </p:attrNameLst>
                                      </p:cBhvr>
                                      <p:tavLst>
                                        <p:tav tm="0">
                                          <p:val>
                                            <p:strVal val="ppt_y"/>
                                          </p:val>
                                        </p:tav>
                                        <p:tav tm="100000">
                                          <p:val>
                                            <p:strVal val="1+ppt_h/2"/>
                                          </p:val>
                                        </p:tav>
                                      </p:tavLst>
                                    </p:anim>
                                    <p:set>
                                      <p:cBhvr>
                                        <p:cTn id="20" dur="1" fill="hold">
                                          <p:stCondLst>
                                            <p:cond delay="499"/>
                                          </p:stCondLst>
                                        </p:cTn>
                                        <p:tgtEl>
                                          <p:spTgt spid="48845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anim calcmode="lin" valueType="num">
                                      <p:cBhvr additive="base">
                                        <p:cTn id="2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 calcmode="lin" valueType="num">
                                      <p:cBhvr additive="base">
                                        <p:cTn id="3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anim calcmode="lin" valueType="num">
                                      <p:cBhvr additive="base">
                                        <p:cTn id="3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88451"/>
                                        </p:tgtEl>
                                        <p:attrNameLst>
                                          <p:attrName>style.visibility</p:attrName>
                                        </p:attrNameLst>
                                      </p:cBhvr>
                                      <p:to>
                                        <p:strVal val="visible"/>
                                      </p:to>
                                    </p:set>
                                    <p:anim calcmode="lin" valueType="num">
                                      <p:cBhvr additive="base">
                                        <p:cTn id="43" dur="500" fill="hold"/>
                                        <p:tgtEl>
                                          <p:spTgt spid="488451"/>
                                        </p:tgtEl>
                                        <p:attrNameLst>
                                          <p:attrName>ppt_x</p:attrName>
                                        </p:attrNameLst>
                                      </p:cBhvr>
                                      <p:tavLst>
                                        <p:tav tm="0">
                                          <p:val>
                                            <p:strVal val="#ppt_x"/>
                                          </p:val>
                                        </p:tav>
                                        <p:tav tm="100000">
                                          <p:val>
                                            <p:strVal val="#ppt_x"/>
                                          </p:val>
                                        </p:tav>
                                      </p:tavLst>
                                    </p:anim>
                                    <p:anim calcmode="lin" valueType="num">
                                      <p:cBhvr additive="base">
                                        <p:cTn id="44" dur="500" fill="hold"/>
                                        <p:tgtEl>
                                          <p:spTgt spid="48845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nodeType="clickEffect">
                                  <p:stCondLst>
                                    <p:cond delay="0"/>
                                  </p:stCondLst>
                                  <p:childTnLst>
                                    <p:anim calcmode="lin" valueType="num">
                                      <p:cBhvr additive="base">
                                        <p:cTn id="48" dur="500"/>
                                        <p:tgtEl>
                                          <p:spTgt spid="488451"/>
                                        </p:tgtEl>
                                        <p:attrNameLst>
                                          <p:attrName>ppt_x</p:attrName>
                                        </p:attrNameLst>
                                      </p:cBhvr>
                                      <p:tavLst>
                                        <p:tav tm="0">
                                          <p:val>
                                            <p:strVal val="ppt_x"/>
                                          </p:val>
                                        </p:tav>
                                        <p:tav tm="100000">
                                          <p:val>
                                            <p:strVal val="ppt_x"/>
                                          </p:val>
                                        </p:tav>
                                      </p:tavLst>
                                    </p:anim>
                                    <p:anim calcmode="lin" valueType="num">
                                      <p:cBhvr additive="base">
                                        <p:cTn id="49" dur="500"/>
                                        <p:tgtEl>
                                          <p:spTgt spid="488451"/>
                                        </p:tgtEl>
                                        <p:attrNameLst>
                                          <p:attrName>ppt_y</p:attrName>
                                        </p:attrNameLst>
                                      </p:cBhvr>
                                      <p:tavLst>
                                        <p:tav tm="0">
                                          <p:val>
                                            <p:strVal val="ppt_y"/>
                                          </p:val>
                                        </p:tav>
                                        <p:tav tm="100000">
                                          <p:val>
                                            <p:strVal val="1+ppt_h/2"/>
                                          </p:val>
                                        </p:tav>
                                      </p:tavLst>
                                    </p:anim>
                                    <p:set>
                                      <p:cBhvr>
                                        <p:cTn id="50" dur="1" fill="hold">
                                          <p:stCondLst>
                                            <p:cond delay="499"/>
                                          </p:stCondLst>
                                        </p:cTn>
                                        <p:tgtEl>
                                          <p:spTgt spid="48845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5" end="5"/>
                                            </p:txEl>
                                          </p:spTgt>
                                        </p:tgtEl>
                                        <p:attrNameLst>
                                          <p:attrName>style.visibility</p:attrName>
                                        </p:attrNameLst>
                                      </p:cBhvr>
                                      <p:to>
                                        <p:strVal val="visible"/>
                                      </p:to>
                                    </p:set>
                                    <p:anim calcmode="lin" valueType="num">
                                      <p:cBhvr additive="base">
                                        <p:cTn id="6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idx="1"/>
          </p:nvPr>
        </p:nvSpPr>
        <p:spPr>
          <a:xfrm>
            <a:off x="467544" y="989955"/>
            <a:ext cx="7920880" cy="3888432"/>
          </a:xfrm>
        </p:spPr>
        <p:txBody>
          <a:bodyPr/>
          <a:lstStyle/>
          <a:p>
            <a:pPr marL="0" indent="0">
              <a:buNone/>
            </a:pPr>
            <a:r>
              <a:rPr lang="zh-CN" altLang="en-US" sz="1800" dirty="0"/>
              <a:t>在确立了等价类后</a:t>
            </a:r>
            <a:r>
              <a:rPr lang="en-US" altLang="zh-CN" sz="1800" dirty="0"/>
              <a:t>,</a:t>
            </a:r>
            <a:r>
              <a:rPr lang="zh-CN" altLang="en-US" sz="1800" dirty="0"/>
              <a:t>可建立等价类表</a:t>
            </a:r>
            <a:r>
              <a:rPr lang="en-US" altLang="zh-CN" sz="1800" dirty="0"/>
              <a:t>,</a:t>
            </a:r>
            <a:r>
              <a:rPr lang="zh-CN" altLang="en-US" sz="1800" dirty="0"/>
              <a:t>列出所有划分出的等价类输入条件：有效等价类、无效等价类，然后从划分出的等价类中按以下三个原则设计测试用例：</a:t>
            </a:r>
            <a:endParaRPr lang="en-US" altLang="zh-CN" sz="1800" dirty="0"/>
          </a:p>
          <a:p>
            <a:pPr>
              <a:buFont typeface="+mj-lt"/>
              <a:buAutoNum type="arabicPeriod"/>
            </a:pPr>
            <a:r>
              <a:rPr lang="zh-CN" altLang="en-US" sz="1800" dirty="0"/>
              <a:t>为每一个等价类规定一个唯一的编号；</a:t>
            </a:r>
            <a:endParaRPr lang="en-US" altLang="zh-CN" sz="1800" dirty="0"/>
          </a:p>
          <a:p>
            <a:pPr>
              <a:buFont typeface="+mj-lt"/>
              <a:buAutoNum type="arabicPeriod"/>
            </a:pPr>
            <a:r>
              <a:rPr lang="zh-CN" altLang="en-US" sz="1800" dirty="0"/>
              <a:t>设计一个新的测试用例</a:t>
            </a:r>
            <a:r>
              <a:rPr lang="en-US" altLang="zh-CN" sz="1800" dirty="0"/>
              <a:t>,</a:t>
            </a:r>
            <a:r>
              <a:rPr lang="zh-CN" altLang="en-US" sz="1800" dirty="0"/>
              <a:t>使其尽可能多地覆盖尚未被覆盖地有效等价类</a:t>
            </a:r>
            <a:r>
              <a:rPr lang="en-US" altLang="zh-CN" sz="1800" dirty="0"/>
              <a:t>,</a:t>
            </a:r>
            <a:r>
              <a:rPr lang="zh-CN" altLang="en-US" sz="1800" dirty="0"/>
              <a:t>重复这一步，直到所有的有效等价类都被覆盖为止；</a:t>
            </a:r>
            <a:endParaRPr lang="en-US" altLang="zh-CN" sz="1800" dirty="0"/>
          </a:p>
          <a:p>
            <a:pPr>
              <a:buFont typeface="+mj-lt"/>
              <a:buAutoNum type="arabicPeriod"/>
            </a:pPr>
            <a:r>
              <a:rPr lang="zh-CN" altLang="en-US" sz="1800" dirty="0"/>
              <a:t>设计一个新的测试用例</a:t>
            </a:r>
            <a:r>
              <a:rPr lang="en-US" altLang="zh-CN" sz="1800" dirty="0"/>
              <a:t>,</a:t>
            </a:r>
            <a:r>
              <a:rPr lang="zh-CN" altLang="en-US" sz="1800" dirty="0"/>
              <a:t>使其仅覆盖一个尚未被覆盖的无效等价类</a:t>
            </a:r>
            <a:r>
              <a:rPr lang="en-US" altLang="zh-CN" sz="1800" dirty="0"/>
              <a:t>,</a:t>
            </a:r>
            <a:r>
              <a:rPr lang="zh-CN" altLang="en-US" sz="1800" dirty="0"/>
              <a:t>重复这一步，直到所有的无效等价类都被覆盖为止。</a:t>
            </a:r>
            <a:endParaRPr lang="en-US" altLang="zh-CN" sz="1800" dirty="0"/>
          </a:p>
        </p:txBody>
      </p:sp>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设计测试用例</a:t>
            </a:r>
          </a:p>
        </p:txBody>
      </p:sp>
    </p:spTree>
    <p:extLst>
      <p:ext uri="{BB962C8B-B14F-4D97-AF65-F5344CB8AC3E}">
        <p14:creationId xmlns:p14="http://schemas.microsoft.com/office/powerpoint/2010/main" val="59209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实例分析</a:t>
            </a:r>
          </a:p>
        </p:txBody>
      </p:sp>
      <p:sp>
        <p:nvSpPr>
          <p:cNvPr id="3" name="内容占位符 2"/>
          <p:cNvSpPr>
            <a:spLocks noGrp="1"/>
          </p:cNvSpPr>
          <p:nvPr>
            <p:ph idx="1"/>
          </p:nvPr>
        </p:nvSpPr>
        <p:spPr>
          <a:xfrm>
            <a:off x="468313" y="989955"/>
            <a:ext cx="5183807" cy="3397250"/>
          </a:xfrm>
        </p:spPr>
        <p:txBody>
          <a:bodyPr/>
          <a:lstStyle/>
          <a:p>
            <a:r>
              <a:rPr lang="zh-CN" altLang="en-US" sz="1400" dirty="0"/>
              <a:t>某程序规定：</a:t>
            </a:r>
            <a:r>
              <a:rPr lang="en-US" altLang="zh-CN" sz="1400" dirty="0"/>
              <a:t>"</a:t>
            </a:r>
            <a:r>
              <a:rPr lang="zh-CN" altLang="en-US" sz="1400" dirty="0"/>
              <a:t>输入三个整数 </a:t>
            </a:r>
            <a:r>
              <a:rPr lang="en-US" altLang="zh-CN" sz="1400" dirty="0"/>
              <a:t>a </a:t>
            </a:r>
            <a:r>
              <a:rPr lang="zh-CN" altLang="en-US" sz="1400" dirty="0"/>
              <a:t>、 </a:t>
            </a:r>
            <a:r>
              <a:rPr lang="en-US" altLang="zh-CN" sz="1400" dirty="0"/>
              <a:t>b </a:t>
            </a:r>
            <a:r>
              <a:rPr lang="zh-CN" altLang="en-US" sz="1400" dirty="0"/>
              <a:t>、 </a:t>
            </a:r>
            <a:r>
              <a:rPr lang="en-US" altLang="zh-CN" sz="1400" dirty="0"/>
              <a:t>c </a:t>
            </a:r>
            <a:r>
              <a:rPr lang="zh-CN" altLang="en-US" sz="1400" dirty="0"/>
              <a:t>分别作为三边的边长构成三角形。通过程序判定所构成的三角形的类型，当此三角形为一般三角形、等腰三角形及等边三角形时，分别作计算 </a:t>
            </a:r>
            <a:r>
              <a:rPr lang="en-US" altLang="zh-CN" sz="1400" dirty="0"/>
              <a:t>… "</a:t>
            </a:r>
            <a:r>
              <a:rPr lang="zh-CN" altLang="en-US" sz="1400" dirty="0"/>
              <a:t>。用等价类划分方法为该程序进行测试用例设计。（三角形问题的复杂之处在于输入与输出之间的关系比较复杂。）</a:t>
            </a:r>
            <a:endParaRPr lang="en-US" altLang="zh-CN" sz="1400" dirty="0"/>
          </a:p>
          <a:p>
            <a:r>
              <a:rPr lang="zh-CN" altLang="en-US" sz="1400" dirty="0"/>
              <a:t>分析题目中输入条件 </a:t>
            </a:r>
            <a:br>
              <a:rPr lang="zh-CN" altLang="en-US" sz="1400" dirty="0"/>
            </a:br>
            <a:r>
              <a:rPr lang="zh-CN" altLang="en-US" sz="1400" dirty="0"/>
              <a:t>  </a:t>
            </a:r>
            <a:r>
              <a:rPr lang="zh-CN" altLang="en-US" sz="1400" dirty="0">
                <a:solidFill>
                  <a:srgbClr val="C00000"/>
                </a:solidFill>
              </a:rPr>
              <a:t>明显的</a:t>
            </a:r>
            <a:r>
              <a:rPr lang="en-US" altLang="zh-CN" sz="1400" dirty="0">
                <a:sym typeface="Wingdings" panose="05000000000000000000" pitchFamily="2" charset="2"/>
              </a:rPr>
              <a:t>(1)</a:t>
            </a:r>
            <a:r>
              <a:rPr lang="zh-CN" altLang="en-US" sz="1400" dirty="0"/>
              <a:t>整数</a:t>
            </a:r>
            <a:r>
              <a:rPr lang="en-US" altLang="zh-CN" sz="1400" dirty="0"/>
              <a:t>(2)</a:t>
            </a:r>
            <a:r>
              <a:rPr lang="zh-CN" altLang="en-US" sz="1400" dirty="0"/>
              <a:t>三个数  </a:t>
            </a:r>
            <a:endParaRPr lang="en-US" altLang="zh-CN" sz="1400" dirty="0"/>
          </a:p>
          <a:p>
            <a:pPr marL="0" indent="0">
              <a:buNone/>
            </a:pPr>
            <a:r>
              <a:rPr lang="en-US" altLang="zh-CN" sz="1400" dirty="0">
                <a:solidFill>
                  <a:srgbClr val="C00000"/>
                </a:solidFill>
              </a:rPr>
              <a:t>         </a:t>
            </a:r>
            <a:r>
              <a:rPr lang="zh-CN" altLang="en-US" sz="1400" dirty="0">
                <a:solidFill>
                  <a:srgbClr val="C00000"/>
                </a:solidFill>
              </a:rPr>
              <a:t>隐含的</a:t>
            </a:r>
            <a:r>
              <a:rPr lang="en-US" altLang="zh-CN" sz="1400" dirty="0"/>
              <a:t>(3)</a:t>
            </a:r>
            <a:r>
              <a:rPr lang="zh-CN" altLang="en-US" sz="1400" dirty="0"/>
              <a:t>非零数</a:t>
            </a:r>
            <a:r>
              <a:rPr lang="en-US" altLang="zh-CN" sz="1400" dirty="0"/>
              <a:t>(4)</a:t>
            </a:r>
            <a:r>
              <a:rPr lang="zh-CN" altLang="en-US" sz="1400" dirty="0"/>
              <a:t>正数</a:t>
            </a:r>
            <a:endParaRPr lang="en-US" altLang="zh-CN" sz="1400" dirty="0"/>
          </a:p>
          <a:p>
            <a:r>
              <a:rPr lang="zh-CN" altLang="en-US" sz="1400" dirty="0"/>
              <a:t>分析题目中输出条件 </a:t>
            </a:r>
            <a:br>
              <a:rPr lang="zh-CN" altLang="en-US" sz="1400" dirty="0"/>
            </a:br>
            <a:r>
              <a:rPr lang="zh-CN" altLang="en-US" sz="1400" dirty="0"/>
              <a:t>  </a:t>
            </a:r>
            <a:r>
              <a:rPr lang="en-US" altLang="zh-CN" sz="1400" dirty="0">
                <a:sym typeface="Wingdings" panose="05000000000000000000" pitchFamily="2" charset="2"/>
              </a:rPr>
              <a:t>(1)</a:t>
            </a:r>
            <a:r>
              <a:rPr lang="zh-CN" altLang="en-US" sz="1400" dirty="0">
                <a:sym typeface="Wingdings" panose="05000000000000000000" pitchFamily="2" charset="2"/>
              </a:rPr>
              <a:t>一般</a:t>
            </a:r>
            <a:r>
              <a:rPr lang="en-US" altLang="zh-CN" sz="1400" dirty="0"/>
              <a:t>(2)</a:t>
            </a:r>
            <a:r>
              <a:rPr lang="zh-CN" altLang="en-US" sz="1400" dirty="0"/>
              <a:t>等边</a:t>
            </a:r>
            <a:r>
              <a:rPr lang="en-US" altLang="zh-CN" sz="1400" dirty="0"/>
              <a:t>(3)</a:t>
            </a:r>
            <a:r>
              <a:rPr lang="zh-CN" altLang="en-US" sz="1400" dirty="0"/>
              <a:t>等腰  </a:t>
            </a:r>
            <a:endParaRPr lang="en-US" altLang="zh-CN" sz="1400" dirty="0"/>
          </a:p>
          <a:p>
            <a:pPr marL="0" indent="0">
              <a:buNone/>
            </a:pPr>
            <a:r>
              <a:rPr lang="en-US" altLang="zh-CN" sz="1400" dirty="0">
                <a:solidFill>
                  <a:srgbClr val="C00000"/>
                </a:solidFill>
              </a:rPr>
              <a:t>      </a:t>
            </a:r>
            <a:endParaRPr lang="zh-CN" altLang="en-US" sz="1400" dirty="0"/>
          </a:p>
        </p:txBody>
      </p:sp>
      <p:pic>
        <p:nvPicPr>
          <p:cNvPr id="48640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2120" y="38893"/>
            <a:ext cx="3384878" cy="509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3311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实例分析</a:t>
            </a:r>
          </a:p>
        </p:txBody>
      </p:sp>
      <p:sp>
        <p:nvSpPr>
          <p:cNvPr id="3" name="内容占位符 2"/>
          <p:cNvSpPr>
            <a:spLocks noGrp="1"/>
          </p:cNvSpPr>
          <p:nvPr>
            <p:ph idx="1"/>
          </p:nvPr>
        </p:nvSpPr>
        <p:spPr>
          <a:xfrm>
            <a:off x="468313" y="989955"/>
            <a:ext cx="5183807" cy="3397250"/>
          </a:xfrm>
        </p:spPr>
        <p:txBody>
          <a:bodyPr/>
          <a:lstStyle/>
          <a:p>
            <a:r>
              <a:rPr lang="zh-CN" altLang="en-US" sz="1400" dirty="0"/>
              <a:t> 覆盖有效等价类的测试用例：</a:t>
            </a:r>
            <a:br>
              <a:rPr lang="zh-CN" altLang="en-US" sz="1400" dirty="0"/>
            </a:br>
            <a:r>
              <a:rPr lang="zh-CN" altLang="en-US" sz="1400" dirty="0"/>
              <a:t>    </a:t>
            </a:r>
            <a:endParaRPr lang="en-US" altLang="zh-CN" sz="1400" dirty="0"/>
          </a:p>
          <a:p>
            <a:pPr marL="0" indent="0">
              <a:buNone/>
            </a:pPr>
            <a:r>
              <a:rPr lang="en-US" altLang="zh-CN" sz="1400" dirty="0"/>
              <a:t>    a      b      c              </a:t>
            </a:r>
            <a:r>
              <a:rPr lang="zh-CN" altLang="en-US" sz="1400" dirty="0"/>
              <a:t>覆盖等价类号码</a:t>
            </a:r>
            <a:br>
              <a:rPr lang="zh-CN" altLang="en-US" sz="1400" dirty="0"/>
            </a:br>
            <a:r>
              <a:rPr lang="zh-CN" altLang="en-US" sz="1400" dirty="0"/>
              <a:t>    </a:t>
            </a:r>
            <a:r>
              <a:rPr lang="en-US" altLang="zh-CN" sz="1400" dirty="0"/>
              <a:t>3      4      5             </a:t>
            </a:r>
            <a:r>
              <a:rPr lang="zh-CN" altLang="en-US" sz="1400" dirty="0"/>
              <a:t>（</a:t>
            </a:r>
            <a:r>
              <a:rPr lang="en-US" altLang="zh-CN" sz="1400" dirty="0"/>
              <a:t>1</a:t>
            </a:r>
            <a:r>
              <a:rPr lang="zh-CN" altLang="en-US" sz="1400" dirty="0"/>
              <a:t>）</a:t>
            </a:r>
            <a:r>
              <a:rPr lang="en-US" altLang="zh-CN" sz="1400" dirty="0"/>
              <a:t>--</a:t>
            </a:r>
            <a:r>
              <a:rPr lang="zh-CN" altLang="en-US" sz="1400" dirty="0"/>
              <a:t>（</a:t>
            </a:r>
            <a:r>
              <a:rPr lang="en-US" altLang="zh-CN" sz="1400" dirty="0"/>
              <a:t>7</a:t>
            </a:r>
            <a:r>
              <a:rPr lang="zh-CN" altLang="en-US" sz="1400" dirty="0"/>
              <a:t>）</a:t>
            </a:r>
            <a:br>
              <a:rPr lang="zh-CN" altLang="en-US" sz="1400" dirty="0"/>
            </a:br>
            <a:r>
              <a:rPr lang="zh-CN" altLang="en-US" sz="1400" dirty="0"/>
              <a:t>    </a:t>
            </a:r>
            <a:r>
              <a:rPr lang="en-US" altLang="zh-CN" sz="1400" dirty="0"/>
              <a:t>4      4      5             </a:t>
            </a:r>
            <a:r>
              <a:rPr lang="zh-CN" altLang="en-US" sz="1400" dirty="0"/>
              <a:t>（</a:t>
            </a:r>
            <a:r>
              <a:rPr lang="en-US" altLang="zh-CN" sz="1400" dirty="0"/>
              <a:t>1</a:t>
            </a:r>
            <a:r>
              <a:rPr lang="zh-CN" altLang="en-US" sz="1400" dirty="0"/>
              <a:t>）</a:t>
            </a:r>
            <a:r>
              <a:rPr lang="en-US" altLang="zh-CN" sz="1400" dirty="0"/>
              <a:t>--</a:t>
            </a:r>
            <a:r>
              <a:rPr lang="zh-CN" altLang="en-US" sz="1400" dirty="0"/>
              <a:t>（</a:t>
            </a:r>
            <a:r>
              <a:rPr lang="en-US" altLang="zh-CN" sz="1400" dirty="0"/>
              <a:t>7</a:t>
            </a:r>
            <a:r>
              <a:rPr lang="zh-CN" altLang="en-US" sz="1400" dirty="0"/>
              <a:t>），（</a:t>
            </a:r>
            <a:r>
              <a:rPr lang="en-US" altLang="zh-CN" sz="1400" dirty="0"/>
              <a:t>8</a:t>
            </a:r>
            <a:r>
              <a:rPr lang="zh-CN" altLang="en-US" sz="1400" dirty="0"/>
              <a:t>）</a:t>
            </a:r>
            <a:br>
              <a:rPr lang="zh-CN" altLang="en-US" sz="1400" dirty="0"/>
            </a:br>
            <a:r>
              <a:rPr lang="zh-CN" altLang="en-US" sz="1400" dirty="0"/>
              <a:t>    </a:t>
            </a:r>
            <a:r>
              <a:rPr lang="en-US" altLang="zh-CN" sz="1400" dirty="0"/>
              <a:t>4      5      5             </a:t>
            </a:r>
            <a:r>
              <a:rPr lang="zh-CN" altLang="en-US" sz="1400" dirty="0"/>
              <a:t>（</a:t>
            </a:r>
            <a:r>
              <a:rPr lang="en-US" altLang="zh-CN" sz="1400" dirty="0"/>
              <a:t>1</a:t>
            </a:r>
            <a:r>
              <a:rPr lang="zh-CN" altLang="en-US" sz="1400" dirty="0"/>
              <a:t>）</a:t>
            </a:r>
            <a:r>
              <a:rPr lang="en-US" altLang="zh-CN" sz="1400" dirty="0"/>
              <a:t>--</a:t>
            </a:r>
            <a:r>
              <a:rPr lang="zh-CN" altLang="en-US" sz="1400" dirty="0"/>
              <a:t>（</a:t>
            </a:r>
            <a:r>
              <a:rPr lang="en-US" altLang="zh-CN" sz="1400" dirty="0"/>
              <a:t>7</a:t>
            </a:r>
            <a:r>
              <a:rPr lang="zh-CN" altLang="en-US" sz="1400" dirty="0"/>
              <a:t>），（</a:t>
            </a:r>
            <a:r>
              <a:rPr lang="en-US" altLang="zh-CN" sz="1400" dirty="0"/>
              <a:t>9</a:t>
            </a:r>
            <a:r>
              <a:rPr lang="zh-CN" altLang="en-US" sz="1400" dirty="0"/>
              <a:t>）    </a:t>
            </a:r>
            <a:br>
              <a:rPr lang="zh-CN" altLang="en-US" sz="1400" dirty="0"/>
            </a:br>
            <a:r>
              <a:rPr lang="zh-CN" altLang="en-US" sz="1400" dirty="0"/>
              <a:t>    </a:t>
            </a:r>
            <a:r>
              <a:rPr lang="en-US" altLang="zh-CN" sz="1400" dirty="0"/>
              <a:t>5      4      5             </a:t>
            </a:r>
            <a:r>
              <a:rPr lang="zh-CN" altLang="en-US" sz="1400" dirty="0"/>
              <a:t>（</a:t>
            </a:r>
            <a:r>
              <a:rPr lang="en-US" altLang="zh-CN" sz="1400" dirty="0"/>
              <a:t>1</a:t>
            </a:r>
            <a:r>
              <a:rPr lang="zh-CN" altLang="en-US" sz="1400" dirty="0"/>
              <a:t>）</a:t>
            </a:r>
            <a:r>
              <a:rPr lang="en-US" altLang="zh-CN" sz="1400" dirty="0"/>
              <a:t>--</a:t>
            </a:r>
            <a:r>
              <a:rPr lang="zh-CN" altLang="en-US" sz="1400" dirty="0"/>
              <a:t>（</a:t>
            </a:r>
            <a:r>
              <a:rPr lang="en-US" altLang="zh-CN" sz="1400" dirty="0"/>
              <a:t>7</a:t>
            </a:r>
            <a:r>
              <a:rPr lang="zh-CN" altLang="en-US" sz="1400" dirty="0"/>
              <a:t>），（</a:t>
            </a:r>
            <a:r>
              <a:rPr lang="en-US" altLang="zh-CN" sz="1400" dirty="0"/>
              <a:t>10</a:t>
            </a:r>
            <a:r>
              <a:rPr lang="zh-CN" altLang="en-US" sz="1400" dirty="0"/>
              <a:t>）</a:t>
            </a:r>
            <a:br>
              <a:rPr lang="zh-CN" altLang="en-US" sz="1400" dirty="0"/>
            </a:br>
            <a:r>
              <a:rPr lang="zh-CN" altLang="en-US" sz="1400" dirty="0"/>
              <a:t>    </a:t>
            </a:r>
            <a:r>
              <a:rPr lang="en-US" altLang="zh-CN" sz="1400" dirty="0"/>
              <a:t>4      4      4             </a:t>
            </a:r>
            <a:r>
              <a:rPr lang="zh-CN" altLang="en-US" sz="1400" dirty="0"/>
              <a:t>（</a:t>
            </a:r>
            <a:r>
              <a:rPr lang="en-US" altLang="zh-CN" sz="1400" dirty="0"/>
              <a:t>1</a:t>
            </a:r>
            <a:r>
              <a:rPr lang="zh-CN" altLang="en-US" sz="1400" dirty="0"/>
              <a:t>）</a:t>
            </a:r>
            <a:r>
              <a:rPr lang="en-US" altLang="zh-CN" sz="1400" dirty="0"/>
              <a:t>--</a:t>
            </a:r>
            <a:r>
              <a:rPr lang="zh-CN" altLang="en-US" sz="1400" dirty="0"/>
              <a:t>（</a:t>
            </a:r>
            <a:r>
              <a:rPr lang="en-US" altLang="zh-CN" sz="1400" dirty="0"/>
              <a:t>7</a:t>
            </a:r>
            <a:r>
              <a:rPr lang="zh-CN" altLang="en-US" sz="1400" dirty="0"/>
              <a:t>），（</a:t>
            </a:r>
            <a:r>
              <a:rPr lang="en-US" altLang="zh-CN" sz="1400" dirty="0"/>
              <a:t>11</a:t>
            </a:r>
            <a:r>
              <a:rPr lang="zh-CN" altLang="en-US" sz="1400" dirty="0"/>
              <a:t>）</a:t>
            </a: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2120" y="38893"/>
            <a:ext cx="3384878" cy="509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2627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等价类划分法</a:t>
            </a:r>
            <a:r>
              <a:rPr lang="en-US" altLang="zh-CN" sz="2800" dirty="0"/>
              <a:t>-</a:t>
            </a:r>
            <a:r>
              <a:rPr lang="zh-CN" altLang="en-US" sz="2800" dirty="0"/>
              <a:t>实例分析</a:t>
            </a:r>
          </a:p>
        </p:txBody>
      </p:sp>
      <p:sp>
        <p:nvSpPr>
          <p:cNvPr id="3" name="内容占位符 2"/>
          <p:cNvSpPr>
            <a:spLocks noGrp="1"/>
          </p:cNvSpPr>
          <p:nvPr>
            <p:ph idx="1"/>
          </p:nvPr>
        </p:nvSpPr>
        <p:spPr>
          <a:xfrm>
            <a:off x="468313" y="989955"/>
            <a:ext cx="5183807" cy="3397250"/>
          </a:xfrm>
        </p:spPr>
        <p:txBody>
          <a:bodyPr/>
          <a:lstStyle/>
          <a:p>
            <a:r>
              <a:rPr lang="zh-CN" altLang="en-US" sz="1400" dirty="0"/>
              <a:t> 覆盖无效等价类的测试用例：</a:t>
            </a:r>
          </a:p>
        </p:txBody>
      </p:sp>
      <p:pic>
        <p:nvPicPr>
          <p:cNvPr id="487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349993"/>
            <a:ext cx="4680520" cy="37105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2120" y="38893"/>
            <a:ext cx="3384878" cy="509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504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33971"/>
            <a:ext cx="3681413" cy="337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00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8C94C04-3436-4792-BA31-60DA60B3D743}" type="slidenum">
              <a:rPr lang="en-US" altLang="zh-CN" sz="1800" b="0" smtClean="0">
                <a:latin typeface="Times New Roman" pitchFamily="18" charset="0"/>
                <a:ea typeface="微软雅黑" pitchFamily="34" charset="-122"/>
              </a:rPr>
              <a:pPr algn="l" eaLnBrk="0" hangingPunct="0">
                <a:spcBef>
                  <a:spcPct val="0"/>
                </a:spcBef>
                <a:buFontTx/>
                <a:buNone/>
              </a:pPr>
              <a:t>19</a:t>
            </a:fld>
            <a:endParaRPr lang="en-US" altLang="zh-CN" sz="1800" b="0">
              <a:latin typeface="Times New Roman" pitchFamily="18" charset="0"/>
              <a:ea typeface="微软雅黑" pitchFamily="34" charset="-122"/>
            </a:endParaRPr>
          </a:p>
        </p:txBody>
      </p:sp>
      <p:sp>
        <p:nvSpPr>
          <p:cNvPr id="130051" name="Rectangle 2" descr="Large confetti"/>
          <p:cNvSpPr>
            <a:spLocks noGrp="1" noChangeArrowheads="1"/>
          </p:cNvSpPr>
          <p:nvPr>
            <p:ph type="title"/>
          </p:nvPr>
        </p:nvSpPr>
        <p:spPr>
          <a:xfrm>
            <a:off x="468313" y="414338"/>
            <a:ext cx="7559675" cy="622300"/>
          </a:xfrm>
        </p:spPr>
        <p:txBody>
          <a:bodyPr/>
          <a:lstStyle/>
          <a:p>
            <a:r>
              <a:rPr lang="zh-CN" altLang="en-US" dirty="0">
                <a:latin typeface="楷体_GB2312"/>
                <a:ea typeface="楷体_GB2312"/>
                <a:cs typeface="楷体_GB2312"/>
              </a:rPr>
              <a:t>黑盒测试常用方法</a:t>
            </a:r>
          </a:p>
        </p:txBody>
      </p:sp>
      <p:sp>
        <p:nvSpPr>
          <p:cNvPr id="2" name="左箭头 1"/>
          <p:cNvSpPr/>
          <p:nvPr/>
        </p:nvSpPr>
        <p:spPr bwMode="auto">
          <a:xfrm rot="20017491">
            <a:off x="5592579" y="1539187"/>
            <a:ext cx="936104" cy="360040"/>
          </a:xfrm>
          <a:prstGeom prst="leftArrow">
            <a:avLst/>
          </a:prstGeom>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16185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边界值分析法</a:t>
            </a:r>
            <a:r>
              <a:rPr lang="en-US" altLang="zh-CN" sz="2800" dirty="0"/>
              <a:t>-</a:t>
            </a:r>
            <a:r>
              <a:rPr lang="zh-CN" altLang="en-US" sz="2800" dirty="0"/>
              <a:t>定义</a:t>
            </a:r>
          </a:p>
        </p:txBody>
      </p:sp>
      <p:sp>
        <p:nvSpPr>
          <p:cNvPr id="5" name="内容占位符 2"/>
          <p:cNvSpPr>
            <a:spLocks noGrp="1"/>
          </p:cNvSpPr>
          <p:nvPr>
            <p:ph idx="1"/>
          </p:nvPr>
        </p:nvSpPr>
        <p:spPr>
          <a:xfrm>
            <a:off x="467544" y="989955"/>
            <a:ext cx="7920880" cy="3397250"/>
          </a:xfrm>
        </p:spPr>
        <p:txBody>
          <a:bodyPr/>
          <a:lstStyle/>
          <a:p>
            <a:r>
              <a:rPr lang="zh-CN" altLang="en-US" sz="2400" dirty="0"/>
              <a:t>边界值分析法</a:t>
            </a:r>
            <a:endParaRPr lang="en-US" altLang="zh-CN" sz="2400" dirty="0"/>
          </a:p>
          <a:p>
            <a:pPr lvl="1"/>
            <a:r>
              <a:rPr lang="zh-CN" altLang="en-US" sz="1800" dirty="0"/>
              <a:t>边界值分析法就是对输入或输出的边界值进行测试的一种黑盒测试方法。</a:t>
            </a:r>
            <a:endParaRPr lang="en-US" altLang="zh-CN" sz="1800" dirty="0"/>
          </a:p>
          <a:p>
            <a:pPr lvl="1"/>
            <a:r>
              <a:rPr lang="zh-CN" altLang="en-US" sz="1800" dirty="0"/>
              <a:t>通常边界值分析法是作为对等价类划分法的补充，这种情况下，其测试用例来自等价类的边界。应当选取正好等于，刚刚大于或刚刚小于边界的值作为测试数据，而不是选取等价类中的典型值或任意值作为测试数据。</a:t>
            </a:r>
            <a:endParaRPr lang="en-US" altLang="zh-CN" sz="1800" dirty="0"/>
          </a:p>
        </p:txBody>
      </p:sp>
    </p:spTree>
    <p:extLst>
      <p:ext uri="{BB962C8B-B14F-4D97-AF65-F5344CB8AC3E}">
        <p14:creationId xmlns:p14="http://schemas.microsoft.com/office/powerpoint/2010/main" val="2444779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边界值分析法</a:t>
            </a:r>
            <a:r>
              <a:rPr lang="en-US" altLang="zh-CN" sz="2800" dirty="0"/>
              <a:t>-</a:t>
            </a:r>
            <a:r>
              <a:rPr lang="zh-CN" altLang="en-US" sz="2800" dirty="0"/>
              <a:t>方法</a:t>
            </a:r>
          </a:p>
        </p:txBody>
      </p:sp>
      <p:sp>
        <p:nvSpPr>
          <p:cNvPr id="5" name="内容占位符 2"/>
          <p:cNvSpPr>
            <a:spLocks noGrp="1"/>
          </p:cNvSpPr>
          <p:nvPr>
            <p:ph idx="1"/>
          </p:nvPr>
        </p:nvSpPr>
        <p:spPr>
          <a:xfrm>
            <a:off x="467544" y="989955"/>
            <a:ext cx="7920880" cy="3397250"/>
          </a:xfrm>
        </p:spPr>
        <p:txBody>
          <a:bodyPr/>
          <a:lstStyle/>
          <a:p>
            <a:r>
              <a:rPr lang="zh-CN" altLang="en-US" sz="2400" dirty="0"/>
              <a:t>根据被测对象的输入（或输出）要求确定边界值</a:t>
            </a:r>
            <a:endParaRPr lang="en-US" altLang="zh-CN" sz="2400" dirty="0"/>
          </a:p>
          <a:p>
            <a:r>
              <a:rPr lang="zh-CN" altLang="en-US" sz="2400" dirty="0"/>
              <a:t>选取等于、刚刚大于、刚刚小于边界的值作为测试数据</a:t>
            </a:r>
            <a:endParaRPr lang="en-US" altLang="zh-CN" sz="2400" dirty="0"/>
          </a:p>
        </p:txBody>
      </p:sp>
    </p:spTree>
    <p:extLst>
      <p:ext uri="{BB962C8B-B14F-4D97-AF65-F5344CB8AC3E}">
        <p14:creationId xmlns:p14="http://schemas.microsoft.com/office/powerpoint/2010/main" val="2284525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边界值分析法</a:t>
            </a:r>
            <a:r>
              <a:rPr lang="en-US" altLang="zh-CN" sz="2800" dirty="0"/>
              <a:t>-</a:t>
            </a:r>
            <a:r>
              <a:rPr lang="zh-CN" altLang="en-US" sz="2800" dirty="0"/>
              <a:t>假设</a:t>
            </a:r>
          </a:p>
        </p:txBody>
      </p:sp>
      <p:sp>
        <p:nvSpPr>
          <p:cNvPr id="5" name="内容占位符 2"/>
          <p:cNvSpPr>
            <a:spLocks noGrp="1"/>
          </p:cNvSpPr>
          <p:nvPr>
            <p:ph idx="1"/>
          </p:nvPr>
        </p:nvSpPr>
        <p:spPr>
          <a:xfrm>
            <a:off x="467544" y="989955"/>
            <a:ext cx="7920880" cy="3397250"/>
          </a:xfrm>
        </p:spPr>
        <p:txBody>
          <a:bodyPr/>
          <a:lstStyle/>
          <a:p>
            <a:r>
              <a:rPr lang="zh-CN" altLang="en-US" sz="2400" dirty="0"/>
              <a:t>单缺陷假设</a:t>
            </a:r>
            <a:endParaRPr lang="en-US" altLang="zh-CN" sz="2400" dirty="0"/>
          </a:p>
          <a:p>
            <a:pPr lvl="1"/>
            <a:r>
              <a:rPr lang="zh-CN" altLang="en-US" sz="1800" dirty="0"/>
              <a:t>是指“失效极少是由两个或两个以上的缺陷同时发生引起的”。要求测试用例只使一个变量取极值，其他变量均取正常值；</a:t>
            </a:r>
            <a:endParaRPr lang="en-US" altLang="zh-CN" sz="1800" dirty="0"/>
          </a:p>
          <a:p>
            <a:r>
              <a:rPr lang="zh-CN" altLang="en-US" sz="2400" dirty="0"/>
              <a:t>多缺陷假设</a:t>
            </a:r>
            <a:endParaRPr lang="en-US" altLang="zh-CN" sz="2400" dirty="0"/>
          </a:p>
          <a:p>
            <a:pPr lvl="1"/>
            <a:r>
              <a:rPr lang="zh-CN" altLang="en-US" sz="2000" dirty="0"/>
              <a:t>是指“失效是由两个或两个以上缺陷同时作用引起的”，要求测试用例时同时让多个变量取极值。</a:t>
            </a:r>
            <a:endParaRPr lang="en-US" altLang="zh-CN" sz="2000" dirty="0"/>
          </a:p>
        </p:txBody>
      </p:sp>
    </p:spTree>
    <p:extLst>
      <p:ext uri="{BB962C8B-B14F-4D97-AF65-F5344CB8AC3E}">
        <p14:creationId xmlns:p14="http://schemas.microsoft.com/office/powerpoint/2010/main" val="1272904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边界值分析法</a:t>
            </a:r>
            <a:r>
              <a:rPr lang="en-US" altLang="zh-CN" sz="2800" dirty="0"/>
              <a:t>-</a:t>
            </a:r>
            <a:r>
              <a:rPr lang="zh-CN" altLang="en-US" sz="2800" dirty="0"/>
              <a:t>分类</a:t>
            </a:r>
          </a:p>
        </p:txBody>
      </p:sp>
      <p:pic>
        <p:nvPicPr>
          <p:cNvPr id="489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 y="1710035"/>
            <a:ext cx="9110663" cy="155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4361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777255F9-9FE1-4039-BC76-551B02640EA7}" type="slidenum">
              <a:rPr lang="en-US" altLang="zh-CN" sz="1800" b="0" smtClean="0">
                <a:latin typeface="Times New Roman" pitchFamily="18" charset="0"/>
                <a:ea typeface="微软雅黑" pitchFamily="34" charset="-122"/>
              </a:rPr>
              <a:pPr algn="l" eaLnBrk="0" hangingPunct="0">
                <a:spcBef>
                  <a:spcPct val="0"/>
                </a:spcBef>
                <a:buFontTx/>
                <a:buNone/>
              </a:pPr>
              <a:t>24</a:t>
            </a:fld>
            <a:endParaRPr lang="en-US" altLang="zh-CN" sz="1800" b="0">
              <a:latin typeface="Times New Roman" pitchFamily="18" charset="0"/>
              <a:ea typeface="微软雅黑" pitchFamily="34" charset="-122"/>
            </a:endParaRPr>
          </a:p>
        </p:txBody>
      </p:sp>
      <p:sp>
        <p:nvSpPr>
          <p:cNvPr id="134148" name="Line 4"/>
          <p:cNvSpPr>
            <a:spLocks noChangeShapeType="1"/>
          </p:cNvSpPr>
          <p:nvPr/>
        </p:nvSpPr>
        <p:spPr bwMode="auto">
          <a:xfrm>
            <a:off x="2284413" y="3946525"/>
            <a:ext cx="4518025" cy="0"/>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49" name="Line 5"/>
          <p:cNvSpPr>
            <a:spLocks noChangeShapeType="1"/>
          </p:cNvSpPr>
          <p:nvPr/>
        </p:nvSpPr>
        <p:spPr bwMode="auto">
          <a:xfrm flipV="1">
            <a:off x="2398713" y="1487488"/>
            <a:ext cx="0" cy="2516187"/>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0" name="Line 6"/>
          <p:cNvSpPr>
            <a:spLocks noChangeShapeType="1"/>
          </p:cNvSpPr>
          <p:nvPr/>
        </p:nvSpPr>
        <p:spPr bwMode="auto">
          <a:xfrm>
            <a:off x="2398713" y="2116138"/>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1" name="Line 7"/>
          <p:cNvSpPr>
            <a:spLocks noChangeShapeType="1"/>
          </p:cNvSpPr>
          <p:nvPr/>
        </p:nvSpPr>
        <p:spPr bwMode="auto">
          <a:xfrm>
            <a:off x="2398713" y="3432175"/>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2" name="Line 8"/>
          <p:cNvSpPr>
            <a:spLocks noChangeShapeType="1"/>
          </p:cNvSpPr>
          <p:nvPr/>
        </p:nvSpPr>
        <p:spPr bwMode="auto">
          <a:xfrm>
            <a:off x="3027363"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3" name="Line 9"/>
          <p:cNvSpPr>
            <a:spLocks noChangeShapeType="1"/>
          </p:cNvSpPr>
          <p:nvPr/>
        </p:nvSpPr>
        <p:spPr bwMode="auto">
          <a:xfrm>
            <a:off x="5029200"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4" name="Text Box 10"/>
          <p:cNvSpPr txBox="1">
            <a:spLocks noChangeArrowheads="1"/>
          </p:cNvSpPr>
          <p:nvPr/>
        </p:nvSpPr>
        <p:spPr bwMode="auto">
          <a:xfrm>
            <a:off x="2901950" y="3978275"/>
            <a:ext cx="2857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a</a:t>
            </a:r>
          </a:p>
        </p:txBody>
      </p:sp>
      <p:sp>
        <p:nvSpPr>
          <p:cNvPr id="134155" name="Text Box 11"/>
          <p:cNvSpPr txBox="1">
            <a:spLocks noChangeArrowheads="1"/>
          </p:cNvSpPr>
          <p:nvPr/>
        </p:nvSpPr>
        <p:spPr bwMode="auto">
          <a:xfrm>
            <a:off x="4914900" y="4003675"/>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b</a:t>
            </a:r>
          </a:p>
        </p:txBody>
      </p:sp>
      <p:sp>
        <p:nvSpPr>
          <p:cNvPr id="134156" name="Text Box 12"/>
          <p:cNvSpPr txBox="1">
            <a:spLocks noChangeArrowheads="1"/>
          </p:cNvSpPr>
          <p:nvPr/>
        </p:nvSpPr>
        <p:spPr bwMode="auto">
          <a:xfrm>
            <a:off x="6973888" y="3832225"/>
            <a:ext cx="377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1</a:t>
            </a:r>
          </a:p>
        </p:txBody>
      </p:sp>
      <p:sp>
        <p:nvSpPr>
          <p:cNvPr id="134157" name="Text Box 13"/>
          <p:cNvSpPr txBox="1">
            <a:spLocks noChangeArrowheads="1"/>
          </p:cNvSpPr>
          <p:nvPr/>
        </p:nvSpPr>
        <p:spPr bwMode="auto">
          <a:xfrm>
            <a:off x="2227263" y="1144588"/>
            <a:ext cx="3762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2</a:t>
            </a:r>
          </a:p>
        </p:txBody>
      </p:sp>
      <p:sp>
        <p:nvSpPr>
          <p:cNvPr id="134158" name="Text Box 14"/>
          <p:cNvSpPr txBox="1">
            <a:spLocks noChangeArrowheads="1"/>
          </p:cNvSpPr>
          <p:nvPr/>
        </p:nvSpPr>
        <p:spPr bwMode="auto">
          <a:xfrm>
            <a:off x="2055813" y="3203575"/>
            <a:ext cx="285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c</a:t>
            </a:r>
          </a:p>
        </p:txBody>
      </p:sp>
      <p:sp>
        <p:nvSpPr>
          <p:cNvPr id="134159" name="Text Box 15"/>
          <p:cNvSpPr txBox="1">
            <a:spLocks noChangeArrowheads="1"/>
          </p:cNvSpPr>
          <p:nvPr/>
        </p:nvSpPr>
        <p:spPr bwMode="auto">
          <a:xfrm>
            <a:off x="2055813" y="1944688"/>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d</a:t>
            </a:r>
          </a:p>
        </p:txBody>
      </p:sp>
      <p:sp>
        <p:nvSpPr>
          <p:cNvPr id="134160" name="Rectangle 16"/>
          <p:cNvSpPr>
            <a:spLocks noChangeArrowheads="1"/>
          </p:cNvSpPr>
          <p:nvPr/>
        </p:nvSpPr>
        <p:spPr bwMode="auto">
          <a:xfrm>
            <a:off x="3027363" y="2116138"/>
            <a:ext cx="2001837" cy="1316037"/>
          </a:xfrm>
          <a:prstGeom prst="rect">
            <a:avLst/>
          </a:prstGeom>
          <a:solidFill>
            <a:srgbClr val="C0C0C0"/>
          </a:solidFill>
          <a:ln w="2857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1" name="Oval 18"/>
          <p:cNvSpPr>
            <a:spLocks noChangeArrowheads="1"/>
          </p:cNvSpPr>
          <p:nvPr/>
        </p:nvSpPr>
        <p:spPr bwMode="auto">
          <a:xfrm>
            <a:off x="29702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2" name="Oval 19"/>
          <p:cNvSpPr>
            <a:spLocks noChangeArrowheads="1"/>
          </p:cNvSpPr>
          <p:nvPr/>
        </p:nvSpPr>
        <p:spPr bwMode="auto">
          <a:xfrm>
            <a:off x="30845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3" name="Oval 20"/>
          <p:cNvSpPr>
            <a:spLocks noChangeArrowheads="1"/>
          </p:cNvSpPr>
          <p:nvPr/>
        </p:nvSpPr>
        <p:spPr bwMode="auto">
          <a:xfrm>
            <a:off x="48672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4" name="Oval 21"/>
          <p:cNvSpPr>
            <a:spLocks noChangeArrowheads="1"/>
          </p:cNvSpPr>
          <p:nvPr/>
        </p:nvSpPr>
        <p:spPr bwMode="auto">
          <a:xfrm>
            <a:off x="49815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5" name="Oval 22"/>
          <p:cNvSpPr>
            <a:spLocks noChangeArrowheads="1"/>
          </p:cNvSpPr>
          <p:nvPr/>
        </p:nvSpPr>
        <p:spPr bwMode="auto">
          <a:xfrm>
            <a:off x="3886200" y="33766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6" name="Oval 23"/>
          <p:cNvSpPr>
            <a:spLocks noChangeArrowheads="1"/>
          </p:cNvSpPr>
          <p:nvPr/>
        </p:nvSpPr>
        <p:spPr bwMode="auto">
          <a:xfrm>
            <a:off x="3886200" y="3260725"/>
            <a:ext cx="82550"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7" name="Oval 24"/>
          <p:cNvSpPr>
            <a:spLocks noChangeArrowheads="1"/>
          </p:cNvSpPr>
          <p:nvPr/>
        </p:nvSpPr>
        <p:spPr bwMode="auto">
          <a:xfrm>
            <a:off x="3886200" y="20589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8" name="Oval 25"/>
          <p:cNvSpPr>
            <a:spLocks noChangeArrowheads="1"/>
          </p:cNvSpPr>
          <p:nvPr/>
        </p:nvSpPr>
        <p:spPr bwMode="auto">
          <a:xfrm>
            <a:off x="3886200" y="21732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69" name="Oval 27"/>
          <p:cNvSpPr>
            <a:spLocks noChangeArrowheads="1"/>
          </p:cNvSpPr>
          <p:nvPr/>
        </p:nvSpPr>
        <p:spPr bwMode="auto">
          <a:xfrm>
            <a:off x="3886200" y="28305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4170" name="Text Box 28"/>
          <p:cNvSpPr txBox="1">
            <a:spLocks noChangeArrowheads="1"/>
          </p:cNvSpPr>
          <p:nvPr/>
        </p:nvSpPr>
        <p:spPr bwMode="auto">
          <a:xfrm>
            <a:off x="6228183" y="2746452"/>
            <a:ext cx="2020887" cy="646112"/>
          </a:xfrm>
          <a:prstGeom prst="rect">
            <a:avLst/>
          </a:prstGeom>
          <a:ln/>
        </p:spPr>
        <p:style>
          <a:lnRef idx="0">
            <a:schemeClr val="accent4"/>
          </a:lnRef>
          <a:fillRef idx="3">
            <a:schemeClr val="accent4"/>
          </a:fillRef>
          <a:effectRef idx="3">
            <a:schemeClr val="accent4"/>
          </a:effectRef>
          <a:fontRef idx="minor">
            <a:schemeClr val="lt1"/>
          </a:fontRef>
        </p:style>
        <p:txBody>
          <a:bodyPr wrap="none">
            <a:spAutoFit/>
          </a:bodyPr>
          <a:lstStyle>
            <a:defPPr>
              <a:defRPr lang="zh-CN"/>
            </a:defPPr>
            <a:lvl1pPr>
              <a:buFontTx/>
              <a:buNone/>
              <a:defRPr sz="1800" b="1">
                <a:solidFill>
                  <a:schemeClr val="lt1"/>
                </a:solidFill>
                <a:latin typeface="Tahoma" pitchFamily="34" charset="0"/>
                <a:ea typeface="仿宋_GB2312" pitchFamily="49" charset="-122"/>
              </a:defRPr>
            </a:lvl1pPr>
            <a:lvl2pPr marL="742950" indent="-285750">
              <a:spcBef>
                <a:spcPct val="20000"/>
              </a:spcBef>
              <a:buFont typeface="Arial" pitchFamily="34" charset="0"/>
              <a:buChar char="–"/>
              <a:defRPr sz="2800">
                <a:solidFill>
                  <a:schemeClr val="lt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lt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lt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lt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9pPr>
          </a:lstStyle>
          <a:p>
            <a:r>
              <a:rPr lang="en-US" altLang="zh-CN" dirty="0"/>
              <a:t>n</a:t>
            </a:r>
            <a:r>
              <a:rPr lang="zh-CN" altLang="en-US" dirty="0"/>
              <a:t>个变量有</a:t>
            </a:r>
          </a:p>
          <a:p>
            <a:r>
              <a:rPr lang="en-US" altLang="zh-CN" dirty="0"/>
              <a:t>4n</a:t>
            </a:r>
            <a:r>
              <a:rPr lang="zh-CN" altLang="en-US" dirty="0"/>
              <a:t>＋</a:t>
            </a:r>
            <a:r>
              <a:rPr lang="en-US" altLang="zh-CN" dirty="0"/>
              <a:t>1</a:t>
            </a:r>
            <a:r>
              <a:rPr lang="zh-CN" altLang="en-US" dirty="0"/>
              <a:t>个测试用例</a:t>
            </a:r>
          </a:p>
        </p:txBody>
      </p:sp>
      <p:sp>
        <p:nvSpPr>
          <p:cNvPr id="29" name="Rectangle 1026" descr="Large confetti"/>
          <p:cNvSpPr>
            <a:spLocks noGrp="1" noChangeArrowheads="1"/>
          </p:cNvSpPr>
          <p:nvPr>
            <p:ph type="title"/>
          </p:nvPr>
        </p:nvSpPr>
        <p:spPr>
          <a:xfrm>
            <a:off x="468313" y="269875"/>
            <a:ext cx="8229600" cy="647700"/>
          </a:xfrm>
        </p:spPr>
        <p:txBody>
          <a:bodyPr/>
          <a:lstStyle/>
          <a:p>
            <a:r>
              <a:rPr lang="zh-CN" altLang="en-US" sz="2800" dirty="0"/>
              <a:t>边界值分析法</a:t>
            </a:r>
            <a:r>
              <a:rPr lang="en-US" altLang="zh-CN" sz="2800" dirty="0"/>
              <a:t>-</a:t>
            </a:r>
            <a:r>
              <a:rPr lang="zh-CN" altLang="en-US" sz="2800" dirty="0"/>
              <a:t>一般边界值</a:t>
            </a:r>
            <a:endParaRPr lang="zh-CN" altLang="en-US" sz="2800" dirty="0">
              <a:latin typeface="楷体_GB2312"/>
              <a:ea typeface="楷体_GB2312"/>
              <a:cs typeface="楷体_GB2312"/>
            </a:endParaRPr>
          </a:p>
        </p:txBody>
      </p:sp>
      <p:sp>
        <p:nvSpPr>
          <p:cNvPr id="3" name="矩形 2"/>
          <p:cNvSpPr/>
          <p:nvPr/>
        </p:nvSpPr>
        <p:spPr>
          <a:xfrm>
            <a:off x="6156176" y="773931"/>
            <a:ext cx="2311574" cy="1754326"/>
          </a:xfrm>
          <a:prstGeom prst="rect">
            <a:avLst/>
          </a:prstGeom>
        </p:spPr>
        <p:txBody>
          <a:bodyPr wrap="square">
            <a:spAutoFit/>
          </a:bodyPr>
          <a:lstStyle/>
          <a:p>
            <a:r>
              <a:rPr lang="zh-CN" altLang="en-US" dirty="0"/>
              <a:t>仅考虑有效区间单个变量边界值（一般边界值）：用最小值、略高于最小值、正常值、略低于最大值和最大值。</a:t>
            </a:r>
          </a:p>
        </p:txBody>
      </p:sp>
      <p:sp>
        <p:nvSpPr>
          <p:cNvPr id="31" name="Rectangle 1045"/>
          <p:cNvSpPr txBox="1">
            <a:spLocks noChangeArrowheads="1"/>
          </p:cNvSpPr>
          <p:nvPr/>
        </p:nvSpPr>
        <p:spPr bwMode="auto">
          <a:xfrm>
            <a:off x="107504" y="1966912"/>
            <a:ext cx="1750829" cy="18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802" dirty="0"/>
              <a:t>考虑两个输入变量的程序</a:t>
            </a:r>
            <a:endParaRPr lang="en-US" altLang="zh-CN" sz="1802" dirty="0"/>
          </a:p>
          <a:p>
            <a:pPr marL="0" indent="0">
              <a:buNone/>
              <a:defRPr/>
            </a:pPr>
            <a:r>
              <a:rPr lang="en-US" altLang="zh-CN" sz="1802" dirty="0">
                <a:ea typeface="仿宋_GB2312"/>
                <a:cs typeface="仿宋_GB2312"/>
              </a:rPr>
              <a:t>a≥x1 ≤b</a:t>
            </a:r>
          </a:p>
          <a:p>
            <a:pPr marL="0" indent="0">
              <a:buNone/>
              <a:defRPr/>
            </a:pPr>
            <a:r>
              <a:rPr lang="en-US" altLang="zh-CN" sz="1802" dirty="0">
                <a:ea typeface="仿宋_GB2312"/>
                <a:cs typeface="仿宋_GB2312"/>
              </a:rPr>
              <a:t>c≥x2 ≤d</a:t>
            </a:r>
          </a:p>
        </p:txBody>
      </p:sp>
    </p:spTree>
    <p:extLst>
      <p:ext uri="{BB962C8B-B14F-4D97-AF65-F5344CB8AC3E}">
        <p14:creationId xmlns:p14="http://schemas.microsoft.com/office/powerpoint/2010/main" val="2453875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1026" descr="Large confetti"/>
          <p:cNvSpPr>
            <a:spLocks noGrp="1" noChangeArrowheads="1"/>
          </p:cNvSpPr>
          <p:nvPr>
            <p:ph type="title"/>
          </p:nvPr>
        </p:nvSpPr>
        <p:spPr>
          <a:xfrm>
            <a:off x="468313" y="269875"/>
            <a:ext cx="8229600" cy="647700"/>
          </a:xfrm>
        </p:spPr>
        <p:txBody>
          <a:bodyPr/>
          <a:lstStyle/>
          <a:p>
            <a:r>
              <a:rPr lang="zh-CN" altLang="en-US" sz="2800" dirty="0"/>
              <a:t>边界值分析法</a:t>
            </a:r>
            <a:r>
              <a:rPr lang="en-US" altLang="zh-CN" sz="2800" dirty="0"/>
              <a:t>-</a:t>
            </a:r>
            <a:r>
              <a:rPr lang="zh-CN" altLang="en-US" sz="2800" dirty="0"/>
              <a:t>一般边界值</a:t>
            </a:r>
            <a:endParaRPr lang="zh-CN" altLang="en-US" sz="2800" dirty="0">
              <a:latin typeface="楷体_GB2312"/>
              <a:ea typeface="楷体_GB2312"/>
              <a:cs typeface="楷体_GB2312"/>
            </a:endParaRPr>
          </a:p>
        </p:txBody>
      </p:sp>
      <p:sp>
        <p:nvSpPr>
          <p:cNvPr id="2" name="矩形 1"/>
          <p:cNvSpPr/>
          <p:nvPr/>
        </p:nvSpPr>
        <p:spPr>
          <a:xfrm>
            <a:off x="611560" y="1205979"/>
            <a:ext cx="7488832" cy="646331"/>
          </a:xfrm>
          <a:prstGeom prst="rect">
            <a:avLst/>
          </a:prstGeom>
        </p:spPr>
        <p:txBody>
          <a:bodyPr wrap="square">
            <a:spAutoFit/>
          </a:bodyPr>
          <a:lstStyle/>
          <a:p>
            <a:r>
              <a:rPr lang="zh-CN" altLang="en-US" dirty="0"/>
              <a:t>有函数</a:t>
            </a:r>
            <a:r>
              <a:rPr lang="en-US" altLang="zh-CN" dirty="0"/>
              <a:t>f</a:t>
            </a:r>
            <a:r>
              <a:rPr lang="zh-CN" altLang="en-US" dirty="0"/>
              <a:t>（</a:t>
            </a:r>
            <a:r>
              <a:rPr lang="en-US" altLang="zh-CN" dirty="0" err="1"/>
              <a:t>x,y,z</a:t>
            </a:r>
            <a:r>
              <a:rPr lang="zh-CN" altLang="en-US" dirty="0"/>
              <a:t>）</a:t>
            </a:r>
            <a:r>
              <a:rPr lang="en-US" altLang="zh-CN" dirty="0"/>
              <a:t>,</a:t>
            </a:r>
            <a:r>
              <a:rPr lang="zh-CN" altLang="en-US" dirty="0"/>
              <a:t>其中</a:t>
            </a:r>
            <a:r>
              <a:rPr lang="en-US" altLang="zh-CN" dirty="0"/>
              <a:t>x</a:t>
            </a:r>
            <a:r>
              <a:rPr lang="zh-CN" altLang="en-US" dirty="0"/>
              <a:t>∈</a:t>
            </a:r>
            <a:r>
              <a:rPr lang="en-US" altLang="zh-CN" dirty="0"/>
              <a:t>[1900,2100],y</a:t>
            </a:r>
            <a:r>
              <a:rPr lang="zh-CN" altLang="en-US" dirty="0"/>
              <a:t>∈</a:t>
            </a:r>
            <a:r>
              <a:rPr lang="en-US" altLang="zh-CN" dirty="0"/>
              <a:t>[1,12],z</a:t>
            </a:r>
            <a:r>
              <a:rPr lang="zh-CN" altLang="en-US" dirty="0"/>
              <a:t>∈</a:t>
            </a:r>
            <a:r>
              <a:rPr lang="en-US" altLang="zh-CN" dirty="0"/>
              <a:t>[1,31]</a:t>
            </a:r>
            <a:r>
              <a:rPr lang="zh-CN" altLang="en-US" dirty="0"/>
              <a:t>的。请写出该函数采用基本边界值分析法设计的测试用例？</a:t>
            </a:r>
          </a:p>
        </p:txBody>
      </p:sp>
      <p:pic>
        <p:nvPicPr>
          <p:cNvPr id="4904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2214091"/>
            <a:ext cx="5300663" cy="154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771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7732949-E8B1-48CC-91AD-B6D4B9757BB8}" type="slidenum">
              <a:rPr lang="en-US" altLang="zh-CN" sz="1800" b="0" smtClean="0">
                <a:latin typeface="Times New Roman" pitchFamily="18" charset="0"/>
                <a:ea typeface="微软雅黑" pitchFamily="34" charset="-122"/>
              </a:rPr>
              <a:pPr algn="l" eaLnBrk="0" hangingPunct="0">
                <a:spcBef>
                  <a:spcPct val="0"/>
                </a:spcBef>
                <a:buFontTx/>
                <a:buNone/>
              </a:pPr>
              <a:t>26</a:t>
            </a:fld>
            <a:endParaRPr lang="en-US" altLang="zh-CN" sz="1800" b="0">
              <a:latin typeface="Times New Roman" pitchFamily="18" charset="0"/>
              <a:ea typeface="微软雅黑" pitchFamily="34" charset="-122"/>
            </a:endParaRPr>
          </a:p>
        </p:txBody>
      </p:sp>
      <p:sp>
        <p:nvSpPr>
          <p:cNvPr id="135172" name="Line 4"/>
          <p:cNvSpPr>
            <a:spLocks noChangeShapeType="1"/>
          </p:cNvSpPr>
          <p:nvPr/>
        </p:nvSpPr>
        <p:spPr bwMode="auto">
          <a:xfrm>
            <a:off x="984177" y="3946525"/>
            <a:ext cx="3803848" cy="0"/>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173" name="Line 5"/>
          <p:cNvSpPr>
            <a:spLocks noChangeShapeType="1"/>
          </p:cNvSpPr>
          <p:nvPr/>
        </p:nvSpPr>
        <p:spPr bwMode="auto">
          <a:xfrm flipV="1">
            <a:off x="1098476" y="1487488"/>
            <a:ext cx="0" cy="2516187"/>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174" name="Line 6"/>
          <p:cNvSpPr>
            <a:spLocks noChangeShapeType="1"/>
          </p:cNvSpPr>
          <p:nvPr/>
        </p:nvSpPr>
        <p:spPr bwMode="auto">
          <a:xfrm>
            <a:off x="1098476" y="2116138"/>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175" name="Line 7"/>
          <p:cNvSpPr>
            <a:spLocks noChangeShapeType="1"/>
          </p:cNvSpPr>
          <p:nvPr/>
        </p:nvSpPr>
        <p:spPr bwMode="auto">
          <a:xfrm>
            <a:off x="1098476" y="3432175"/>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176" name="Line 8"/>
          <p:cNvSpPr>
            <a:spLocks noChangeShapeType="1"/>
          </p:cNvSpPr>
          <p:nvPr/>
        </p:nvSpPr>
        <p:spPr bwMode="auto">
          <a:xfrm>
            <a:off x="1727126"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177" name="Line 9"/>
          <p:cNvSpPr>
            <a:spLocks noChangeShapeType="1"/>
          </p:cNvSpPr>
          <p:nvPr/>
        </p:nvSpPr>
        <p:spPr bwMode="auto">
          <a:xfrm>
            <a:off x="3728963"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5178" name="Text Box 10"/>
          <p:cNvSpPr txBox="1">
            <a:spLocks noChangeArrowheads="1"/>
          </p:cNvSpPr>
          <p:nvPr/>
        </p:nvSpPr>
        <p:spPr bwMode="auto">
          <a:xfrm>
            <a:off x="1601713" y="3978275"/>
            <a:ext cx="2857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a</a:t>
            </a:r>
          </a:p>
        </p:txBody>
      </p:sp>
      <p:sp>
        <p:nvSpPr>
          <p:cNvPr id="135179" name="Text Box 11"/>
          <p:cNvSpPr txBox="1">
            <a:spLocks noChangeArrowheads="1"/>
          </p:cNvSpPr>
          <p:nvPr/>
        </p:nvSpPr>
        <p:spPr bwMode="auto">
          <a:xfrm>
            <a:off x="3614663" y="4003675"/>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b</a:t>
            </a:r>
          </a:p>
        </p:txBody>
      </p:sp>
      <p:sp>
        <p:nvSpPr>
          <p:cNvPr id="135180" name="Text Box 12"/>
          <p:cNvSpPr txBox="1">
            <a:spLocks noChangeArrowheads="1"/>
          </p:cNvSpPr>
          <p:nvPr/>
        </p:nvSpPr>
        <p:spPr bwMode="auto">
          <a:xfrm>
            <a:off x="4913437" y="3761581"/>
            <a:ext cx="377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1</a:t>
            </a:r>
          </a:p>
        </p:txBody>
      </p:sp>
      <p:sp>
        <p:nvSpPr>
          <p:cNvPr id="135181" name="Text Box 13"/>
          <p:cNvSpPr txBox="1">
            <a:spLocks noChangeArrowheads="1"/>
          </p:cNvSpPr>
          <p:nvPr/>
        </p:nvSpPr>
        <p:spPr bwMode="auto">
          <a:xfrm>
            <a:off x="910357" y="1057927"/>
            <a:ext cx="3762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2</a:t>
            </a:r>
          </a:p>
        </p:txBody>
      </p:sp>
      <p:sp>
        <p:nvSpPr>
          <p:cNvPr id="135182" name="Text Box 14"/>
          <p:cNvSpPr txBox="1">
            <a:spLocks noChangeArrowheads="1"/>
          </p:cNvSpPr>
          <p:nvPr/>
        </p:nvSpPr>
        <p:spPr bwMode="auto">
          <a:xfrm>
            <a:off x="755576" y="3203575"/>
            <a:ext cx="285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c</a:t>
            </a:r>
          </a:p>
        </p:txBody>
      </p:sp>
      <p:sp>
        <p:nvSpPr>
          <p:cNvPr id="135183" name="Text Box 15"/>
          <p:cNvSpPr txBox="1">
            <a:spLocks noChangeArrowheads="1"/>
          </p:cNvSpPr>
          <p:nvPr/>
        </p:nvSpPr>
        <p:spPr bwMode="auto">
          <a:xfrm>
            <a:off x="755576" y="1944688"/>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d</a:t>
            </a:r>
          </a:p>
        </p:txBody>
      </p:sp>
      <p:sp>
        <p:nvSpPr>
          <p:cNvPr id="135184" name="Rectangle 16"/>
          <p:cNvSpPr>
            <a:spLocks noChangeArrowheads="1"/>
          </p:cNvSpPr>
          <p:nvPr/>
        </p:nvSpPr>
        <p:spPr bwMode="auto">
          <a:xfrm>
            <a:off x="1727126" y="2116138"/>
            <a:ext cx="2001837" cy="1316037"/>
          </a:xfrm>
          <a:prstGeom prst="rect">
            <a:avLst/>
          </a:prstGeom>
          <a:solidFill>
            <a:srgbClr val="C0C0C0"/>
          </a:solidFill>
          <a:ln w="2857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85" name="Oval 17"/>
          <p:cNvSpPr>
            <a:spLocks noChangeArrowheads="1"/>
          </p:cNvSpPr>
          <p:nvPr/>
        </p:nvSpPr>
        <p:spPr bwMode="auto">
          <a:xfrm>
            <a:off x="1669976"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86" name="Oval 18"/>
          <p:cNvSpPr>
            <a:spLocks noChangeArrowheads="1"/>
          </p:cNvSpPr>
          <p:nvPr/>
        </p:nvSpPr>
        <p:spPr bwMode="auto">
          <a:xfrm>
            <a:off x="1784276"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87" name="Oval 19"/>
          <p:cNvSpPr>
            <a:spLocks noChangeArrowheads="1"/>
          </p:cNvSpPr>
          <p:nvPr/>
        </p:nvSpPr>
        <p:spPr bwMode="auto">
          <a:xfrm>
            <a:off x="3567038"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88" name="Oval 20"/>
          <p:cNvSpPr>
            <a:spLocks noChangeArrowheads="1"/>
          </p:cNvSpPr>
          <p:nvPr/>
        </p:nvSpPr>
        <p:spPr bwMode="auto">
          <a:xfrm>
            <a:off x="3681338"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89" name="Oval 21"/>
          <p:cNvSpPr>
            <a:spLocks noChangeArrowheads="1"/>
          </p:cNvSpPr>
          <p:nvPr/>
        </p:nvSpPr>
        <p:spPr bwMode="auto">
          <a:xfrm>
            <a:off x="2585963" y="33766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0" name="Oval 22"/>
          <p:cNvSpPr>
            <a:spLocks noChangeArrowheads="1"/>
          </p:cNvSpPr>
          <p:nvPr/>
        </p:nvSpPr>
        <p:spPr bwMode="auto">
          <a:xfrm>
            <a:off x="2585963" y="3260725"/>
            <a:ext cx="82550"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1" name="Oval 23"/>
          <p:cNvSpPr>
            <a:spLocks noChangeArrowheads="1"/>
          </p:cNvSpPr>
          <p:nvPr/>
        </p:nvSpPr>
        <p:spPr bwMode="auto">
          <a:xfrm>
            <a:off x="2585963" y="20589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2" name="Oval 24"/>
          <p:cNvSpPr>
            <a:spLocks noChangeArrowheads="1"/>
          </p:cNvSpPr>
          <p:nvPr/>
        </p:nvSpPr>
        <p:spPr bwMode="auto">
          <a:xfrm>
            <a:off x="2585963" y="21732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3" name="Oval 25"/>
          <p:cNvSpPr>
            <a:spLocks noChangeArrowheads="1"/>
          </p:cNvSpPr>
          <p:nvPr/>
        </p:nvSpPr>
        <p:spPr bwMode="auto">
          <a:xfrm>
            <a:off x="2585963" y="28305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4" name="Text Box 26"/>
          <p:cNvSpPr txBox="1">
            <a:spLocks noChangeArrowheads="1"/>
          </p:cNvSpPr>
          <p:nvPr/>
        </p:nvSpPr>
        <p:spPr bwMode="auto">
          <a:xfrm>
            <a:off x="5963444" y="2895625"/>
            <a:ext cx="2020887" cy="646112"/>
          </a:xfrm>
          <a:prstGeom prst="rect">
            <a:avLst/>
          </a:prstGeom>
          <a:ln/>
        </p:spPr>
        <p:style>
          <a:lnRef idx="0">
            <a:schemeClr val="accent4"/>
          </a:lnRef>
          <a:fillRef idx="3">
            <a:schemeClr val="accent4"/>
          </a:fillRef>
          <a:effectRef idx="3">
            <a:schemeClr val="accent4"/>
          </a:effectRef>
          <a:fontRef idx="minor">
            <a:schemeClr val="lt1"/>
          </a:fontRef>
        </p:style>
        <p:txBody>
          <a:bodyPr wrap="none">
            <a:spAutoFit/>
          </a:bodyPr>
          <a:lstStyle>
            <a:defPPr>
              <a:defRPr lang="zh-CN"/>
            </a:defPPr>
            <a:lvl1pPr>
              <a:buFontTx/>
              <a:buNone/>
              <a:defRPr sz="1800" b="1">
                <a:solidFill>
                  <a:schemeClr val="lt1"/>
                </a:solidFill>
                <a:latin typeface="Tahoma" pitchFamily="34" charset="0"/>
                <a:ea typeface="仿宋_GB2312" pitchFamily="49" charset="-122"/>
              </a:defRPr>
            </a:lvl1pPr>
            <a:lvl2pPr marL="742950" indent="-285750">
              <a:spcBef>
                <a:spcPct val="20000"/>
              </a:spcBef>
              <a:buFont typeface="Arial" pitchFamily="34" charset="0"/>
              <a:buChar char="–"/>
              <a:defRPr sz="2800">
                <a:solidFill>
                  <a:schemeClr val="lt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lt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lt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lt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lt1"/>
                </a:solidFill>
                <a:latin typeface="Arial" pitchFamily="34" charset="0"/>
                <a:ea typeface="黑体" pitchFamily="49" charset="-122"/>
              </a:defRPr>
            </a:lvl9pPr>
          </a:lstStyle>
          <a:p>
            <a:r>
              <a:rPr lang="en-US" altLang="zh-CN" dirty="0"/>
              <a:t>n</a:t>
            </a:r>
            <a:r>
              <a:rPr lang="zh-CN" altLang="en-US" dirty="0"/>
              <a:t>个变量有</a:t>
            </a:r>
          </a:p>
          <a:p>
            <a:r>
              <a:rPr lang="en-US" altLang="zh-CN" dirty="0"/>
              <a:t>6n</a:t>
            </a:r>
            <a:r>
              <a:rPr lang="zh-CN" altLang="en-US" dirty="0"/>
              <a:t>＋</a:t>
            </a:r>
            <a:r>
              <a:rPr lang="en-US" altLang="zh-CN" dirty="0"/>
              <a:t>1</a:t>
            </a:r>
            <a:r>
              <a:rPr lang="zh-CN" altLang="en-US" dirty="0"/>
              <a:t>个测试用例</a:t>
            </a:r>
          </a:p>
        </p:txBody>
      </p:sp>
      <p:sp>
        <p:nvSpPr>
          <p:cNvPr id="135195" name="Oval 27"/>
          <p:cNvSpPr>
            <a:spLocks noChangeArrowheads="1"/>
          </p:cNvSpPr>
          <p:nvPr/>
        </p:nvSpPr>
        <p:spPr bwMode="auto">
          <a:xfrm>
            <a:off x="3795638"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6" name="Oval 28"/>
          <p:cNvSpPr>
            <a:spLocks noChangeArrowheads="1"/>
          </p:cNvSpPr>
          <p:nvPr/>
        </p:nvSpPr>
        <p:spPr bwMode="auto">
          <a:xfrm>
            <a:off x="1555676"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7" name="Oval 29"/>
          <p:cNvSpPr>
            <a:spLocks noChangeArrowheads="1"/>
          </p:cNvSpPr>
          <p:nvPr/>
        </p:nvSpPr>
        <p:spPr bwMode="auto">
          <a:xfrm>
            <a:off x="2585963" y="19446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5198" name="Oval 30"/>
          <p:cNvSpPr>
            <a:spLocks noChangeArrowheads="1"/>
          </p:cNvSpPr>
          <p:nvPr/>
        </p:nvSpPr>
        <p:spPr bwMode="auto">
          <a:xfrm>
            <a:off x="2585963" y="3489325"/>
            <a:ext cx="82550"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33" name="Rectangle 1026" descr="Large confetti"/>
          <p:cNvSpPr>
            <a:spLocks noGrp="1" noChangeArrowheads="1"/>
          </p:cNvSpPr>
          <p:nvPr>
            <p:ph type="title"/>
          </p:nvPr>
        </p:nvSpPr>
        <p:spPr>
          <a:xfrm>
            <a:off x="468313" y="269875"/>
            <a:ext cx="8229600" cy="647700"/>
          </a:xfrm>
        </p:spPr>
        <p:txBody>
          <a:bodyPr/>
          <a:lstStyle/>
          <a:p>
            <a:r>
              <a:rPr lang="zh-CN" altLang="en-US" sz="2800" dirty="0"/>
              <a:t>边界值分析法</a:t>
            </a:r>
            <a:r>
              <a:rPr lang="en-US" altLang="zh-CN" sz="2800" dirty="0"/>
              <a:t>-</a:t>
            </a:r>
            <a:r>
              <a:rPr lang="zh-CN" altLang="en-US" sz="2800" dirty="0"/>
              <a:t>健壮边界值</a:t>
            </a:r>
            <a:endParaRPr lang="zh-CN" altLang="en-US" sz="2800" dirty="0">
              <a:latin typeface="楷体_GB2312"/>
              <a:ea typeface="楷体_GB2312"/>
              <a:cs typeface="楷体_GB2312"/>
            </a:endParaRPr>
          </a:p>
        </p:txBody>
      </p:sp>
      <p:sp>
        <p:nvSpPr>
          <p:cNvPr id="3" name="矩形 2"/>
          <p:cNvSpPr/>
          <p:nvPr/>
        </p:nvSpPr>
        <p:spPr>
          <a:xfrm>
            <a:off x="5892310" y="557907"/>
            <a:ext cx="2496114" cy="2308324"/>
          </a:xfrm>
          <a:prstGeom prst="rect">
            <a:avLst/>
          </a:prstGeom>
        </p:spPr>
        <p:txBody>
          <a:bodyPr wrap="square">
            <a:spAutoFit/>
          </a:bodyPr>
          <a:lstStyle/>
          <a:p>
            <a:r>
              <a:rPr lang="zh-CN" altLang="en-US" dirty="0"/>
              <a:t>同时考虑有效区间和无效区间单个变量边界值（健壮边界值）：除了最小值、略高于最小值、正常值、略低于最大值、最大值，</a:t>
            </a:r>
            <a:r>
              <a:rPr lang="zh-CN" altLang="en-US" dirty="0">
                <a:solidFill>
                  <a:srgbClr val="FF0000"/>
                </a:solidFill>
              </a:rPr>
              <a:t>还要有略超过最大值和略小于最小值的值。</a:t>
            </a:r>
          </a:p>
        </p:txBody>
      </p:sp>
    </p:spTree>
    <p:extLst>
      <p:ext uri="{BB962C8B-B14F-4D97-AF65-F5344CB8AC3E}">
        <p14:creationId xmlns:p14="http://schemas.microsoft.com/office/powerpoint/2010/main" val="336897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31E1AAB-347A-4EB3-A91B-5448A0A3CDEC}" type="slidenum">
              <a:rPr lang="en-US" altLang="zh-CN" sz="1800" b="0" smtClean="0">
                <a:latin typeface="Times New Roman" pitchFamily="18" charset="0"/>
                <a:ea typeface="微软雅黑" pitchFamily="34" charset="-122"/>
              </a:rPr>
              <a:pPr algn="l" eaLnBrk="0" hangingPunct="0">
                <a:spcBef>
                  <a:spcPct val="0"/>
                </a:spcBef>
                <a:buFontTx/>
                <a:buNone/>
              </a:pPr>
              <a:t>27</a:t>
            </a:fld>
            <a:endParaRPr lang="en-US" altLang="zh-CN" sz="1800" b="0">
              <a:latin typeface="Times New Roman" pitchFamily="18" charset="0"/>
              <a:ea typeface="微软雅黑" pitchFamily="34" charset="-122"/>
            </a:endParaRPr>
          </a:p>
        </p:txBody>
      </p:sp>
      <p:sp>
        <p:nvSpPr>
          <p:cNvPr id="136196" name="Line 4"/>
          <p:cNvSpPr>
            <a:spLocks noChangeShapeType="1"/>
          </p:cNvSpPr>
          <p:nvPr/>
        </p:nvSpPr>
        <p:spPr bwMode="auto">
          <a:xfrm>
            <a:off x="2284413" y="3946525"/>
            <a:ext cx="4518025" cy="0"/>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197" name="Line 5"/>
          <p:cNvSpPr>
            <a:spLocks noChangeShapeType="1"/>
          </p:cNvSpPr>
          <p:nvPr/>
        </p:nvSpPr>
        <p:spPr bwMode="auto">
          <a:xfrm flipV="1">
            <a:off x="2398713" y="1487488"/>
            <a:ext cx="0" cy="2516187"/>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198" name="Line 6"/>
          <p:cNvSpPr>
            <a:spLocks noChangeShapeType="1"/>
          </p:cNvSpPr>
          <p:nvPr/>
        </p:nvSpPr>
        <p:spPr bwMode="auto">
          <a:xfrm>
            <a:off x="2398713" y="2116138"/>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199" name="Line 7"/>
          <p:cNvSpPr>
            <a:spLocks noChangeShapeType="1"/>
          </p:cNvSpPr>
          <p:nvPr/>
        </p:nvSpPr>
        <p:spPr bwMode="auto">
          <a:xfrm>
            <a:off x="2398713" y="3432175"/>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200" name="Line 8"/>
          <p:cNvSpPr>
            <a:spLocks noChangeShapeType="1"/>
          </p:cNvSpPr>
          <p:nvPr/>
        </p:nvSpPr>
        <p:spPr bwMode="auto">
          <a:xfrm>
            <a:off x="3027363"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201" name="Line 9"/>
          <p:cNvSpPr>
            <a:spLocks noChangeShapeType="1"/>
          </p:cNvSpPr>
          <p:nvPr/>
        </p:nvSpPr>
        <p:spPr bwMode="auto">
          <a:xfrm>
            <a:off x="5029200"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6202" name="Text Box 10"/>
          <p:cNvSpPr txBox="1">
            <a:spLocks noChangeArrowheads="1"/>
          </p:cNvSpPr>
          <p:nvPr/>
        </p:nvSpPr>
        <p:spPr bwMode="auto">
          <a:xfrm>
            <a:off x="2901950" y="3978275"/>
            <a:ext cx="2857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a</a:t>
            </a:r>
          </a:p>
        </p:txBody>
      </p:sp>
      <p:sp>
        <p:nvSpPr>
          <p:cNvPr id="136203" name="Text Box 11"/>
          <p:cNvSpPr txBox="1">
            <a:spLocks noChangeArrowheads="1"/>
          </p:cNvSpPr>
          <p:nvPr/>
        </p:nvSpPr>
        <p:spPr bwMode="auto">
          <a:xfrm>
            <a:off x="4914900" y="4003675"/>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b</a:t>
            </a:r>
          </a:p>
        </p:txBody>
      </p:sp>
      <p:sp>
        <p:nvSpPr>
          <p:cNvPr id="136204" name="Text Box 12"/>
          <p:cNvSpPr txBox="1">
            <a:spLocks noChangeArrowheads="1"/>
          </p:cNvSpPr>
          <p:nvPr/>
        </p:nvSpPr>
        <p:spPr bwMode="auto">
          <a:xfrm>
            <a:off x="6973888" y="3832225"/>
            <a:ext cx="377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1</a:t>
            </a:r>
          </a:p>
        </p:txBody>
      </p:sp>
      <p:sp>
        <p:nvSpPr>
          <p:cNvPr id="136205" name="Text Box 13"/>
          <p:cNvSpPr txBox="1">
            <a:spLocks noChangeArrowheads="1"/>
          </p:cNvSpPr>
          <p:nvPr/>
        </p:nvSpPr>
        <p:spPr bwMode="auto">
          <a:xfrm>
            <a:off x="2227263" y="1144588"/>
            <a:ext cx="3762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2</a:t>
            </a:r>
          </a:p>
        </p:txBody>
      </p:sp>
      <p:sp>
        <p:nvSpPr>
          <p:cNvPr id="136206" name="Text Box 14"/>
          <p:cNvSpPr txBox="1">
            <a:spLocks noChangeArrowheads="1"/>
          </p:cNvSpPr>
          <p:nvPr/>
        </p:nvSpPr>
        <p:spPr bwMode="auto">
          <a:xfrm>
            <a:off x="2055813" y="3203575"/>
            <a:ext cx="285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c</a:t>
            </a:r>
          </a:p>
        </p:txBody>
      </p:sp>
      <p:sp>
        <p:nvSpPr>
          <p:cNvPr id="136207" name="Text Box 15"/>
          <p:cNvSpPr txBox="1">
            <a:spLocks noChangeArrowheads="1"/>
          </p:cNvSpPr>
          <p:nvPr/>
        </p:nvSpPr>
        <p:spPr bwMode="auto">
          <a:xfrm>
            <a:off x="2055813" y="1944688"/>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d</a:t>
            </a:r>
          </a:p>
        </p:txBody>
      </p:sp>
      <p:sp>
        <p:nvSpPr>
          <p:cNvPr id="136208" name="Rectangle 16"/>
          <p:cNvSpPr>
            <a:spLocks noChangeArrowheads="1"/>
          </p:cNvSpPr>
          <p:nvPr/>
        </p:nvSpPr>
        <p:spPr bwMode="auto">
          <a:xfrm>
            <a:off x="3027363" y="2116138"/>
            <a:ext cx="2001837" cy="1316037"/>
          </a:xfrm>
          <a:prstGeom prst="rect">
            <a:avLst/>
          </a:prstGeom>
          <a:solidFill>
            <a:srgbClr val="C0C0C0"/>
          </a:solidFill>
          <a:ln w="2857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09" name="Oval 17"/>
          <p:cNvSpPr>
            <a:spLocks noChangeArrowheads="1"/>
          </p:cNvSpPr>
          <p:nvPr/>
        </p:nvSpPr>
        <p:spPr bwMode="auto">
          <a:xfrm>
            <a:off x="29702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0" name="Oval 18"/>
          <p:cNvSpPr>
            <a:spLocks noChangeArrowheads="1"/>
          </p:cNvSpPr>
          <p:nvPr/>
        </p:nvSpPr>
        <p:spPr bwMode="auto">
          <a:xfrm>
            <a:off x="30845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1" name="Oval 19"/>
          <p:cNvSpPr>
            <a:spLocks noChangeArrowheads="1"/>
          </p:cNvSpPr>
          <p:nvPr/>
        </p:nvSpPr>
        <p:spPr bwMode="auto">
          <a:xfrm>
            <a:off x="48672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2" name="Oval 20"/>
          <p:cNvSpPr>
            <a:spLocks noChangeArrowheads="1"/>
          </p:cNvSpPr>
          <p:nvPr/>
        </p:nvSpPr>
        <p:spPr bwMode="auto">
          <a:xfrm>
            <a:off x="49815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3" name="Oval 21"/>
          <p:cNvSpPr>
            <a:spLocks noChangeArrowheads="1"/>
          </p:cNvSpPr>
          <p:nvPr/>
        </p:nvSpPr>
        <p:spPr bwMode="auto">
          <a:xfrm>
            <a:off x="3886200" y="33766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4" name="Oval 22"/>
          <p:cNvSpPr>
            <a:spLocks noChangeArrowheads="1"/>
          </p:cNvSpPr>
          <p:nvPr/>
        </p:nvSpPr>
        <p:spPr bwMode="auto">
          <a:xfrm>
            <a:off x="3886200" y="3260725"/>
            <a:ext cx="82550"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5" name="Oval 23"/>
          <p:cNvSpPr>
            <a:spLocks noChangeArrowheads="1"/>
          </p:cNvSpPr>
          <p:nvPr/>
        </p:nvSpPr>
        <p:spPr bwMode="auto">
          <a:xfrm>
            <a:off x="3886200" y="20589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6" name="Oval 24"/>
          <p:cNvSpPr>
            <a:spLocks noChangeArrowheads="1"/>
          </p:cNvSpPr>
          <p:nvPr/>
        </p:nvSpPr>
        <p:spPr bwMode="auto">
          <a:xfrm>
            <a:off x="3886200" y="21732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7" name="Oval 25"/>
          <p:cNvSpPr>
            <a:spLocks noChangeArrowheads="1"/>
          </p:cNvSpPr>
          <p:nvPr/>
        </p:nvSpPr>
        <p:spPr bwMode="auto">
          <a:xfrm>
            <a:off x="3886200" y="28305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18" name="Text Box 26"/>
          <p:cNvSpPr txBox="1">
            <a:spLocks noChangeArrowheads="1"/>
          </p:cNvSpPr>
          <p:nvPr/>
        </p:nvSpPr>
        <p:spPr bwMode="auto">
          <a:xfrm>
            <a:off x="6442514" y="2701926"/>
            <a:ext cx="1641796" cy="646331"/>
          </a:xfrm>
          <a:prstGeom prst="rect">
            <a:avLst/>
          </a:prstGeom>
          <a:ln/>
        </p:spPr>
        <p:style>
          <a:lnRef idx="0">
            <a:schemeClr val="accent4"/>
          </a:lnRef>
          <a:fillRef idx="3">
            <a:schemeClr val="accent4"/>
          </a:fillRef>
          <a:effectRef idx="3">
            <a:schemeClr val="accent4"/>
          </a:effectRef>
          <a:fontRef idx="minor">
            <a:schemeClr val="lt1"/>
          </a:fontRef>
        </p:style>
        <p:txBody>
          <a:bodyPr wrap="none">
            <a:spAutoFit/>
          </a:bodyPr>
          <a:lstStyle>
            <a:defPPr>
              <a:defRPr lang="zh-CN"/>
            </a:defPPr>
            <a:lvl1pPr>
              <a:buFontTx/>
              <a:buNone/>
              <a:defRPr sz="1800" b="1">
                <a:latin typeface="Tahoma" pitchFamily="34" charset="0"/>
                <a:ea typeface="仿宋_GB2312" pitchFamily="49" charset="-122"/>
              </a:defRPr>
            </a:lvl1pPr>
            <a:lvl2pPr marL="742950" indent="-285750">
              <a:spcBef>
                <a:spcPct val="20000"/>
              </a:spcBef>
              <a:buFont typeface="Arial" pitchFamily="34" charset="0"/>
              <a:buChar char="–"/>
              <a:defRPr sz="2800">
                <a:latin typeface="Arial" pitchFamily="34" charset="0"/>
                <a:ea typeface="黑体" pitchFamily="49" charset="-122"/>
              </a:defRPr>
            </a:lvl2pPr>
            <a:lvl3pPr marL="1143000" indent="-228600">
              <a:spcBef>
                <a:spcPct val="20000"/>
              </a:spcBef>
              <a:buFont typeface="Arial" pitchFamily="34" charset="0"/>
              <a:buChar char="•"/>
              <a:defRPr sz="2400">
                <a:latin typeface="Arial" pitchFamily="34" charset="0"/>
                <a:ea typeface="黑体" pitchFamily="49" charset="-122"/>
              </a:defRPr>
            </a:lvl3pPr>
            <a:lvl4pPr marL="1600200" indent="-228600">
              <a:spcBef>
                <a:spcPct val="20000"/>
              </a:spcBef>
              <a:buFont typeface="Arial" pitchFamily="34" charset="0"/>
              <a:buChar char="–"/>
              <a:defRPr sz="2000">
                <a:latin typeface="Arial" pitchFamily="34" charset="0"/>
                <a:ea typeface="黑体" pitchFamily="49" charset="-122"/>
              </a:defRPr>
            </a:lvl4pPr>
            <a:lvl5pPr marL="2057400" indent="-228600">
              <a:spcBef>
                <a:spcPct val="20000"/>
              </a:spcBef>
              <a:buFont typeface="Arial" pitchFamily="34" charset="0"/>
              <a:buChar char="»"/>
              <a:defRPr sz="2000">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latin typeface="Arial" pitchFamily="34" charset="0"/>
                <a:ea typeface="黑体" pitchFamily="49" charset="-122"/>
              </a:defRPr>
            </a:lvl9pPr>
          </a:lstStyle>
          <a:p>
            <a:r>
              <a:rPr lang="en-US" altLang="zh-CN" dirty="0"/>
              <a:t>n</a:t>
            </a:r>
            <a:r>
              <a:rPr lang="zh-CN" altLang="en-US" dirty="0"/>
              <a:t>个变量有</a:t>
            </a:r>
          </a:p>
          <a:p>
            <a:r>
              <a:rPr lang="en-US" altLang="zh-CN" dirty="0"/>
              <a:t>5</a:t>
            </a:r>
            <a:r>
              <a:rPr lang="en-US" altLang="zh-CN" baseline="30000" dirty="0"/>
              <a:t>n</a:t>
            </a:r>
            <a:r>
              <a:rPr lang="zh-CN" altLang="en-US" dirty="0"/>
              <a:t>个测试用例</a:t>
            </a:r>
          </a:p>
        </p:txBody>
      </p:sp>
      <p:sp>
        <p:nvSpPr>
          <p:cNvPr id="136219" name="Oval 27"/>
          <p:cNvSpPr>
            <a:spLocks noChangeArrowheads="1"/>
          </p:cNvSpPr>
          <p:nvPr/>
        </p:nvSpPr>
        <p:spPr bwMode="auto">
          <a:xfrm>
            <a:off x="4972050" y="33750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0" name="Oval 28"/>
          <p:cNvSpPr>
            <a:spLocks noChangeArrowheads="1"/>
          </p:cNvSpPr>
          <p:nvPr/>
        </p:nvSpPr>
        <p:spPr bwMode="auto">
          <a:xfrm>
            <a:off x="2970213" y="20589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1" name="Oval 29"/>
          <p:cNvSpPr>
            <a:spLocks noChangeArrowheads="1"/>
          </p:cNvSpPr>
          <p:nvPr/>
        </p:nvSpPr>
        <p:spPr bwMode="auto">
          <a:xfrm>
            <a:off x="4972050" y="20589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2" name="Oval 30"/>
          <p:cNvSpPr>
            <a:spLocks noChangeArrowheads="1"/>
          </p:cNvSpPr>
          <p:nvPr/>
        </p:nvSpPr>
        <p:spPr bwMode="auto">
          <a:xfrm>
            <a:off x="2970213" y="33750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3" name="Oval 31"/>
          <p:cNvSpPr>
            <a:spLocks noChangeArrowheads="1"/>
          </p:cNvSpPr>
          <p:nvPr/>
        </p:nvSpPr>
        <p:spPr bwMode="auto">
          <a:xfrm>
            <a:off x="4972050" y="21732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4" name="Oval 32"/>
          <p:cNvSpPr>
            <a:spLocks noChangeArrowheads="1"/>
          </p:cNvSpPr>
          <p:nvPr/>
        </p:nvSpPr>
        <p:spPr bwMode="auto">
          <a:xfrm>
            <a:off x="4857750" y="20589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5" name="Oval 33"/>
          <p:cNvSpPr>
            <a:spLocks noChangeArrowheads="1"/>
          </p:cNvSpPr>
          <p:nvPr/>
        </p:nvSpPr>
        <p:spPr bwMode="auto">
          <a:xfrm>
            <a:off x="4857750" y="21732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6" name="Oval 34"/>
          <p:cNvSpPr>
            <a:spLocks noChangeArrowheads="1"/>
          </p:cNvSpPr>
          <p:nvPr/>
        </p:nvSpPr>
        <p:spPr bwMode="auto">
          <a:xfrm>
            <a:off x="4972050" y="32607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7" name="Oval 35"/>
          <p:cNvSpPr>
            <a:spLocks noChangeArrowheads="1"/>
          </p:cNvSpPr>
          <p:nvPr/>
        </p:nvSpPr>
        <p:spPr bwMode="auto">
          <a:xfrm>
            <a:off x="4857750" y="32607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8" name="Oval 36"/>
          <p:cNvSpPr>
            <a:spLocks noChangeArrowheads="1"/>
          </p:cNvSpPr>
          <p:nvPr/>
        </p:nvSpPr>
        <p:spPr bwMode="auto">
          <a:xfrm>
            <a:off x="4857750" y="33750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29" name="Oval 37"/>
          <p:cNvSpPr>
            <a:spLocks noChangeArrowheads="1"/>
          </p:cNvSpPr>
          <p:nvPr/>
        </p:nvSpPr>
        <p:spPr bwMode="auto">
          <a:xfrm>
            <a:off x="3084513" y="20589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30" name="Oval 38"/>
          <p:cNvSpPr>
            <a:spLocks noChangeArrowheads="1"/>
          </p:cNvSpPr>
          <p:nvPr/>
        </p:nvSpPr>
        <p:spPr bwMode="auto">
          <a:xfrm>
            <a:off x="3084513" y="21732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31" name="Oval 39"/>
          <p:cNvSpPr>
            <a:spLocks noChangeArrowheads="1"/>
          </p:cNvSpPr>
          <p:nvPr/>
        </p:nvSpPr>
        <p:spPr bwMode="auto">
          <a:xfrm>
            <a:off x="2970213" y="21732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32" name="Oval 40"/>
          <p:cNvSpPr>
            <a:spLocks noChangeArrowheads="1"/>
          </p:cNvSpPr>
          <p:nvPr/>
        </p:nvSpPr>
        <p:spPr bwMode="auto">
          <a:xfrm>
            <a:off x="3084513" y="33750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33" name="Oval 41"/>
          <p:cNvSpPr>
            <a:spLocks noChangeArrowheads="1"/>
          </p:cNvSpPr>
          <p:nvPr/>
        </p:nvSpPr>
        <p:spPr bwMode="auto">
          <a:xfrm>
            <a:off x="2970213" y="32607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6234" name="Oval 42"/>
          <p:cNvSpPr>
            <a:spLocks noChangeArrowheads="1"/>
          </p:cNvSpPr>
          <p:nvPr/>
        </p:nvSpPr>
        <p:spPr bwMode="auto">
          <a:xfrm>
            <a:off x="3084513" y="32607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 name="矩形 1"/>
          <p:cNvSpPr/>
          <p:nvPr/>
        </p:nvSpPr>
        <p:spPr>
          <a:xfrm>
            <a:off x="6367016" y="478701"/>
            <a:ext cx="2597472" cy="2031325"/>
          </a:xfrm>
          <a:prstGeom prst="rect">
            <a:avLst/>
          </a:prstGeom>
        </p:spPr>
        <p:txBody>
          <a:bodyPr wrap="square">
            <a:spAutoFit/>
          </a:bodyPr>
          <a:lstStyle/>
          <a:p>
            <a:r>
              <a:rPr lang="zh-CN" altLang="en-US" dirty="0"/>
              <a:t>仅考虑有效区间多个变量边界值同时作用（一般最坏情况边界值）：用各个变量最小值、略高于最小值、正常值、略低于最大值和最大值的</a:t>
            </a:r>
            <a:r>
              <a:rPr lang="zh-CN" altLang="en-US" dirty="0">
                <a:solidFill>
                  <a:srgbClr val="FF0000"/>
                </a:solidFill>
              </a:rPr>
              <a:t>笛卡尔积</a:t>
            </a:r>
            <a:r>
              <a:rPr lang="zh-CN" altLang="en-US" dirty="0"/>
              <a:t>。</a:t>
            </a:r>
          </a:p>
        </p:txBody>
      </p:sp>
      <p:sp>
        <p:nvSpPr>
          <p:cNvPr id="45" name="Rectangle 1026" descr="Large confetti"/>
          <p:cNvSpPr>
            <a:spLocks noGrp="1" noChangeArrowheads="1"/>
          </p:cNvSpPr>
          <p:nvPr>
            <p:ph type="title"/>
          </p:nvPr>
        </p:nvSpPr>
        <p:spPr>
          <a:xfrm>
            <a:off x="468313" y="269875"/>
            <a:ext cx="8229600" cy="647700"/>
          </a:xfrm>
        </p:spPr>
        <p:txBody>
          <a:bodyPr/>
          <a:lstStyle/>
          <a:p>
            <a:r>
              <a:rPr lang="zh-CN" altLang="en-US" sz="2800" dirty="0"/>
              <a:t>边界值分析法</a:t>
            </a:r>
            <a:r>
              <a:rPr lang="en-US" altLang="zh-CN" sz="2800" dirty="0"/>
              <a:t>-</a:t>
            </a:r>
            <a:r>
              <a:rPr lang="zh-CN" altLang="en-US" sz="2800" dirty="0"/>
              <a:t>一般最坏情况边界值</a:t>
            </a:r>
            <a:endParaRPr lang="zh-CN" altLang="en-US" sz="2800" dirty="0">
              <a:latin typeface="楷体_GB2312"/>
              <a:ea typeface="楷体_GB2312"/>
              <a:cs typeface="楷体_GB2312"/>
            </a:endParaRPr>
          </a:p>
        </p:txBody>
      </p:sp>
    </p:spTree>
    <p:extLst>
      <p:ext uri="{BB962C8B-B14F-4D97-AF65-F5344CB8AC3E}">
        <p14:creationId xmlns:p14="http://schemas.microsoft.com/office/powerpoint/2010/main" val="3658609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357EB551-03B0-4A8C-B8A4-A15E50E52BC4}" type="slidenum">
              <a:rPr lang="en-US" altLang="zh-CN" sz="1800" b="0" smtClean="0">
                <a:latin typeface="Times New Roman" pitchFamily="18" charset="0"/>
                <a:ea typeface="微软雅黑" pitchFamily="34" charset="-122"/>
              </a:rPr>
              <a:pPr algn="l" eaLnBrk="0" hangingPunct="0">
                <a:spcBef>
                  <a:spcPct val="0"/>
                </a:spcBef>
                <a:buFontTx/>
                <a:buNone/>
              </a:pPr>
              <a:t>28</a:t>
            </a:fld>
            <a:endParaRPr lang="en-US" altLang="zh-CN" sz="1800" b="0">
              <a:latin typeface="Times New Roman" pitchFamily="18" charset="0"/>
              <a:ea typeface="微软雅黑" pitchFamily="34" charset="-122"/>
            </a:endParaRPr>
          </a:p>
        </p:txBody>
      </p:sp>
      <p:sp>
        <p:nvSpPr>
          <p:cNvPr id="137220" name="Line 4"/>
          <p:cNvSpPr>
            <a:spLocks noChangeShapeType="1"/>
          </p:cNvSpPr>
          <p:nvPr/>
        </p:nvSpPr>
        <p:spPr bwMode="auto">
          <a:xfrm>
            <a:off x="2284413" y="3946525"/>
            <a:ext cx="4518025" cy="0"/>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221" name="Line 5"/>
          <p:cNvSpPr>
            <a:spLocks noChangeShapeType="1"/>
          </p:cNvSpPr>
          <p:nvPr/>
        </p:nvSpPr>
        <p:spPr bwMode="auto">
          <a:xfrm flipV="1">
            <a:off x="2398713" y="1487488"/>
            <a:ext cx="0" cy="2516187"/>
          </a:xfrm>
          <a:prstGeom prst="line">
            <a:avLst/>
          </a:prstGeom>
          <a:noFill/>
          <a:ln w="285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222" name="Line 6"/>
          <p:cNvSpPr>
            <a:spLocks noChangeShapeType="1"/>
          </p:cNvSpPr>
          <p:nvPr/>
        </p:nvSpPr>
        <p:spPr bwMode="auto">
          <a:xfrm>
            <a:off x="2398713" y="2116138"/>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223" name="Line 7"/>
          <p:cNvSpPr>
            <a:spLocks noChangeShapeType="1"/>
          </p:cNvSpPr>
          <p:nvPr/>
        </p:nvSpPr>
        <p:spPr bwMode="auto">
          <a:xfrm>
            <a:off x="2398713" y="3432175"/>
            <a:ext cx="326072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224" name="Line 8"/>
          <p:cNvSpPr>
            <a:spLocks noChangeShapeType="1"/>
          </p:cNvSpPr>
          <p:nvPr/>
        </p:nvSpPr>
        <p:spPr bwMode="auto">
          <a:xfrm>
            <a:off x="3027363"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225" name="Line 9"/>
          <p:cNvSpPr>
            <a:spLocks noChangeShapeType="1"/>
          </p:cNvSpPr>
          <p:nvPr/>
        </p:nvSpPr>
        <p:spPr bwMode="auto">
          <a:xfrm>
            <a:off x="5029200" y="1830388"/>
            <a:ext cx="0" cy="211613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7226" name="Text Box 10"/>
          <p:cNvSpPr txBox="1">
            <a:spLocks noChangeArrowheads="1"/>
          </p:cNvSpPr>
          <p:nvPr/>
        </p:nvSpPr>
        <p:spPr bwMode="auto">
          <a:xfrm>
            <a:off x="2901950" y="3978275"/>
            <a:ext cx="2857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a</a:t>
            </a:r>
          </a:p>
        </p:txBody>
      </p:sp>
      <p:sp>
        <p:nvSpPr>
          <p:cNvPr id="137227" name="Text Box 11"/>
          <p:cNvSpPr txBox="1">
            <a:spLocks noChangeArrowheads="1"/>
          </p:cNvSpPr>
          <p:nvPr/>
        </p:nvSpPr>
        <p:spPr bwMode="auto">
          <a:xfrm>
            <a:off x="4914900" y="4003675"/>
            <a:ext cx="300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b</a:t>
            </a:r>
          </a:p>
        </p:txBody>
      </p:sp>
      <p:sp>
        <p:nvSpPr>
          <p:cNvPr id="137228" name="Text Box 12"/>
          <p:cNvSpPr txBox="1">
            <a:spLocks noChangeArrowheads="1"/>
          </p:cNvSpPr>
          <p:nvPr/>
        </p:nvSpPr>
        <p:spPr bwMode="auto">
          <a:xfrm>
            <a:off x="6973888" y="3832225"/>
            <a:ext cx="377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1</a:t>
            </a:r>
          </a:p>
        </p:txBody>
      </p:sp>
      <p:sp>
        <p:nvSpPr>
          <p:cNvPr id="137229" name="Text Box 13"/>
          <p:cNvSpPr txBox="1">
            <a:spLocks noChangeArrowheads="1"/>
          </p:cNvSpPr>
          <p:nvPr/>
        </p:nvSpPr>
        <p:spPr bwMode="auto">
          <a:xfrm>
            <a:off x="2227263" y="1144588"/>
            <a:ext cx="3762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x</a:t>
            </a:r>
            <a:r>
              <a:rPr lang="en-US" altLang="zh-CN" sz="1800" baseline="-25000">
                <a:latin typeface="Times New Roman" pitchFamily="18" charset="0"/>
                <a:ea typeface="微软雅黑" pitchFamily="34" charset="-122"/>
              </a:rPr>
              <a:t>2</a:t>
            </a:r>
          </a:p>
        </p:txBody>
      </p:sp>
      <p:sp>
        <p:nvSpPr>
          <p:cNvPr id="137230" name="Text Box 14"/>
          <p:cNvSpPr txBox="1">
            <a:spLocks noChangeArrowheads="1"/>
          </p:cNvSpPr>
          <p:nvPr/>
        </p:nvSpPr>
        <p:spPr bwMode="auto">
          <a:xfrm>
            <a:off x="2055813" y="3203575"/>
            <a:ext cx="285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c</a:t>
            </a:r>
          </a:p>
        </p:txBody>
      </p:sp>
      <p:sp>
        <p:nvSpPr>
          <p:cNvPr id="137231" name="Text Box 15"/>
          <p:cNvSpPr txBox="1">
            <a:spLocks noChangeArrowheads="1"/>
          </p:cNvSpPr>
          <p:nvPr/>
        </p:nvSpPr>
        <p:spPr bwMode="auto">
          <a:xfrm>
            <a:off x="2055813" y="1944688"/>
            <a:ext cx="300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a:latin typeface="Times New Roman" pitchFamily="18" charset="0"/>
                <a:ea typeface="微软雅黑" pitchFamily="34" charset="-122"/>
              </a:rPr>
              <a:t>d</a:t>
            </a:r>
          </a:p>
        </p:txBody>
      </p:sp>
      <p:sp>
        <p:nvSpPr>
          <p:cNvPr id="137232" name="Rectangle 16"/>
          <p:cNvSpPr>
            <a:spLocks noChangeArrowheads="1"/>
          </p:cNvSpPr>
          <p:nvPr/>
        </p:nvSpPr>
        <p:spPr bwMode="auto">
          <a:xfrm>
            <a:off x="3027363" y="2116138"/>
            <a:ext cx="2001837" cy="1316037"/>
          </a:xfrm>
          <a:prstGeom prst="rect">
            <a:avLst/>
          </a:prstGeom>
          <a:solidFill>
            <a:srgbClr val="C0C0C0"/>
          </a:solidFill>
          <a:ln w="2857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3" name="Oval 17"/>
          <p:cNvSpPr>
            <a:spLocks noChangeArrowheads="1"/>
          </p:cNvSpPr>
          <p:nvPr/>
        </p:nvSpPr>
        <p:spPr bwMode="auto">
          <a:xfrm>
            <a:off x="29702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4" name="Oval 18"/>
          <p:cNvSpPr>
            <a:spLocks noChangeArrowheads="1"/>
          </p:cNvSpPr>
          <p:nvPr/>
        </p:nvSpPr>
        <p:spPr bwMode="auto">
          <a:xfrm>
            <a:off x="30845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5" name="Oval 19"/>
          <p:cNvSpPr>
            <a:spLocks noChangeArrowheads="1"/>
          </p:cNvSpPr>
          <p:nvPr/>
        </p:nvSpPr>
        <p:spPr bwMode="auto">
          <a:xfrm>
            <a:off x="48672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6" name="Oval 20"/>
          <p:cNvSpPr>
            <a:spLocks noChangeArrowheads="1"/>
          </p:cNvSpPr>
          <p:nvPr/>
        </p:nvSpPr>
        <p:spPr bwMode="auto">
          <a:xfrm>
            <a:off x="49815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7" name="Oval 21"/>
          <p:cNvSpPr>
            <a:spLocks noChangeArrowheads="1"/>
          </p:cNvSpPr>
          <p:nvPr/>
        </p:nvSpPr>
        <p:spPr bwMode="auto">
          <a:xfrm>
            <a:off x="3886200" y="33766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8" name="Oval 22"/>
          <p:cNvSpPr>
            <a:spLocks noChangeArrowheads="1"/>
          </p:cNvSpPr>
          <p:nvPr/>
        </p:nvSpPr>
        <p:spPr bwMode="auto">
          <a:xfrm>
            <a:off x="3886200" y="3260725"/>
            <a:ext cx="82550"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39" name="Oval 23"/>
          <p:cNvSpPr>
            <a:spLocks noChangeArrowheads="1"/>
          </p:cNvSpPr>
          <p:nvPr/>
        </p:nvSpPr>
        <p:spPr bwMode="auto">
          <a:xfrm>
            <a:off x="3886200" y="20589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0" name="Oval 24"/>
          <p:cNvSpPr>
            <a:spLocks noChangeArrowheads="1"/>
          </p:cNvSpPr>
          <p:nvPr/>
        </p:nvSpPr>
        <p:spPr bwMode="auto">
          <a:xfrm>
            <a:off x="3886200" y="21732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1" name="Oval 25"/>
          <p:cNvSpPr>
            <a:spLocks noChangeArrowheads="1"/>
          </p:cNvSpPr>
          <p:nvPr/>
        </p:nvSpPr>
        <p:spPr bwMode="auto">
          <a:xfrm>
            <a:off x="3886200" y="2830513"/>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2" name="Text Box 26"/>
          <p:cNvSpPr txBox="1">
            <a:spLocks noChangeArrowheads="1"/>
          </p:cNvSpPr>
          <p:nvPr/>
        </p:nvSpPr>
        <p:spPr bwMode="auto">
          <a:xfrm>
            <a:off x="6006307" y="3140869"/>
            <a:ext cx="1592262" cy="646112"/>
          </a:xfrm>
          <a:prstGeom prst="rect">
            <a:avLst/>
          </a:prstGeom>
          <a:ln/>
        </p:spPr>
        <p:style>
          <a:lnRef idx="0">
            <a:schemeClr val="accent4"/>
          </a:lnRef>
          <a:fillRef idx="3">
            <a:schemeClr val="accent4"/>
          </a:fillRef>
          <a:effectRef idx="3">
            <a:schemeClr val="accent4"/>
          </a:effectRef>
          <a:fontRef idx="minor">
            <a:schemeClr val="lt1"/>
          </a:fontRef>
        </p:style>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800" b="1" dirty="0">
                <a:latin typeface="Tahoma" pitchFamily="34" charset="0"/>
                <a:ea typeface="仿宋_GB2312" pitchFamily="49" charset="-122"/>
              </a:rPr>
              <a:t>n</a:t>
            </a:r>
            <a:r>
              <a:rPr lang="zh-CN" altLang="en-US" sz="1800" b="1" dirty="0">
                <a:latin typeface="Tahoma" pitchFamily="34" charset="0"/>
                <a:ea typeface="仿宋_GB2312" pitchFamily="49" charset="-122"/>
              </a:rPr>
              <a:t>个变量有</a:t>
            </a:r>
          </a:p>
          <a:p>
            <a:pPr>
              <a:spcBef>
                <a:spcPct val="0"/>
              </a:spcBef>
              <a:buFontTx/>
              <a:buNone/>
            </a:pPr>
            <a:r>
              <a:rPr lang="en-US" altLang="zh-CN" sz="1800" b="1" dirty="0">
                <a:latin typeface="Tahoma" pitchFamily="34" charset="0"/>
                <a:ea typeface="仿宋_GB2312" pitchFamily="49" charset="-122"/>
              </a:rPr>
              <a:t>7</a:t>
            </a:r>
            <a:r>
              <a:rPr lang="en-US" altLang="zh-CN" sz="1800" b="1" baseline="30000" dirty="0">
                <a:latin typeface="Tahoma" pitchFamily="34" charset="0"/>
                <a:ea typeface="仿宋_GB2312" pitchFamily="49" charset="-122"/>
              </a:rPr>
              <a:t>n</a:t>
            </a:r>
            <a:r>
              <a:rPr lang="zh-CN" altLang="en-US" sz="1800" b="1" dirty="0">
                <a:latin typeface="Tahoma" pitchFamily="34" charset="0"/>
                <a:ea typeface="仿宋_GB2312" pitchFamily="49" charset="-122"/>
              </a:rPr>
              <a:t>个测试用例</a:t>
            </a:r>
          </a:p>
        </p:txBody>
      </p:sp>
      <p:sp>
        <p:nvSpPr>
          <p:cNvPr id="137243" name="Oval 27"/>
          <p:cNvSpPr>
            <a:spLocks noChangeArrowheads="1"/>
          </p:cNvSpPr>
          <p:nvPr/>
        </p:nvSpPr>
        <p:spPr bwMode="auto">
          <a:xfrm>
            <a:off x="4972050" y="33750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4" name="Oval 28"/>
          <p:cNvSpPr>
            <a:spLocks noChangeArrowheads="1"/>
          </p:cNvSpPr>
          <p:nvPr/>
        </p:nvSpPr>
        <p:spPr bwMode="auto">
          <a:xfrm>
            <a:off x="2970213" y="20589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5" name="Oval 29"/>
          <p:cNvSpPr>
            <a:spLocks noChangeArrowheads="1"/>
          </p:cNvSpPr>
          <p:nvPr/>
        </p:nvSpPr>
        <p:spPr bwMode="auto">
          <a:xfrm>
            <a:off x="4972050" y="20589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6" name="Oval 30"/>
          <p:cNvSpPr>
            <a:spLocks noChangeArrowheads="1"/>
          </p:cNvSpPr>
          <p:nvPr/>
        </p:nvSpPr>
        <p:spPr bwMode="auto">
          <a:xfrm>
            <a:off x="2970213" y="33750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7" name="Oval 32"/>
          <p:cNvSpPr>
            <a:spLocks noChangeArrowheads="1"/>
          </p:cNvSpPr>
          <p:nvPr/>
        </p:nvSpPr>
        <p:spPr bwMode="auto">
          <a:xfrm>
            <a:off x="4972050" y="21732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8" name="Oval 33"/>
          <p:cNvSpPr>
            <a:spLocks noChangeArrowheads="1"/>
          </p:cNvSpPr>
          <p:nvPr/>
        </p:nvSpPr>
        <p:spPr bwMode="auto">
          <a:xfrm>
            <a:off x="4857750" y="20589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49" name="Oval 34"/>
          <p:cNvSpPr>
            <a:spLocks noChangeArrowheads="1"/>
          </p:cNvSpPr>
          <p:nvPr/>
        </p:nvSpPr>
        <p:spPr bwMode="auto">
          <a:xfrm>
            <a:off x="4857750" y="21732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0" name="Oval 35"/>
          <p:cNvSpPr>
            <a:spLocks noChangeArrowheads="1"/>
          </p:cNvSpPr>
          <p:nvPr/>
        </p:nvSpPr>
        <p:spPr bwMode="auto">
          <a:xfrm>
            <a:off x="4972050" y="32607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1" name="Oval 36"/>
          <p:cNvSpPr>
            <a:spLocks noChangeArrowheads="1"/>
          </p:cNvSpPr>
          <p:nvPr/>
        </p:nvSpPr>
        <p:spPr bwMode="auto">
          <a:xfrm>
            <a:off x="4857750" y="32607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2" name="Oval 37"/>
          <p:cNvSpPr>
            <a:spLocks noChangeArrowheads="1"/>
          </p:cNvSpPr>
          <p:nvPr/>
        </p:nvSpPr>
        <p:spPr bwMode="auto">
          <a:xfrm>
            <a:off x="4857750" y="33750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3" name="Oval 38"/>
          <p:cNvSpPr>
            <a:spLocks noChangeArrowheads="1"/>
          </p:cNvSpPr>
          <p:nvPr/>
        </p:nvSpPr>
        <p:spPr bwMode="auto">
          <a:xfrm>
            <a:off x="3084513" y="20589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4" name="Oval 39"/>
          <p:cNvSpPr>
            <a:spLocks noChangeArrowheads="1"/>
          </p:cNvSpPr>
          <p:nvPr/>
        </p:nvSpPr>
        <p:spPr bwMode="auto">
          <a:xfrm>
            <a:off x="3084513" y="21732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5" name="Oval 40"/>
          <p:cNvSpPr>
            <a:spLocks noChangeArrowheads="1"/>
          </p:cNvSpPr>
          <p:nvPr/>
        </p:nvSpPr>
        <p:spPr bwMode="auto">
          <a:xfrm>
            <a:off x="2970213" y="21732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6" name="Oval 41"/>
          <p:cNvSpPr>
            <a:spLocks noChangeArrowheads="1"/>
          </p:cNvSpPr>
          <p:nvPr/>
        </p:nvSpPr>
        <p:spPr bwMode="auto">
          <a:xfrm>
            <a:off x="3084513" y="33750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7" name="Oval 42"/>
          <p:cNvSpPr>
            <a:spLocks noChangeArrowheads="1"/>
          </p:cNvSpPr>
          <p:nvPr/>
        </p:nvSpPr>
        <p:spPr bwMode="auto">
          <a:xfrm>
            <a:off x="2970213" y="32607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8" name="Oval 43"/>
          <p:cNvSpPr>
            <a:spLocks noChangeArrowheads="1"/>
          </p:cNvSpPr>
          <p:nvPr/>
        </p:nvSpPr>
        <p:spPr bwMode="auto">
          <a:xfrm>
            <a:off x="3084513" y="32607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59" name="Oval 44"/>
          <p:cNvSpPr>
            <a:spLocks noChangeArrowheads="1"/>
          </p:cNvSpPr>
          <p:nvPr/>
        </p:nvSpPr>
        <p:spPr bwMode="auto">
          <a:xfrm>
            <a:off x="5086350" y="21732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0" name="Oval 45"/>
          <p:cNvSpPr>
            <a:spLocks noChangeArrowheads="1"/>
          </p:cNvSpPr>
          <p:nvPr/>
        </p:nvSpPr>
        <p:spPr bwMode="auto">
          <a:xfrm>
            <a:off x="5086350" y="20589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1" name="Oval 46"/>
          <p:cNvSpPr>
            <a:spLocks noChangeArrowheads="1"/>
          </p:cNvSpPr>
          <p:nvPr/>
        </p:nvSpPr>
        <p:spPr bwMode="auto">
          <a:xfrm>
            <a:off x="5086350" y="19446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2" name="Oval 47"/>
          <p:cNvSpPr>
            <a:spLocks noChangeArrowheads="1"/>
          </p:cNvSpPr>
          <p:nvPr/>
        </p:nvSpPr>
        <p:spPr bwMode="auto">
          <a:xfrm>
            <a:off x="4972050" y="19446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3" name="Oval 48"/>
          <p:cNvSpPr>
            <a:spLocks noChangeArrowheads="1"/>
          </p:cNvSpPr>
          <p:nvPr/>
        </p:nvSpPr>
        <p:spPr bwMode="auto">
          <a:xfrm>
            <a:off x="4857750" y="1944688"/>
            <a:ext cx="84138"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4" name="Oval 49"/>
          <p:cNvSpPr>
            <a:spLocks noChangeArrowheads="1"/>
          </p:cNvSpPr>
          <p:nvPr/>
        </p:nvSpPr>
        <p:spPr bwMode="auto">
          <a:xfrm>
            <a:off x="5086350" y="32607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5" name="Oval 50"/>
          <p:cNvSpPr>
            <a:spLocks noChangeArrowheads="1"/>
          </p:cNvSpPr>
          <p:nvPr/>
        </p:nvSpPr>
        <p:spPr bwMode="auto">
          <a:xfrm>
            <a:off x="5086350" y="33750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6" name="Oval 51"/>
          <p:cNvSpPr>
            <a:spLocks noChangeArrowheads="1"/>
          </p:cNvSpPr>
          <p:nvPr/>
        </p:nvSpPr>
        <p:spPr bwMode="auto">
          <a:xfrm>
            <a:off x="5086350" y="34893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7" name="Oval 52"/>
          <p:cNvSpPr>
            <a:spLocks noChangeArrowheads="1"/>
          </p:cNvSpPr>
          <p:nvPr/>
        </p:nvSpPr>
        <p:spPr bwMode="auto">
          <a:xfrm>
            <a:off x="4972050" y="34893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8" name="Oval 53"/>
          <p:cNvSpPr>
            <a:spLocks noChangeArrowheads="1"/>
          </p:cNvSpPr>
          <p:nvPr/>
        </p:nvSpPr>
        <p:spPr bwMode="auto">
          <a:xfrm>
            <a:off x="4857750" y="3489325"/>
            <a:ext cx="84138"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69" name="Oval 54"/>
          <p:cNvSpPr>
            <a:spLocks noChangeArrowheads="1"/>
          </p:cNvSpPr>
          <p:nvPr/>
        </p:nvSpPr>
        <p:spPr bwMode="auto">
          <a:xfrm>
            <a:off x="3084513" y="34893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0" name="Oval 55"/>
          <p:cNvSpPr>
            <a:spLocks noChangeArrowheads="1"/>
          </p:cNvSpPr>
          <p:nvPr/>
        </p:nvSpPr>
        <p:spPr bwMode="auto">
          <a:xfrm>
            <a:off x="2970213" y="34893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1" name="Oval 56"/>
          <p:cNvSpPr>
            <a:spLocks noChangeArrowheads="1"/>
          </p:cNvSpPr>
          <p:nvPr/>
        </p:nvSpPr>
        <p:spPr bwMode="auto">
          <a:xfrm>
            <a:off x="2855913" y="34893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2" name="Oval 57"/>
          <p:cNvSpPr>
            <a:spLocks noChangeArrowheads="1"/>
          </p:cNvSpPr>
          <p:nvPr/>
        </p:nvSpPr>
        <p:spPr bwMode="auto">
          <a:xfrm>
            <a:off x="2855913" y="33750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3" name="Oval 58"/>
          <p:cNvSpPr>
            <a:spLocks noChangeArrowheads="1"/>
          </p:cNvSpPr>
          <p:nvPr/>
        </p:nvSpPr>
        <p:spPr bwMode="auto">
          <a:xfrm>
            <a:off x="2855913" y="3260725"/>
            <a:ext cx="84137" cy="8731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4" name="Oval 59"/>
          <p:cNvSpPr>
            <a:spLocks noChangeArrowheads="1"/>
          </p:cNvSpPr>
          <p:nvPr/>
        </p:nvSpPr>
        <p:spPr bwMode="auto">
          <a:xfrm>
            <a:off x="2855913" y="21732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5" name="Oval 60"/>
          <p:cNvSpPr>
            <a:spLocks noChangeArrowheads="1"/>
          </p:cNvSpPr>
          <p:nvPr/>
        </p:nvSpPr>
        <p:spPr bwMode="auto">
          <a:xfrm>
            <a:off x="2855913" y="20589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6" name="Oval 61"/>
          <p:cNvSpPr>
            <a:spLocks noChangeArrowheads="1"/>
          </p:cNvSpPr>
          <p:nvPr/>
        </p:nvSpPr>
        <p:spPr bwMode="auto">
          <a:xfrm>
            <a:off x="2855913" y="19446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7" name="Oval 62"/>
          <p:cNvSpPr>
            <a:spLocks noChangeArrowheads="1"/>
          </p:cNvSpPr>
          <p:nvPr/>
        </p:nvSpPr>
        <p:spPr bwMode="auto">
          <a:xfrm>
            <a:off x="3084513" y="19446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8" name="Oval 63"/>
          <p:cNvSpPr>
            <a:spLocks noChangeArrowheads="1"/>
          </p:cNvSpPr>
          <p:nvPr/>
        </p:nvSpPr>
        <p:spPr bwMode="auto">
          <a:xfrm>
            <a:off x="2970213" y="1944688"/>
            <a:ext cx="84137"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79" name="Oval 64"/>
          <p:cNvSpPr>
            <a:spLocks noChangeArrowheads="1"/>
          </p:cNvSpPr>
          <p:nvPr/>
        </p:nvSpPr>
        <p:spPr bwMode="auto">
          <a:xfrm>
            <a:off x="5095875" y="2803525"/>
            <a:ext cx="84138"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80" name="Oval 65"/>
          <p:cNvSpPr>
            <a:spLocks noChangeArrowheads="1"/>
          </p:cNvSpPr>
          <p:nvPr/>
        </p:nvSpPr>
        <p:spPr bwMode="auto">
          <a:xfrm>
            <a:off x="2855913" y="2803525"/>
            <a:ext cx="84137"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81" name="Oval 66"/>
          <p:cNvSpPr>
            <a:spLocks noChangeArrowheads="1"/>
          </p:cNvSpPr>
          <p:nvPr/>
        </p:nvSpPr>
        <p:spPr bwMode="auto">
          <a:xfrm>
            <a:off x="3886200" y="3492500"/>
            <a:ext cx="82550" cy="857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7282" name="Oval 67"/>
          <p:cNvSpPr>
            <a:spLocks noChangeArrowheads="1"/>
          </p:cNvSpPr>
          <p:nvPr/>
        </p:nvSpPr>
        <p:spPr bwMode="auto">
          <a:xfrm>
            <a:off x="3886200" y="1944688"/>
            <a:ext cx="82550" cy="8731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68" name="Rectangle 1026" descr="Large confetti"/>
          <p:cNvSpPr>
            <a:spLocks noGrp="1" noChangeArrowheads="1"/>
          </p:cNvSpPr>
          <p:nvPr>
            <p:ph type="title"/>
          </p:nvPr>
        </p:nvSpPr>
        <p:spPr>
          <a:xfrm>
            <a:off x="468313" y="269875"/>
            <a:ext cx="8229600" cy="647700"/>
          </a:xfrm>
        </p:spPr>
        <p:txBody>
          <a:bodyPr/>
          <a:lstStyle/>
          <a:p>
            <a:r>
              <a:rPr lang="zh-CN" altLang="en-US" sz="2800" dirty="0"/>
              <a:t>边界值分析法</a:t>
            </a:r>
            <a:r>
              <a:rPr lang="en-US" altLang="zh-CN" sz="2800" dirty="0"/>
              <a:t>-</a:t>
            </a:r>
            <a:r>
              <a:rPr lang="zh-CN" altLang="en-US" sz="2800" dirty="0"/>
              <a:t>健壮最坏情况边界值</a:t>
            </a:r>
            <a:endParaRPr lang="zh-CN" altLang="en-US" sz="2800" dirty="0">
              <a:latin typeface="楷体_GB2312"/>
              <a:ea typeface="楷体_GB2312"/>
              <a:cs typeface="楷体_GB2312"/>
            </a:endParaRPr>
          </a:p>
        </p:txBody>
      </p:sp>
      <p:sp>
        <p:nvSpPr>
          <p:cNvPr id="3" name="矩形 2"/>
          <p:cNvSpPr/>
          <p:nvPr/>
        </p:nvSpPr>
        <p:spPr>
          <a:xfrm>
            <a:off x="5868144" y="790526"/>
            <a:ext cx="3124653" cy="2308324"/>
          </a:xfrm>
          <a:prstGeom prst="rect">
            <a:avLst/>
          </a:prstGeom>
        </p:spPr>
        <p:txBody>
          <a:bodyPr wrap="square">
            <a:spAutoFit/>
          </a:bodyPr>
          <a:lstStyle/>
          <a:p>
            <a:r>
              <a:rPr lang="zh-CN" altLang="en-US" dirty="0"/>
              <a:t>同时考虑有效区间和无效区间多个变量边界值同时作用（健壮最坏情况边界值）：用各个变量最小值、略高于最小值、正常值、略低于最大值、最大值、</a:t>
            </a:r>
            <a:r>
              <a:rPr lang="zh-CN" altLang="en-US" dirty="0">
                <a:solidFill>
                  <a:srgbClr val="FF0000"/>
                </a:solidFill>
              </a:rPr>
              <a:t>略超过最大值和略小于最小值的笛卡尔积。</a:t>
            </a:r>
          </a:p>
        </p:txBody>
      </p:sp>
    </p:spTree>
    <p:extLst>
      <p:ext uri="{BB962C8B-B14F-4D97-AF65-F5344CB8AC3E}">
        <p14:creationId xmlns:p14="http://schemas.microsoft.com/office/powerpoint/2010/main" val="315617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边界值分析法</a:t>
            </a:r>
            <a:r>
              <a:rPr lang="en-US" altLang="zh-CN" sz="2800" dirty="0"/>
              <a:t>-</a:t>
            </a:r>
            <a:r>
              <a:rPr lang="zh-CN" altLang="en-US" sz="2800" dirty="0"/>
              <a:t>实例分析</a:t>
            </a:r>
          </a:p>
        </p:txBody>
      </p:sp>
      <p:sp>
        <p:nvSpPr>
          <p:cNvPr id="5" name="内容占位符 2"/>
          <p:cNvSpPr>
            <a:spLocks noGrp="1"/>
          </p:cNvSpPr>
          <p:nvPr>
            <p:ph idx="1"/>
          </p:nvPr>
        </p:nvSpPr>
        <p:spPr>
          <a:xfrm>
            <a:off x="467544" y="989955"/>
            <a:ext cx="7920880" cy="3397250"/>
          </a:xfrm>
        </p:spPr>
        <p:txBody>
          <a:bodyPr/>
          <a:lstStyle/>
          <a:p>
            <a:pPr marL="400050"/>
            <a:r>
              <a:rPr lang="zh-CN" altLang="en-US" sz="2400" dirty="0"/>
              <a:t>例子</a:t>
            </a:r>
            <a:endParaRPr lang="en-US" altLang="zh-CN" sz="2400" dirty="0"/>
          </a:p>
          <a:p>
            <a:pPr marL="800100" lvl="1"/>
            <a:r>
              <a:rPr lang="zh-CN" altLang="en-US" sz="1800" dirty="0"/>
              <a:t>新浪博客图片上传，要求如下：上传文件大小不超过</a:t>
            </a:r>
            <a:r>
              <a:rPr lang="en-US" altLang="zh-CN" sz="1800" dirty="0"/>
              <a:t>5M</a:t>
            </a:r>
          </a:p>
          <a:p>
            <a:pPr marL="800100" lvl="1"/>
            <a:r>
              <a:rPr lang="zh-CN" altLang="en-US" sz="1800" dirty="0"/>
              <a:t>以一般边界值的标准进行边界值分析</a:t>
            </a:r>
            <a:endParaRPr lang="en-US" altLang="zh-CN" sz="1800" dirty="0"/>
          </a:p>
          <a:p>
            <a:pPr marL="400050"/>
            <a:r>
              <a:rPr lang="zh-CN" altLang="en-US" sz="2200" dirty="0"/>
              <a:t>解：</a:t>
            </a:r>
            <a:endParaRPr lang="en-US" altLang="zh-CN" sz="2200" dirty="0"/>
          </a:p>
          <a:p>
            <a:pPr marL="800100" lvl="1"/>
            <a:r>
              <a:rPr lang="zh-CN" altLang="en-US" sz="1800" dirty="0"/>
              <a:t>以一般边界值的标准可选取</a:t>
            </a:r>
            <a:r>
              <a:rPr lang="en-US" altLang="zh-CN" sz="1800" dirty="0"/>
              <a:t>5M</a:t>
            </a:r>
            <a:r>
              <a:rPr lang="zh-CN" altLang="en-US" sz="1800" dirty="0"/>
              <a:t>（正好等于）、</a:t>
            </a:r>
            <a:r>
              <a:rPr lang="en-US" altLang="zh-CN" sz="1800" dirty="0"/>
              <a:t>4.9M</a:t>
            </a:r>
            <a:r>
              <a:rPr lang="zh-CN" altLang="en-US" sz="1800" dirty="0"/>
              <a:t>（刚刚小于）、</a:t>
            </a:r>
            <a:r>
              <a:rPr lang="en-US" altLang="zh-CN" sz="1800" dirty="0"/>
              <a:t>3M</a:t>
            </a:r>
            <a:r>
              <a:rPr lang="zh-CN" altLang="en-US" sz="1800" dirty="0"/>
              <a:t>（正常值）</a:t>
            </a:r>
            <a:r>
              <a:rPr lang="en-US" altLang="zh-CN" sz="1800" dirty="0"/>
              <a:t>0.1M</a:t>
            </a:r>
            <a:r>
              <a:rPr lang="zh-CN" altLang="en-US" sz="1800" dirty="0"/>
              <a:t>（略高于最小值）</a:t>
            </a:r>
            <a:r>
              <a:rPr lang="en-US" altLang="zh-CN" sz="1800" dirty="0"/>
              <a:t>0M</a:t>
            </a:r>
            <a:r>
              <a:rPr lang="zh-CN" altLang="en-US" sz="1800" dirty="0"/>
              <a:t>（最小值）为边界值来测试</a:t>
            </a:r>
            <a:endParaRPr lang="en-US" altLang="zh-CN" sz="1800" dirty="0"/>
          </a:p>
        </p:txBody>
      </p:sp>
    </p:spTree>
    <p:extLst>
      <p:ext uri="{BB962C8B-B14F-4D97-AF65-F5344CB8AC3E}">
        <p14:creationId xmlns:p14="http://schemas.microsoft.com/office/powerpoint/2010/main" val="267843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33971"/>
            <a:ext cx="3681413" cy="337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00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8C94C04-3436-4792-BA31-60DA60B3D743}" type="slidenum">
              <a:rPr lang="en-US" altLang="zh-CN" sz="1800" b="0" smtClean="0">
                <a:latin typeface="Times New Roman" pitchFamily="18" charset="0"/>
                <a:ea typeface="微软雅黑" pitchFamily="34" charset="-122"/>
              </a:rPr>
              <a:pPr algn="l" eaLnBrk="0" hangingPunct="0">
                <a:spcBef>
                  <a:spcPct val="0"/>
                </a:spcBef>
                <a:buFontTx/>
                <a:buNone/>
              </a:pPr>
              <a:t>30</a:t>
            </a:fld>
            <a:endParaRPr lang="en-US" altLang="zh-CN" sz="1800" b="0">
              <a:latin typeface="Times New Roman" pitchFamily="18" charset="0"/>
              <a:ea typeface="微软雅黑" pitchFamily="34" charset="-122"/>
            </a:endParaRPr>
          </a:p>
        </p:txBody>
      </p:sp>
      <p:sp>
        <p:nvSpPr>
          <p:cNvPr id="130051" name="Rectangle 2" descr="Large confetti"/>
          <p:cNvSpPr>
            <a:spLocks noGrp="1" noChangeArrowheads="1"/>
          </p:cNvSpPr>
          <p:nvPr>
            <p:ph type="title"/>
          </p:nvPr>
        </p:nvSpPr>
        <p:spPr>
          <a:xfrm>
            <a:off x="468313" y="414338"/>
            <a:ext cx="7559675" cy="622300"/>
          </a:xfrm>
        </p:spPr>
        <p:txBody>
          <a:bodyPr/>
          <a:lstStyle/>
          <a:p>
            <a:r>
              <a:rPr lang="zh-CN" altLang="en-US" dirty="0">
                <a:latin typeface="楷体_GB2312"/>
                <a:ea typeface="楷体_GB2312"/>
                <a:cs typeface="楷体_GB2312"/>
              </a:rPr>
              <a:t>黑盒测试常用方法</a:t>
            </a:r>
          </a:p>
        </p:txBody>
      </p:sp>
      <p:sp>
        <p:nvSpPr>
          <p:cNvPr id="2" name="左箭头 1"/>
          <p:cNvSpPr/>
          <p:nvPr/>
        </p:nvSpPr>
        <p:spPr bwMode="auto">
          <a:xfrm>
            <a:off x="6129716" y="2943342"/>
            <a:ext cx="936104" cy="360040"/>
          </a:xfrm>
          <a:prstGeom prst="leftArrow">
            <a:avLst/>
          </a:prstGeom>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124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ChangeArrowheads="1"/>
          </p:cNvSpPr>
          <p:nvPr>
            <p:ph type="body" idx="1"/>
          </p:nvPr>
        </p:nvSpPr>
        <p:spPr>
          <a:xfrm>
            <a:off x="468313" y="990600"/>
            <a:ext cx="8229600" cy="3397250"/>
          </a:xfrm>
        </p:spPr>
        <p:txBody>
          <a:bodyPr/>
          <a:lstStyle/>
          <a:p>
            <a:r>
              <a:rPr lang="zh-CN" altLang="en-US" sz="2400" dirty="0"/>
              <a:t>判定表是分析和表达多逻辑条件下执行不同操作的情况的工具。</a:t>
            </a:r>
            <a:endParaRPr lang="en-US" altLang="zh-CN" sz="2400" dirty="0"/>
          </a:p>
          <a:p>
            <a:pPr lvl="1"/>
            <a:r>
              <a:rPr lang="zh-CN" altLang="en-US" sz="2000" dirty="0"/>
              <a:t>在一些</a:t>
            </a:r>
            <a:r>
              <a:rPr lang="zh-CN" altLang="en-US" sz="1800" dirty="0"/>
              <a:t>数据处理</a:t>
            </a:r>
            <a:r>
              <a:rPr lang="zh-CN" altLang="en-US" sz="2000" dirty="0"/>
              <a:t>问题中，某些操作依赖多个逻辑条件的取值。处理这类问题的一个非常有力的分析和表达工具是判定表</a:t>
            </a:r>
          </a:p>
          <a:p>
            <a:pPr lvl="1"/>
            <a:r>
              <a:rPr lang="zh-CN" altLang="en-US" sz="2000" dirty="0"/>
              <a:t>一些软件的</a:t>
            </a:r>
            <a:r>
              <a:rPr lang="zh-CN" altLang="en-US" sz="1800" dirty="0"/>
              <a:t>功能需求</a:t>
            </a:r>
            <a:r>
              <a:rPr lang="zh-CN" altLang="en-US" sz="2000" dirty="0"/>
              <a:t>可用判定表表达得非常清楚，在检验程序的功能时判定表也就成为一个非常有力的工具</a:t>
            </a:r>
          </a:p>
        </p:txBody>
      </p:sp>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定义</a:t>
            </a:r>
          </a:p>
        </p:txBody>
      </p:sp>
    </p:spTree>
    <p:extLst>
      <p:ext uri="{BB962C8B-B14F-4D97-AF65-F5344CB8AC3E}">
        <p14:creationId xmlns:p14="http://schemas.microsoft.com/office/powerpoint/2010/main" val="1656706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例子</a:t>
            </a:r>
          </a:p>
        </p:txBody>
      </p:sp>
      <p:pic>
        <p:nvPicPr>
          <p:cNvPr id="561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425" y="1061963"/>
            <a:ext cx="7477125" cy="3281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7662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例子</a:t>
            </a:r>
          </a:p>
        </p:txBody>
      </p:sp>
      <p:pic>
        <p:nvPicPr>
          <p:cNvPr id="56115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3348" y="897915"/>
            <a:ext cx="4783148" cy="2108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107504" y="1061963"/>
            <a:ext cx="4032448" cy="3416320"/>
          </a:xfrm>
          <a:prstGeom prst="rect">
            <a:avLst/>
          </a:prstGeom>
        </p:spPr>
        <p:txBody>
          <a:bodyPr wrap="square">
            <a:spAutoFit/>
          </a:bodyPr>
          <a:lstStyle/>
          <a:p>
            <a:r>
              <a:rPr lang="en-US" altLang="zh-CN" dirty="0"/>
              <a:t>1)</a:t>
            </a:r>
            <a:r>
              <a:rPr lang="zh-CN" altLang="en-US" dirty="0"/>
              <a:t>条件桩（</a:t>
            </a:r>
            <a:r>
              <a:rPr lang="en-US" altLang="zh-CN" dirty="0"/>
              <a:t>Condition Stub</a:t>
            </a:r>
            <a:r>
              <a:rPr lang="zh-CN" altLang="en-US" dirty="0"/>
              <a:t>）：列出了问题的所有条件。通常认为列出的条件的次序无关紧要。</a:t>
            </a:r>
          </a:p>
          <a:p>
            <a:r>
              <a:rPr lang="en-US" altLang="zh-CN" dirty="0"/>
              <a:t>2)</a:t>
            </a:r>
            <a:r>
              <a:rPr lang="zh-CN" altLang="en-US" dirty="0"/>
              <a:t>动作桩（</a:t>
            </a:r>
            <a:r>
              <a:rPr lang="en-US" altLang="zh-CN" dirty="0"/>
              <a:t>Action Stub</a:t>
            </a:r>
            <a:r>
              <a:rPr lang="zh-CN" altLang="en-US" dirty="0"/>
              <a:t>）：列出了问题规定可能采取的操作。这些操作的排列顺序没有约束。</a:t>
            </a:r>
          </a:p>
          <a:p>
            <a:r>
              <a:rPr lang="en-US" altLang="zh-CN" dirty="0"/>
              <a:t>3)</a:t>
            </a:r>
            <a:r>
              <a:rPr lang="zh-CN" altLang="en-US" dirty="0"/>
              <a:t>条件项（</a:t>
            </a:r>
            <a:r>
              <a:rPr lang="en-US" altLang="zh-CN" dirty="0"/>
              <a:t>Condition Entry</a:t>
            </a:r>
            <a:r>
              <a:rPr lang="zh-CN" altLang="en-US" dirty="0"/>
              <a:t>）：列出针对它左列条件的取值。在所有可能情况下的真假值。</a:t>
            </a:r>
          </a:p>
          <a:p>
            <a:r>
              <a:rPr lang="en-US" altLang="zh-CN" dirty="0"/>
              <a:t>4)</a:t>
            </a:r>
            <a:r>
              <a:rPr lang="zh-CN" altLang="en-US" dirty="0"/>
              <a:t>动作项（</a:t>
            </a:r>
            <a:r>
              <a:rPr lang="en-US" altLang="zh-CN" dirty="0"/>
              <a:t>Action Entry</a:t>
            </a:r>
            <a:r>
              <a:rPr lang="zh-CN" altLang="en-US" dirty="0"/>
              <a:t>）：列出在条件项的各种取值情况下应该采取的动作。</a:t>
            </a:r>
          </a:p>
        </p:txBody>
      </p:sp>
      <p:pic>
        <p:nvPicPr>
          <p:cNvPr id="56217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0032" y="3006179"/>
            <a:ext cx="3528392" cy="1830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0272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建立步骤</a:t>
            </a:r>
          </a:p>
        </p:txBody>
      </p:sp>
      <p:sp>
        <p:nvSpPr>
          <p:cNvPr id="5" name="Rectangle 3"/>
          <p:cNvSpPr txBox="1">
            <a:spLocks noChangeArrowheads="1"/>
          </p:cNvSpPr>
          <p:nvPr/>
        </p:nvSpPr>
        <p:spPr bwMode="auto">
          <a:xfrm>
            <a:off x="683568" y="845939"/>
            <a:ext cx="5834062" cy="223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defRPr/>
            </a:pPr>
            <a:r>
              <a:rPr lang="zh-CN" altLang="en-US" sz="1802" dirty="0"/>
              <a:t>判定表的建立通常有以下</a:t>
            </a:r>
            <a:r>
              <a:rPr lang="en-US" altLang="zh-CN" sz="1802" dirty="0"/>
              <a:t>4</a:t>
            </a:r>
            <a:r>
              <a:rPr lang="zh-CN" altLang="en-US" sz="1802" dirty="0"/>
              <a:t>步骤：</a:t>
            </a:r>
          </a:p>
          <a:p>
            <a:pPr algn="just">
              <a:lnSpc>
                <a:spcPct val="105000"/>
              </a:lnSpc>
              <a:buFont typeface="Wingdings" panose="05000000000000000000" pitchFamily="2" charset="2"/>
              <a:buChar char="Ø"/>
              <a:defRPr/>
            </a:pPr>
            <a:r>
              <a:rPr lang="zh-CN" altLang="en-US" sz="1802" dirty="0"/>
              <a:t>条件桩—列出问题的所有条件</a:t>
            </a:r>
          </a:p>
          <a:p>
            <a:pPr algn="just">
              <a:lnSpc>
                <a:spcPct val="105000"/>
              </a:lnSpc>
              <a:buFont typeface="Wingdings" panose="05000000000000000000" pitchFamily="2" charset="2"/>
              <a:buChar char="Ø"/>
              <a:defRPr/>
            </a:pPr>
            <a:r>
              <a:rPr lang="zh-CN" altLang="en-US" sz="1802" dirty="0"/>
              <a:t>条件项—针对条件桩给出的条件列出所有可能的取值</a:t>
            </a:r>
          </a:p>
          <a:p>
            <a:pPr algn="just">
              <a:lnSpc>
                <a:spcPct val="105000"/>
              </a:lnSpc>
              <a:buFont typeface="Wingdings" panose="05000000000000000000" pitchFamily="2" charset="2"/>
              <a:buChar char="Ø"/>
              <a:defRPr/>
            </a:pPr>
            <a:r>
              <a:rPr lang="zh-CN" altLang="en-US" sz="1802" dirty="0"/>
              <a:t>动作桩—列出问题规定的可能采取的操作</a:t>
            </a:r>
          </a:p>
          <a:p>
            <a:pPr algn="just">
              <a:lnSpc>
                <a:spcPct val="105000"/>
              </a:lnSpc>
              <a:buFont typeface="Wingdings" panose="05000000000000000000" pitchFamily="2" charset="2"/>
              <a:buChar char="Ø"/>
              <a:defRPr/>
            </a:pPr>
            <a:r>
              <a:rPr lang="zh-CN" altLang="en-US" sz="1802" dirty="0"/>
              <a:t>动作项—指出在条件项的各组取值情况下应采取的动作</a:t>
            </a:r>
            <a:r>
              <a:rPr lang="zh-CN" altLang="en-US" sz="1802" dirty="0">
                <a:latin typeface="宋体" panose="02010600030101010101" pitchFamily="2" charset="-122"/>
              </a:rPr>
              <a:t> </a:t>
            </a: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2718147"/>
            <a:ext cx="4783148" cy="2108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911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实例</a:t>
            </a:r>
          </a:p>
        </p:txBody>
      </p:sp>
      <p:sp>
        <p:nvSpPr>
          <p:cNvPr id="5" name="Rectangle 3"/>
          <p:cNvSpPr txBox="1">
            <a:spLocks noChangeArrowheads="1"/>
          </p:cNvSpPr>
          <p:nvPr/>
        </p:nvSpPr>
        <p:spPr bwMode="auto">
          <a:xfrm>
            <a:off x="467544" y="917947"/>
            <a:ext cx="5834062" cy="223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defRPr/>
            </a:pPr>
            <a:r>
              <a:rPr lang="zh-CN" altLang="en-US" sz="1802" dirty="0">
                <a:latin typeface="宋体" panose="02010600030101010101" pitchFamily="2" charset="-122"/>
              </a:rPr>
              <a:t>问题要求：”</a:t>
            </a:r>
            <a:r>
              <a:rPr lang="en-US" altLang="zh-CN" sz="1802" dirty="0">
                <a:latin typeface="宋体" panose="02010600030101010101" pitchFamily="2" charset="-122"/>
              </a:rPr>
              <a:t>……</a:t>
            </a:r>
            <a:r>
              <a:rPr lang="zh-CN" altLang="en-US" sz="1802" dirty="0">
                <a:latin typeface="宋体" panose="02010600030101010101" pitchFamily="2" charset="-122"/>
              </a:rPr>
              <a:t>对功率大于</a:t>
            </a:r>
            <a:r>
              <a:rPr lang="en-US" altLang="zh-CN" sz="1802" dirty="0">
                <a:latin typeface="宋体" panose="02010600030101010101" pitchFamily="2" charset="-122"/>
              </a:rPr>
              <a:t>50</a:t>
            </a:r>
            <a:r>
              <a:rPr lang="zh-CN" altLang="en-US" sz="1802" dirty="0">
                <a:latin typeface="宋体" panose="02010600030101010101" pitchFamily="2" charset="-122"/>
              </a:rPr>
              <a:t>马力的机器、维修记录不全或已运行</a:t>
            </a:r>
            <a:r>
              <a:rPr lang="en-US" altLang="zh-CN" sz="1802" dirty="0">
                <a:latin typeface="宋体" panose="02010600030101010101" pitchFamily="2" charset="-122"/>
              </a:rPr>
              <a:t>10</a:t>
            </a:r>
            <a:r>
              <a:rPr lang="zh-CN" altLang="en-US" sz="1802" dirty="0">
                <a:latin typeface="宋体" panose="02010600030101010101" pitchFamily="2" charset="-122"/>
              </a:rPr>
              <a:t>年以上的机器，应给予优先的维修处理</a:t>
            </a:r>
            <a:r>
              <a:rPr lang="en-US" altLang="zh-CN" sz="1802" dirty="0">
                <a:latin typeface="宋体" panose="02010600030101010101" pitchFamily="2" charset="-122"/>
              </a:rPr>
              <a:t>……” </a:t>
            </a:r>
            <a:r>
              <a:rPr lang="zh-CN" altLang="en-US" sz="1802" dirty="0">
                <a:latin typeface="宋体" panose="02010600030101010101" pitchFamily="2" charset="-122"/>
              </a:rPr>
              <a:t>。这里假定，“维修记录不全”和“优先维修处理”均已在别处有更严格的定义 。请建立判定表。</a:t>
            </a:r>
          </a:p>
        </p:txBody>
      </p:sp>
    </p:spTree>
    <p:extLst>
      <p:ext uri="{BB962C8B-B14F-4D97-AF65-F5344CB8AC3E}">
        <p14:creationId xmlns:p14="http://schemas.microsoft.com/office/powerpoint/2010/main" val="38263177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实例</a:t>
            </a:r>
          </a:p>
        </p:txBody>
      </p:sp>
      <p:sp>
        <p:nvSpPr>
          <p:cNvPr id="5" name="Rectangle 3"/>
          <p:cNvSpPr txBox="1">
            <a:spLocks noChangeArrowheads="1"/>
          </p:cNvSpPr>
          <p:nvPr/>
        </p:nvSpPr>
        <p:spPr bwMode="auto">
          <a:xfrm>
            <a:off x="467544" y="917947"/>
            <a:ext cx="5834062"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defRPr/>
            </a:pPr>
            <a:r>
              <a:rPr lang="zh-CN" altLang="en-US" sz="1802" dirty="0">
                <a:latin typeface="宋体" panose="02010600030101010101" pitchFamily="2" charset="-122"/>
              </a:rPr>
              <a:t>问题要求：”</a:t>
            </a:r>
            <a:r>
              <a:rPr lang="en-US" altLang="zh-CN" sz="1802" dirty="0">
                <a:latin typeface="宋体" panose="02010600030101010101" pitchFamily="2" charset="-122"/>
              </a:rPr>
              <a:t>……</a:t>
            </a:r>
            <a:r>
              <a:rPr lang="zh-CN" altLang="en-US" sz="1802" dirty="0">
                <a:latin typeface="宋体" panose="02010600030101010101" pitchFamily="2" charset="-122"/>
              </a:rPr>
              <a:t>对功率大于</a:t>
            </a:r>
            <a:r>
              <a:rPr lang="en-US" altLang="zh-CN" sz="1802" dirty="0">
                <a:latin typeface="宋体" panose="02010600030101010101" pitchFamily="2" charset="-122"/>
              </a:rPr>
              <a:t>50</a:t>
            </a:r>
            <a:r>
              <a:rPr lang="zh-CN" altLang="en-US" sz="1802" dirty="0">
                <a:latin typeface="宋体" panose="02010600030101010101" pitchFamily="2" charset="-122"/>
              </a:rPr>
              <a:t>马力的机器、维修记录不全或已运行</a:t>
            </a:r>
            <a:r>
              <a:rPr lang="en-US" altLang="zh-CN" sz="1802" dirty="0">
                <a:latin typeface="宋体" panose="02010600030101010101" pitchFamily="2" charset="-122"/>
              </a:rPr>
              <a:t>10</a:t>
            </a:r>
            <a:r>
              <a:rPr lang="zh-CN" altLang="en-US" sz="1802" dirty="0">
                <a:latin typeface="宋体" panose="02010600030101010101" pitchFamily="2" charset="-122"/>
              </a:rPr>
              <a:t>年以上的机器，应给予优先的维修处理</a:t>
            </a:r>
            <a:r>
              <a:rPr lang="en-US" altLang="zh-CN" sz="1802" dirty="0">
                <a:latin typeface="宋体" panose="02010600030101010101" pitchFamily="2" charset="-122"/>
              </a:rPr>
              <a:t>……” </a:t>
            </a:r>
            <a:r>
              <a:rPr lang="zh-CN" altLang="en-US" sz="1802" dirty="0">
                <a:latin typeface="宋体" panose="02010600030101010101" pitchFamily="2" charset="-122"/>
              </a:rPr>
              <a:t>。这里假定，“维修记录不全”和“优先维修处理”均已在别处有更严格的定义 。请建立判定表。</a:t>
            </a:r>
            <a:endParaRPr lang="en-US" altLang="zh-CN" sz="1802" dirty="0">
              <a:latin typeface="宋体" panose="02010600030101010101" pitchFamily="2" charset="-122"/>
            </a:endParaRPr>
          </a:p>
          <a:p>
            <a:pPr>
              <a:lnSpc>
                <a:spcPct val="105000"/>
              </a:lnSpc>
              <a:defRPr/>
            </a:pPr>
            <a:endParaRPr lang="en-US" altLang="zh-CN" sz="1802" dirty="0">
              <a:latin typeface="宋体" panose="02010600030101010101" pitchFamily="2" charset="-122"/>
            </a:endParaRPr>
          </a:p>
          <a:p>
            <a:pPr>
              <a:lnSpc>
                <a:spcPct val="105000"/>
              </a:lnSpc>
              <a:buFont typeface="+mj-lt"/>
              <a:buAutoNum type="arabicPeriod"/>
              <a:defRPr/>
            </a:pPr>
            <a:r>
              <a:rPr lang="zh-CN" altLang="en-US" sz="1800" dirty="0"/>
              <a:t>确定规则的个数：这里有</a:t>
            </a:r>
            <a:r>
              <a:rPr lang="en-US" altLang="zh-CN" sz="1800" dirty="0"/>
              <a:t>3</a:t>
            </a:r>
            <a:r>
              <a:rPr lang="zh-CN" altLang="en-US" sz="1800" dirty="0"/>
              <a:t>个条件，每个条件有两个取值，故应有</a:t>
            </a:r>
            <a:r>
              <a:rPr lang="en-US" altLang="zh-CN" sz="1800" dirty="0"/>
              <a:t>2*2*2=8</a:t>
            </a:r>
            <a:r>
              <a:rPr lang="zh-CN" altLang="en-US" sz="1800" dirty="0"/>
              <a:t>种规则。</a:t>
            </a:r>
            <a:endParaRPr lang="en-US" altLang="zh-CN" sz="1800" dirty="0"/>
          </a:p>
          <a:p>
            <a:pPr>
              <a:lnSpc>
                <a:spcPct val="105000"/>
              </a:lnSpc>
              <a:buFont typeface="+mj-lt"/>
              <a:buAutoNum type="arabicPeriod"/>
              <a:defRPr/>
            </a:pPr>
            <a:r>
              <a:rPr lang="zh-CN" altLang="en-US" sz="1800" dirty="0"/>
              <a:t>列出所有的条件茬和动作桩：</a:t>
            </a:r>
            <a:endParaRPr lang="zh-CN" altLang="en-US" sz="1802" dirty="0">
              <a:latin typeface="宋体" panose="02010600030101010101" pitchFamily="2" charset="-122"/>
            </a:endParaRPr>
          </a:p>
        </p:txBody>
      </p:sp>
      <p:pic>
        <p:nvPicPr>
          <p:cNvPr id="5632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3078187"/>
            <a:ext cx="3221931" cy="1945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6104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468313" y="269875"/>
            <a:ext cx="8229600" cy="648072"/>
          </a:xfrm>
        </p:spPr>
        <p:txBody>
          <a:bodyPr/>
          <a:lstStyle/>
          <a:p>
            <a:r>
              <a:rPr lang="zh-CN" altLang="en-US" sz="2800" dirty="0"/>
              <a:t>判定表驱动分析方法</a:t>
            </a:r>
            <a:r>
              <a:rPr lang="en-US" altLang="zh-CN" sz="2800" dirty="0"/>
              <a:t>-</a:t>
            </a:r>
            <a:r>
              <a:rPr lang="zh-CN" altLang="en-US" sz="2800" dirty="0"/>
              <a:t>实例</a:t>
            </a:r>
          </a:p>
        </p:txBody>
      </p:sp>
      <p:sp>
        <p:nvSpPr>
          <p:cNvPr id="6" name="Rectangle 3"/>
          <p:cNvSpPr txBox="1">
            <a:spLocks noChangeArrowheads="1"/>
          </p:cNvSpPr>
          <p:nvPr/>
        </p:nvSpPr>
        <p:spPr bwMode="auto">
          <a:xfrm>
            <a:off x="467544" y="917947"/>
            <a:ext cx="5834062" cy="223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5000"/>
              </a:lnSpc>
              <a:buFont typeface="+mj-lt"/>
              <a:buAutoNum type="arabicPeriod" startAt="3"/>
              <a:defRPr/>
            </a:pPr>
            <a:r>
              <a:rPr lang="zh-CN" altLang="en-US" sz="1802" dirty="0">
                <a:latin typeface="宋体" panose="02010600030101010101" pitchFamily="2" charset="-122"/>
              </a:rPr>
              <a:t>填入条件项。可从最后</a:t>
            </a:r>
            <a:r>
              <a:rPr lang="en-US" altLang="zh-CN" sz="1802" dirty="0">
                <a:latin typeface="宋体" panose="02010600030101010101" pitchFamily="2" charset="-122"/>
              </a:rPr>
              <a:t>1</a:t>
            </a:r>
            <a:r>
              <a:rPr lang="zh-CN" altLang="en-US" sz="1802" dirty="0">
                <a:latin typeface="宋体" panose="02010600030101010101" pitchFamily="2" charset="-122"/>
              </a:rPr>
              <a:t>行条件项开始，逐行向上填满。如第三行是： </a:t>
            </a:r>
            <a:r>
              <a:rPr lang="en-US" altLang="zh-CN" sz="1802" dirty="0">
                <a:latin typeface="宋体" panose="02010600030101010101" pitchFamily="2" charset="-122"/>
              </a:rPr>
              <a:t>Y N Y N Y N Y N</a:t>
            </a:r>
            <a:r>
              <a:rPr lang="zh-CN" altLang="en-US" sz="1802" dirty="0">
                <a:latin typeface="宋体" panose="02010600030101010101" pitchFamily="2" charset="-122"/>
              </a:rPr>
              <a:t>，第二行是： </a:t>
            </a:r>
            <a:r>
              <a:rPr lang="en-US" altLang="zh-CN" sz="1802" dirty="0">
                <a:latin typeface="宋体" panose="02010600030101010101" pitchFamily="2" charset="-122"/>
              </a:rPr>
              <a:t>Y </a:t>
            </a:r>
            <a:r>
              <a:rPr lang="en-US" altLang="zh-CN" sz="1802" dirty="0" err="1">
                <a:latin typeface="宋体" panose="02010600030101010101" pitchFamily="2" charset="-122"/>
              </a:rPr>
              <a:t>Y</a:t>
            </a:r>
            <a:r>
              <a:rPr lang="en-US" altLang="zh-CN" sz="1802" dirty="0">
                <a:latin typeface="宋体" panose="02010600030101010101" pitchFamily="2" charset="-122"/>
              </a:rPr>
              <a:t> N </a:t>
            </a:r>
            <a:r>
              <a:rPr lang="en-US" altLang="zh-CN" sz="1802" dirty="0" err="1">
                <a:latin typeface="宋体" panose="02010600030101010101" pitchFamily="2" charset="-122"/>
              </a:rPr>
              <a:t>N</a:t>
            </a:r>
            <a:r>
              <a:rPr lang="en-US" altLang="zh-CN" sz="1802" dirty="0">
                <a:latin typeface="宋体" panose="02010600030101010101" pitchFamily="2" charset="-122"/>
              </a:rPr>
              <a:t> Y </a:t>
            </a:r>
            <a:r>
              <a:rPr lang="en-US" altLang="zh-CN" sz="1802" dirty="0" err="1">
                <a:latin typeface="宋体" panose="02010600030101010101" pitchFamily="2" charset="-122"/>
              </a:rPr>
              <a:t>Y</a:t>
            </a:r>
            <a:r>
              <a:rPr lang="en-US" altLang="zh-CN" sz="1802" dirty="0">
                <a:latin typeface="宋体" panose="02010600030101010101" pitchFamily="2" charset="-122"/>
              </a:rPr>
              <a:t> N </a:t>
            </a:r>
            <a:r>
              <a:rPr lang="en-US" altLang="zh-CN" sz="1802" dirty="0" err="1">
                <a:latin typeface="宋体" panose="02010600030101010101" pitchFamily="2" charset="-122"/>
              </a:rPr>
              <a:t>N</a:t>
            </a:r>
            <a:r>
              <a:rPr lang="zh-CN" altLang="en-US" sz="1802" dirty="0">
                <a:latin typeface="宋体" panose="02010600030101010101" pitchFamily="2" charset="-122"/>
              </a:rPr>
              <a:t>等等。 </a:t>
            </a:r>
            <a:endParaRPr lang="en-US" altLang="zh-CN" sz="1802" dirty="0">
              <a:latin typeface="宋体" panose="02010600030101010101" pitchFamily="2" charset="-122"/>
            </a:endParaRPr>
          </a:p>
          <a:p>
            <a:pPr marL="457200" indent="-457200">
              <a:lnSpc>
                <a:spcPct val="105000"/>
              </a:lnSpc>
              <a:buFont typeface="+mj-lt"/>
              <a:buAutoNum type="arabicPeriod" startAt="3"/>
              <a:defRPr/>
            </a:pPr>
            <a:r>
              <a:rPr lang="zh-CN" altLang="en-US" sz="1802" dirty="0">
                <a:latin typeface="宋体" panose="02010600030101010101" pitchFamily="2" charset="-122"/>
              </a:rPr>
              <a:t>填入动作桩和动作顶。这样便得到形如图的初始判定表。</a:t>
            </a:r>
          </a:p>
        </p:txBody>
      </p:sp>
      <p:pic>
        <p:nvPicPr>
          <p:cNvPr id="5652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286099"/>
            <a:ext cx="5091113" cy="254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2456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33971"/>
            <a:ext cx="3681413" cy="337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00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8C94C04-3436-4792-BA31-60DA60B3D743}" type="slidenum">
              <a:rPr lang="en-US" altLang="zh-CN" sz="1800" b="0" smtClean="0">
                <a:latin typeface="Times New Roman" pitchFamily="18" charset="0"/>
                <a:ea typeface="微软雅黑" pitchFamily="34" charset="-122"/>
              </a:rPr>
              <a:pPr algn="l" eaLnBrk="0" hangingPunct="0">
                <a:spcBef>
                  <a:spcPct val="0"/>
                </a:spcBef>
                <a:buFontTx/>
                <a:buNone/>
              </a:pPr>
              <a:t>38</a:t>
            </a:fld>
            <a:endParaRPr lang="en-US" altLang="zh-CN" sz="1800" b="0">
              <a:latin typeface="Times New Roman" pitchFamily="18" charset="0"/>
              <a:ea typeface="微软雅黑" pitchFamily="34" charset="-122"/>
            </a:endParaRPr>
          </a:p>
        </p:txBody>
      </p:sp>
      <p:sp>
        <p:nvSpPr>
          <p:cNvPr id="130051" name="Rectangle 2" descr="Large confetti"/>
          <p:cNvSpPr>
            <a:spLocks noGrp="1" noChangeArrowheads="1"/>
          </p:cNvSpPr>
          <p:nvPr>
            <p:ph type="title"/>
          </p:nvPr>
        </p:nvSpPr>
        <p:spPr>
          <a:xfrm>
            <a:off x="468313" y="414338"/>
            <a:ext cx="7559675" cy="622300"/>
          </a:xfrm>
        </p:spPr>
        <p:txBody>
          <a:bodyPr/>
          <a:lstStyle/>
          <a:p>
            <a:r>
              <a:rPr lang="zh-CN" altLang="en-US" dirty="0">
                <a:latin typeface="楷体_GB2312"/>
                <a:ea typeface="楷体_GB2312"/>
                <a:cs typeface="楷体_GB2312"/>
              </a:rPr>
              <a:t>黑盒测试常用方法</a:t>
            </a:r>
          </a:p>
        </p:txBody>
      </p:sp>
      <p:sp>
        <p:nvSpPr>
          <p:cNvPr id="2" name="左箭头 1"/>
          <p:cNvSpPr/>
          <p:nvPr/>
        </p:nvSpPr>
        <p:spPr bwMode="auto">
          <a:xfrm>
            <a:off x="5436096" y="3870275"/>
            <a:ext cx="936104" cy="360040"/>
          </a:xfrm>
          <a:prstGeom prst="leftArrow">
            <a:avLst/>
          </a:prstGeom>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14976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468313" y="269875"/>
            <a:ext cx="8229600" cy="647700"/>
          </a:xfrm>
        </p:spPr>
        <p:txBody>
          <a:bodyPr/>
          <a:lstStyle/>
          <a:p>
            <a:r>
              <a:rPr lang="zh-CN" altLang="en-US" sz="2800" dirty="0">
                <a:latin typeface="宋体" pitchFamily="2" charset="-122"/>
              </a:rPr>
              <a:t>因果图法</a:t>
            </a:r>
            <a:r>
              <a:rPr lang="en-US" altLang="zh-CN" sz="2800" dirty="0">
                <a:latin typeface="宋体" pitchFamily="2" charset="-122"/>
              </a:rPr>
              <a:t>-</a:t>
            </a:r>
            <a:r>
              <a:rPr lang="zh-CN" altLang="en-US" sz="2800" dirty="0">
                <a:latin typeface="宋体" pitchFamily="2" charset="-122"/>
              </a:rPr>
              <a:t>定义</a:t>
            </a:r>
            <a:endParaRPr lang="zh-CN" altLang="en-US" sz="2800" dirty="0"/>
          </a:p>
        </p:txBody>
      </p:sp>
      <p:sp>
        <p:nvSpPr>
          <p:cNvPr id="148483" name="Rectangle 3"/>
          <p:cNvSpPr>
            <a:spLocks noGrp="1" noChangeArrowheads="1"/>
          </p:cNvSpPr>
          <p:nvPr>
            <p:ph type="body" idx="1"/>
          </p:nvPr>
        </p:nvSpPr>
        <p:spPr>
          <a:xfrm>
            <a:off x="755650" y="1062038"/>
            <a:ext cx="7942263" cy="38163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05000"/>
              </a:lnSpc>
            </a:pPr>
            <a:r>
              <a:rPr lang="zh-CN" altLang="en-US" sz="2400" dirty="0"/>
              <a:t>是一种利用图解法分析输入的各种组合情况，从而设计测试用例的方法，它适合于检查程序输入条件的各种组合情况。</a:t>
            </a:r>
            <a:endParaRPr lang="en-US" altLang="zh-CN" sz="2400" dirty="0"/>
          </a:p>
          <a:p>
            <a:pPr>
              <a:lnSpc>
                <a:spcPct val="105000"/>
              </a:lnSpc>
            </a:pPr>
            <a:r>
              <a:rPr lang="zh-CN" altLang="en-US" sz="2400" dirty="0"/>
              <a:t>因果图法产生的背景：</a:t>
            </a:r>
          </a:p>
          <a:p>
            <a:pPr>
              <a:lnSpc>
                <a:spcPct val="105000"/>
              </a:lnSpc>
              <a:buFont typeface="Wingdings" pitchFamily="2" charset="2"/>
              <a:buNone/>
            </a:pPr>
            <a:r>
              <a:rPr lang="zh-CN" altLang="en-US" sz="2400" dirty="0"/>
              <a:t>           等价类划分法和边界值分析方法都是着重考虑输入条件，但没有考虑输入条件的各种组合、输入条件之间的相互制约关系。这样虽然各种输入条件可能出错的情况已经测试到了，但多个输入条件组合起来可能出错的情况却被忽视了。</a:t>
            </a:r>
            <a:endParaRPr lang="zh-CN" altLang="en-US" sz="2400" dirty="0">
              <a:latin typeface="宋体" pitchFamily="2" charset="-122"/>
            </a:endParaRPr>
          </a:p>
        </p:txBody>
      </p:sp>
    </p:spTree>
    <p:extLst>
      <p:ext uri="{BB962C8B-B14F-4D97-AF65-F5344CB8AC3E}">
        <p14:creationId xmlns:p14="http://schemas.microsoft.com/office/powerpoint/2010/main" val="1669652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68313" y="269875"/>
            <a:ext cx="8229600" cy="647700"/>
          </a:xfrm>
        </p:spPr>
        <p:txBody>
          <a:bodyPr/>
          <a:lstStyle/>
          <a:p>
            <a:r>
              <a:rPr lang="zh-CN" altLang="en-US" sz="2800" dirty="0">
                <a:latin typeface="宋体" pitchFamily="2" charset="-122"/>
              </a:rPr>
              <a:t>因果图法</a:t>
            </a:r>
            <a:r>
              <a:rPr lang="en-US" altLang="zh-CN" sz="2800" dirty="0">
                <a:latin typeface="宋体" pitchFamily="2" charset="-122"/>
              </a:rPr>
              <a:t>-</a:t>
            </a:r>
            <a:r>
              <a:rPr lang="zh-CN" altLang="en-US" sz="2800" dirty="0">
                <a:latin typeface="宋体" pitchFamily="2" charset="-122"/>
              </a:rPr>
              <a:t>关系</a:t>
            </a:r>
            <a:endParaRPr lang="zh-CN" altLang="en-US" sz="2800" dirty="0"/>
          </a:p>
        </p:txBody>
      </p:sp>
      <p:sp>
        <p:nvSpPr>
          <p:cNvPr id="149507" name="Rectangle 3"/>
          <p:cNvSpPr>
            <a:spLocks noGrp="1" noChangeArrowheads="1"/>
          </p:cNvSpPr>
          <p:nvPr>
            <p:ph type="body" idx="1"/>
          </p:nvPr>
        </p:nvSpPr>
        <p:spPr>
          <a:xfrm>
            <a:off x="611189" y="933450"/>
            <a:ext cx="3744787" cy="39449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90000"/>
              </a:lnSpc>
            </a:pPr>
            <a:r>
              <a:rPr lang="en-US" altLang="zh-CN" sz="2000" dirty="0"/>
              <a:t>4</a:t>
            </a:r>
            <a:r>
              <a:rPr lang="zh-CN" altLang="en-US" sz="2000" dirty="0"/>
              <a:t>种因果关系</a:t>
            </a:r>
            <a:endParaRPr lang="en-US" altLang="zh-CN" sz="2000" dirty="0"/>
          </a:p>
          <a:p>
            <a:pPr lvl="1" algn="just">
              <a:lnSpc>
                <a:spcPct val="90000"/>
              </a:lnSpc>
            </a:pPr>
            <a:r>
              <a:rPr lang="zh-CN" altLang="en-US" sz="1600" dirty="0"/>
              <a:t>因果图中使用了简单的逻辑符号，以直线联接左右结点。左结点表示输入状态（或称原因），右结点表示输出状态（或称结果）</a:t>
            </a:r>
            <a:endParaRPr lang="en-US" altLang="zh-CN" sz="1600" dirty="0"/>
          </a:p>
          <a:p>
            <a:pPr lvl="1" algn="just">
              <a:lnSpc>
                <a:spcPct val="90000"/>
              </a:lnSpc>
            </a:pPr>
            <a:r>
              <a:rPr lang="en-US" altLang="zh-CN" sz="1600" dirty="0"/>
              <a:t>Ci</a:t>
            </a:r>
            <a:r>
              <a:rPr lang="zh-CN" altLang="en-US" sz="1600" dirty="0"/>
              <a:t>表示原因，通常置于图的左部；</a:t>
            </a:r>
            <a:r>
              <a:rPr lang="en-US" altLang="zh-CN" sz="1600" dirty="0" err="1"/>
              <a:t>ei</a:t>
            </a:r>
            <a:r>
              <a:rPr lang="zh-CN" altLang="en-US" sz="1600" dirty="0"/>
              <a:t>表示结果，通常在图的右部。</a:t>
            </a:r>
            <a:r>
              <a:rPr lang="en-US" altLang="zh-CN" sz="1600" dirty="0"/>
              <a:t>Ci</a:t>
            </a:r>
            <a:r>
              <a:rPr lang="zh-CN" altLang="en-US" sz="1600" dirty="0"/>
              <a:t>和</a:t>
            </a:r>
            <a:r>
              <a:rPr lang="en-US" altLang="zh-CN" sz="1600" dirty="0" err="1"/>
              <a:t>ei</a:t>
            </a:r>
            <a:r>
              <a:rPr lang="zh-CN" altLang="en-US" sz="1600" dirty="0"/>
              <a:t>均可取值</a:t>
            </a:r>
            <a:r>
              <a:rPr lang="en-US" altLang="zh-CN" sz="1600" dirty="0"/>
              <a:t>0</a:t>
            </a:r>
            <a:r>
              <a:rPr lang="zh-CN" altLang="en-US" sz="1600" dirty="0"/>
              <a:t>或</a:t>
            </a:r>
            <a:r>
              <a:rPr lang="en-US" altLang="zh-CN" sz="1600" dirty="0"/>
              <a:t>1</a:t>
            </a:r>
            <a:r>
              <a:rPr lang="zh-CN" altLang="en-US" sz="1600" dirty="0"/>
              <a:t>，</a:t>
            </a:r>
            <a:r>
              <a:rPr lang="en-US" altLang="zh-CN" sz="1600" dirty="0"/>
              <a:t>0</a:t>
            </a:r>
            <a:r>
              <a:rPr lang="zh-CN" altLang="en-US" sz="1600" dirty="0"/>
              <a:t>表示某状态不出现，</a:t>
            </a:r>
            <a:r>
              <a:rPr lang="en-US" altLang="zh-CN" sz="1600" dirty="0"/>
              <a:t>1</a:t>
            </a:r>
            <a:r>
              <a:rPr lang="zh-CN" altLang="en-US" sz="1600" dirty="0"/>
              <a:t>表示某状态出现。</a:t>
            </a:r>
            <a:endParaRPr lang="en-US" altLang="zh-CN" sz="1600" dirty="0"/>
          </a:p>
        </p:txBody>
      </p:sp>
      <p:pic>
        <p:nvPicPr>
          <p:cNvPr id="5478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040" y="678013"/>
            <a:ext cx="3721149" cy="25744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4589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68313" y="269875"/>
            <a:ext cx="8229600" cy="647700"/>
          </a:xfrm>
        </p:spPr>
        <p:txBody>
          <a:bodyPr/>
          <a:lstStyle/>
          <a:p>
            <a:r>
              <a:rPr lang="zh-CN" altLang="en-US" sz="2800" dirty="0">
                <a:latin typeface="宋体" pitchFamily="2" charset="-122"/>
              </a:rPr>
              <a:t>因果图法</a:t>
            </a:r>
            <a:r>
              <a:rPr lang="en-US" altLang="zh-CN" sz="2800" dirty="0">
                <a:latin typeface="宋体" pitchFamily="2" charset="-122"/>
              </a:rPr>
              <a:t>-</a:t>
            </a:r>
            <a:r>
              <a:rPr lang="zh-CN" altLang="en-US" sz="2800" dirty="0">
                <a:latin typeface="宋体" pitchFamily="2" charset="-122"/>
              </a:rPr>
              <a:t>关系</a:t>
            </a:r>
            <a:endParaRPr lang="zh-CN" altLang="en-US" sz="2800" dirty="0"/>
          </a:p>
        </p:txBody>
      </p:sp>
      <p:sp>
        <p:nvSpPr>
          <p:cNvPr id="149507" name="Rectangle 3"/>
          <p:cNvSpPr>
            <a:spLocks noGrp="1" noChangeArrowheads="1"/>
          </p:cNvSpPr>
          <p:nvPr>
            <p:ph type="body" idx="1"/>
          </p:nvPr>
        </p:nvSpPr>
        <p:spPr>
          <a:xfrm>
            <a:off x="611189" y="933450"/>
            <a:ext cx="3744787" cy="39449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90000"/>
              </a:lnSpc>
            </a:pPr>
            <a:r>
              <a:rPr lang="en-US" altLang="zh-CN" sz="2000" dirty="0"/>
              <a:t>4</a:t>
            </a:r>
            <a:r>
              <a:rPr lang="zh-CN" altLang="en-US" sz="2000" dirty="0"/>
              <a:t>种因果关系</a:t>
            </a:r>
            <a:endParaRPr lang="en-US" altLang="zh-CN" sz="2000" dirty="0"/>
          </a:p>
          <a:p>
            <a:pPr lvl="1" algn="just">
              <a:lnSpc>
                <a:spcPct val="90000"/>
              </a:lnSpc>
            </a:pPr>
            <a:r>
              <a:rPr lang="zh-CN" altLang="en-US" sz="1600" dirty="0"/>
              <a:t>恒等：若</a:t>
            </a:r>
            <a:r>
              <a:rPr lang="en-US" altLang="zh-CN" sz="1600" dirty="0"/>
              <a:t>ci</a:t>
            </a:r>
            <a:r>
              <a:rPr lang="zh-CN" altLang="en-US" sz="1600" dirty="0"/>
              <a:t>是</a:t>
            </a:r>
            <a:r>
              <a:rPr lang="en-US" altLang="zh-CN" sz="1600" dirty="0"/>
              <a:t>1</a:t>
            </a:r>
            <a:r>
              <a:rPr lang="zh-CN" altLang="en-US" sz="1600" dirty="0"/>
              <a:t>，则</a:t>
            </a:r>
            <a:r>
              <a:rPr lang="en-US" altLang="zh-CN" sz="1600" dirty="0" err="1"/>
              <a:t>ei</a:t>
            </a:r>
            <a:r>
              <a:rPr lang="zh-CN" altLang="en-US" sz="1600" dirty="0"/>
              <a:t>也是</a:t>
            </a:r>
            <a:r>
              <a:rPr lang="en-US" altLang="zh-CN" sz="1600" dirty="0"/>
              <a:t>1</a:t>
            </a:r>
            <a:r>
              <a:rPr lang="zh-CN" altLang="en-US" sz="1600" dirty="0"/>
              <a:t>；否则</a:t>
            </a:r>
            <a:r>
              <a:rPr lang="en-US" altLang="zh-CN" sz="1600" dirty="0" err="1"/>
              <a:t>ei</a:t>
            </a:r>
            <a:r>
              <a:rPr lang="zh-CN" altLang="en-US" sz="1600" dirty="0"/>
              <a:t>为</a:t>
            </a:r>
            <a:r>
              <a:rPr lang="en-US" altLang="zh-CN" sz="1600" dirty="0"/>
              <a:t>0</a:t>
            </a:r>
            <a:r>
              <a:rPr lang="zh-CN" altLang="en-US" sz="1600" dirty="0"/>
              <a:t>。</a:t>
            </a:r>
            <a:endParaRPr lang="en-US" altLang="zh-CN" sz="1600" dirty="0"/>
          </a:p>
          <a:p>
            <a:pPr lvl="1" algn="just">
              <a:lnSpc>
                <a:spcPct val="90000"/>
              </a:lnSpc>
            </a:pPr>
            <a:r>
              <a:rPr lang="zh-CN" altLang="en-US" sz="1600" dirty="0"/>
              <a:t>非：若</a:t>
            </a:r>
            <a:r>
              <a:rPr lang="en-US" altLang="zh-CN" sz="1600" dirty="0"/>
              <a:t>ci</a:t>
            </a:r>
            <a:r>
              <a:rPr lang="zh-CN" altLang="en-US" sz="1600" dirty="0"/>
              <a:t>是</a:t>
            </a:r>
            <a:r>
              <a:rPr lang="en-US" altLang="zh-CN" sz="1600" dirty="0"/>
              <a:t>1</a:t>
            </a:r>
            <a:r>
              <a:rPr lang="zh-CN" altLang="en-US" sz="1600" dirty="0"/>
              <a:t>，则</a:t>
            </a:r>
            <a:r>
              <a:rPr lang="en-US" altLang="zh-CN" sz="1600" dirty="0" err="1"/>
              <a:t>ei</a:t>
            </a:r>
            <a:r>
              <a:rPr lang="zh-CN" altLang="en-US" sz="1600" dirty="0"/>
              <a:t>是</a:t>
            </a:r>
            <a:r>
              <a:rPr lang="en-US" altLang="zh-CN" sz="1600" dirty="0"/>
              <a:t>0</a:t>
            </a:r>
            <a:r>
              <a:rPr lang="zh-CN" altLang="en-US" sz="1600" dirty="0"/>
              <a:t>；否则</a:t>
            </a:r>
            <a:r>
              <a:rPr lang="en-US" altLang="zh-CN" sz="1600" dirty="0" err="1"/>
              <a:t>ei</a:t>
            </a:r>
            <a:r>
              <a:rPr lang="zh-CN" altLang="en-US" sz="1600" dirty="0"/>
              <a:t>是</a:t>
            </a:r>
            <a:r>
              <a:rPr lang="en-US" altLang="zh-CN" sz="1600" dirty="0"/>
              <a:t>1</a:t>
            </a:r>
            <a:r>
              <a:rPr lang="zh-CN" altLang="en-US" sz="1600" dirty="0"/>
              <a:t>。</a:t>
            </a:r>
            <a:endParaRPr lang="en-US" altLang="zh-CN" sz="1600" dirty="0"/>
          </a:p>
          <a:p>
            <a:pPr lvl="1" algn="just">
              <a:lnSpc>
                <a:spcPct val="90000"/>
              </a:lnSpc>
            </a:pPr>
            <a:r>
              <a:rPr lang="zh-CN" altLang="en-US" sz="1600" dirty="0"/>
              <a:t>或：若</a:t>
            </a:r>
            <a:r>
              <a:rPr lang="en-US" altLang="zh-CN" sz="1600" dirty="0"/>
              <a:t>c1</a:t>
            </a:r>
            <a:r>
              <a:rPr lang="zh-CN" altLang="en-US" sz="1600" dirty="0"/>
              <a:t>或</a:t>
            </a:r>
            <a:r>
              <a:rPr lang="en-US" altLang="zh-CN" sz="1600" dirty="0"/>
              <a:t>c2</a:t>
            </a:r>
            <a:r>
              <a:rPr lang="zh-CN" altLang="en-US" sz="1600" dirty="0"/>
              <a:t>或</a:t>
            </a:r>
            <a:r>
              <a:rPr lang="en-US" altLang="zh-CN" sz="1600" dirty="0"/>
              <a:t>c3</a:t>
            </a:r>
            <a:r>
              <a:rPr lang="zh-CN" altLang="en-US" sz="1600" dirty="0"/>
              <a:t>是</a:t>
            </a:r>
            <a:r>
              <a:rPr lang="en-US" altLang="zh-CN" sz="1600" dirty="0"/>
              <a:t>1</a:t>
            </a:r>
            <a:r>
              <a:rPr lang="zh-CN" altLang="en-US" sz="1600" dirty="0"/>
              <a:t>，则</a:t>
            </a:r>
            <a:r>
              <a:rPr lang="en-US" altLang="zh-CN" sz="1600" dirty="0" err="1"/>
              <a:t>ei</a:t>
            </a:r>
            <a:r>
              <a:rPr lang="zh-CN" altLang="en-US" sz="1600" dirty="0"/>
              <a:t>是</a:t>
            </a:r>
            <a:r>
              <a:rPr lang="en-US" altLang="zh-CN" sz="1600" dirty="0"/>
              <a:t>1</a:t>
            </a:r>
            <a:r>
              <a:rPr lang="zh-CN" altLang="en-US" sz="1600" dirty="0"/>
              <a:t>；否则</a:t>
            </a:r>
            <a:r>
              <a:rPr lang="en-US" altLang="zh-CN" sz="1600" dirty="0" err="1"/>
              <a:t>ei</a:t>
            </a:r>
            <a:r>
              <a:rPr lang="zh-CN" altLang="en-US" sz="1600" dirty="0"/>
              <a:t>为</a:t>
            </a:r>
            <a:r>
              <a:rPr lang="en-US" altLang="zh-CN" sz="1600" dirty="0"/>
              <a:t>0</a:t>
            </a:r>
            <a:r>
              <a:rPr lang="zh-CN" altLang="en-US" sz="1600" dirty="0"/>
              <a:t>。“或”可有任意个输入。</a:t>
            </a:r>
            <a:endParaRPr lang="en-US" altLang="zh-CN" sz="1600" dirty="0"/>
          </a:p>
          <a:p>
            <a:pPr lvl="1" algn="just">
              <a:lnSpc>
                <a:spcPct val="90000"/>
              </a:lnSpc>
            </a:pPr>
            <a:r>
              <a:rPr lang="zh-CN" altLang="en-US" sz="1600" dirty="0"/>
              <a:t>与：若</a:t>
            </a:r>
            <a:r>
              <a:rPr lang="en-US" altLang="zh-CN" sz="1600" dirty="0"/>
              <a:t>c1</a:t>
            </a:r>
            <a:r>
              <a:rPr lang="zh-CN" altLang="en-US" sz="1600" dirty="0"/>
              <a:t>和</a:t>
            </a:r>
            <a:r>
              <a:rPr lang="en-US" altLang="zh-CN" sz="1600" dirty="0"/>
              <a:t>c2</a:t>
            </a:r>
            <a:r>
              <a:rPr lang="zh-CN" altLang="en-US" sz="1600" dirty="0"/>
              <a:t>都是</a:t>
            </a:r>
            <a:r>
              <a:rPr lang="en-US" altLang="zh-CN" sz="1600" dirty="0"/>
              <a:t>1</a:t>
            </a:r>
            <a:r>
              <a:rPr lang="zh-CN" altLang="en-US" sz="1600" dirty="0"/>
              <a:t>，则</a:t>
            </a:r>
            <a:r>
              <a:rPr lang="en-US" altLang="zh-CN" sz="1600" dirty="0" err="1"/>
              <a:t>ei</a:t>
            </a:r>
            <a:r>
              <a:rPr lang="zh-CN" altLang="en-US" sz="1600" dirty="0"/>
              <a:t>为</a:t>
            </a:r>
            <a:r>
              <a:rPr lang="en-US" altLang="zh-CN" sz="1600" dirty="0"/>
              <a:t>1</a:t>
            </a:r>
            <a:r>
              <a:rPr lang="zh-CN" altLang="en-US" sz="1600" dirty="0"/>
              <a:t>；否则</a:t>
            </a:r>
            <a:r>
              <a:rPr lang="en-US" altLang="zh-CN" sz="1600" dirty="0" err="1"/>
              <a:t>ei</a:t>
            </a:r>
            <a:r>
              <a:rPr lang="zh-CN" altLang="en-US" sz="1600" dirty="0"/>
              <a:t>为</a:t>
            </a:r>
            <a:r>
              <a:rPr lang="en-US" altLang="zh-CN" sz="1600" dirty="0"/>
              <a:t>0</a:t>
            </a:r>
            <a:r>
              <a:rPr lang="zh-CN" altLang="en-US" sz="1600" dirty="0"/>
              <a:t>。“与”也可有任意个输入。</a:t>
            </a:r>
            <a:endParaRPr lang="en-US" altLang="zh-CN" sz="160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040" y="678013"/>
            <a:ext cx="3721149" cy="25744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7631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68313" y="269875"/>
            <a:ext cx="8229600" cy="647700"/>
          </a:xfrm>
        </p:spPr>
        <p:txBody>
          <a:bodyPr/>
          <a:lstStyle/>
          <a:p>
            <a:r>
              <a:rPr lang="zh-CN" altLang="en-US" sz="2800" dirty="0">
                <a:latin typeface="宋体" pitchFamily="2" charset="-122"/>
              </a:rPr>
              <a:t>因果图法</a:t>
            </a:r>
            <a:r>
              <a:rPr lang="en-US" altLang="zh-CN" sz="2800" dirty="0">
                <a:latin typeface="宋体" pitchFamily="2" charset="-122"/>
              </a:rPr>
              <a:t>-</a:t>
            </a:r>
            <a:r>
              <a:rPr lang="zh-CN" altLang="en-US" sz="2800" dirty="0">
                <a:latin typeface="宋体" pitchFamily="2" charset="-122"/>
              </a:rPr>
              <a:t>约束</a:t>
            </a:r>
            <a:endParaRPr lang="zh-CN" altLang="en-US" sz="2800" dirty="0"/>
          </a:p>
        </p:txBody>
      </p:sp>
      <p:sp>
        <p:nvSpPr>
          <p:cNvPr id="149507" name="Rectangle 3"/>
          <p:cNvSpPr>
            <a:spLocks noGrp="1" noChangeArrowheads="1"/>
          </p:cNvSpPr>
          <p:nvPr>
            <p:ph type="body" idx="1"/>
          </p:nvPr>
        </p:nvSpPr>
        <p:spPr>
          <a:xfrm>
            <a:off x="611189" y="933450"/>
            <a:ext cx="4464867" cy="39449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90000"/>
              </a:lnSpc>
            </a:pPr>
            <a:r>
              <a:rPr lang="zh-CN" altLang="en-US" sz="2000" dirty="0"/>
              <a:t>输入之间</a:t>
            </a:r>
            <a:r>
              <a:rPr lang="en-US" altLang="zh-CN" sz="2000" dirty="0"/>
              <a:t>4</a:t>
            </a:r>
            <a:r>
              <a:rPr lang="zh-CN" altLang="en-US" sz="2000" dirty="0"/>
              <a:t>种约束（输入状态相互之间还可能存在某些依赖关系，称为约束。例如</a:t>
            </a:r>
            <a:r>
              <a:rPr lang="en-US" altLang="zh-CN" sz="2000" dirty="0"/>
              <a:t>, </a:t>
            </a:r>
            <a:r>
              <a:rPr lang="zh-CN" altLang="en-US" sz="2000" dirty="0"/>
              <a:t>某些输入条件本身不可能同时出现。在因果图中</a:t>
            </a:r>
            <a:r>
              <a:rPr lang="en-US" altLang="zh-CN" sz="2000" dirty="0"/>
              <a:t>,</a:t>
            </a:r>
            <a:r>
              <a:rPr lang="zh-CN" altLang="en-US" sz="2000" dirty="0"/>
              <a:t>用特定的符号标明这些约束。）</a:t>
            </a:r>
            <a:endParaRPr lang="en-US" altLang="zh-CN" sz="2000" dirty="0"/>
          </a:p>
          <a:p>
            <a:pPr lvl="1" algn="just">
              <a:lnSpc>
                <a:spcPct val="90000"/>
              </a:lnSpc>
            </a:pPr>
            <a:r>
              <a:rPr lang="en-US" altLang="zh-CN" sz="1600" dirty="0"/>
              <a:t>E</a:t>
            </a:r>
            <a:r>
              <a:rPr lang="zh-CN" altLang="en-US" sz="1600" dirty="0"/>
              <a:t>约束（异）：</a:t>
            </a:r>
            <a:r>
              <a:rPr lang="en-US" altLang="zh-CN" sz="1600" dirty="0"/>
              <a:t>a</a:t>
            </a:r>
            <a:r>
              <a:rPr lang="zh-CN" altLang="en-US" sz="1600" dirty="0"/>
              <a:t>和</a:t>
            </a:r>
            <a:r>
              <a:rPr lang="en-US" altLang="zh-CN" sz="1600" dirty="0"/>
              <a:t>b</a:t>
            </a:r>
            <a:r>
              <a:rPr lang="zh-CN" altLang="en-US" sz="1600" dirty="0"/>
              <a:t>中至多有一个可能为</a:t>
            </a:r>
            <a:r>
              <a:rPr lang="en-US" altLang="zh-CN" sz="1600" dirty="0"/>
              <a:t>1</a:t>
            </a:r>
            <a:r>
              <a:rPr lang="zh-CN" altLang="en-US" sz="1600" dirty="0"/>
              <a:t>，即</a:t>
            </a:r>
            <a:r>
              <a:rPr lang="en-US" altLang="zh-CN" sz="1600" dirty="0"/>
              <a:t>a</a:t>
            </a:r>
            <a:r>
              <a:rPr lang="zh-CN" altLang="en-US" sz="1600" dirty="0"/>
              <a:t>和</a:t>
            </a:r>
            <a:r>
              <a:rPr lang="en-US" altLang="zh-CN" sz="1600" dirty="0"/>
              <a:t>b</a:t>
            </a:r>
            <a:r>
              <a:rPr lang="zh-CN" altLang="en-US" sz="1600" dirty="0"/>
              <a:t>不能同时为</a:t>
            </a:r>
            <a:r>
              <a:rPr lang="en-US" altLang="zh-CN" sz="1600" dirty="0"/>
              <a:t>1</a:t>
            </a:r>
            <a:r>
              <a:rPr lang="zh-CN" altLang="en-US" sz="1600" dirty="0"/>
              <a:t>。</a:t>
            </a:r>
            <a:endParaRPr lang="en-US" altLang="zh-CN" sz="1600" dirty="0"/>
          </a:p>
          <a:p>
            <a:pPr lvl="1" algn="just">
              <a:lnSpc>
                <a:spcPct val="90000"/>
              </a:lnSpc>
            </a:pPr>
            <a:r>
              <a:rPr lang="en-US" altLang="zh-CN" sz="1600" dirty="0"/>
              <a:t>I</a:t>
            </a:r>
            <a:r>
              <a:rPr lang="zh-CN" altLang="en-US" sz="1600" dirty="0"/>
              <a:t>约束（或）：</a:t>
            </a:r>
            <a:r>
              <a:rPr lang="en-US" altLang="zh-CN" sz="1600" dirty="0"/>
              <a:t>a</a:t>
            </a:r>
            <a:r>
              <a:rPr lang="zh-CN" altLang="en-US" sz="1600" dirty="0"/>
              <a:t>、</a:t>
            </a:r>
            <a:r>
              <a:rPr lang="en-US" altLang="zh-CN" sz="1600" dirty="0"/>
              <a:t>b</a:t>
            </a:r>
            <a:r>
              <a:rPr lang="zh-CN" altLang="en-US" sz="1600" dirty="0"/>
              <a:t>和</a:t>
            </a:r>
            <a:r>
              <a:rPr lang="en-US" altLang="zh-CN" sz="1600" dirty="0"/>
              <a:t>c</a:t>
            </a:r>
            <a:r>
              <a:rPr lang="zh-CN" altLang="en-US" sz="1600" dirty="0"/>
              <a:t>中至少有一个必须是</a:t>
            </a:r>
            <a:r>
              <a:rPr lang="en-US" altLang="zh-CN" sz="1600" dirty="0"/>
              <a:t>1</a:t>
            </a:r>
            <a:r>
              <a:rPr lang="zh-CN" altLang="en-US" sz="1600" dirty="0"/>
              <a:t>，即 </a:t>
            </a:r>
            <a:r>
              <a:rPr lang="en-US" altLang="zh-CN" sz="1600" dirty="0"/>
              <a:t>a</a:t>
            </a:r>
            <a:r>
              <a:rPr lang="zh-CN" altLang="en-US" sz="1600" dirty="0"/>
              <a:t>、</a:t>
            </a:r>
            <a:r>
              <a:rPr lang="en-US" altLang="zh-CN" sz="1600" dirty="0"/>
              <a:t>b </a:t>
            </a:r>
            <a:r>
              <a:rPr lang="zh-CN" altLang="en-US" sz="1600" dirty="0"/>
              <a:t>和</a:t>
            </a:r>
            <a:r>
              <a:rPr lang="en-US" altLang="zh-CN" sz="1600" dirty="0"/>
              <a:t>c</a:t>
            </a:r>
            <a:r>
              <a:rPr lang="zh-CN" altLang="en-US" sz="1600" dirty="0"/>
              <a:t>不能同时为</a:t>
            </a:r>
            <a:r>
              <a:rPr lang="en-US" altLang="zh-CN" sz="1600" dirty="0"/>
              <a:t>0</a:t>
            </a:r>
            <a:r>
              <a:rPr lang="zh-CN" altLang="en-US" sz="1600" dirty="0"/>
              <a:t>。</a:t>
            </a:r>
            <a:endParaRPr lang="en-US" altLang="zh-CN" sz="1600" dirty="0"/>
          </a:p>
          <a:p>
            <a:pPr lvl="1" algn="just">
              <a:lnSpc>
                <a:spcPct val="90000"/>
              </a:lnSpc>
            </a:pPr>
            <a:r>
              <a:rPr lang="en-US" altLang="zh-CN" sz="1600" dirty="0"/>
              <a:t>O</a:t>
            </a:r>
            <a:r>
              <a:rPr lang="zh-CN" altLang="en-US" sz="1600" dirty="0"/>
              <a:t>约束（唯一）；</a:t>
            </a:r>
            <a:r>
              <a:rPr lang="en-US" altLang="zh-CN" sz="1600" dirty="0"/>
              <a:t>a</a:t>
            </a:r>
            <a:r>
              <a:rPr lang="zh-CN" altLang="en-US" sz="1600" dirty="0"/>
              <a:t>和</a:t>
            </a:r>
            <a:r>
              <a:rPr lang="en-US" altLang="zh-CN" sz="1600" dirty="0"/>
              <a:t>b</a:t>
            </a:r>
            <a:r>
              <a:rPr lang="zh-CN" altLang="en-US" sz="1600" dirty="0"/>
              <a:t>必须有一个，且仅有</a:t>
            </a:r>
            <a:r>
              <a:rPr lang="en-US" altLang="zh-CN" sz="1600" dirty="0"/>
              <a:t>1</a:t>
            </a:r>
            <a:r>
              <a:rPr lang="zh-CN" altLang="en-US" sz="1600" dirty="0"/>
              <a:t>个为</a:t>
            </a:r>
            <a:r>
              <a:rPr lang="en-US" altLang="zh-CN" sz="1600" dirty="0"/>
              <a:t>1</a:t>
            </a:r>
            <a:r>
              <a:rPr lang="zh-CN" altLang="en-US" sz="1600" dirty="0"/>
              <a:t>。</a:t>
            </a:r>
            <a:endParaRPr lang="en-US" altLang="zh-CN" sz="1600" dirty="0"/>
          </a:p>
          <a:p>
            <a:pPr lvl="1" algn="just">
              <a:lnSpc>
                <a:spcPct val="90000"/>
              </a:lnSpc>
            </a:pPr>
            <a:r>
              <a:rPr lang="en-US" altLang="zh-CN" sz="1600" dirty="0"/>
              <a:t>R</a:t>
            </a:r>
            <a:r>
              <a:rPr lang="zh-CN" altLang="en-US" sz="1600" dirty="0"/>
              <a:t>约束（要求）：</a:t>
            </a:r>
            <a:r>
              <a:rPr lang="en-US" altLang="zh-CN" sz="1600" dirty="0"/>
              <a:t>a</a:t>
            </a:r>
            <a:r>
              <a:rPr lang="zh-CN" altLang="en-US" sz="1600" dirty="0"/>
              <a:t>是</a:t>
            </a:r>
            <a:r>
              <a:rPr lang="en-US" altLang="zh-CN" sz="1600" dirty="0"/>
              <a:t>1</a:t>
            </a:r>
            <a:r>
              <a:rPr lang="zh-CN" altLang="en-US" sz="1600" dirty="0"/>
              <a:t>时，</a:t>
            </a:r>
            <a:r>
              <a:rPr lang="en-US" altLang="zh-CN" sz="1600" dirty="0"/>
              <a:t>b</a:t>
            </a:r>
            <a:r>
              <a:rPr lang="zh-CN" altLang="en-US" sz="1600" dirty="0"/>
              <a:t>必须是</a:t>
            </a:r>
            <a:r>
              <a:rPr lang="en-US" altLang="zh-CN" sz="1600" dirty="0"/>
              <a:t>1</a:t>
            </a:r>
            <a:r>
              <a:rPr lang="zh-CN" altLang="en-US" sz="1600" dirty="0"/>
              <a:t>，即不可能</a:t>
            </a:r>
            <a:r>
              <a:rPr lang="en-US" altLang="zh-CN" sz="1600" dirty="0"/>
              <a:t>a</a:t>
            </a:r>
            <a:r>
              <a:rPr lang="zh-CN" altLang="en-US" sz="1600" dirty="0"/>
              <a:t>是</a:t>
            </a:r>
            <a:r>
              <a:rPr lang="en-US" altLang="zh-CN" sz="1600" dirty="0"/>
              <a:t>1</a:t>
            </a:r>
            <a:r>
              <a:rPr lang="zh-CN" altLang="en-US" sz="1600" dirty="0"/>
              <a:t>时</a:t>
            </a:r>
            <a:r>
              <a:rPr lang="en-US" altLang="zh-CN" sz="1600" dirty="0"/>
              <a:t>b</a:t>
            </a:r>
            <a:r>
              <a:rPr lang="zh-CN" altLang="en-US" sz="1600" dirty="0"/>
              <a:t>是</a:t>
            </a:r>
            <a:r>
              <a:rPr lang="en-US" altLang="zh-CN" sz="1600" dirty="0"/>
              <a:t>0</a:t>
            </a:r>
            <a:r>
              <a:rPr lang="zh-CN" altLang="en-US" sz="1600" dirty="0"/>
              <a:t>。</a:t>
            </a:r>
            <a:endParaRPr lang="en-US" altLang="zh-CN" sz="1600" dirty="0"/>
          </a:p>
        </p:txBody>
      </p:sp>
      <p:pic>
        <p:nvPicPr>
          <p:cNvPr id="5662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557907"/>
            <a:ext cx="2952750" cy="328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21711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68313" y="269875"/>
            <a:ext cx="8229600" cy="647700"/>
          </a:xfrm>
        </p:spPr>
        <p:txBody>
          <a:bodyPr/>
          <a:lstStyle/>
          <a:p>
            <a:r>
              <a:rPr lang="zh-CN" altLang="en-US" sz="2800" dirty="0">
                <a:latin typeface="宋体" pitchFamily="2" charset="-122"/>
              </a:rPr>
              <a:t>因果图法</a:t>
            </a:r>
            <a:r>
              <a:rPr lang="en-US" altLang="zh-CN" sz="2800" dirty="0">
                <a:latin typeface="宋体" pitchFamily="2" charset="-122"/>
              </a:rPr>
              <a:t>-</a:t>
            </a:r>
            <a:r>
              <a:rPr lang="zh-CN" altLang="en-US" sz="2800" dirty="0">
                <a:latin typeface="宋体" pitchFamily="2" charset="-122"/>
              </a:rPr>
              <a:t>约束</a:t>
            </a:r>
            <a:endParaRPr lang="zh-CN" altLang="en-US" sz="2800" dirty="0"/>
          </a:p>
        </p:txBody>
      </p:sp>
      <p:sp>
        <p:nvSpPr>
          <p:cNvPr id="149507" name="Rectangle 3"/>
          <p:cNvSpPr>
            <a:spLocks noGrp="1" noChangeArrowheads="1"/>
          </p:cNvSpPr>
          <p:nvPr>
            <p:ph type="body" idx="1"/>
          </p:nvPr>
        </p:nvSpPr>
        <p:spPr>
          <a:xfrm>
            <a:off x="611189" y="933450"/>
            <a:ext cx="4464867" cy="39449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lnSpc>
                <a:spcPct val="90000"/>
              </a:lnSpc>
            </a:pPr>
            <a:r>
              <a:rPr lang="zh-CN" altLang="en-US" sz="2000" dirty="0"/>
              <a:t>输出之间</a:t>
            </a:r>
            <a:r>
              <a:rPr lang="en-US" altLang="zh-CN" sz="2000" dirty="0"/>
              <a:t>1</a:t>
            </a:r>
            <a:r>
              <a:rPr lang="zh-CN" altLang="en-US" sz="2000" dirty="0"/>
              <a:t>种约束（输出状态之间也往往存在约束。）</a:t>
            </a:r>
            <a:endParaRPr lang="en-US" altLang="zh-CN" sz="2000" dirty="0"/>
          </a:p>
          <a:p>
            <a:pPr lvl="1" algn="just">
              <a:lnSpc>
                <a:spcPct val="90000"/>
              </a:lnSpc>
            </a:pPr>
            <a:r>
              <a:rPr lang="zh-CN" altLang="en-US" sz="1600" dirty="0"/>
              <a:t>输出条件的约束只有</a:t>
            </a:r>
            <a:r>
              <a:rPr lang="en-US" altLang="zh-CN" sz="1600" dirty="0"/>
              <a:t>M</a:t>
            </a:r>
            <a:r>
              <a:rPr lang="zh-CN" altLang="en-US" sz="1600" dirty="0"/>
              <a:t>约束（强制）：若结果</a:t>
            </a:r>
            <a:r>
              <a:rPr lang="en-US" altLang="zh-CN" sz="1600" dirty="0"/>
              <a:t>a</a:t>
            </a:r>
            <a:r>
              <a:rPr lang="zh-CN" altLang="en-US" sz="1600" dirty="0"/>
              <a:t>是</a:t>
            </a:r>
            <a:r>
              <a:rPr lang="en-US" altLang="zh-CN" sz="1600" dirty="0"/>
              <a:t>1</a:t>
            </a:r>
            <a:r>
              <a:rPr lang="zh-CN" altLang="en-US" sz="1600" dirty="0"/>
              <a:t>，则结果</a:t>
            </a:r>
            <a:r>
              <a:rPr lang="en-US" altLang="zh-CN" sz="1600" dirty="0"/>
              <a:t>b</a:t>
            </a:r>
            <a:r>
              <a:rPr lang="zh-CN" altLang="en-US" sz="1600" dirty="0"/>
              <a:t>强制为</a:t>
            </a:r>
            <a:r>
              <a:rPr lang="en-US" altLang="zh-CN" sz="1600" dirty="0"/>
              <a:t>0</a:t>
            </a:r>
            <a:r>
              <a:rPr lang="zh-CN" altLang="en-US" sz="1600" dirty="0"/>
              <a:t>。</a:t>
            </a:r>
            <a:endParaRPr lang="en-US" altLang="zh-CN" sz="1600" dirty="0"/>
          </a:p>
        </p:txBody>
      </p:sp>
      <p:pic>
        <p:nvPicPr>
          <p:cNvPr id="5672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1061963"/>
            <a:ext cx="1766887" cy="165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8325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468313" y="269875"/>
            <a:ext cx="8229600" cy="647700"/>
          </a:xfrm>
        </p:spPr>
        <p:txBody>
          <a:bodyPr/>
          <a:lstStyle/>
          <a:p>
            <a:r>
              <a:rPr lang="zh-CN" altLang="en-US">
                <a:latin typeface="宋体" pitchFamily="2" charset="-122"/>
              </a:rPr>
              <a:t>因果图法步骤 </a:t>
            </a:r>
          </a:p>
        </p:txBody>
      </p:sp>
      <p:sp>
        <p:nvSpPr>
          <p:cNvPr id="592899" name="Rectangle 3"/>
          <p:cNvSpPr>
            <a:spLocks noGrp="1" noChangeArrowheads="1"/>
          </p:cNvSpPr>
          <p:nvPr>
            <p:ph type="body" idx="1"/>
          </p:nvPr>
        </p:nvSpPr>
        <p:spPr>
          <a:xfrm>
            <a:off x="468313" y="990600"/>
            <a:ext cx="8229600" cy="33972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zh-CN" altLang="en-US" sz="2102" dirty="0">
                <a:latin typeface="宋体" panose="02010600030101010101" pitchFamily="2" charset="-122"/>
              </a:rPr>
              <a:t>分析软件规格说明描述中</a:t>
            </a:r>
            <a:r>
              <a:rPr lang="en-US" altLang="zh-CN" sz="2102" dirty="0">
                <a:latin typeface="宋体" panose="02010600030101010101" pitchFamily="2" charset="-122"/>
              </a:rPr>
              <a:t>, </a:t>
            </a:r>
            <a:r>
              <a:rPr lang="zh-CN" altLang="en-US" sz="2102" dirty="0">
                <a:latin typeface="宋体" panose="02010600030101010101" pitchFamily="2" charset="-122"/>
              </a:rPr>
              <a:t>哪些是原因</a:t>
            </a:r>
            <a:r>
              <a:rPr lang="en-US" altLang="zh-CN" sz="2102" dirty="0">
                <a:latin typeface="宋体" panose="02010600030101010101" pitchFamily="2" charset="-122"/>
              </a:rPr>
              <a:t>(</a:t>
            </a:r>
            <a:r>
              <a:rPr lang="zh-CN" altLang="en-US" sz="2102" dirty="0">
                <a:latin typeface="宋体" panose="02010600030101010101" pitchFamily="2" charset="-122"/>
              </a:rPr>
              <a:t>即输入条件或输入条件的等价类</a:t>
            </a:r>
            <a:r>
              <a:rPr lang="en-US" altLang="zh-CN" sz="2102" dirty="0">
                <a:latin typeface="宋体" panose="02010600030101010101" pitchFamily="2" charset="-122"/>
              </a:rPr>
              <a:t>),</a:t>
            </a:r>
            <a:r>
              <a:rPr lang="zh-CN" altLang="en-US" sz="2102" dirty="0">
                <a:latin typeface="宋体" panose="02010600030101010101" pitchFamily="2" charset="-122"/>
              </a:rPr>
              <a:t>哪些是结果</a:t>
            </a:r>
            <a:r>
              <a:rPr lang="en-US" altLang="zh-CN" sz="2102" dirty="0">
                <a:latin typeface="宋体" panose="02010600030101010101" pitchFamily="2" charset="-122"/>
              </a:rPr>
              <a:t>(</a:t>
            </a:r>
            <a:r>
              <a:rPr lang="zh-CN" altLang="en-US" sz="2102" dirty="0">
                <a:latin typeface="宋体" panose="02010600030101010101" pitchFamily="2" charset="-122"/>
              </a:rPr>
              <a:t>即输出条件</a:t>
            </a:r>
            <a:r>
              <a:rPr lang="en-US" altLang="zh-CN" sz="2102" dirty="0">
                <a:latin typeface="宋体" panose="02010600030101010101" pitchFamily="2" charset="-122"/>
              </a:rPr>
              <a:t>), </a:t>
            </a:r>
            <a:r>
              <a:rPr lang="zh-CN" altLang="en-US" sz="2102" dirty="0">
                <a:latin typeface="宋体" panose="02010600030101010101" pitchFamily="2" charset="-122"/>
              </a:rPr>
              <a:t>并给每个原因和结果赋予一个标识符。</a:t>
            </a:r>
            <a:endParaRPr lang="en-US" altLang="zh-CN" sz="2102" dirty="0">
              <a:latin typeface="宋体" panose="02010600030101010101" pitchFamily="2" charset="-122"/>
            </a:endParaRPr>
          </a:p>
          <a:p>
            <a:pPr>
              <a:defRPr/>
            </a:pPr>
            <a:r>
              <a:rPr lang="zh-CN" altLang="en-US" sz="2102" dirty="0">
                <a:latin typeface="宋体" panose="02010600030101010101" pitchFamily="2" charset="-122"/>
              </a:rPr>
              <a:t>分析软件规格说明描述中的语义，找出原因与结果之间</a:t>
            </a:r>
            <a:r>
              <a:rPr lang="en-US" altLang="zh-CN" sz="2102" dirty="0">
                <a:latin typeface="宋体" panose="02010600030101010101" pitchFamily="2" charset="-122"/>
              </a:rPr>
              <a:t>, </a:t>
            </a:r>
            <a:r>
              <a:rPr lang="zh-CN" altLang="en-US" sz="2102" dirty="0">
                <a:latin typeface="宋体" panose="02010600030101010101" pitchFamily="2" charset="-122"/>
              </a:rPr>
              <a:t>原因与原因之间对应的关系，根据这些关系</a:t>
            </a:r>
            <a:r>
              <a:rPr lang="en-US" altLang="zh-CN" sz="2102" dirty="0">
                <a:latin typeface="宋体" panose="02010600030101010101" pitchFamily="2" charset="-122"/>
              </a:rPr>
              <a:t>,</a:t>
            </a:r>
            <a:r>
              <a:rPr lang="zh-CN" altLang="en-US" sz="2102" dirty="0">
                <a:latin typeface="宋体" panose="02010600030101010101" pitchFamily="2" charset="-122"/>
              </a:rPr>
              <a:t>画出因果图。</a:t>
            </a:r>
            <a:endParaRPr lang="en-US" altLang="zh-CN" sz="2102" dirty="0">
              <a:latin typeface="宋体" panose="02010600030101010101" pitchFamily="2" charset="-122"/>
            </a:endParaRPr>
          </a:p>
          <a:p>
            <a:pPr>
              <a:defRPr/>
            </a:pPr>
            <a:r>
              <a:rPr lang="zh-CN" altLang="en-US" sz="2102" dirty="0">
                <a:latin typeface="宋体" panose="02010600030101010101" pitchFamily="2" charset="-122"/>
              </a:rPr>
              <a:t>由于语法或环境限制</a:t>
            </a:r>
            <a:r>
              <a:rPr lang="en-US" altLang="zh-CN" sz="2102" dirty="0">
                <a:latin typeface="宋体" panose="02010600030101010101" pitchFamily="2" charset="-122"/>
              </a:rPr>
              <a:t>, </a:t>
            </a:r>
            <a:r>
              <a:rPr lang="zh-CN" altLang="en-US" sz="2102" dirty="0">
                <a:latin typeface="宋体" panose="02010600030101010101" pitchFamily="2" charset="-122"/>
              </a:rPr>
              <a:t>有些原因与原因之间</a:t>
            </a:r>
            <a:r>
              <a:rPr lang="en-US" altLang="zh-CN" sz="2102" dirty="0">
                <a:latin typeface="宋体" panose="02010600030101010101" pitchFamily="2" charset="-122"/>
              </a:rPr>
              <a:t>,</a:t>
            </a:r>
            <a:r>
              <a:rPr lang="zh-CN" altLang="en-US" sz="2102" dirty="0">
                <a:latin typeface="宋体" panose="02010600030101010101" pitchFamily="2" charset="-122"/>
              </a:rPr>
              <a:t>原因与结果之间的组合情况不可能出现，为表明这些特殊情况</a:t>
            </a:r>
            <a:r>
              <a:rPr lang="en-US" altLang="zh-CN" sz="2102" dirty="0">
                <a:latin typeface="宋体" panose="02010600030101010101" pitchFamily="2" charset="-122"/>
              </a:rPr>
              <a:t>, </a:t>
            </a:r>
            <a:r>
              <a:rPr lang="zh-CN" altLang="en-US" sz="2102" dirty="0">
                <a:latin typeface="宋体" panose="02010600030101010101" pitchFamily="2" charset="-122"/>
              </a:rPr>
              <a:t>在因果图上用一些记号表明约束或限制条件。</a:t>
            </a:r>
            <a:endParaRPr lang="en-US" altLang="zh-CN" sz="2102" dirty="0">
              <a:latin typeface="宋体" panose="02010600030101010101" pitchFamily="2" charset="-122"/>
            </a:endParaRPr>
          </a:p>
          <a:p>
            <a:pPr>
              <a:defRPr/>
            </a:pPr>
            <a:r>
              <a:rPr lang="zh-CN" altLang="en-US" sz="2102" b="1" dirty="0">
                <a:latin typeface="宋体" panose="02010600030101010101" pitchFamily="2" charset="-122"/>
              </a:rPr>
              <a:t>把因果图转换为判定表。</a:t>
            </a:r>
            <a:endParaRPr lang="en-US" altLang="zh-CN" sz="2102" b="1" dirty="0">
              <a:latin typeface="宋体" panose="02010600030101010101" pitchFamily="2" charset="-122"/>
            </a:endParaRPr>
          </a:p>
          <a:p>
            <a:pPr>
              <a:defRPr/>
            </a:pPr>
            <a:r>
              <a:rPr lang="zh-CN" altLang="en-US" sz="2102" dirty="0">
                <a:latin typeface="宋体" panose="02010600030101010101" pitchFamily="2" charset="-122"/>
              </a:rPr>
              <a:t>把判定表的每一列拿出来作为依据</a:t>
            </a:r>
            <a:r>
              <a:rPr lang="en-US" altLang="zh-CN" sz="2102" dirty="0">
                <a:latin typeface="宋体" panose="02010600030101010101" pitchFamily="2" charset="-122"/>
              </a:rPr>
              <a:t>,</a:t>
            </a:r>
            <a:r>
              <a:rPr lang="zh-CN" altLang="en-US" sz="2102" dirty="0">
                <a:latin typeface="宋体" panose="02010600030101010101" pitchFamily="2" charset="-122"/>
              </a:rPr>
              <a:t>设计测试用例。</a:t>
            </a:r>
          </a:p>
        </p:txBody>
      </p:sp>
    </p:spTree>
    <p:extLst>
      <p:ext uri="{BB962C8B-B14F-4D97-AF65-F5344CB8AC3E}">
        <p14:creationId xmlns:p14="http://schemas.microsoft.com/office/powerpoint/2010/main" val="30278186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468313" y="269875"/>
            <a:ext cx="8229600" cy="647700"/>
          </a:xfrm>
        </p:spPr>
        <p:txBody>
          <a:bodyPr/>
          <a:lstStyle/>
          <a:p>
            <a:r>
              <a:rPr lang="zh-CN" altLang="en-US" dirty="0">
                <a:latin typeface="宋体" pitchFamily="2" charset="-122"/>
              </a:rPr>
              <a:t>因果图法</a:t>
            </a:r>
            <a:r>
              <a:rPr lang="en-US" altLang="zh-CN" dirty="0">
                <a:latin typeface="宋体" pitchFamily="2" charset="-122"/>
              </a:rPr>
              <a:t>-</a:t>
            </a:r>
            <a:r>
              <a:rPr lang="zh-CN" altLang="en-US" dirty="0">
                <a:latin typeface="宋体" pitchFamily="2" charset="-122"/>
              </a:rPr>
              <a:t>实例 </a:t>
            </a:r>
          </a:p>
        </p:txBody>
      </p:sp>
      <p:sp>
        <p:nvSpPr>
          <p:cNvPr id="156675" name="Rectangle 3"/>
          <p:cNvSpPr>
            <a:spLocks noGrp="1" noChangeArrowheads="1"/>
          </p:cNvSpPr>
          <p:nvPr>
            <p:ph type="body" idx="1"/>
          </p:nvPr>
        </p:nvSpPr>
        <p:spPr>
          <a:xfrm>
            <a:off x="684213" y="1062038"/>
            <a:ext cx="7775575" cy="3721100"/>
          </a:xfrm>
        </p:spPr>
        <p:txBody>
          <a:bodyPr/>
          <a:lstStyle/>
          <a:p>
            <a:pPr>
              <a:lnSpc>
                <a:spcPct val="90000"/>
              </a:lnSpc>
            </a:pPr>
            <a:r>
              <a:rPr lang="zh-CN" altLang="en-US" sz="2400" dirty="0"/>
              <a:t>某软件规格说明书包含这样的要求：第一个字符必须是</a:t>
            </a:r>
            <a:r>
              <a:rPr lang="en-US" altLang="zh-CN" sz="2400" dirty="0"/>
              <a:t>#</a:t>
            </a:r>
            <a:r>
              <a:rPr lang="zh-CN" altLang="en-US" sz="2400" dirty="0"/>
              <a:t>或*，第二个字符必须是一个数字，在此情况下进行文件的修改。但如果第一个字符不正确，则给出信息</a:t>
            </a:r>
            <a:r>
              <a:rPr lang="en-US" altLang="zh-CN" sz="2400" dirty="0"/>
              <a:t>L</a:t>
            </a:r>
            <a:r>
              <a:rPr lang="zh-CN" altLang="en-US" sz="2400" dirty="0"/>
              <a:t>；如果第二个字符不是数字，则给出信息</a:t>
            </a:r>
            <a:r>
              <a:rPr lang="en-US" altLang="zh-CN" sz="2400" dirty="0"/>
              <a:t>M</a:t>
            </a:r>
            <a:r>
              <a:rPr lang="zh-CN" altLang="en-US" sz="2400" dirty="0"/>
              <a:t>。</a:t>
            </a:r>
          </a:p>
          <a:p>
            <a:pPr>
              <a:lnSpc>
                <a:spcPct val="90000"/>
              </a:lnSpc>
            </a:pPr>
            <a:r>
              <a:rPr lang="zh-CN" altLang="en-US" sz="2000" dirty="0"/>
              <a:t>解题步骤</a:t>
            </a:r>
            <a:endParaRPr lang="en-US" altLang="zh-CN" sz="2000" dirty="0"/>
          </a:p>
          <a:p>
            <a:pPr>
              <a:lnSpc>
                <a:spcPct val="90000"/>
              </a:lnSpc>
              <a:spcBef>
                <a:spcPct val="15000"/>
              </a:spcBef>
              <a:buFont typeface="Wingdings" pitchFamily="2" charset="2"/>
              <a:buNone/>
            </a:pPr>
            <a:r>
              <a:rPr lang="zh-CN" altLang="en-US" sz="2000" dirty="0"/>
              <a:t>（</a:t>
            </a:r>
            <a:r>
              <a:rPr lang="en-US" altLang="zh-CN" sz="2000" dirty="0"/>
              <a:t>1</a:t>
            </a:r>
            <a:r>
              <a:rPr lang="zh-CN" altLang="en-US" sz="2000" dirty="0"/>
              <a:t>）分析程序的规格说明，列出原因和结果。</a:t>
            </a:r>
          </a:p>
          <a:p>
            <a:pPr>
              <a:lnSpc>
                <a:spcPct val="90000"/>
              </a:lnSpc>
              <a:spcBef>
                <a:spcPct val="15000"/>
              </a:spcBef>
              <a:buFont typeface="Wingdings" pitchFamily="2" charset="2"/>
              <a:buNone/>
            </a:pPr>
            <a:r>
              <a:rPr lang="zh-CN" altLang="en-US" sz="2000" dirty="0"/>
              <a:t>（</a:t>
            </a:r>
            <a:r>
              <a:rPr lang="en-US" altLang="zh-CN" sz="2000" dirty="0"/>
              <a:t>2</a:t>
            </a:r>
            <a:r>
              <a:rPr lang="zh-CN" altLang="en-US" sz="2000" dirty="0"/>
              <a:t>）找出原因与结果之间的因果关系、原因与原因之间的约束关系，画出因果图。</a:t>
            </a:r>
          </a:p>
          <a:p>
            <a:pPr>
              <a:lnSpc>
                <a:spcPct val="90000"/>
              </a:lnSpc>
              <a:spcBef>
                <a:spcPct val="15000"/>
              </a:spcBef>
              <a:buFont typeface="Wingdings" pitchFamily="2" charset="2"/>
              <a:buNone/>
            </a:pPr>
            <a:r>
              <a:rPr lang="zh-CN" altLang="en-US" sz="2000" dirty="0"/>
              <a:t>（</a:t>
            </a:r>
            <a:r>
              <a:rPr lang="en-US" altLang="zh-CN" sz="2000" dirty="0"/>
              <a:t>3</a:t>
            </a:r>
            <a:r>
              <a:rPr lang="zh-CN" altLang="en-US" sz="2000" dirty="0"/>
              <a:t>）将因果图转换成决策表。</a:t>
            </a:r>
          </a:p>
          <a:p>
            <a:pPr>
              <a:lnSpc>
                <a:spcPct val="90000"/>
              </a:lnSpc>
              <a:spcBef>
                <a:spcPct val="15000"/>
              </a:spcBef>
              <a:buFont typeface="Wingdings" pitchFamily="2" charset="2"/>
              <a:buNone/>
            </a:pPr>
            <a:r>
              <a:rPr lang="zh-CN" altLang="en-US" sz="2000" dirty="0"/>
              <a:t>（</a:t>
            </a:r>
            <a:r>
              <a:rPr lang="en-US" altLang="zh-CN" sz="2000" dirty="0"/>
              <a:t>4</a:t>
            </a:r>
            <a:r>
              <a:rPr lang="zh-CN" altLang="en-US" sz="2000" dirty="0"/>
              <a:t>）根据（</a:t>
            </a:r>
            <a:r>
              <a:rPr lang="en-US" altLang="zh-CN" sz="2000" dirty="0"/>
              <a:t>3</a:t>
            </a:r>
            <a:r>
              <a:rPr lang="zh-CN" altLang="en-US" sz="2000" dirty="0"/>
              <a:t>）中的决策表，设计测试用例的输入数据和预期输出。</a:t>
            </a:r>
          </a:p>
        </p:txBody>
      </p:sp>
    </p:spTree>
    <p:extLst>
      <p:ext uri="{BB962C8B-B14F-4D97-AF65-F5344CB8AC3E}">
        <p14:creationId xmlns:p14="http://schemas.microsoft.com/office/powerpoint/2010/main" val="3575510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468313" y="269875"/>
            <a:ext cx="8229600" cy="647700"/>
          </a:xfrm>
        </p:spPr>
        <p:txBody>
          <a:bodyPr/>
          <a:lstStyle/>
          <a:p>
            <a:r>
              <a:rPr lang="zh-CN" altLang="en-US"/>
              <a:t>因果分析</a:t>
            </a:r>
            <a:endParaRPr lang="en-US" altLang="zh-CN"/>
          </a:p>
        </p:txBody>
      </p:sp>
      <p:sp>
        <p:nvSpPr>
          <p:cNvPr id="157699" name="Rectangle 3"/>
          <p:cNvSpPr>
            <a:spLocks noGrp="1" noChangeArrowheads="1"/>
          </p:cNvSpPr>
          <p:nvPr>
            <p:ph type="body" idx="1"/>
          </p:nvPr>
        </p:nvSpPr>
        <p:spPr>
          <a:xfrm>
            <a:off x="468313" y="990600"/>
            <a:ext cx="8229600" cy="3397250"/>
          </a:xfrm>
        </p:spPr>
        <p:txBody>
          <a:bodyPr/>
          <a:lstStyle/>
          <a:p>
            <a:pPr>
              <a:lnSpc>
                <a:spcPct val="90000"/>
              </a:lnSpc>
            </a:pPr>
            <a:r>
              <a:rPr lang="zh-CN" altLang="en-US" sz="2400" dirty="0"/>
              <a:t>原因：</a:t>
            </a:r>
          </a:p>
          <a:p>
            <a:pPr lvl="1"/>
            <a:r>
              <a:rPr lang="en-US" altLang="zh-CN" sz="1800" dirty="0"/>
              <a:t>c1——</a:t>
            </a:r>
            <a:r>
              <a:rPr lang="zh-CN" altLang="en-US" sz="1800" dirty="0"/>
              <a:t>第一个字符是</a:t>
            </a:r>
            <a:r>
              <a:rPr lang="en-US" altLang="zh-CN" sz="1800" dirty="0"/>
              <a:t>#</a:t>
            </a:r>
            <a:endParaRPr lang="zh-CN" altLang="en-US" sz="1800" dirty="0"/>
          </a:p>
          <a:p>
            <a:pPr lvl="1"/>
            <a:r>
              <a:rPr lang="en-US" altLang="zh-CN" sz="1800" dirty="0"/>
              <a:t>c2——</a:t>
            </a:r>
            <a:r>
              <a:rPr lang="zh-CN" altLang="en-US" sz="1800" dirty="0"/>
              <a:t>第一个字符是*</a:t>
            </a:r>
          </a:p>
          <a:p>
            <a:pPr lvl="1"/>
            <a:r>
              <a:rPr lang="en-US" altLang="zh-CN" sz="1800" dirty="0"/>
              <a:t>c3——</a:t>
            </a:r>
            <a:r>
              <a:rPr lang="zh-CN" altLang="en-US" sz="1800" dirty="0"/>
              <a:t>第二个字符是一数字</a:t>
            </a:r>
          </a:p>
          <a:p>
            <a:pPr>
              <a:lnSpc>
                <a:spcPct val="90000"/>
              </a:lnSpc>
            </a:pPr>
            <a:r>
              <a:rPr lang="zh-CN" altLang="en-US" sz="2400" dirty="0"/>
              <a:t>结果：</a:t>
            </a:r>
          </a:p>
          <a:p>
            <a:pPr lvl="1"/>
            <a:r>
              <a:rPr lang="en-US" altLang="zh-CN" sz="1800" dirty="0"/>
              <a:t>e1——</a:t>
            </a:r>
            <a:r>
              <a:rPr lang="zh-CN" altLang="en-US" sz="1800" dirty="0"/>
              <a:t>给出信息</a:t>
            </a:r>
            <a:r>
              <a:rPr lang="en-US" altLang="zh-CN" sz="1800" dirty="0"/>
              <a:t>L</a:t>
            </a:r>
            <a:endParaRPr lang="zh-CN" altLang="en-US" sz="1800" dirty="0"/>
          </a:p>
          <a:p>
            <a:pPr lvl="1"/>
            <a:r>
              <a:rPr lang="en-US" altLang="zh-CN" sz="1800" dirty="0"/>
              <a:t>e2——</a:t>
            </a:r>
            <a:r>
              <a:rPr lang="zh-CN" altLang="en-US" sz="1800" dirty="0"/>
              <a:t>修改文件</a:t>
            </a:r>
          </a:p>
          <a:p>
            <a:pPr lvl="1"/>
            <a:r>
              <a:rPr lang="en-US" altLang="zh-CN" sz="1800" dirty="0"/>
              <a:t>e3——</a:t>
            </a:r>
            <a:r>
              <a:rPr lang="zh-CN" altLang="en-US" sz="1800" dirty="0"/>
              <a:t>给出信息</a:t>
            </a:r>
            <a:r>
              <a:rPr lang="en-US" altLang="zh-CN" sz="1800" dirty="0"/>
              <a:t>M</a:t>
            </a:r>
            <a:endParaRPr lang="zh-CN" altLang="en-US" sz="1800" dirty="0"/>
          </a:p>
        </p:txBody>
      </p:sp>
    </p:spTree>
    <p:extLst>
      <p:ext uri="{BB962C8B-B14F-4D97-AF65-F5344CB8AC3E}">
        <p14:creationId xmlns:p14="http://schemas.microsoft.com/office/powerpoint/2010/main" val="38254892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552450" y="511175"/>
            <a:ext cx="7558088" cy="622300"/>
          </a:xfrm>
        </p:spPr>
        <p:txBody>
          <a:bodyPr/>
          <a:lstStyle/>
          <a:p>
            <a:r>
              <a:rPr lang="zh-CN" altLang="en-US"/>
              <a:t>因果分析</a:t>
            </a:r>
            <a:endParaRPr lang="en-US" altLang="zh-CN"/>
          </a:p>
        </p:txBody>
      </p:sp>
      <p:sp>
        <p:nvSpPr>
          <p:cNvPr id="158723" name="Rectangle 3"/>
          <p:cNvSpPr>
            <a:spLocks noGrp="1" noChangeArrowheads="1"/>
          </p:cNvSpPr>
          <p:nvPr>
            <p:ph type="body" sz="half" idx="1"/>
          </p:nvPr>
        </p:nvSpPr>
        <p:spPr>
          <a:xfrm>
            <a:off x="1628775" y="1206500"/>
            <a:ext cx="6096000" cy="3087688"/>
          </a:xfrm>
        </p:spPr>
        <p:txBody>
          <a:bodyPr/>
          <a:lstStyle/>
          <a:p>
            <a:pPr>
              <a:spcBef>
                <a:spcPct val="15000"/>
              </a:spcBef>
              <a:buFont typeface="Wingdings" pitchFamily="2" charset="2"/>
              <a:buNone/>
            </a:pPr>
            <a:r>
              <a:rPr lang="zh-CN" altLang="en-US" sz="1500" dirty="0"/>
              <a:t>（</a:t>
            </a:r>
            <a:r>
              <a:rPr lang="en-US" altLang="zh-CN" sz="1500" dirty="0"/>
              <a:t>1</a:t>
            </a:r>
            <a:r>
              <a:rPr lang="zh-CN" altLang="en-US" sz="1500" dirty="0"/>
              <a:t>）分析程序规格说明中的原因和结果：</a:t>
            </a:r>
            <a:endParaRPr lang="en-US" altLang="zh-CN" sz="1500" dirty="0"/>
          </a:p>
          <a:p>
            <a:pPr>
              <a:spcBef>
                <a:spcPct val="15000"/>
              </a:spcBef>
              <a:buFont typeface="Wingdings" pitchFamily="2" charset="2"/>
              <a:buNone/>
            </a:pPr>
            <a:endParaRPr lang="zh-CN" altLang="en-US" sz="1500" dirty="0"/>
          </a:p>
          <a:p>
            <a:pPr>
              <a:spcBef>
                <a:spcPct val="15000"/>
              </a:spcBef>
              <a:buFont typeface="Wingdings" pitchFamily="2" charset="2"/>
              <a:buNone/>
            </a:pPr>
            <a:endParaRPr lang="zh-CN" altLang="en-US" sz="1500" dirty="0"/>
          </a:p>
          <a:p>
            <a:pPr>
              <a:spcBef>
                <a:spcPct val="15000"/>
              </a:spcBef>
              <a:buFont typeface="Wingdings" pitchFamily="2" charset="2"/>
              <a:buNone/>
            </a:pPr>
            <a:endParaRPr lang="zh-CN" altLang="en-US" sz="1500" dirty="0"/>
          </a:p>
          <a:p>
            <a:pPr>
              <a:spcBef>
                <a:spcPct val="15000"/>
              </a:spcBef>
              <a:buFont typeface="Wingdings" pitchFamily="2" charset="2"/>
              <a:buNone/>
            </a:pPr>
            <a:endParaRPr lang="zh-CN" altLang="en-US" sz="1500" dirty="0"/>
          </a:p>
          <a:p>
            <a:pPr>
              <a:spcBef>
                <a:spcPct val="15000"/>
              </a:spcBef>
              <a:buFont typeface="Wingdings" pitchFamily="2" charset="2"/>
              <a:buNone/>
            </a:pPr>
            <a:endParaRPr lang="zh-CN" altLang="en-US" sz="1500" dirty="0"/>
          </a:p>
          <a:p>
            <a:pPr>
              <a:spcBef>
                <a:spcPct val="0"/>
              </a:spcBef>
              <a:buFont typeface="Wingdings" pitchFamily="2" charset="2"/>
              <a:buNone/>
            </a:pPr>
            <a:endParaRPr lang="zh-CN" altLang="en-US" sz="1500" dirty="0"/>
          </a:p>
          <a:p>
            <a:pPr>
              <a:spcBef>
                <a:spcPct val="0"/>
              </a:spcBef>
              <a:buFont typeface="Wingdings" pitchFamily="2" charset="2"/>
              <a:buNone/>
            </a:pPr>
            <a:r>
              <a:rPr lang="zh-CN" altLang="en-US" sz="1500" dirty="0"/>
              <a:t>（</a:t>
            </a:r>
            <a:r>
              <a:rPr lang="en-US" altLang="zh-CN" sz="1500" dirty="0"/>
              <a:t>2</a:t>
            </a:r>
            <a:r>
              <a:rPr lang="zh-CN" altLang="en-US" sz="1500" dirty="0"/>
              <a:t>）画出因果图（编号为</a:t>
            </a:r>
            <a:r>
              <a:rPr lang="en-US" altLang="zh-CN" sz="1500" dirty="0"/>
              <a:t>11</a:t>
            </a:r>
            <a:r>
              <a:rPr lang="zh-CN" altLang="en-US" sz="1500" dirty="0"/>
              <a:t>的中间结点是导出结果的进一步原因）：</a:t>
            </a:r>
          </a:p>
        </p:txBody>
      </p:sp>
      <p:graphicFrame>
        <p:nvGraphicFramePr>
          <p:cNvPr id="607236" name="Group 4"/>
          <p:cNvGraphicFramePr>
            <a:graphicFrameLocks noGrp="1"/>
          </p:cNvGraphicFramePr>
          <p:nvPr>
            <p:ph sz="half" idx="2"/>
          </p:nvPr>
        </p:nvGraphicFramePr>
        <p:xfrm>
          <a:off x="1889125" y="1484313"/>
          <a:ext cx="5605463" cy="1314452"/>
        </p:xfrm>
        <a:graphic>
          <a:graphicData uri="http://schemas.openxmlformats.org/drawingml/2006/table">
            <a:tbl>
              <a:tblPr/>
              <a:tblGrid>
                <a:gridCol w="3374717">
                  <a:extLst>
                    <a:ext uri="{9D8B030D-6E8A-4147-A177-3AD203B41FA5}">
                      <a16:colId xmlns:a16="http://schemas.microsoft.com/office/drawing/2014/main" val="20000"/>
                    </a:ext>
                  </a:extLst>
                </a:gridCol>
                <a:gridCol w="2230746">
                  <a:extLst>
                    <a:ext uri="{9D8B030D-6E8A-4147-A177-3AD203B41FA5}">
                      <a16:colId xmlns:a16="http://schemas.microsoft.com/office/drawing/2014/main" val="20001"/>
                    </a:ext>
                  </a:extLst>
                </a:gridCol>
              </a:tblGrid>
              <a:tr h="328613">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原因</a:t>
                      </a:r>
                    </a:p>
                  </a:txBody>
                  <a:tcPr marL="35130" marR="35130" marT="27024" marB="2702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结果</a:t>
                      </a:r>
                    </a:p>
                  </a:txBody>
                  <a:tcPr marL="35130" marR="35130" marT="27024" marB="2702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8613">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   c1</a:t>
                      </a:r>
                      <a:r>
                        <a:rPr kumimoji="0" lang="zh-CN" altLang="en-US"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：第一列字符是</a:t>
                      </a:r>
                      <a:r>
                        <a:rPr kumimoji="0" lang="en-US" altLang="zh-CN"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a:t>
                      </a:r>
                    </a:p>
                  </a:txBody>
                  <a:tcPr marL="35130" marR="35130" marT="27024" marB="270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   e1</a:t>
                      </a: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：给出信息</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L</a:t>
                      </a:r>
                    </a:p>
                  </a:txBody>
                  <a:tcPr marL="35130" marR="35130" marT="27024" marB="270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8613">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   c2</a:t>
                      </a:r>
                      <a:r>
                        <a:rPr kumimoji="0" lang="zh-CN" altLang="en-US"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：第一列字符是</a:t>
                      </a:r>
                      <a:r>
                        <a:rPr kumimoji="0" lang="en-US" altLang="zh-CN"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a:t>
                      </a:r>
                      <a:endParaRPr kumimoji="0" lang="zh-CN" altLang="en-US"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endParaRPr>
                    </a:p>
                  </a:txBody>
                  <a:tcPr marL="35130" marR="35130" marT="27024" marB="270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   e2</a:t>
                      </a: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：修改文件</a:t>
                      </a:r>
                      <a:endPar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27024" marB="270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8613">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   c3</a:t>
                      </a: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：第二列字符是一个数字</a:t>
                      </a:r>
                      <a:endPar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27024" marB="270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   e3</a:t>
                      </a:r>
                      <a:r>
                        <a:rPr kumimoji="0" lang="zh-CN" altLang="en-US"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：给出信息</a:t>
                      </a:r>
                      <a:r>
                        <a:rPr kumimoji="0" lang="en-US" altLang="zh-CN"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rPr>
                        <a:t>M</a:t>
                      </a:r>
                      <a:endParaRPr kumimoji="0" lang="zh-CN" altLang="en-US" sz="1800" b="0" i="0" u="none" strike="noStrike" cap="none" normalizeH="0" baseline="0" dirty="0">
                        <a:ln>
                          <a:noFill/>
                        </a:ln>
                        <a:solidFill>
                          <a:srgbClr val="333399"/>
                        </a:solidFill>
                        <a:effectLst/>
                        <a:latin typeface="Arial" panose="020B0604020202020204" pitchFamily="34" charset="0"/>
                        <a:ea typeface="黑体" panose="02010609060101010101" pitchFamily="49" charset="-122"/>
                      </a:endParaRPr>
                    </a:p>
                  </a:txBody>
                  <a:tcPr marL="35130" marR="35130" marT="27024" marB="270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607253" name="Group 21"/>
          <p:cNvGrpSpPr>
            <a:grpSpLocks/>
          </p:cNvGrpSpPr>
          <p:nvPr/>
        </p:nvGrpSpPr>
        <p:grpSpPr bwMode="auto">
          <a:xfrm>
            <a:off x="2058988" y="3309938"/>
            <a:ext cx="4575175" cy="1503362"/>
            <a:chOff x="748" y="2568"/>
            <a:chExt cx="3839" cy="1308"/>
          </a:xfrm>
        </p:grpSpPr>
        <p:sp>
          <p:nvSpPr>
            <p:cNvPr id="607254" name="Oval 22"/>
            <p:cNvSpPr>
              <a:spLocks noChangeArrowheads="1"/>
            </p:cNvSpPr>
            <p:nvPr/>
          </p:nvSpPr>
          <p:spPr bwMode="auto">
            <a:xfrm>
              <a:off x="1858" y="2609"/>
              <a:ext cx="326" cy="3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spcAft>
                  <a:spcPts val="450"/>
                </a:spcAft>
                <a:defRPr/>
              </a:pPr>
              <a:r>
                <a:rPr lang="en-US" altLang="zh-CN" sz="1802" b="1"/>
                <a:t>c</a:t>
              </a:r>
              <a:r>
                <a:rPr lang="en-US" altLang="zh-CN" sz="1802" b="1" baseline="-25000"/>
                <a:t>1</a:t>
              </a:r>
              <a:endParaRPr lang="en-US" altLang="zh-CN" sz="1802" b="1"/>
            </a:p>
          </p:txBody>
        </p:sp>
        <p:sp>
          <p:nvSpPr>
            <p:cNvPr id="607255" name="Oval 23"/>
            <p:cNvSpPr>
              <a:spLocks noChangeArrowheads="1"/>
            </p:cNvSpPr>
            <p:nvPr/>
          </p:nvSpPr>
          <p:spPr bwMode="auto">
            <a:xfrm>
              <a:off x="1870" y="3085"/>
              <a:ext cx="337" cy="32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spcAft>
                  <a:spcPts val="450"/>
                </a:spcAft>
                <a:defRPr/>
              </a:pPr>
              <a:r>
                <a:rPr lang="en-US" altLang="zh-CN" sz="1802" b="1"/>
                <a:t>c</a:t>
              </a:r>
              <a:r>
                <a:rPr lang="en-US" altLang="zh-CN" sz="1802" b="1" baseline="-25000"/>
                <a:t>2</a:t>
              </a:r>
              <a:endParaRPr lang="en-US" altLang="zh-CN" sz="1802" b="1"/>
            </a:p>
          </p:txBody>
        </p:sp>
        <p:sp>
          <p:nvSpPr>
            <p:cNvPr id="607256" name="Oval 24"/>
            <p:cNvSpPr>
              <a:spLocks noChangeArrowheads="1"/>
            </p:cNvSpPr>
            <p:nvPr/>
          </p:nvSpPr>
          <p:spPr bwMode="auto">
            <a:xfrm>
              <a:off x="1870" y="3568"/>
              <a:ext cx="337"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spcAft>
                  <a:spcPts val="450"/>
                </a:spcAft>
                <a:defRPr/>
              </a:pPr>
              <a:r>
                <a:rPr lang="en-US" altLang="zh-CN" sz="1802" b="1"/>
                <a:t>c</a:t>
              </a:r>
              <a:r>
                <a:rPr lang="en-US" altLang="zh-CN" sz="1802" b="1" baseline="-25000"/>
                <a:t>3</a:t>
              </a:r>
              <a:endParaRPr lang="en-US" altLang="zh-CN" sz="1802" b="1"/>
            </a:p>
          </p:txBody>
        </p:sp>
        <p:sp>
          <p:nvSpPr>
            <p:cNvPr id="607257" name="Oval 25"/>
            <p:cNvSpPr>
              <a:spLocks noChangeArrowheads="1"/>
            </p:cNvSpPr>
            <p:nvPr/>
          </p:nvSpPr>
          <p:spPr bwMode="auto">
            <a:xfrm>
              <a:off x="4219" y="2568"/>
              <a:ext cx="325" cy="31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spcAft>
                  <a:spcPts val="450"/>
                </a:spcAft>
                <a:defRPr/>
              </a:pPr>
              <a:r>
                <a:rPr lang="en-US" altLang="zh-CN" sz="1802" b="1"/>
                <a:t>e</a:t>
              </a:r>
              <a:r>
                <a:rPr lang="en-US" altLang="zh-CN" sz="1802" b="1" baseline="-25000"/>
                <a:t>1</a:t>
              </a:r>
              <a:endParaRPr lang="en-US" altLang="zh-CN" sz="1802" b="1"/>
            </a:p>
          </p:txBody>
        </p:sp>
        <p:sp>
          <p:nvSpPr>
            <p:cNvPr id="607258" name="Oval 26"/>
            <p:cNvSpPr>
              <a:spLocks noChangeArrowheads="1"/>
            </p:cNvSpPr>
            <p:nvPr/>
          </p:nvSpPr>
          <p:spPr bwMode="auto">
            <a:xfrm>
              <a:off x="3072" y="2810"/>
              <a:ext cx="324" cy="3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algn="ctr">
                <a:spcAft>
                  <a:spcPts val="450"/>
                </a:spcAft>
                <a:defRPr/>
              </a:pPr>
              <a:r>
                <a:rPr lang="en-US" altLang="zh-CN" sz="1802" b="1" dirty="0"/>
                <a:t>11</a:t>
              </a:r>
            </a:p>
          </p:txBody>
        </p:sp>
        <p:sp>
          <p:nvSpPr>
            <p:cNvPr id="607259" name="Oval 27"/>
            <p:cNvSpPr>
              <a:spLocks noChangeArrowheads="1"/>
            </p:cNvSpPr>
            <p:nvPr/>
          </p:nvSpPr>
          <p:spPr bwMode="auto">
            <a:xfrm>
              <a:off x="4241" y="3053"/>
              <a:ext cx="324" cy="3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spcAft>
                  <a:spcPts val="450"/>
                </a:spcAft>
                <a:defRPr/>
              </a:pPr>
              <a:r>
                <a:rPr lang="en-US" altLang="zh-CN" sz="1802" b="1"/>
                <a:t>e</a:t>
              </a:r>
              <a:r>
                <a:rPr lang="en-US" altLang="zh-CN" sz="1802" b="1" baseline="-25000"/>
                <a:t>2</a:t>
              </a:r>
              <a:endParaRPr lang="en-US" altLang="zh-CN" sz="1802" b="1"/>
            </a:p>
          </p:txBody>
        </p:sp>
        <p:sp>
          <p:nvSpPr>
            <p:cNvPr id="607260" name="Oval 28"/>
            <p:cNvSpPr>
              <a:spLocks noChangeArrowheads="1"/>
            </p:cNvSpPr>
            <p:nvPr/>
          </p:nvSpPr>
          <p:spPr bwMode="auto">
            <a:xfrm>
              <a:off x="4262" y="3558"/>
              <a:ext cx="325" cy="3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lgn="ctr">
                <a:spcAft>
                  <a:spcPts val="450"/>
                </a:spcAft>
                <a:defRPr/>
              </a:pPr>
              <a:r>
                <a:rPr lang="en-US" altLang="zh-CN" sz="1802" b="1"/>
                <a:t>e</a:t>
              </a:r>
              <a:r>
                <a:rPr lang="en-US" altLang="zh-CN" sz="1802" b="1" baseline="-25000"/>
                <a:t>3</a:t>
              </a:r>
              <a:endParaRPr lang="en-US" altLang="zh-CN" sz="1802" b="1"/>
            </a:p>
          </p:txBody>
        </p:sp>
        <p:sp>
          <p:nvSpPr>
            <p:cNvPr id="158752" name="Line 29"/>
            <p:cNvSpPr>
              <a:spLocks noChangeShapeType="1"/>
            </p:cNvSpPr>
            <p:nvPr/>
          </p:nvSpPr>
          <p:spPr bwMode="auto">
            <a:xfrm>
              <a:off x="2173" y="2779"/>
              <a:ext cx="920"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3" name="Line 30"/>
            <p:cNvSpPr>
              <a:spLocks noChangeShapeType="1"/>
            </p:cNvSpPr>
            <p:nvPr/>
          </p:nvSpPr>
          <p:spPr bwMode="auto">
            <a:xfrm>
              <a:off x="3407" y="3021"/>
              <a:ext cx="843" cy="1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4" name="Line 31"/>
            <p:cNvSpPr>
              <a:spLocks noChangeShapeType="1"/>
            </p:cNvSpPr>
            <p:nvPr/>
          </p:nvSpPr>
          <p:spPr bwMode="auto">
            <a:xfrm flipV="1">
              <a:off x="2205" y="3032"/>
              <a:ext cx="867" cy="2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5" name="Line 32"/>
            <p:cNvSpPr>
              <a:spLocks noChangeShapeType="1"/>
            </p:cNvSpPr>
            <p:nvPr/>
          </p:nvSpPr>
          <p:spPr bwMode="auto">
            <a:xfrm flipV="1">
              <a:off x="3407" y="2694"/>
              <a:ext cx="8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6" name="Line 33"/>
            <p:cNvSpPr>
              <a:spLocks noChangeShapeType="1"/>
            </p:cNvSpPr>
            <p:nvPr/>
          </p:nvSpPr>
          <p:spPr bwMode="auto">
            <a:xfrm flipH="1">
              <a:off x="2173" y="3285"/>
              <a:ext cx="2079" cy="3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7" name="Line 34"/>
            <p:cNvSpPr>
              <a:spLocks noChangeShapeType="1"/>
            </p:cNvSpPr>
            <p:nvPr/>
          </p:nvSpPr>
          <p:spPr bwMode="auto">
            <a:xfrm>
              <a:off x="2205" y="3739"/>
              <a:ext cx="20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7267" name="Rectangle 35"/>
            <p:cNvSpPr>
              <a:spLocks noChangeArrowheads="1"/>
            </p:cNvSpPr>
            <p:nvPr/>
          </p:nvSpPr>
          <p:spPr bwMode="auto">
            <a:xfrm>
              <a:off x="3703" y="2609"/>
              <a:ext cx="40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defRPr/>
              </a:pPr>
              <a:r>
                <a:rPr lang="zh-CN" altLang="en-US" sz="1802" b="1" dirty="0"/>
                <a:t>～</a:t>
              </a:r>
              <a:endParaRPr lang="en-US" altLang="zh-CN" sz="1802" b="1" dirty="0"/>
            </a:p>
          </p:txBody>
        </p:sp>
        <p:sp>
          <p:nvSpPr>
            <p:cNvPr id="158759" name="Rectangle 36"/>
            <p:cNvSpPr>
              <a:spLocks noChangeArrowheads="1"/>
            </p:cNvSpPr>
            <p:nvPr/>
          </p:nvSpPr>
          <p:spPr bwMode="auto">
            <a:xfrm>
              <a:off x="2636" y="2886"/>
              <a:ext cx="33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just">
                <a:spcBef>
                  <a:spcPct val="0"/>
                </a:spcBef>
                <a:buFontTx/>
                <a:buNone/>
              </a:pPr>
              <a:r>
                <a:rPr lang="en-US" altLang="zh-CN" sz="1500" b="1" dirty="0">
                  <a:latin typeface="Times New Roman" pitchFamily="18" charset="0"/>
                  <a:ea typeface="微软雅黑" pitchFamily="34" charset="-122"/>
                </a:rPr>
                <a:t>∨</a:t>
              </a:r>
            </a:p>
          </p:txBody>
        </p:sp>
        <p:sp>
          <p:nvSpPr>
            <p:cNvPr id="607269" name="Rectangle 37"/>
            <p:cNvSpPr>
              <a:spLocks noChangeArrowheads="1"/>
            </p:cNvSpPr>
            <p:nvPr/>
          </p:nvSpPr>
          <p:spPr bwMode="auto">
            <a:xfrm>
              <a:off x="748" y="2911"/>
              <a:ext cx="41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defRPr/>
              </a:pPr>
              <a:r>
                <a:rPr lang="en-US" altLang="zh-CN" sz="1802" b="1"/>
                <a:t>E</a:t>
              </a:r>
            </a:p>
          </p:txBody>
        </p:sp>
        <p:sp>
          <p:nvSpPr>
            <p:cNvPr id="158761" name="Line 38"/>
            <p:cNvSpPr>
              <a:spLocks noChangeShapeType="1"/>
            </p:cNvSpPr>
            <p:nvPr/>
          </p:nvSpPr>
          <p:spPr bwMode="auto">
            <a:xfrm flipV="1">
              <a:off x="994" y="2750"/>
              <a:ext cx="843" cy="27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2" name="Line 39"/>
            <p:cNvSpPr>
              <a:spLocks noChangeShapeType="1"/>
            </p:cNvSpPr>
            <p:nvPr/>
          </p:nvSpPr>
          <p:spPr bwMode="auto">
            <a:xfrm>
              <a:off x="1005" y="3026"/>
              <a:ext cx="832" cy="26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7272" name="Rectangle 40"/>
            <p:cNvSpPr>
              <a:spLocks noChangeArrowheads="1"/>
            </p:cNvSpPr>
            <p:nvPr/>
          </p:nvSpPr>
          <p:spPr bwMode="auto">
            <a:xfrm>
              <a:off x="3084" y="3557"/>
              <a:ext cx="40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defRPr/>
              </a:pPr>
              <a:r>
                <a:rPr lang="zh-CN" altLang="en-US" sz="1802" b="1" dirty="0"/>
                <a:t>～</a:t>
              </a:r>
              <a:endParaRPr lang="en-US" altLang="zh-CN" sz="1802" b="1" dirty="0"/>
            </a:p>
          </p:txBody>
        </p:sp>
        <p:sp>
          <p:nvSpPr>
            <p:cNvPr id="158764" name="Rectangle 41"/>
            <p:cNvSpPr>
              <a:spLocks noChangeArrowheads="1"/>
            </p:cNvSpPr>
            <p:nvPr/>
          </p:nvSpPr>
          <p:spPr bwMode="auto">
            <a:xfrm>
              <a:off x="3833" y="3113"/>
              <a:ext cx="33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just">
                <a:spcBef>
                  <a:spcPct val="0"/>
                </a:spcBef>
                <a:buFontTx/>
                <a:buNone/>
              </a:pPr>
              <a:r>
                <a:rPr lang="en-US" altLang="zh-CN" sz="1500" b="1" dirty="0">
                  <a:latin typeface="Times New Roman" pitchFamily="18" charset="0"/>
                  <a:ea typeface="微软雅黑" pitchFamily="34" charset="-122"/>
                </a:rPr>
                <a:t>∧</a:t>
              </a:r>
            </a:p>
          </p:txBody>
        </p:sp>
      </p:grpSp>
      <p:sp>
        <p:nvSpPr>
          <p:cNvPr id="607274" name="Oval 42"/>
          <p:cNvSpPr>
            <a:spLocks noChangeArrowheads="1"/>
          </p:cNvSpPr>
          <p:nvPr/>
        </p:nvSpPr>
        <p:spPr bwMode="auto">
          <a:xfrm>
            <a:off x="2638425" y="3521075"/>
            <a:ext cx="228600" cy="642938"/>
          </a:xfrm>
          <a:prstGeom prst="ellipse">
            <a:avLst/>
          </a:prstGeom>
          <a:noFill/>
          <a:ln w="9525" cap="sq">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1" lang="zh-CN" altLang="en-US" sz="1802"/>
          </a:p>
        </p:txBody>
      </p:sp>
      <p:sp>
        <p:nvSpPr>
          <p:cNvPr id="158743" name="Line 43"/>
          <p:cNvSpPr>
            <a:spLocks noChangeShapeType="1"/>
          </p:cNvSpPr>
          <p:nvPr/>
        </p:nvSpPr>
        <p:spPr bwMode="auto">
          <a:xfrm flipH="1">
            <a:off x="2160588" y="3848100"/>
            <a:ext cx="488950" cy="577850"/>
          </a:xfrm>
          <a:prstGeom prst="line">
            <a:avLst/>
          </a:prstGeom>
          <a:noFill/>
          <a:ln w="952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7276" name="Text Box 44"/>
          <p:cNvSpPr txBox="1">
            <a:spLocks noChangeArrowheads="1"/>
          </p:cNvSpPr>
          <p:nvPr/>
        </p:nvSpPr>
        <p:spPr bwMode="auto">
          <a:xfrm>
            <a:off x="1331913" y="4305300"/>
            <a:ext cx="175418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kumimoji="1" lang="zh-CN" altLang="en-US" sz="1802">
                <a:solidFill>
                  <a:srgbClr val="FF0000"/>
                </a:solidFill>
              </a:rPr>
              <a:t>不可能同时存在</a:t>
            </a:r>
          </a:p>
        </p:txBody>
      </p:sp>
    </p:spTree>
    <p:extLst>
      <p:ext uri="{BB962C8B-B14F-4D97-AF65-F5344CB8AC3E}">
        <p14:creationId xmlns:p14="http://schemas.microsoft.com/office/powerpoint/2010/main" val="1811804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468313" y="269875"/>
            <a:ext cx="8229600" cy="647700"/>
          </a:xfrm>
        </p:spPr>
        <p:txBody>
          <a:bodyPr/>
          <a:lstStyle/>
          <a:p>
            <a:r>
              <a:rPr lang="zh-CN" altLang="en-US" sz="3600"/>
              <a:t>由因果图建立的判定表</a:t>
            </a:r>
          </a:p>
        </p:txBody>
      </p:sp>
      <p:sp>
        <p:nvSpPr>
          <p:cNvPr id="608259" name="Rectangle 3"/>
          <p:cNvSpPr>
            <a:spLocks noChangeArrowheads="1"/>
          </p:cNvSpPr>
          <p:nvPr/>
        </p:nvSpPr>
        <p:spPr bwMode="auto">
          <a:xfrm>
            <a:off x="1754188" y="1306513"/>
            <a:ext cx="62769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15000"/>
              </a:spcBef>
              <a:buFont typeface="Wingdings" panose="05000000000000000000" pitchFamily="2" charset="2"/>
              <a:buNone/>
              <a:defRPr/>
            </a:pPr>
            <a:r>
              <a:rPr lang="zh-CN" altLang="en-US" sz="1802" dirty="0"/>
              <a:t>（</a:t>
            </a:r>
            <a:r>
              <a:rPr lang="en-US" altLang="zh-CN" sz="1802" dirty="0"/>
              <a:t>3</a:t>
            </a:r>
            <a:r>
              <a:rPr lang="zh-CN" altLang="en-US" sz="1802" dirty="0"/>
              <a:t>）将因果图转换成如下所示的判定表：</a:t>
            </a:r>
            <a:endParaRPr lang="en-US" altLang="zh-CN" sz="1802" dirty="0"/>
          </a:p>
          <a:p>
            <a:pPr>
              <a:spcBef>
                <a:spcPct val="15000"/>
              </a:spcBef>
              <a:buFont typeface="Wingdings" panose="05000000000000000000" pitchFamily="2" charset="2"/>
              <a:buNone/>
              <a:defRPr/>
            </a:pPr>
            <a:endParaRPr lang="zh-CN" altLang="en-US" sz="1802" dirty="0"/>
          </a:p>
        </p:txBody>
      </p:sp>
      <p:sp>
        <p:nvSpPr>
          <p:cNvPr id="608260" name="Rectangle 4"/>
          <p:cNvSpPr>
            <a:spLocks noChangeArrowheads="1"/>
          </p:cNvSpPr>
          <p:nvPr/>
        </p:nvSpPr>
        <p:spPr bwMode="auto">
          <a:xfrm>
            <a:off x="1863725" y="2032000"/>
            <a:ext cx="185738" cy="369888"/>
          </a:xfrm>
          <a:prstGeom prst="rect">
            <a:avLst/>
          </a:prstGeom>
          <a:noFill/>
          <a:ln>
            <a:noFill/>
          </a:ln>
          <a:effectLst/>
          <a:extLst>
            <a:ext uri="{909E8E84-426E-40DD-AFC4-6F175D3DCCD1}">
              <a14:hiddenFill xmlns:a14="http://schemas.microsoft.com/office/drawing/2010/main">
                <a:gradFill rotWithShape="0">
                  <a:gsLst>
                    <a:gs pos="0">
                      <a:schemeClr val="accent1">
                        <a:gamma/>
                        <a:shade val="46275"/>
                        <a:invGamma/>
                      </a:schemeClr>
                    </a:gs>
                    <a:gs pos="50000">
                      <a:schemeClr val="accent1"/>
                    </a:gs>
                    <a:gs pos="100000">
                      <a:schemeClr val="accent1">
                        <a:gamma/>
                        <a:shade val="4627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endParaRPr lang="zh-CN" altLang="en-US"/>
          </a:p>
        </p:txBody>
      </p:sp>
      <p:graphicFrame>
        <p:nvGraphicFramePr>
          <p:cNvPr id="608261" name="Group 5"/>
          <p:cNvGraphicFramePr>
            <a:graphicFrameLocks noGrp="1"/>
          </p:cNvGraphicFramePr>
          <p:nvPr>
            <p:extLst>
              <p:ext uri="{D42A27DB-BD31-4B8C-83A1-F6EECF244321}">
                <p14:modId xmlns:p14="http://schemas.microsoft.com/office/powerpoint/2010/main" val="100584372"/>
              </p:ext>
            </p:extLst>
          </p:nvPr>
        </p:nvGraphicFramePr>
        <p:xfrm>
          <a:off x="1706563" y="1703388"/>
          <a:ext cx="5892799" cy="3241675"/>
        </p:xfrm>
        <a:graphic>
          <a:graphicData uri="http://schemas.openxmlformats.org/drawingml/2006/table">
            <a:tbl>
              <a:tblPr/>
              <a:tblGrid>
                <a:gridCol w="2089419">
                  <a:extLst>
                    <a:ext uri="{9D8B030D-6E8A-4147-A177-3AD203B41FA5}">
                      <a16:colId xmlns:a16="http://schemas.microsoft.com/office/drawing/2014/main" val="20000"/>
                    </a:ext>
                  </a:extLst>
                </a:gridCol>
                <a:gridCol w="475571">
                  <a:extLst>
                    <a:ext uri="{9D8B030D-6E8A-4147-A177-3AD203B41FA5}">
                      <a16:colId xmlns:a16="http://schemas.microsoft.com/office/drawing/2014/main" val="20001"/>
                    </a:ext>
                  </a:extLst>
                </a:gridCol>
                <a:gridCol w="475572">
                  <a:extLst>
                    <a:ext uri="{9D8B030D-6E8A-4147-A177-3AD203B41FA5}">
                      <a16:colId xmlns:a16="http://schemas.microsoft.com/office/drawing/2014/main" val="20002"/>
                    </a:ext>
                  </a:extLst>
                </a:gridCol>
                <a:gridCol w="475571">
                  <a:extLst>
                    <a:ext uri="{9D8B030D-6E8A-4147-A177-3AD203B41FA5}">
                      <a16:colId xmlns:a16="http://schemas.microsoft.com/office/drawing/2014/main" val="20003"/>
                    </a:ext>
                  </a:extLst>
                </a:gridCol>
                <a:gridCol w="474380">
                  <a:extLst>
                    <a:ext uri="{9D8B030D-6E8A-4147-A177-3AD203B41FA5}">
                      <a16:colId xmlns:a16="http://schemas.microsoft.com/office/drawing/2014/main" val="20004"/>
                    </a:ext>
                  </a:extLst>
                </a:gridCol>
                <a:gridCol w="475572">
                  <a:extLst>
                    <a:ext uri="{9D8B030D-6E8A-4147-A177-3AD203B41FA5}">
                      <a16:colId xmlns:a16="http://schemas.microsoft.com/office/drawing/2014/main" val="20005"/>
                    </a:ext>
                  </a:extLst>
                </a:gridCol>
                <a:gridCol w="475571">
                  <a:extLst>
                    <a:ext uri="{9D8B030D-6E8A-4147-A177-3AD203B41FA5}">
                      <a16:colId xmlns:a16="http://schemas.microsoft.com/office/drawing/2014/main" val="20006"/>
                    </a:ext>
                  </a:extLst>
                </a:gridCol>
                <a:gridCol w="475572">
                  <a:extLst>
                    <a:ext uri="{9D8B030D-6E8A-4147-A177-3AD203B41FA5}">
                      <a16:colId xmlns:a16="http://schemas.microsoft.com/office/drawing/2014/main" val="20007"/>
                    </a:ext>
                  </a:extLst>
                </a:gridCol>
                <a:gridCol w="475571">
                  <a:extLst>
                    <a:ext uri="{9D8B030D-6E8A-4147-A177-3AD203B41FA5}">
                      <a16:colId xmlns:a16="http://schemas.microsoft.com/office/drawing/2014/main" val="20008"/>
                    </a:ext>
                  </a:extLst>
                </a:gridCol>
              </a:tblGrid>
              <a:tr h="337401">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endParaRP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2</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3</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4</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5</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6</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7</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8</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54226">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zh-CN" altLang="en-US"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rPr>
                        <a:t>条件：</a:t>
                      </a:r>
                      <a:endParaRPr kumimoji="0" lang="zh-CN" altLang="en-US"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rPr>
                        <a:t>C1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rPr>
                        <a:t>C2</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rPr>
                        <a:t>C3</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dirty="0">
                          <a:ln>
                            <a:noFill/>
                          </a:ln>
                          <a:solidFill>
                            <a:srgbClr val="333399"/>
                          </a:solidFill>
                          <a:effectLst/>
                          <a:latin typeface="Arial" panose="020B0604020202020204" pitchFamily="34" charset="0"/>
                          <a:ea typeface="黑体" panose="02010609060101010101" pitchFamily="49" charset="-122"/>
                        </a:rPr>
                        <a:t>11</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0</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55419">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动作：</a:t>
                      </a:r>
                      <a:endPar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e1</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e2</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e3</a:t>
                      </a: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不可能</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60000"/>
                        <a:buFontTx/>
                        <a:buNone/>
                        <a:tabLst/>
                      </a:pPr>
                      <a:endPar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p>
                      <a:pPr marL="0" marR="0" lvl="0" indent="0" algn="ctr" defTabSz="914400" rtl="0" eaLnBrk="0" fontAlgn="base" latinLnBrk="0" hangingPunct="0">
                        <a:lnSpc>
                          <a:spcPct val="100000"/>
                        </a:lnSpc>
                        <a:spcBef>
                          <a:spcPct val="0"/>
                        </a:spcBef>
                        <a:spcAft>
                          <a:spcPct val="0"/>
                        </a:spcAft>
                        <a:buClrTx/>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p>
                  </a:txBody>
                  <a:tcPr marL="35138" marR="35138" marT="27036" marB="27036"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4629">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测试用例</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#3</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6</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zh-CN" altLang="en-US"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t>
                      </a: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B</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A1</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
                          <a:schemeClr val="bg1"/>
                        </a:buClr>
                        <a:buSzPct val="60000"/>
                        <a:buFontTx/>
                        <a:buNone/>
                        <a:tabLst/>
                      </a:pPr>
                      <a:r>
                        <a:rPr kumimoji="0" lang="en-US" altLang="zh-CN" sz="1500" b="1" i="0" u="none" strike="noStrike" cap="none" normalizeH="0" baseline="0">
                          <a:ln>
                            <a:noFill/>
                          </a:ln>
                          <a:solidFill>
                            <a:srgbClr val="333399"/>
                          </a:solidFill>
                          <a:effectLst/>
                          <a:latin typeface="Arial" panose="020B0604020202020204" pitchFamily="34" charset="0"/>
                          <a:ea typeface="黑体" panose="02010609060101010101" pitchFamily="49" charset="-122"/>
                        </a:rPr>
                        <a:t>GT</a:t>
                      </a:r>
                    </a:p>
                  </a:txBody>
                  <a:tcPr marL="35138" marR="35138" marT="27036" marB="2703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08313" name="Line 57"/>
          <p:cNvSpPr>
            <a:spLocks noChangeShapeType="1"/>
          </p:cNvSpPr>
          <p:nvPr/>
        </p:nvSpPr>
        <p:spPr bwMode="auto">
          <a:xfrm>
            <a:off x="1706563" y="1706563"/>
            <a:ext cx="210820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8314" name="Text Box 58"/>
          <p:cNvSpPr txBox="1">
            <a:spLocks noChangeArrowheads="1"/>
          </p:cNvSpPr>
          <p:nvPr/>
        </p:nvSpPr>
        <p:spPr bwMode="auto">
          <a:xfrm>
            <a:off x="2915817" y="1706563"/>
            <a:ext cx="737022" cy="277127"/>
          </a:xfrm>
          <a:prstGeom prst="rect">
            <a:avLst/>
          </a:prstGeom>
          <a:noFill/>
          <a:ln>
            <a:noFill/>
          </a:ln>
          <a:effectLst/>
          <a:extLst>
            <a:ext uri="{909E8E84-426E-40DD-AFC4-6F175D3DCCD1}">
              <a14:hiddenFill xmlns:a14="http://schemas.microsoft.com/office/drawing/2010/main">
                <a:gradFill rotWithShape="0">
                  <a:gsLst>
                    <a:gs pos="0">
                      <a:schemeClr val="accent1">
                        <a:gamma/>
                        <a:shade val="46275"/>
                        <a:invGamma/>
                      </a:schemeClr>
                    </a:gs>
                    <a:gs pos="50000">
                      <a:schemeClr val="accent1"/>
                    </a:gs>
                    <a:gs pos="100000">
                      <a:schemeClr val="accent1">
                        <a:gamma/>
                        <a:shade val="4627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defRPr/>
            </a:pPr>
            <a:r>
              <a:rPr lang="zh-CN" altLang="en-US" sz="1201" b="1" dirty="0"/>
              <a:t>规则</a:t>
            </a:r>
          </a:p>
        </p:txBody>
      </p:sp>
      <p:sp>
        <p:nvSpPr>
          <p:cNvPr id="608315" name="Text Box 59"/>
          <p:cNvSpPr txBox="1">
            <a:spLocks noChangeArrowheads="1"/>
          </p:cNvSpPr>
          <p:nvPr/>
        </p:nvSpPr>
        <p:spPr bwMode="auto">
          <a:xfrm>
            <a:off x="1868488" y="1778000"/>
            <a:ext cx="759296" cy="277127"/>
          </a:xfrm>
          <a:prstGeom prst="rect">
            <a:avLst/>
          </a:prstGeom>
          <a:noFill/>
          <a:ln>
            <a:noFill/>
          </a:ln>
          <a:effectLst/>
          <a:extLst>
            <a:ext uri="{909E8E84-426E-40DD-AFC4-6F175D3DCCD1}">
              <a14:hiddenFill xmlns:a14="http://schemas.microsoft.com/office/drawing/2010/main">
                <a:gradFill rotWithShape="0">
                  <a:gsLst>
                    <a:gs pos="0">
                      <a:schemeClr val="accent1">
                        <a:gamma/>
                        <a:shade val="46275"/>
                        <a:invGamma/>
                      </a:schemeClr>
                    </a:gs>
                    <a:gs pos="50000">
                      <a:schemeClr val="accent1"/>
                    </a:gs>
                    <a:gs pos="100000">
                      <a:schemeClr val="accent1">
                        <a:gamma/>
                        <a:shade val="4627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defRPr/>
            </a:pPr>
            <a:r>
              <a:rPr lang="zh-CN" altLang="en-US" sz="1201" b="1" dirty="0"/>
              <a:t>选项</a:t>
            </a:r>
          </a:p>
        </p:txBody>
      </p:sp>
    </p:spTree>
    <p:extLst>
      <p:ext uri="{BB962C8B-B14F-4D97-AF65-F5344CB8AC3E}">
        <p14:creationId xmlns:p14="http://schemas.microsoft.com/office/powerpoint/2010/main" val="3008738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8259">
                                            <p:txEl>
                                              <p:pRg st="0" end="0"/>
                                            </p:txEl>
                                          </p:spTgt>
                                        </p:tgtEl>
                                        <p:attrNameLst>
                                          <p:attrName>style.visibility</p:attrName>
                                        </p:attrNameLst>
                                      </p:cBhvr>
                                      <p:to>
                                        <p:strVal val="visible"/>
                                      </p:to>
                                    </p:set>
                                    <p:animEffect transition="in" filter="wipe(left)">
                                      <p:cBhvr>
                                        <p:cTn id="7" dur="500"/>
                                        <p:tgtEl>
                                          <p:spTgt spid="608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08261"/>
                                        </p:tgtEl>
                                        <p:attrNameLst>
                                          <p:attrName>style.visibility</p:attrName>
                                        </p:attrNameLst>
                                      </p:cBhvr>
                                      <p:to>
                                        <p:strVal val="visible"/>
                                      </p:to>
                                    </p:set>
                                    <p:animEffect transition="in" filter="checkerboard(across)">
                                      <p:cBhvr>
                                        <p:cTn id="12" dur="500"/>
                                        <p:tgtEl>
                                          <p:spTgt spid="608261"/>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608313"/>
                                        </p:tgtEl>
                                        <p:attrNameLst>
                                          <p:attrName>style.visibility</p:attrName>
                                        </p:attrNameLst>
                                      </p:cBhvr>
                                      <p:to>
                                        <p:strVal val="visible"/>
                                      </p:to>
                                    </p:set>
                                    <p:animEffect transition="in" filter="checkerboard(across)">
                                      <p:cBhvr>
                                        <p:cTn id="15" dur="500"/>
                                        <p:tgtEl>
                                          <p:spTgt spid="608313"/>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608315"/>
                                        </p:tgtEl>
                                        <p:attrNameLst>
                                          <p:attrName>style.visibility</p:attrName>
                                        </p:attrNameLst>
                                      </p:cBhvr>
                                      <p:to>
                                        <p:strVal val="visible"/>
                                      </p:to>
                                    </p:set>
                                    <p:animEffect transition="in" filter="checkerboard(across)">
                                      <p:cBhvr>
                                        <p:cTn id="18" dur="500"/>
                                        <p:tgtEl>
                                          <p:spTgt spid="608315"/>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608314"/>
                                        </p:tgtEl>
                                        <p:attrNameLst>
                                          <p:attrName>style.visibility</p:attrName>
                                        </p:attrNameLst>
                                      </p:cBhvr>
                                      <p:to>
                                        <p:strVal val="visible"/>
                                      </p:to>
                                    </p:set>
                                    <p:animEffect transition="in" filter="checkerboard(across)">
                                      <p:cBhvr>
                                        <p:cTn id="21" dur="500"/>
                                        <p:tgtEl>
                                          <p:spTgt spid="608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59" grpId="0" build="p" autoUpdateAnimBg="0"/>
      <p:bldP spid="608313" grpId="0" animBg="1"/>
      <p:bldP spid="608314" grpId="0"/>
      <p:bldP spid="6083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452438" y="341313"/>
            <a:ext cx="8569325" cy="622300"/>
          </a:xfrm>
        </p:spPr>
        <p:txBody>
          <a:bodyPr/>
          <a:lstStyle/>
          <a:p>
            <a:r>
              <a:rPr lang="zh-CN" altLang="en-US" sz="3600" dirty="0"/>
              <a:t>从判定表中得到测试用例</a:t>
            </a:r>
            <a:endParaRPr lang="en-US" altLang="zh-CN" sz="3600" dirty="0"/>
          </a:p>
        </p:txBody>
      </p:sp>
      <p:sp>
        <p:nvSpPr>
          <p:cNvPr id="610307" name="Rectangle 3"/>
          <p:cNvSpPr>
            <a:spLocks noChangeArrowheads="1"/>
          </p:cNvSpPr>
          <p:nvPr/>
        </p:nvSpPr>
        <p:spPr bwMode="auto">
          <a:xfrm>
            <a:off x="1598613" y="1546225"/>
            <a:ext cx="6278562"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3200">
                <a:solidFill>
                  <a:srgbClr val="333399"/>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15000"/>
              </a:spcBef>
              <a:buFont typeface="Wingdings" panose="05000000000000000000" pitchFamily="2" charset="2"/>
              <a:buNone/>
              <a:defRPr/>
            </a:pPr>
            <a:r>
              <a:rPr lang="zh-CN" altLang="en-US" sz="1802"/>
              <a:t>（</a:t>
            </a:r>
            <a:r>
              <a:rPr lang="en-US" altLang="zh-CN" sz="1802"/>
              <a:t>4</a:t>
            </a:r>
            <a:r>
              <a:rPr lang="zh-CN" altLang="en-US" sz="1802"/>
              <a:t>）根据决策表中的每一列设计测试用例：</a:t>
            </a:r>
          </a:p>
        </p:txBody>
      </p:sp>
      <p:graphicFrame>
        <p:nvGraphicFramePr>
          <p:cNvPr id="610308" name="Group 4"/>
          <p:cNvGraphicFramePr>
            <a:graphicFrameLocks noGrp="1"/>
          </p:cNvGraphicFramePr>
          <p:nvPr>
            <p:ph idx="1"/>
          </p:nvPr>
        </p:nvGraphicFramePr>
        <p:xfrm>
          <a:off x="2276475" y="2081213"/>
          <a:ext cx="5222875" cy="2816224"/>
        </p:xfrm>
        <a:graphic>
          <a:graphicData uri="http://schemas.openxmlformats.org/drawingml/2006/table">
            <a:tbl>
              <a:tblPr/>
              <a:tblGrid>
                <a:gridCol w="1499059">
                  <a:extLst>
                    <a:ext uri="{9D8B030D-6E8A-4147-A177-3AD203B41FA5}">
                      <a16:colId xmlns:a16="http://schemas.microsoft.com/office/drawing/2014/main" val="20000"/>
                    </a:ext>
                  </a:extLst>
                </a:gridCol>
                <a:gridCol w="1615838">
                  <a:extLst>
                    <a:ext uri="{9D8B030D-6E8A-4147-A177-3AD203B41FA5}">
                      <a16:colId xmlns:a16="http://schemas.microsoft.com/office/drawing/2014/main" val="20001"/>
                    </a:ext>
                  </a:extLst>
                </a:gridCol>
                <a:gridCol w="2107978">
                  <a:extLst>
                    <a:ext uri="{9D8B030D-6E8A-4147-A177-3AD203B41FA5}">
                      <a16:colId xmlns:a16="http://schemas.microsoft.com/office/drawing/2014/main" val="20002"/>
                    </a:ext>
                  </a:extLst>
                </a:gridCol>
              </a:tblGrid>
              <a:tr h="402658">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测试用例编号</a:t>
                      </a:r>
                      <a:endPar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输入数据</a:t>
                      </a:r>
                      <a:endPar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预期输出</a:t>
                      </a:r>
                      <a:endPar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1467">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1</a:t>
                      </a: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#3</a:t>
                      </a: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修改文件</a:t>
                      </a:r>
                      <a:endPar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2658">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2</a:t>
                      </a: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#A</a:t>
                      </a: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给出信息</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M</a:t>
                      </a: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2658">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3</a:t>
                      </a: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6</a:t>
                      </a: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修改文件</a:t>
                      </a: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2658">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4</a:t>
                      </a: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B</a:t>
                      </a: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给出信息</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M</a:t>
                      </a:r>
                      <a:endPar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1467">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5</a:t>
                      </a: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A1</a:t>
                      </a: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给出信息</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N</a:t>
                      </a:r>
                      <a:endPar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2658">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6</a:t>
                      </a:r>
                    </a:p>
                  </a:txBody>
                  <a:tcPr marL="35130" marR="35130" marT="35120" marB="3512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GT</a:t>
                      </a:r>
                    </a:p>
                  </a:txBody>
                  <a:tcPr marL="35130" marR="35130" marT="35120" marB="3512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rgbClr val="333399"/>
                          </a:solidFill>
                          <a:latin typeface="Arial" panose="020B0604020202020204" pitchFamily="34" charset="0"/>
                          <a:ea typeface="黑体" panose="02010609060101010101" pitchFamily="49" charset="-122"/>
                        </a:defRPr>
                      </a:lvl1pPr>
                      <a:lvl2pPr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给出信息</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N</a:t>
                      </a:r>
                      <a:r>
                        <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和信息</a:t>
                      </a:r>
                      <a:r>
                        <a:rPr kumimoji="0" lang="en-US" altLang="zh-CN" sz="1800" b="0" i="0" u="none" strike="noStrike" cap="none" normalizeH="0" baseline="0">
                          <a:ln>
                            <a:noFill/>
                          </a:ln>
                          <a:solidFill>
                            <a:srgbClr val="333399"/>
                          </a:solidFill>
                          <a:effectLst/>
                          <a:latin typeface="Arial" panose="020B0604020202020204" pitchFamily="34" charset="0"/>
                          <a:ea typeface="黑体" panose="02010609060101010101" pitchFamily="49" charset="-122"/>
                        </a:rPr>
                        <a:t>M</a:t>
                      </a:r>
                      <a:endParaRPr kumimoji="0" lang="zh-CN" altLang="en-US" sz="1800" b="0" i="0" u="none" strike="noStrike" cap="none" normalizeH="0" baseline="0">
                        <a:ln>
                          <a:noFill/>
                        </a:ln>
                        <a:solidFill>
                          <a:srgbClr val="333399"/>
                        </a:solidFill>
                        <a:effectLst/>
                        <a:latin typeface="Arial" panose="020B0604020202020204" pitchFamily="34" charset="0"/>
                        <a:ea typeface="黑体" panose="02010609060101010101" pitchFamily="49" charset="-122"/>
                      </a:endParaRPr>
                    </a:p>
                  </a:txBody>
                  <a:tcPr marL="35130" marR="35130" marT="35120" marB="3512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914308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wipe(left)">
                                      <p:cBhvr>
                                        <p:cTn id="7" dur="500"/>
                                        <p:tgtEl>
                                          <p:spTgt spid="610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610308"/>
                                        </p:tgtEl>
                                        <p:attrNameLst>
                                          <p:attrName>style.visibility</p:attrName>
                                        </p:attrNameLst>
                                      </p:cBhvr>
                                      <p:to>
                                        <p:strVal val="visible"/>
                                      </p:to>
                                    </p:set>
                                    <p:animEffect transition="in" filter="slide(fromBottom)">
                                      <p:cBhvr>
                                        <p:cTn id="12" dur="500"/>
                                        <p:tgtEl>
                                          <p:spTgt spid="610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33971"/>
            <a:ext cx="3681413" cy="337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00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8C94C04-3436-4792-BA31-60DA60B3D743}" type="slidenum">
              <a:rPr lang="en-US" altLang="zh-CN" sz="1800" b="0" smtClean="0">
                <a:latin typeface="Times New Roman" pitchFamily="18" charset="0"/>
                <a:ea typeface="微软雅黑" pitchFamily="34" charset="-122"/>
              </a:rPr>
              <a:pPr algn="l" eaLnBrk="0" hangingPunct="0">
                <a:spcBef>
                  <a:spcPct val="0"/>
                </a:spcBef>
                <a:buFontTx/>
                <a:buNone/>
              </a:pPr>
              <a:t>50</a:t>
            </a:fld>
            <a:endParaRPr lang="en-US" altLang="zh-CN" sz="1800" b="0">
              <a:latin typeface="Times New Roman" pitchFamily="18" charset="0"/>
              <a:ea typeface="微软雅黑" pitchFamily="34" charset="-122"/>
            </a:endParaRPr>
          </a:p>
        </p:txBody>
      </p:sp>
      <p:sp>
        <p:nvSpPr>
          <p:cNvPr id="130051" name="Rectangle 2" descr="Large confetti"/>
          <p:cNvSpPr>
            <a:spLocks noGrp="1" noChangeArrowheads="1"/>
          </p:cNvSpPr>
          <p:nvPr>
            <p:ph type="title"/>
          </p:nvPr>
        </p:nvSpPr>
        <p:spPr>
          <a:xfrm>
            <a:off x="472628" y="413891"/>
            <a:ext cx="7559675" cy="622300"/>
          </a:xfrm>
        </p:spPr>
        <p:txBody>
          <a:bodyPr/>
          <a:lstStyle/>
          <a:p>
            <a:r>
              <a:rPr lang="zh-CN" altLang="en-US" dirty="0">
                <a:latin typeface="楷体_GB2312"/>
                <a:ea typeface="楷体_GB2312"/>
                <a:cs typeface="楷体_GB2312"/>
              </a:rPr>
              <a:t>黑盒测试</a:t>
            </a:r>
            <a:r>
              <a:rPr lang="en-US" altLang="zh-CN" dirty="0">
                <a:latin typeface="楷体_GB2312"/>
                <a:ea typeface="楷体_GB2312"/>
                <a:cs typeface="楷体_GB2312"/>
              </a:rPr>
              <a:t>-</a:t>
            </a:r>
            <a:r>
              <a:rPr lang="zh-CN" altLang="en-US" dirty="0">
                <a:latin typeface="楷体_GB2312"/>
                <a:ea typeface="楷体_GB2312"/>
                <a:cs typeface="楷体_GB2312"/>
              </a:rPr>
              <a:t>总结与讨论</a:t>
            </a:r>
          </a:p>
        </p:txBody>
      </p:sp>
    </p:spTree>
    <p:extLst>
      <p:ext uri="{BB962C8B-B14F-4D97-AF65-F5344CB8AC3E}">
        <p14:creationId xmlns:p14="http://schemas.microsoft.com/office/powerpoint/2010/main" val="1655189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4"/>
          <p:cNvSpPr>
            <a:spLocks noGrp="1"/>
          </p:cNvSpPr>
          <p:nvPr>
            <p:ph type="sldNum" sz="quarter" idx="10"/>
          </p:nvPr>
        </p:nvSpPr>
        <p:spPr>
          <a:noFill/>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 typeface="Arial" pitchFamily="34" charset="0"/>
              <a:buNone/>
            </a:pPr>
            <a:fld id="{A1DF902B-A78C-41DD-8A76-49014A7C0996}" type="slidenum">
              <a:rPr lang="en-US" altLang="zh-CN" sz="600" smtClean="0">
                <a:solidFill>
                  <a:schemeClr val="bg1"/>
                </a:solidFill>
                <a:latin typeface="黑体" pitchFamily="49" charset="-122"/>
                <a:ea typeface="微软雅黑" pitchFamily="34" charset="-122"/>
              </a:rPr>
              <a:pPr>
                <a:spcBef>
                  <a:spcPct val="0"/>
                </a:spcBef>
                <a:buFont typeface="Arial" pitchFamily="34" charset="0"/>
                <a:buNone/>
              </a:pPr>
              <a:t>51</a:t>
            </a:fld>
            <a:endParaRPr lang="en-US" altLang="zh-CN" sz="600">
              <a:solidFill>
                <a:schemeClr val="bg1"/>
              </a:solidFill>
              <a:latin typeface="黑体" pitchFamily="49" charset="-122"/>
              <a:ea typeface="微软雅黑" pitchFamily="34" charset="-122"/>
            </a:endParaRPr>
          </a:p>
        </p:txBody>
      </p:sp>
      <p:sp>
        <p:nvSpPr>
          <p:cNvPr id="98307" name="Rectangle 2" descr="Large confetti"/>
          <p:cNvSpPr>
            <a:spLocks noGrp="1" noChangeArrowheads="1"/>
          </p:cNvSpPr>
          <p:nvPr>
            <p:ph type="title"/>
          </p:nvPr>
        </p:nvSpPr>
        <p:spPr>
          <a:xfrm>
            <a:off x="468313" y="341313"/>
            <a:ext cx="7558087" cy="622300"/>
          </a:xfrm>
        </p:spPr>
        <p:txBody>
          <a:bodyPr/>
          <a:lstStyle/>
          <a:p>
            <a:r>
              <a:rPr lang="zh-CN" altLang="en-US" dirty="0">
                <a:latin typeface="楷体_GB2312"/>
                <a:ea typeface="楷体_GB2312"/>
                <a:cs typeface="楷体_GB2312"/>
              </a:rPr>
              <a:t>白盒测试</a:t>
            </a:r>
          </a:p>
        </p:txBody>
      </p:sp>
      <p:sp>
        <p:nvSpPr>
          <p:cNvPr id="98308" name="Rectangle 3"/>
          <p:cNvSpPr>
            <a:spLocks noGrp="1" noChangeArrowheads="1"/>
          </p:cNvSpPr>
          <p:nvPr>
            <p:ph type="body" sz="half" idx="1"/>
          </p:nvPr>
        </p:nvSpPr>
        <p:spPr>
          <a:xfrm>
            <a:off x="468313" y="1060450"/>
            <a:ext cx="8064500" cy="3459163"/>
          </a:xfrm>
        </p:spPr>
        <p:txBody>
          <a:bodyPr/>
          <a:lstStyle/>
          <a:p>
            <a:r>
              <a:rPr lang="zh-CN" altLang="en-US" sz="2800"/>
              <a:t>已知产品内部工作流程，通过测试来检测产品的内部动作是否按照详细设计规格说明的规定正常进行，而不管它的功能；</a:t>
            </a:r>
          </a:p>
          <a:p>
            <a:r>
              <a:rPr lang="zh-CN" altLang="en-US" sz="2800"/>
              <a:t>也称为结构测试或逻辑驱动测试；</a:t>
            </a:r>
          </a:p>
          <a:p>
            <a:r>
              <a:rPr lang="zh-CN" altLang="en-US" sz="2800"/>
              <a:t>目标是对所有逻辑路径进行测试，穷举路径；</a:t>
            </a:r>
          </a:p>
          <a:p>
            <a:r>
              <a:rPr lang="zh-CN" altLang="en-US" sz="2800"/>
              <a:t>依据详细设计规范；</a:t>
            </a:r>
          </a:p>
          <a:p>
            <a:r>
              <a:rPr lang="zh-CN" altLang="en-US" sz="2800"/>
              <a:t>一种验证技术。</a:t>
            </a:r>
          </a:p>
        </p:txBody>
      </p:sp>
      <p:pic>
        <p:nvPicPr>
          <p:cNvPr id="98309"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875463" y="3651250"/>
            <a:ext cx="1354137" cy="10398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7655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4"/>
          <p:cNvSpPr>
            <a:spLocks noGrp="1"/>
          </p:cNvSpPr>
          <p:nvPr>
            <p:ph type="sldNum" sz="quarter" idx="10"/>
          </p:nvPr>
        </p:nvSpPr>
        <p:spPr>
          <a:noFill/>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 typeface="Arial" pitchFamily="34" charset="0"/>
              <a:buNone/>
            </a:pPr>
            <a:fld id="{A1DF902B-A78C-41DD-8A76-49014A7C0996}" type="slidenum">
              <a:rPr lang="en-US" altLang="zh-CN" sz="600" smtClean="0">
                <a:solidFill>
                  <a:schemeClr val="bg1"/>
                </a:solidFill>
                <a:latin typeface="黑体" pitchFamily="49" charset="-122"/>
                <a:ea typeface="微软雅黑" pitchFamily="34" charset="-122"/>
              </a:rPr>
              <a:pPr>
                <a:spcBef>
                  <a:spcPct val="0"/>
                </a:spcBef>
                <a:buFont typeface="Arial" pitchFamily="34" charset="0"/>
                <a:buNone/>
              </a:pPr>
              <a:t>52</a:t>
            </a:fld>
            <a:endParaRPr lang="en-US" altLang="zh-CN" sz="600">
              <a:solidFill>
                <a:schemeClr val="bg1"/>
              </a:solidFill>
              <a:latin typeface="黑体" pitchFamily="49" charset="-122"/>
              <a:ea typeface="微软雅黑" pitchFamily="34" charset="-122"/>
            </a:endParaRPr>
          </a:p>
        </p:txBody>
      </p:sp>
      <p:sp>
        <p:nvSpPr>
          <p:cNvPr id="98307" name="Rectangle 2" descr="Large confetti"/>
          <p:cNvSpPr>
            <a:spLocks noGrp="1" noChangeArrowheads="1"/>
          </p:cNvSpPr>
          <p:nvPr>
            <p:ph type="title"/>
          </p:nvPr>
        </p:nvSpPr>
        <p:spPr>
          <a:xfrm>
            <a:off x="468313" y="341313"/>
            <a:ext cx="7558087" cy="622300"/>
          </a:xfrm>
        </p:spPr>
        <p:txBody>
          <a:bodyPr/>
          <a:lstStyle/>
          <a:p>
            <a:r>
              <a:rPr lang="zh-CN" altLang="en-US" dirty="0">
                <a:latin typeface="楷体_GB2312"/>
                <a:ea typeface="楷体_GB2312"/>
                <a:cs typeface="楷体_GB2312"/>
              </a:rPr>
              <a:t>白盒测试</a:t>
            </a:r>
          </a:p>
        </p:txBody>
      </p:sp>
      <p:pic>
        <p:nvPicPr>
          <p:cNvPr id="98309"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308304" y="3726259"/>
            <a:ext cx="1354137" cy="10398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1204913"/>
            <a:ext cx="4943475" cy="2738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椭圆 1"/>
          <p:cNvSpPr/>
          <p:nvPr/>
        </p:nvSpPr>
        <p:spPr bwMode="auto">
          <a:xfrm>
            <a:off x="4932040" y="2070075"/>
            <a:ext cx="2448272" cy="1152128"/>
          </a:xfrm>
          <a:prstGeom prst="ellipse">
            <a:avLst/>
          </a:prstGeom>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42804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AE7A4B6A-8A30-4840-A674-ACD161D978E6}" type="slidenum">
              <a:rPr lang="en-US" altLang="zh-CN" sz="1800" b="0" smtClean="0">
                <a:latin typeface="Times New Roman" pitchFamily="18" charset="0"/>
                <a:ea typeface="微软雅黑" pitchFamily="34" charset="-122"/>
              </a:rPr>
              <a:pPr algn="l" eaLnBrk="0" hangingPunct="0">
                <a:spcBef>
                  <a:spcPct val="0"/>
                </a:spcBef>
                <a:buFontTx/>
                <a:buNone/>
              </a:pPr>
              <a:t>53</a:t>
            </a:fld>
            <a:endParaRPr lang="en-US" altLang="zh-CN" sz="1800" b="0">
              <a:latin typeface="Times New Roman" pitchFamily="18" charset="0"/>
              <a:ea typeface="微软雅黑" pitchFamily="34" charset="-122"/>
            </a:endParaRPr>
          </a:p>
        </p:txBody>
      </p:sp>
      <p:sp>
        <p:nvSpPr>
          <p:cNvPr id="99331"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逻辑路径的数量</a:t>
            </a:r>
          </a:p>
        </p:txBody>
      </p:sp>
      <p:sp>
        <p:nvSpPr>
          <p:cNvPr id="99332" name="Rectangle 3"/>
          <p:cNvSpPr>
            <a:spLocks noGrp="1" noChangeArrowheads="1"/>
          </p:cNvSpPr>
          <p:nvPr>
            <p:ph type="body" idx="1"/>
          </p:nvPr>
        </p:nvSpPr>
        <p:spPr>
          <a:xfrm>
            <a:off x="468313" y="1060450"/>
            <a:ext cx="8064500" cy="973138"/>
          </a:xfrm>
        </p:spPr>
        <p:txBody>
          <a:bodyPr/>
          <a:lstStyle/>
          <a:p>
            <a:pPr>
              <a:lnSpc>
                <a:spcPct val="90000"/>
              </a:lnSpc>
              <a:buFont typeface="Wingdings" pitchFamily="2" charset="2"/>
              <a:buNone/>
            </a:pPr>
            <a:r>
              <a:rPr lang="en-US" altLang="zh-CN" sz="1800"/>
              <a:t>    </a:t>
            </a:r>
            <a:r>
              <a:rPr lang="zh-CN" altLang="en-US" sz="2800"/>
              <a:t>程序的执行序列</a:t>
            </a:r>
            <a:r>
              <a:rPr lang="en-US" altLang="zh-CN" sz="2800"/>
              <a:t>(</a:t>
            </a:r>
            <a:r>
              <a:rPr lang="zh-CN" altLang="en-US" sz="2800"/>
              <a:t>逻辑路径</a:t>
            </a:r>
            <a:r>
              <a:rPr lang="en-US" altLang="zh-CN" sz="2800"/>
              <a:t>)</a:t>
            </a:r>
            <a:r>
              <a:rPr lang="zh-CN" altLang="en-US" sz="2800"/>
              <a:t>的数目是庞大的，简单的重复就有可能使执行序列的数目增大到天文数字。</a:t>
            </a:r>
          </a:p>
        </p:txBody>
      </p:sp>
      <p:sp>
        <p:nvSpPr>
          <p:cNvPr id="601092" name="Rectangle 4"/>
          <p:cNvSpPr>
            <a:spLocks noChangeArrowheads="1"/>
          </p:cNvSpPr>
          <p:nvPr/>
        </p:nvSpPr>
        <p:spPr bwMode="auto">
          <a:xfrm>
            <a:off x="1825625" y="2230438"/>
            <a:ext cx="2517775"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 typeface="Wingdings" panose="05000000000000000000" pitchFamily="2" charset="2"/>
              <a:buNone/>
              <a:defRPr/>
            </a:pPr>
            <a:r>
              <a:rPr lang="zh-CN" altLang="en-US" sz="2102" b="1" dirty="0">
                <a:solidFill>
                  <a:srgbClr val="000000"/>
                </a:solidFill>
                <a:latin typeface="Tahoma" panose="020B0604030504040204" pitchFamily="34" charset="0"/>
                <a:ea typeface="楷体_GB2312"/>
                <a:cs typeface="楷体_GB2312"/>
              </a:rPr>
              <a:t>例子：</a:t>
            </a:r>
          </a:p>
          <a:p>
            <a:pPr>
              <a:spcBef>
                <a:spcPct val="20000"/>
              </a:spcBef>
              <a:buFont typeface="Wingdings" panose="05000000000000000000" pitchFamily="2" charset="2"/>
              <a:buNone/>
              <a:defRPr/>
            </a:pPr>
            <a:r>
              <a:rPr lang="en-US" altLang="zh-CN" sz="1501" dirty="0">
                <a:latin typeface="Comic Sans MS" panose="030F0702030302020204" pitchFamily="66" charset="0"/>
              </a:rPr>
              <a:t>For (</a:t>
            </a:r>
            <a:r>
              <a:rPr lang="en-US" altLang="zh-CN" sz="1501" dirty="0" err="1">
                <a:latin typeface="Comic Sans MS" panose="030F0702030302020204" pitchFamily="66" charset="0"/>
              </a:rPr>
              <a:t>int</a:t>
            </a:r>
            <a:r>
              <a:rPr lang="en-US" altLang="zh-CN" sz="1501" dirty="0">
                <a:latin typeface="Comic Sans MS" panose="030F0702030302020204" pitchFamily="66" charset="0"/>
              </a:rPr>
              <a:t> </a:t>
            </a:r>
            <a:r>
              <a:rPr lang="en-US" altLang="zh-CN" sz="1501" dirty="0" err="1">
                <a:latin typeface="Comic Sans MS" panose="030F0702030302020204" pitchFamily="66" charset="0"/>
              </a:rPr>
              <a:t>i</a:t>
            </a:r>
            <a:r>
              <a:rPr lang="en-US" altLang="zh-CN" sz="1501" dirty="0">
                <a:latin typeface="Comic Sans MS" panose="030F0702030302020204" pitchFamily="66" charset="0"/>
              </a:rPr>
              <a:t> =0;i&lt;n;++</a:t>
            </a:r>
            <a:r>
              <a:rPr lang="en-US" altLang="zh-CN" sz="1501" dirty="0" err="1">
                <a:latin typeface="Comic Sans MS" panose="030F0702030302020204" pitchFamily="66" charset="0"/>
              </a:rPr>
              <a:t>i</a:t>
            </a:r>
            <a:r>
              <a:rPr lang="en-US" altLang="zh-CN" sz="1501" dirty="0">
                <a:latin typeface="Comic Sans MS" panose="030F0702030302020204" pitchFamily="66" charset="0"/>
              </a:rPr>
              <a:t>)</a:t>
            </a:r>
          </a:p>
          <a:p>
            <a:pPr>
              <a:spcBef>
                <a:spcPct val="20000"/>
              </a:spcBef>
              <a:buFont typeface="Wingdings" panose="05000000000000000000" pitchFamily="2" charset="2"/>
              <a:buNone/>
              <a:defRPr/>
            </a:pPr>
            <a:r>
              <a:rPr lang="en-US" altLang="zh-CN" sz="1501" dirty="0">
                <a:latin typeface="Comic Sans MS" panose="030F0702030302020204" pitchFamily="66" charset="0"/>
              </a:rPr>
              <a:t>{</a:t>
            </a:r>
          </a:p>
          <a:p>
            <a:pPr>
              <a:spcBef>
                <a:spcPct val="20000"/>
              </a:spcBef>
              <a:buFont typeface="Wingdings" panose="05000000000000000000" pitchFamily="2" charset="2"/>
              <a:buNone/>
              <a:defRPr/>
            </a:pPr>
            <a:r>
              <a:rPr lang="en-US" altLang="zh-CN" sz="1501" dirty="0">
                <a:latin typeface="Comic Sans MS" panose="030F0702030302020204" pitchFamily="66" charset="0"/>
              </a:rPr>
              <a:t>      if (</a:t>
            </a:r>
            <a:r>
              <a:rPr lang="en-US" altLang="zh-CN" sz="1501" dirty="0" err="1">
                <a:latin typeface="Comic Sans MS" panose="030F0702030302020204" pitchFamily="66" charset="0"/>
              </a:rPr>
              <a:t>a.get</a:t>
            </a:r>
            <a:r>
              <a:rPr lang="en-US" altLang="zh-CN" sz="1501" dirty="0">
                <a:latin typeface="Comic Sans MS" panose="030F0702030302020204" pitchFamily="66" charset="0"/>
              </a:rPr>
              <a:t>(</a:t>
            </a:r>
            <a:r>
              <a:rPr lang="en-US" altLang="zh-CN" sz="1501" dirty="0" err="1">
                <a:latin typeface="Comic Sans MS" panose="030F0702030302020204" pitchFamily="66" charset="0"/>
              </a:rPr>
              <a:t>i</a:t>
            </a:r>
            <a:r>
              <a:rPr lang="en-US" altLang="zh-CN" sz="1501" dirty="0">
                <a:latin typeface="Comic Sans MS" panose="030F0702030302020204" pitchFamily="66" charset="0"/>
              </a:rPr>
              <a:t>)==</a:t>
            </a:r>
            <a:r>
              <a:rPr lang="en-US" altLang="zh-CN" sz="1501" dirty="0" err="1">
                <a:latin typeface="Comic Sans MS" panose="030F0702030302020204" pitchFamily="66" charset="0"/>
              </a:rPr>
              <a:t>b.get</a:t>
            </a:r>
            <a:r>
              <a:rPr lang="en-US" altLang="zh-CN" sz="1501" dirty="0">
                <a:latin typeface="Comic Sans MS" panose="030F0702030302020204" pitchFamily="66" charset="0"/>
              </a:rPr>
              <a:t>(</a:t>
            </a:r>
            <a:r>
              <a:rPr lang="en-US" altLang="zh-CN" sz="1501" dirty="0" err="1">
                <a:latin typeface="Comic Sans MS" panose="030F0702030302020204" pitchFamily="66" charset="0"/>
              </a:rPr>
              <a:t>i</a:t>
            </a:r>
            <a:r>
              <a:rPr lang="en-US" altLang="zh-CN" sz="1501" dirty="0">
                <a:latin typeface="Comic Sans MS" panose="030F0702030302020204" pitchFamily="66" charset="0"/>
              </a:rPr>
              <a:t>))</a:t>
            </a:r>
          </a:p>
          <a:p>
            <a:pPr>
              <a:spcBef>
                <a:spcPct val="20000"/>
              </a:spcBef>
              <a:buFont typeface="Wingdings" panose="05000000000000000000" pitchFamily="2" charset="2"/>
              <a:buNone/>
              <a:defRPr/>
            </a:pPr>
            <a:r>
              <a:rPr lang="en-US" altLang="zh-CN" sz="1501" dirty="0">
                <a:latin typeface="Comic Sans MS" panose="030F0702030302020204" pitchFamily="66" charset="0"/>
              </a:rPr>
              <a:t>		x[</a:t>
            </a:r>
            <a:r>
              <a:rPr lang="en-US" altLang="zh-CN" sz="1501" dirty="0" err="1">
                <a:latin typeface="Comic Sans MS" panose="030F0702030302020204" pitchFamily="66" charset="0"/>
              </a:rPr>
              <a:t>i</a:t>
            </a:r>
            <a:r>
              <a:rPr lang="en-US" altLang="zh-CN" sz="1501" dirty="0">
                <a:latin typeface="Comic Sans MS" panose="030F0702030302020204" pitchFamily="66" charset="0"/>
              </a:rPr>
              <a:t>]=x[</a:t>
            </a:r>
            <a:r>
              <a:rPr lang="en-US" altLang="zh-CN" sz="1501" dirty="0" err="1">
                <a:latin typeface="Comic Sans MS" panose="030F0702030302020204" pitchFamily="66" charset="0"/>
              </a:rPr>
              <a:t>i</a:t>
            </a:r>
            <a:r>
              <a:rPr lang="en-US" altLang="zh-CN" sz="1501" dirty="0">
                <a:latin typeface="Comic Sans MS" panose="030F0702030302020204" pitchFamily="66" charset="0"/>
              </a:rPr>
              <a:t>]+100;</a:t>
            </a:r>
          </a:p>
          <a:p>
            <a:pPr>
              <a:spcBef>
                <a:spcPct val="20000"/>
              </a:spcBef>
              <a:buFont typeface="Wingdings" panose="05000000000000000000" pitchFamily="2" charset="2"/>
              <a:buNone/>
              <a:defRPr/>
            </a:pPr>
            <a:r>
              <a:rPr lang="en-US" altLang="zh-CN" sz="1501" dirty="0">
                <a:latin typeface="Comic Sans MS" panose="030F0702030302020204" pitchFamily="66" charset="0"/>
              </a:rPr>
              <a:t>	else</a:t>
            </a:r>
          </a:p>
          <a:p>
            <a:pPr>
              <a:spcBef>
                <a:spcPct val="20000"/>
              </a:spcBef>
              <a:buFont typeface="Wingdings" panose="05000000000000000000" pitchFamily="2" charset="2"/>
              <a:buNone/>
              <a:defRPr/>
            </a:pPr>
            <a:r>
              <a:rPr lang="en-US" altLang="zh-CN" sz="1501" dirty="0">
                <a:latin typeface="Comic Sans MS" panose="030F0702030302020204" pitchFamily="66" charset="0"/>
              </a:rPr>
              <a:t>		x[</a:t>
            </a:r>
            <a:r>
              <a:rPr lang="en-US" altLang="zh-CN" sz="1501" dirty="0" err="1">
                <a:latin typeface="Comic Sans MS" panose="030F0702030302020204" pitchFamily="66" charset="0"/>
              </a:rPr>
              <a:t>i</a:t>
            </a:r>
            <a:r>
              <a:rPr lang="en-US" altLang="zh-CN" sz="1501" dirty="0">
                <a:latin typeface="Comic Sans MS" panose="030F0702030302020204" pitchFamily="66" charset="0"/>
              </a:rPr>
              <a:t>]=x[</a:t>
            </a:r>
            <a:r>
              <a:rPr lang="en-US" altLang="zh-CN" sz="1501" dirty="0" err="1">
                <a:latin typeface="Comic Sans MS" panose="030F0702030302020204" pitchFamily="66" charset="0"/>
              </a:rPr>
              <a:t>i</a:t>
            </a:r>
            <a:r>
              <a:rPr lang="en-US" altLang="zh-CN" sz="1501" dirty="0">
                <a:latin typeface="Comic Sans MS" panose="030F0702030302020204" pitchFamily="66" charset="0"/>
              </a:rPr>
              <a:t>]/2;</a:t>
            </a:r>
          </a:p>
          <a:p>
            <a:pPr>
              <a:spcBef>
                <a:spcPct val="20000"/>
              </a:spcBef>
              <a:buFont typeface="Wingdings" panose="05000000000000000000" pitchFamily="2" charset="2"/>
              <a:buNone/>
              <a:defRPr/>
            </a:pPr>
            <a:r>
              <a:rPr lang="en-US" altLang="zh-CN" sz="1501" dirty="0">
                <a:latin typeface="Comic Sans MS" panose="030F0702030302020204" pitchFamily="66" charset="0"/>
              </a:rPr>
              <a:t>}</a:t>
            </a:r>
          </a:p>
        </p:txBody>
      </p:sp>
      <p:sp>
        <p:nvSpPr>
          <p:cNvPr id="601093" name="Rectangle 5"/>
          <p:cNvSpPr>
            <a:spLocks noChangeArrowheads="1"/>
          </p:cNvSpPr>
          <p:nvPr/>
        </p:nvSpPr>
        <p:spPr bwMode="auto">
          <a:xfrm>
            <a:off x="4686300" y="2230438"/>
            <a:ext cx="2917825"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 typeface="Wingdings" panose="05000000000000000000" pitchFamily="2" charset="2"/>
              <a:buNone/>
              <a:defRPr/>
            </a:pPr>
            <a:r>
              <a:rPr lang="zh-CN" altLang="en-US" sz="2102" dirty="0">
                <a:latin typeface="Comic Sans MS" panose="030F0702030302020204" pitchFamily="66" charset="0"/>
                <a:ea typeface="楷体_GB2312"/>
                <a:cs typeface="楷体_GB2312"/>
              </a:rPr>
              <a:t>解：</a:t>
            </a:r>
          </a:p>
          <a:p>
            <a:pPr>
              <a:spcBef>
                <a:spcPct val="20000"/>
              </a:spcBef>
              <a:buFont typeface="Wingdings" panose="05000000000000000000" pitchFamily="2" charset="2"/>
              <a:buNone/>
              <a:defRPr/>
            </a:pPr>
            <a:r>
              <a:rPr lang="zh-CN" altLang="en-US" sz="1802" dirty="0">
                <a:latin typeface="Comic Sans MS" panose="030F0702030302020204" pitchFamily="66" charset="0"/>
                <a:ea typeface="楷体_GB2312"/>
                <a:cs typeface="楷体_GB2312"/>
              </a:rPr>
              <a:t>可能的执行序列</a:t>
            </a:r>
            <a:r>
              <a:rPr lang="en-US" altLang="zh-CN" sz="1802" dirty="0">
                <a:latin typeface="Comic Sans MS" panose="030F0702030302020204" pitchFamily="66" charset="0"/>
                <a:ea typeface="楷体_GB2312"/>
                <a:cs typeface="楷体_GB2312"/>
              </a:rPr>
              <a:t>/</a:t>
            </a:r>
            <a:r>
              <a:rPr lang="zh-CN" altLang="en-US" sz="1802" dirty="0">
                <a:latin typeface="Comic Sans MS" panose="030F0702030302020204" pitchFamily="66" charset="0"/>
                <a:ea typeface="楷体_GB2312"/>
                <a:cs typeface="楷体_GB2312"/>
              </a:rPr>
              <a:t>路径数是</a:t>
            </a:r>
            <a:r>
              <a:rPr lang="en-US" altLang="zh-CN" sz="1802" dirty="0">
                <a:latin typeface="Comic Sans MS" panose="030F0702030302020204" pitchFamily="66" charset="0"/>
                <a:ea typeface="楷体_GB2312"/>
                <a:cs typeface="楷体_GB2312"/>
              </a:rPr>
              <a:t>2</a:t>
            </a:r>
            <a:r>
              <a:rPr lang="en-US" altLang="zh-CN" sz="1802" baseline="30000" dirty="0">
                <a:latin typeface="Comic Sans MS" panose="030F0702030302020204" pitchFamily="66" charset="0"/>
                <a:ea typeface="楷体_GB2312"/>
                <a:cs typeface="楷体_GB2312"/>
              </a:rPr>
              <a:t>n</a:t>
            </a:r>
            <a:endParaRPr lang="en-US" altLang="zh-CN" sz="1802" dirty="0">
              <a:latin typeface="Comic Sans MS" panose="030F0702030302020204" pitchFamily="66" charset="0"/>
              <a:ea typeface="楷体_GB2312"/>
              <a:cs typeface="楷体_GB2312"/>
            </a:endParaRPr>
          </a:p>
          <a:p>
            <a:pPr>
              <a:spcBef>
                <a:spcPct val="20000"/>
              </a:spcBef>
              <a:buFont typeface="Wingdings" panose="05000000000000000000" pitchFamily="2" charset="2"/>
              <a:buNone/>
              <a:defRPr/>
            </a:pPr>
            <a:r>
              <a:rPr lang="zh-CN" altLang="en-US" sz="1802" dirty="0">
                <a:latin typeface="Comic Sans MS" panose="030F0702030302020204" pitchFamily="66" charset="0"/>
                <a:ea typeface="楷体_GB2312"/>
                <a:cs typeface="楷体_GB2312"/>
              </a:rPr>
              <a:t>当</a:t>
            </a:r>
            <a:r>
              <a:rPr lang="en-US" altLang="zh-CN" sz="1802" dirty="0">
                <a:latin typeface="Comic Sans MS" panose="030F0702030302020204" pitchFamily="66" charset="0"/>
                <a:ea typeface="楷体_GB2312"/>
                <a:cs typeface="楷体_GB2312"/>
              </a:rPr>
              <a:t>n=200</a:t>
            </a:r>
            <a:r>
              <a:rPr lang="zh-CN" altLang="en-US" sz="1802" dirty="0">
                <a:latin typeface="Comic Sans MS" panose="030F0702030302020204" pitchFamily="66" charset="0"/>
                <a:ea typeface="楷体_GB2312"/>
                <a:cs typeface="楷体_GB2312"/>
              </a:rPr>
              <a:t>时，执行序列</a:t>
            </a:r>
            <a:r>
              <a:rPr lang="en-US" altLang="zh-CN" sz="1802" dirty="0">
                <a:latin typeface="Comic Sans MS" panose="030F0702030302020204" pitchFamily="66" charset="0"/>
                <a:ea typeface="楷体_GB2312"/>
                <a:cs typeface="楷体_GB2312"/>
              </a:rPr>
              <a:t>/</a:t>
            </a:r>
            <a:r>
              <a:rPr lang="zh-CN" altLang="en-US" sz="1802" dirty="0">
                <a:latin typeface="Comic Sans MS" panose="030F0702030302020204" pitchFamily="66" charset="0"/>
                <a:ea typeface="楷体_GB2312"/>
                <a:cs typeface="楷体_GB2312"/>
              </a:rPr>
              <a:t>路径数是</a:t>
            </a:r>
            <a:r>
              <a:rPr lang="en-US" altLang="zh-CN" sz="1802" dirty="0">
                <a:latin typeface="Comic Sans MS" panose="030F0702030302020204" pitchFamily="66" charset="0"/>
                <a:ea typeface="楷体_GB2312"/>
                <a:cs typeface="楷体_GB2312"/>
              </a:rPr>
              <a:t>???</a:t>
            </a:r>
          </a:p>
        </p:txBody>
      </p:sp>
    </p:spTree>
    <p:extLst>
      <p:ext uri="{BB962C8B-B14F-4D97-AF65-F5344CB8AC3E}">
        <p14:creationId xmlns:p14="http://schemas.microsoft.com/office/powerpoint/2010/main" val="8371960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B4FDA52A-46DF-41F7-B712-E25F98C04459}" type="slidenum">
              <a:rPr lang="en-US" altLang="zh-CN" sz="1800" b="0" smtClean="0">
                <a:latin typeface="Times New Roman" pitchFamily="18" charset="0"/>
                <a:ea typeface="微软雅黑" pitchFamily="34" charset="-122"/>
              </a:rPr>
              <a:pPr algn="l" eaLnBrk="0" hangingPunct="0">
                <a:spcBef>
                  <a:spcPct val="0"/>
                </a:spcBef>
                <a:buFontTx/>
                <a:buNone/>
              </a:pPr>
              <a:t>54</a:t>
            </a:fld>
            <a:endParaRPr lang="en-US" altLang="zh-CN" sz="1800" b="0">
              <a:latin typeface="Times New Roman" pitchFamily="18" charset="0"/>
              <a:ea typeface="微软雅黑" pitchFamily="34" charset="-122"/>
            </a:endParaRPr>
          </a:p>
        </p:txBody>
      </p:sp>
      <p:sp>
        <p:nvSpPr>
          <p:cNvPr id="100355"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基本覆盖</a:t>
            </a:r>
          </a:p>
        </p:txBody>
      </p:sp>
      <p:sp>
        <p:nvSpPr>
          <p:cNvPr id="257027" name="Rectangle 3"/>
          <p:cNvSpPr>
            <a:spLocks noGrp="1" noChangeArrowheads="1"/>
          </p:cNvSpPr>
          <p:nvPr>
            <p:ph type="body" idx="1"/>
          </p:nvPr>
        </p:nvSpPr>
        <p:spPr>
          <a:xfrm>
            <a:off x="755650" y="1060450"/>
            <a:ext cx="6677025" cy="3397250"/>
          </a:xfrm>
        </p:spPr>
        <p:txBody>
          <a:bodyPr/>
          <a:lstStyle/>
          <a:p>
            <a:pPr>
              <a:lnSpc>
                <a:spcPct val="90000"/>
              </a:lnSpc>
              <a:buClr>
                <a:schemeClr val="tx2"/>
              </a:buClr>
              <a:defRPr/>
            </a:pPr>
            <a:r>
              <a:rPr lang="zh-CN" altLang="en-US" dirty="0"/>
              <a:t>基于控制流的测试</a:t>
            </a:r>
          </a:p>
          <a:p>
            <a:pPr lvl="1">
              <a:lnSpc>
                <a:spcPct val="90000"/>
              </a:lnSpc>
              <a:buClr>
                <a:schemeClr val="tx2"/>
              </a:buClr>
              <a:defRPr/>
            </a:pPr>
            <a:r>
              <a:rPr lang="zh-CN" altLang="en-US" sz="1802" b="1" dirty="0">
                <a:solidFill>
                  <a:srgbClr val="000000"/>
                </a:solidFill>
              </a:rPr>
              <a:t>语句覆盖</a:t>
            </a:r>
          </a:p>
          <a:p>
            <a:pPr lvl="1">
              <a:lnSpc>
                <a:spcPct val="90000"/>
              </a:lnSpc>
              <a:buClr>
                <a:schemeClr val="tx2"/>
              </a:buClr>
              <a:defRPr/>
            </a:pPr>
            <a:r>
              <a:rPr lang="zh-CN" altLang="en-US" sz="1802" b="1" dirty="0">
                <a:solidFill>
                  <a:srgbClr val="000000"/>
                </a:solidFill>
              </a:rPr>
              <a:t>分支覆盖</a:t>
            </a:r>
          </a:p>
          <a:p>
            <a:pPr lvl="1">
              <a:lnSpc>
                <a:spcPct val="90000"/>
              </a:lnSpc>
              <a:buClr>
                <a:schemeClr val="tx2"/>
              </a:buClr>
              <a:defRPr/>
            </a:pPr>
            <a:r>
              <a:rPr lang="zh-CN" altLang="en-US" sz="1802" b="1" dirty="0">
                <a:solidFill>
                  <a:srgbClr val="000000"/>
                </a:solidFill>
              </a:rPr>
              <a:t>条件覆盖</a:t>
            </a:r>
          </a:p>
          <a:p>
            <a:pPr lvl="1">
              <a:lnSpc>
                <a:spcPct val="90000"/>
              </a:lnSpc>
              <a:buClr>
                <a:schemeClr val="tx2"/>
              </a:buClr>
              <a:defRPr/>
            </a:pPr>
            <a:r>
              <a:rPr lang="zh-CN" altLang="en-US" sz="1802" b="1" dirty="0">
                <a:solidFill>
                  <a:srgbClr val="000000"/>
                </a:solidFill>
              </a:rPr>
              <a:t>条件组合覆盖</a:t>
            </a:r>
          </a:p>
          <a:p>
            <a:pPr lvl="1">
              <a:lnSpc>
                <a:spcPct val="90000"/>
              </a:lnSpc>
              <a:buClr>
                <a:schemeClr val="tx2"/>
              </a:buClr>
              <a:defRPr/>
            </a:pPr>
            <a:r>
              <a:rPr lang="zh-CN" altLang="en-US" sz="1802" b="1" dirty="0">
                <a:solidFill>
                  <a:srgbClr val="000000"/>
                </a:solidFill>
              </a:rPr>
              <a:t>基本路径覆盖</a:t>
            </a:r>
          </a:p>
          <a:p>
            <a:pPr lvl="1">
              <a:lnSpc>
                <a:spcPct val="90000"/>
              </a:lnSpc>
              <a:buClr>
                <a:schemeClr val="tx2"/>
              </a:buClr>
              <a:defRPr/>
            </a:pPr>
            <a:r>
              <a:rPr lang="zh-CN" altLang="en-US" sz="1802" b="1" dirty="0">
                <a:solidFill>
                  <a:srgbClr val="000000"/>
                </a:solidFill>
              </a:rPr>
              <a:t>循环覆盖</a:t>
            </a:r>
          </a:p>
          <a:p>
            <a:pPr>
              <a:lnSpc>
                <a:spcPct val="90000"/>
              </a:lnSpc>
              <a:buClr>
                <a:schemeClr val="tx2"/>
              </a:buClr>
              <a:defRPr/>
            </a:pPr>
            <a:r>
              <a:rPr lang="zh-CN" altLang="en-US" dirty="0"/>
              <a:t>数据流覆盖</a:t>
            </a:r>
          </a:p>
          <a:p>
            <a:pPr>
              <a:lnSpc>
                <a:spcPct val="90000"/>
              </a:lnSpc>
              <a:buClr>
                <a:schemeClr val="tx2"/>
              </a:buClr>
              <a:defRPr/>
            </a:pPr>
            <a:r>
              <a:rPr lang="zh-CN" altLang="en-US" dirty="0"/>
              <a:t>变元覆盖</a:t>
            </a:r>
            <a:r>
              <a:rPr lang="en-US" altLang="zh-CN" dirty="0"/>
              <a:t>(mutation coverage)</a:t>
            </a:r>
          </a:p>
        </p:txBody>
      </p:sp>
    </p:spTree>
    <p:extLst>
      <p:ext uri="{BB962C8B-B14F-4D97-AF65-F5344CB8AC3E}">
        <p14:creationId xmlns:p14="http://schemas.microsoft.com/office/powerpoint/2010/main" val="37960803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DB788187-07F6-4B02-B1BF-ED25F4306CE4}" type="slidenum">
              <a:rPr lang="en-US" altLang="zh-CN" sz="1800" b="0" smtClean="0">
                <a:latin typeface="Times New Roman" pitchFamily="18" charset="0"/>
                <a:ea typeface="微软雅黑" pitchFamily="34" charset="-122"/>
              </a:rPr>
              <a:pPr algn="l" eaLnBrk="0" hangingPunct="0">
                <a:spcBef>
                  <a:spcPct val="0"/>
                </a:spcBef>
                <a:buFontTx/>
                <a:buNone/>
              </a:pPr>
              <a:t>55</a:t>
            </a:fld>
            <a:endParaRPr lang="en-US" altLang="zh-CN" sz="1800" b="0">
              <a:latin typeface="Times New Roman" pitchFamily="18" charset="0"/>
              <a:ea typeface="微软雅黑" pitchFamily="34" charset="-122"/>
            </a:endParaRPr>
          </a:p>
        </p:txBody>
      </p:sp>
      <p:sp>
        <p:nvSpPr>
          <p:cNvPr id="101379"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控制流图</a:t>
            </a:r>
          </a:p>
        </p:txBody>
      </p:sp>
      <p:sp>
        <p:nvSpPr>
          <p:cNvPr id="101380" name="Rectangle 3"/>
          <p:cNvSpPr>
            <a:spLocks noGrp="1" noChangeArrowheads="1"/>
          </p:cNvSpPr>
          <p:nvPr>
            <p:ph type="body" idx="1"/>
          </p:nvPr>
        </p:nvSpPr>
        <p:spPr>
          <a:xfrm>
            <a:off x="468313" y="990600"/>
            <a:ext cx="8229600" cy="3397250"/>
          </a:xfrm>
        </p:spPr>
        <p:txBody>
          <a:bodyPr/>
          <a:lstStyle/>
          <a:p>
            <a:r>
              <a:rPr lang="zh-CN" altLang="en-US" sz="2800"/>
              <a:t>一个段是一个或多个无条件连续执行的语句。</a:t>
            </a:r>
          </a:p>
          <a:p>
            <a:r>
              <a:rPr lang="zh-CN" altLang="en-US" sz="2800"/>
              <a:t>一个段在控制流图中用一个结点表示，结点可以用任何方便的形式命名。</a:t>
            </a:r>
          </a:p>
          <a:p>
            <a:r>
              <a:rPr lang="zh-CN" altLang="en-US" sz="2800"/>
              <a:t>一个控制条件转移是一个分支，一个分支段在控制流图中用一个输出边表示。</a:t>
            </a:r>
          </a:p>
          <a:p>
            <a:r>
              <a:rPr lang="zh-CN" altLang="en-US" sz="2800"/>
              <a:t>一个程序的入口点用入口结点表示，它是一个没有输入边的结点，一个程序的出口点用出口结点表示，它是一个没有输出边的结点。</a:t>
            </a:r>
          </a:p>
        </p:txBody>
      </p:sp>
    </p:spTree>
    <p:extLst>
      <p:ext uri="{BB962C8B-B14F-4D97-AF65-F5344CB8AC3E}">
        <p14:creationId xmlns:p14="http://schemas.microsoft.com/office/powerpoint/2010/main" val="28398412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4E6C93E5-A466-4A22-8B3A-AD98C054F21A}" type="slidenum">
              <a:rPr lang="en-US" altLang="zh-CN" sz="1800" b="0" smtClean="0">
                <a:latin typeface="Times New Roman" pitchFamily="18" charset="0"/>
                <a:ea typeface="微软雅黑" pitchFamily="34" charset="-122"/>
              </a:rPr>
              <a:pPr algn="l" eaLnBrk="0" hangingPunct="0">
                <a:spcBef>
                  <a:spcPct val="0"/>
                </a:spcBef>
                <a:buFontTx/>
                <a:buNone/>
              </a:pPr>
              <a:t>56</a:t>
            </a:fld>
            <a:endParaRPr lang="en-US" altLang="zh-CN" sz="1800" b="0">
              <a:latin typeface="Times New Roman" pitchFamily="18" charset="0"/>
              <a:ea typeface="微软雅黑" pitchFamily="34" charset="-122"/>
            </a:endParaRPr>
          </a:p>
        </p:txBody>
      </p:sp>
      <p:sp>
        <p:nvSpPr>
          <p:cNvPr id="102403"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程序实例</a:t>
            </a:r>
          </a:p>
        </p:txBody>
      </p:sp>
      <p:sp>
        <p:nvSpPr>
          <p:cNvPr id="102404" name="Rectangle 3"/>
          <p:cNvSpPr>
            <a:spLocks noGrp="1" noChangeArrowheads="1"/>
          </p:cNvSpPr>
          <p:nvPr>
            <p:ph type="body" idx="1"/>
          </p:nvPr>
        </p:nvSpPr>
        <p:spPr>
          <a:xfrm>
            <a:off x="1598613" y="1276350"/>
            <a:ext cx="6054725" cy="3297238"/>
          </a:xfrm>
        </p:spPr>
        <p:txBody>
          <a:bodyPr/>
          <a:lstStyle/>
          <a:p>
            <a:pPr marL="285750" indent="-285750">
              <a:lnSpc>
                <a:spcPct val="80000"/>
              </a:lnSpc>
              <a:buFont typeface="Wingdings" pitchFamily="2" charset="2"/>
              <a:buAutoNum type="arabicPeriod"/>
            </a:pPr>
            <a:r>
              <a:rPr lang="en-US" altLang="zh-CN" sz="1500">
                <a:latin typeface="Times New Roman" pitchFamily="18" charset="0"/>
              </a:rPr>
              <a:t>void  DoWork(int x,int y,int z)</a:t>
            </a:r>
          </a:p>
          <a:p>
            <a:pPr marL="285750" indent="-285750">
              <a:lnSpc>
                <a:spcPct val="80000"/>
              </a:lnSpc>
              <a:buFont typeface="Wingdings" pitchFamily="2" charset="2"/>
              <a:buAutoNum type="arabicPeriod"/>
            </a:pPr>
            <a:r>
              <a:rPr lang="en-US" altLang="zh-CN" sz="1500">
                <a:latin typeface="Times New Roman" pitchFamily="18" charset="0"/>
              </a:rPr>
              <a:t>{</a:t>
            </a:r>
          </a:p>
          <a:p>
            <a:pPr marL="285750" indent="-285750">
              <a:lnSpc>
                <a:spcPct val="80000"/>
              </a:lnSpc>
              <a:buFont typeface="Wingdings" pitchFamily="2" charset="2"/>
              <a:buAutoNum type="arabicPeriod"/>
            </a:pPr>
            <a:r>
              <a:rPr lang="en-US" altLang="zh-CN" sz="1500">
                <a:latin typeface="Times New Roman" pitchFamily="18" charset="0"/>
              </a:rPr>
              <a:t>   int  k=0,j=0;</a:t>
            </a:r>
          </a:p>
          <a:p>
            <a:pPr marL="285750" indent="-285750">
              <a:lnSpc>
                <a:spcPct val="80000"/>
              </a:lnSpc>
              <a:buFont typeface="Wingdings" pitchFamily="2" charset="2"/>
              <a:buAutoNum type="arabicPeriod"/>
            </a:pPr>
            <a:r>
              <a:rPr lang="en-US" altLang="zh-CN" sz="1500">
                <a:latin typeface="Times New Roman" pitchFamily="18" charset="0"/>
              </a:rPr>
              <a:t>   if((x&gt;3)&amp;&amp;(z&lt;10))</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k=x*y-1; </a:t>
            </a:r>
          </a:p>
          <a:p>
            <a:pPr marL="285750" indent="-285750">
              <a:lnSpc>
                <a:spcPct val="80000"/>
              </a:lnSpc>
              <a:buFont typeface="Wingdings" pitchFamily="2" charset="2"/>
              <a:buAutoNum type="arabicPeriod"/>
            </a:pPr>
            <a:r>
              <a:rPr lang="en-US" altLang="zh-CN" sz="1500">
                <a:latin typeface="Times New Roman" pitchFamily="18" charset="0"/>
              </a:rPr>
              <a:t>       j=sqrt(k);</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if((x= =4)||(y&gt;5))</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j=x*y+10;  </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j=j%3; </a:t>
            </a:r>
          </a:p>
          <a:p>
            <a:pPr marL="285750" indent="-285750">
              <a:lnSpc>
                <a:spcPct val="80000"/>
              </a:lnSpc>
              <a:buFont typeface="Wingdings" pitchFamily="2" charset="2"/>
              <a:buAutoNum type="arabicPeriod"/>
            </a:pPr>
            <a:r>
              <a:rPr lang="en-US" altLang="zh-CN" sz="1500">
                <a:latin typeface="Times New Roman" pitchFamily="18" charset="0"/>
              </a:rPr>
              <a:t>}</a:t>
            </a:r>
          </a:p>
        </p:txBody>
      </p:sp>
    </p:spTree>
    <p:extLst>
      <p:ext uri="{BB962C8B-B14F-4D97-AF65-F5344CB8AC3E}">
        <p14:creationId xmlns:p14="http://schemas.microsoft.com/office/powerpoint/2010/main" val="6768336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971E63C3-ED32-4426-B952-5749ACA1C1BA}" type="slidenum">
              <a:rPr lang="en-US" altLang="zh-CN" sz="1800" b="0" smtClean="0">
                <a:latin typeface="Times New Roman" pitchFamily="18" charset="0"/>
                <a:ea typeface="微软雅黑" pitchFamily="34" charset="-122"/>
              </a:rPr>
              <a:pPr algn="l" eaLnBrk="0" hangingPunct="0">
                <a:spcBef>
                  <a:spcPct val="0"/>
                </a:spcBef>
                <a:buFontTx/>
                <a:buNone/>
              </a:pPr>
              <a:t>57</a:t>
            </a:fld>
            <a:endParaRPr lang="en-US" altLang="zh-CN" sz="1800" b="0">
              <a:latin typeface="Times New Roman" pitchFamily="18" charset="0"/>
              <a:ea typeface="微软雅黑" pitchFamily="34" charset="-122"/>
            </a:endParaRPr>
          </a:p>
        </p:txBody>
      </p:sp>
      <p:sp>
        <p:nvSpPr>
          <p:cNvPr id="103427" name="Rectangle 1026"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控制流图例</a:t>
            </a:r>
          </a:p>
        </p:txBody>
      </p:sp>
      <p:sp>
        <p:nvSpPr>
          <p:cNvPr id="653320" name="AutoShape 1032"/>
          <p:cNvSpPr>
            <a:spLocks noChangeArrowheads="1"/>
          </p:cNvSpPr>
          <p:nvPr/>
        </p:nvSpPr>
        <p:spPr bwMode="auto">
          <a:xfrm>
            <a:off x="3328988" y="1331913"/>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A</a:t>
            </a:r>
          </a:p>
        </p:txBody>
      </p:sp>
      <p:sp>
        <p:nvSpPr>
          <p:cNvPr id="103429" name="Line 1049"/>
          <p:cNvSpPr>
            <a:spLocks noChangeShapeType="1"/>
          </p:cNvSpPr>
          <p:nvPr/>
        </p:nvSpPr>
        <p:spPr bwMode="auto">
          <a:xfrm>
            <a:off x="3868738" y="2303463"/>
            <a:ext cx="296862" cy="2174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30" name="Line 1051"/>
          <p:cNvSpPr>
            <a:spLocks noChangeShapeType="1"/>
          </p:cNvSpPr>
          <p:nvPr/>
        </p:nvSpPr>
        <p:spPr bwMode="auto">
          <a:xfrm>
            <a:off x="3868738" y="3224213"/>
            <a:ext cx="32385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31" name="Line 1058"/>
          <p:cNvSpPr>
            <a:spLocks noChangeShapeType="1"/>
          </p:cNvSpPr>
          <p:nvPr/>
        </p:nvSpPr>
        <p:spPr bwMode="auto">
          <a:xfrm flipH="1">
            <a:off x="3868738" y="2790825"/>
            <a:ext cx="269875" cy="217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32" name="Line 1059"/>
          <p:cNvSpPr>
            <a:spLocks noChangeShapeType="1"/>
          </p:cNvSpPr>
          <p:nvPr/>
        </p:nvSpPr>
        <p:spPr bwMode="auto">
          <a:xfrm flipH="1">
            <a:off x="3868738" y="3709988"/>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3353" name="Rectangle 1065"/>
          <p:cNvSpPr>
            <a:spLocks noGrp="1" noChangeArrowheads="1"/>
          </p:cNvSpPr>
          <p:nvPr>
            <p:ph type="body" idx="1"/>
          </p:nvPr>
        </p:nvSpPr>
        <p:spPr>
          <a:xfrm>
            <a:off x="6032500" y="1817688"/>
            <a:ext cx="1189038" cy="1728787"/>
          </a:xfrm>
        </p:spPr>
        <p:txBody>
          <a:bodyPr/>
          <a:lstStyle/>
          <a:p>
            <a:pPr marL="286017" indent="-286017">
              <a:buFont typeface="Arial" pitchFamily="34" charset="0"/>
              <a:buNone/>
              <a:defRPr/>
            </a:pPr>
            <a:r>
              <a:rPr lang="en-US" altLang="zh-CN" sz="1351"/>
              <a:t>A: 1,2,3</a:t>
            </a:r>
          </a:p>
          <a:p>
            <a:pPr marL="286017" indent="-286017">
              <a:buFont typeface="Arial" pitchFamily="34" charset="0"/>
              <a:buNone/>
              <a:defRPr/>
            </a:pPr>
            <a:r>
              <a:rPr lang="en-US" altLang="zh-CN" sz="1351"/>
              <a:t>B: 4</a:t>
            </a:r>
          </a:p>
          <a:p>
            <a:pPr marL="286017" indent="-286017">
              <a:buFont typeface="Arial" pitchFamily="34" charset="0"/>
              <a:buNone/>
              <a:defRPr/>
            </a:pPr>
            <a:r>
              <a:rPr lang="en-US" altLang="zh-CN" sz="1351"/>
              <a:t>C: 5, 6, 7, 8</a:t>
            </a:r>
          </a:p>
          <a:p>
            <a:pPr marL="286017" indent="-286017">
              <a:buFont typeface="Arial" pitchFamily="34" charset="0"/>
              <a:buNone/>
              <a:defRPr/>
            </a:pPr>
            <a:r>
              <a:rPr lang="en-US" altLang="zh-CN" sz="1351"/>
              <a:t>D: 9</a:t>
            </a:r>
          </a:p>
          <a:p>
            <a:pPr marL="286017" indent="-286017">
              <a:buFont typeface="Arial" pitchFamily="34" charset="0"/>
              <a:buNone/>
              <a:defRPr/>
            </a:pPr>
            <a:r>
              <a:rPr lang="en-US" altLang="zh-CN" sz="1351"/>
              <a:t>E: 10, 11, 12</a:t>
            </a:r>
          </a:p>
          <a:p>
            <a:pPr marL="286017" indent="-286017">
              <a:buFont typeface="Arial" pitchFamily="34" charset="0"/>
              <a:buNone/>
              <a:defRPr/>
            </a:pPr>
            <a:r>
              <a:rPr lang="en-US" altLang="zh-CN" sz="1351"/>
              <a:t>F: 13, 14</a:t>
            </a:r>
          </a:p>
        </p:txBody>
      </p:sp>
      <p:sp>
        <p:nvSpPr>
          <p:cNvPr id="103434" name="Line 1066"/>
          <p:cNvSpPr>
            <a:spLocks noChangeShapeType="1"/>
          </p:cNvSpPr>
          <p:nvPr/>
        </p:nvSpPr>
        <p:spPr bwMode="auto">
          <a:xfrm>
            <a:off x="3598863" y="1763713"/>
            <a:ext cx="0" cy="269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3355" name="AutoShape 1067"/>
          <p:cNvSpPr>
            <a:spLocks noChangeArrowheads="1"/>
          </p:cNvSpPr>
          <p:nvPr/>
        </p:nvSpPr>
        <p:spPr bwMode="auto">
          <a:xfrm>
            <a:off x="3328988" y="2033588"/>
            <a:ext cx="539750" cy="433387"/>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B</a:t>
            </a:r>
          </a:p>
        </p:txBody>
      </p:sp>
      <p:sp>
        <p:nvSpPr>
          <p:cNvPr id="653356" name="AutoShape 1068"/>
          <p:cNvSpPr>
            <a:spLocks noChangeArrowheads="1"/>
          </p:cNvSpPr>
          <p:nvPr/>
        </p:nvSpPr>
        <p:spPr bwMode="auto">
          <a:xfrm>
            <a:off x="3328988" y="2898775"/>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D</a:t>
            </a:r>
          </a:p>
        </p:txBody>
      </p:sp>
      <p:sp>
        <p:nvSpPr>
          <p:cNvPr id="653357" name="AutoShape 1069"/>
          <p:cNvSpPr>
            <a:spLocks noChangeArrowheads="1"/>
          </p:cNvSpPr>
          <p:nvPr/>
        </p:nvSpPr>
        <p:spPr bwMode="auto">
          <a:xfrm>
            <a:off x="3328988" y="3763963"/>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F</a:t>
            </a:r>
          </a:p>
        </p:txBody>
      </p:sp>
      <p:sp>
        <p:nvSpPr>
          <p:cNvPr id="653358" name="AutoShape 1070"/>
          <p:cNvSpPr>
            <a:spLocks noChangeArrowheads="1"/>
          </p:cNvSpPr>
          <p:nvPr/>
        </p:nvSpPr>
        <p:spPr bwMode="auto">
          <a:xfrm>
            <a:off x="4086225" y="3386138"/>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E</a:t>
            </a:r>
          </a:p>
        </p:txBody>
      </p:sp>
      <p:sp>
        <p:nvSpPr>
          <p:cNvPr id="653359" name="AutoShape 1071"/>
          <p:cNvSpPr>
            <a:spLocks noChangeArrowheads="1"/>
          </p:cNvSpPr>
          <p:nvPr/>
        </p:nvSpPr>
        <p:spPr bwMode="auto">
          <a:xfrm>
            <a:off x="4086225" y="2466975"/>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C</a:t>
            </a:r>
          </a:p>
        </p:txBody>
      </p:sp>
      <p:sp>
        <p:nvSpPr>
          <p:cNvPr id="103440" name="Line 1072"/>
          <p:cNvSpPr>
            <a:spLocks noChangeShapeType="1"/>
          </p:cNvSpPr>
          <p:nvPr/>
        </p:nvSpPr>
        <p:spPr bwMode="auto">
          <a:xfrm>
            <a:off x="3598863" y="246697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441" name="Line 1073"/>
          <p:cNvSpPr>
            <a:spLocks noChangeShapeType="1"/>
          </p:cNvSpPr>
          <p:nvPr/>
        </p:nvSpPr>
        <p:spPr bwMode="auto">
          <a:xfrm>
            <a:off x="3598863" y="333216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Rectangle 3">
            <a:extLst>
              <a:ext uri="{FF2B5EF4-FFF2-40B4-BE49-F238E27FC236}">
                <a16:creationId xmlns:a16="http://schemas.microsoft.com/office/drawing/2014/main" id="{19926B0C-689C-4190-944E-E48A6638641A}"/>
              </a:ext>
            </a:extLst>
          </p:cNvPr>
          <p:cNvSpPr txBox="1">
            <a:spLocks noChangeArrowheads="1"/>
          </p:cNvSpPr>
          <p:nvPr/>
        </p:nvSpPr>
        <p:spPr bwMode="auto">
          <a:xfrm>
            <a:off x="301625" y="1192725"/>
            <a:ext cx="6054725"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80000"/>
              </a:lnSpc>
              <a:buFont typeface="Wingdings" pitchFamily="2" charset="2"/>
              <a:buAutoNum type="arabicPeriod"/>
            </a:pPr>
            <a:r>
              <a:rPr lang="en-US" altLang="zh-CN" sz="1500">
                <a:latin typeface="Times New Roman" pitchFamily="18" charset="0"/>
              </a:rPr>
              <a:t>void  DoWork(int x,int y,int z)</a:t>
            </a:r>
          </a:p>
          <a:p>
            <a:pPr marL="285750" indent="-285750">
              <a:lnSpc>
                <a:spcPct val="80000"/>
              </a:lnSpc>
              <a:buFont typeface="Wingdings" pitchFamily="2" charset="2"/>
              <a:buAutoNum type="arabicPeriod"/>
            </a:pPr>
            <a:r>
              <a:rPr lang="en-US" altLang="zh-CN" sz="1500">
                <a:latin typeface="Times New Roman" pitchFamily="18" charset="0"/>
              </a:rPr>
              <a:t>{</a:t>
            </a:r>
          </a:p>
          <a:p>
            <a:pPr marL="285750" indent="-285750">
              <a:lnSpc>
                <a:spcPct val="80000"/>
              </a:lnSpc>
              <a:buFont typeface="Wingdings" pitchFamily="2" charset="2"/>
              <a:buAutoNum type="arabicPeriod"/>
            </a:pPr>
            <a:r>
              <a:rPr lang="en-US" altLang="zh-CN" sz="1500">
                <a:latin typeface="Times New Roman" pitchFamily="18" charset="0"/>
              </a:rPr>
              <a:t>   int  k=0,j=0;</a:t>
            </a:r>
          </a:p>
          <a:p>
            <a:pPr marL="285750" indent="-285750">
              <a:lnSpc>
                <a:spcPct val="80000"/>
              </a:lnSpc>
              <a:buFont typeface="Wingdings" pitchFamily="2" charset="2"/>
              <a:buAutoNum type="arabicPeriod"/>
            </a:pPr>
            <a:r>
              <a:rPr lang="en-US" altLang="zh-CN" sz="1500">
                <a:latin typeface="Times New Roman" pitchFamily="18" charset="0"/>
              </a:rPr>
              <a:t>   if((x&gt;3)&amp;&amp;(z&lt;10))</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k=x*y-1; </a:t>
            </a:r>
          </a:p>
          <a:p>
            <a:pPr marL="285750" indent="-285750">
              <a:lnSpc>
                <a:spcPct val="80000"/>
              </a:lnSpc>
              <a:buFont typeface="Wingdings" pitchFamily="2" charset="2"/>
              <a:buAutoNum type="arabicPeriod"/>
            </a:pPr>
            <a:r>
              <a:rPr lang="en-US" altLang="zh-CN" sz="1500">
                <a:latin typeface="Times New Roman" pitchFamily="18" charset="0"/>
              </a:rPr>
              <a:t>       j=sqrt(k);</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if((x= =4)||(y&gt;5))</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j=x*y+10;  </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j=j%3; </a:t>
            </a:r>
          </a:p>
          <a:p>
            <a:pPr marL="285750" indent="-285750">
              <a:lnSpc>
                <a:spcPct val="80000"/>
              </a:lnSpc>
              <a:buFont typeface="Wingdings" pitchFamily="2" charset="2"/>
              <a:buAutoNum type="arabicPeriod"/>
            </a:pPr>
            <a:r>
              <a:rPr lang="en-US" altLang="zh-CN" sz="1500">
                <a:latin typeface="Times New Roman" pitchFamily="18" charset="0"/>
              </a:rPr>
              <a:t>}</a:t>
            </a:r>
          </a:p>
        </p:txBody>
      </p:sp>
    </p:spTree>
    <p:extLst>
      <p:ext uri="{BB962C8B-B14F-4D97-AF65-F5344CB8AC3E}">
        <p14:creationId xmlns:p14="http://schemas.microsoft.com/office/powerpoint/2010/main" val="1604328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A2B63E2F-21F3-4938-AA25-1E2845FC437F}" type="slidenum">
              <a:rPr lang="en-US" altLang="zh-CN" sz="1800" b="0" smtClean="0">
                <a:latin typeface="Times New Roman" pitchFamily="18" charset="0"/>
                <a:ea typeface="微软雅黑" pitchFamily="34" charset="-122"/>
              </a:rPr>
              <a:pPr algn="l" eaLnBrk="0" hangingPunct="0">
                <a:spcBef>
                  <a:spcPct val="0"/>
                </a:spcBef>
                <a:buFontTx/>
                <a:buNone/>
              </a:pPr>
              <a:t>58</a:t>
            </a:fld>
            <a:endParaRPr lang="en-US" altLang="zh-CN" sz="1800" b="0">
              <a:latin typeface="Times New Roman" pitchFamily="18" charset="0"/>
              <a:ea typeface="微软雅黑" pitchFamily="34" charset="-122"/>
            </a:endParaRPr>
          </a:p>
        </p:txBody>
      </p:sp>
      <p:sp>
        <p:nvSpPr>
          <p:cNvPr id="104451"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语句覆盖</a:t>
            </a:r>
          </a:p>
        </p:txBody>
      </p:sp>
      <p:sp>
        <p:nvSpPr>
          <p:cNvPr id="104452" name="Rectangle 3"/>
          <p:cNvSpPr>
            <a:spLocks noGrp="1" noChangeArrowheads="1"/>
          </p:cNvSpPr>
          <p:nvPr>
            <p:ph type="body" idx="1"/>
          </p:nvPr>
        </p:nvSpPr>
        <p:spPr>
          <a:xfrm>
            <a:off x="611188" y="1006475"/>
            <a:ext cx="7921625" cy="3513138"/>
          </a:xfrm>
        </p:spPr>
        <p:txBody>
          <a:bodyPr/>
          <a:lstStyle/>
          <a:p>
            <a:pPr>
              <a:spcBef>
                <a:spcPct val="50000"/>
              </a:spcBef>
            </a:pPr>
            <a:r>
              <a:rPr lang="zh-CN" altLang="en-US" dirty="0"/>
              <a:t>程序中每条语句至少被执行一次 </a:t>
            </a:r>
          </a:p>
          <a:p>
            <a:pPr>
              <a:spcBef>
                <a:spcPct val="50000"/>
              </a:spcBef>
            </a:pPr>
            <a:r>
              <a:rPr lang="en-US" altLang="zh-CN" dirty="0"/>
              <a:t>C1</a:t>
            </a:r>
            <a:r>
              <a:rPr lang="zh-CN" altLang="en-US" dirty="0"/>
              <a:t>覆盖、行覆盖、段覆盖、基本块覆盖</a:t>
            </a:r>
          </a:p>
          <a:p>
            <a:pPr>
              <a:spcBef>
                <a:spcPct val="50000"/>
              </a:spcBef>
            </a:pPr>
            <a:r>
              <a:rPr lang="zh-CN" altLang="en-US" dirty="0"/>
              <a:t>语句覆盖的盲点</a:t>
            </a:r>
            <a:r>
              <a:rPr lang="en-US" altLang="zh-CN" dirty="0"/>
              <a:t>(</a:t>
            </a:r>
            <a:r>
              <a:rPr lang="zh-CN" altLang="en-US" dirty="0"/>
              <a:t>循环</a:t>
            </a:r>
            <a:r>
              <a:rPr lang="en-US" altLang="zh-CN" dirty="0"/>
              <a:t>;</a:t>
            </a:r>
            <a:r>
              <a:rPr lang="zh-CN" altLang="en-US" dirty="0"/>
              <a:t>条件</a:t>
            </a:r>
            <a:r>
              <a:rPr lang="en-US" altLang="zh-CN" dirty="0"/>
              <a:t>)</a:t>
            </a:r>
          </a:p>
          <a:p>
            <a:pPr>
              <a:spcBef>
                <a:spcPct val="50000"/>
              </a:spcBef>
            </a:pPr>
            <a:r>
              <a:rPr lang="zh-CN" altLang="en-US" dirty="0"/>
              <a:t>语句覆盖是最起码的测试要求</a:t>
            </a:r>
          </a:p>
        </p:txBody>
      </p:sp>
    </p:spTree>
    <p:extLst>
      <p:ext uri="{BB962C8B-B14F-4D97-AF65-F5344CB8AC3E}">
        <p14:creationId xmlns:p14="http://schemas.microsoft.com/office/powerpoint/2010/main" val="3766833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4E6C93E5-A466-4A22-8B3A-AD98C054F21A}" type="slidenum">
              <a:rPr lang="en-US" altLang="zh-CN" sz="1800" b="0" smtClean="0">
                <a:latin typeface="Times New Roman" pitchFamily="18" charset="0"/>
                <a:ea typeface="微软雅黑" pitchFamily="34" charset="-122"/>
              </a:rPr>
              <a:pPr algn="l" eaLnBrk="0" hangingPunct="0">
                <a:spcBef>
                  <a:spcPct val="0"/>
                </a:spcBef>
                <a:buFontTx/>
                <a:buNone/>
              </a:pPr>
              <a:t>59</a:t>
            </a:fld>
            <a:endParaRPr lang="en-US" altLang="zh-CN" sz="1800" b="0">
              <a:latin typeface="Times New Roman" pitchFamily="18" charset="0"/>
              <a:ea typeface="微软雅黑" pitchFamily="34" charset="-122"/>
            </a:endParaRPr>
          </a:p>
        </p:txBody>
      </p:sp>
      <p:sp>
        <p:nvSpPr>
          <p:cNvPr id="102403"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程序实例</a:t>
            </a:r>
          </a:p>
        </p:txBody>
      </p:sp>
      <p:sp>
        <p:nvSpPr>
          <p:cNvPr id="102404" name="Rectangle 3"/>
          <p:cNvSpPr>
            <a:spLocks noGrp="1" noChangeArrowheads="1"/>
          </p:cNvSpPr>
          <p:nvPr>
            <p:ph type="body" idx="1"/>
          </p:nvPr>
        </p:nvSpPr>
        <p:spPr>
          <a:xfrm>
            <a:off x="1598613" y="1276350"/>
            <a:ext cx="6054725" cy="3297238"/>
          </a:xfrm>
        </p:spPr>
        <p:txBody>
          <a:bodyPr/>
          <a:lstStyle/>
          <a:p>
            <a:pPr marL="285750" indent="-285750">
              <a:lnSpc>
                <a:spcPct val="80000"/>
              </a:lnSpc>
              <a:buFont typeface="Wingdings" pitchFamily="2" charset="2"/>
              <a:buAutoNum type="arabicPeriod"/>
            </a:pPr>
            <a:r>
              <a:rPr lang="en-US" altLang="zh-CN" sz="1500" dirty="0">
                <a:latin typeface="Times New Roman" pitchFamily="18" charset="0"/>
              </a:rPr>
              <a:t>void  </a:t>
            </a:r>
            <a:r>
              <a:rPr lang="en-US" altLang="zh-CN" sz="1500" dirty="0" err="1">
                <a:latin typeface="Times New Roman" pitchFamily="18" charset="0"/>
              </a:rPr>
              <a:t>DoWork</a:t>
            </a:r>
            <a:r>
              <a:rPr lang="en-US" altLang="zh-CN" sz="1500" dirty="0">
                <a:latin typeface="Times New Roman" pitchFamily="18" charset="0"/>
              </a:rPr>
              <a:t>(</a:t>
            </a:r>
            <a:r>
              <a:rPr lang="en-US" altLang="zh-CN" sz="1500" dirty="0" err="1">
                <a:latin typeface="Times New Roman" pitchFamily="18" charset="0"/>
              </a:rPr>
              <a:t>int</a:t>
            </a:r>
            <a:r>
              <a:rPr lang="en-US" altLang="zh-CN" sz="1500" dirty="0">
                <a:latin typeface="Times New Roman" pitchFamily="18" charset="0"/>
              </a:rPr>
              <a:t> </a:t>
            </a:r>
            <a:r>
              <a:rPr lang="en-US" altLang="zh-CN" sz="1500" dirty="0" err="1">
                <a:latin typeface="Times New Roman" pitchFamily="18" charset="0"/>
              </a:rPr>
              <a:t>x,int</a:t>
            </a:r>
            <a:r>
              <a:rPr lang="en-US" altLang="zh-CN" sz="1500" dirty="0">
                <a:latin typeface="Times New Roman" pitchFamily="18" charset="0"/>
              </a:rPr>
              <a:t> </a:t>
            </a:r>
            <a:r>
              <a:rPr lang="en-US" altLang="zh-CN" sz="1500" dirty="0" err="1">
                <a:latin typeface="Times New Roman" pitchFamily="18" charset="0"/>
              </a:rPr>
              <a:t>y,int</a:t>
            </a:r>
            <a:r>
              <a:rPr lang="en-US" altLang="zh-CN" sz="1500" dirty="0">
                <a:latin typeface="Times New Roman" pitchFamily="18" charset="0"/>
              </a:rPr>
              <a:t> z)</a:t>
            </a:r>
          </a:p>
          <a:p>
            <a:pPr marL="285750" indent="-285750">
              <a:lnSpc>
                <a:spcPct val="80000"/>
              </a:lnSpc>
              <a:buFont typeface="Wingdings" pitchFamily="2" charset="2"/>
              <a:buAutoNum type="arabicPeriod"/>
            </a:pPr>
            <a:r>
              <a:rPr lang="en-US" altLang="zh-CN" sz="1500" dirty="0">
                <a:latin typeface="Times New Roman" pitchFamily="18" charset="0"/>
              </a:rPr>
              <a:t>{</a:t>
            </a:r>
          </a:p>
          <a:p>
            <a:pPr marL="285750" indent="-285750">
              <a:lnSpc>
                <a:spcPct val="80000"/>
              </a:lnSpc>
              <a:buFont typeface="Wingdings" pitchFamily="2" charset="2"/>
              <a:buAutoNum type="arabicPeriod"/>
            </a:pPr>
            <a:r>
              <a:rPr lang="en-US" altLang="zh-CN" sz="1500" dirty="0">
                <a:latin typeface="Times New Roman" pitchFamily="18" charset="0"/>
              </a:rPr>
              <a:t>   </a:t>
            </a:r>
            <a:r>
              <a:rPr lang="en-US" altLang="zh-CN" sz="1500" dirty="0" err="1">
                <a:latin typeface="Times New Roman" pitchFamily="18" charset="0"/>
              </a:rPr>
              <a:t>int</a:t>
            </a:r>
            <a:r>
              <a:rPr lang="en-US" altLang="zh-CN" sz="1500" dirty="0">
                <a:latin typeface="Times New Roman" pitchFamily="18" charset="0"/>
              </a:rPr>
              <a:t>  k=0,j=0;</a:t>
            </a:r>
          </a:p>
          <a:p>
            <a:pPr marL="285750" indent="-285750">
              <a:lnSpc>
                <a:spcPct val="80000"/>
              </a:lnSpc>
              <a:buFont typeface="Wingdings" pitchFamily="2" charset="2"/>
              <a:buAutoNum type="arabicPeriod"/>
            </a:pPr>
            <a:r>
              <a:rPr lang="en-US" altLang="zh-CN" sz="1500" dirty="0">
                <a:latin typeface="Times New Roman" pitchFamily="18" charset="0"/>
              </a:rPr>
              <a:t>   if((x&gt;3)&amp;&amp;(z&lt;10))</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k=x*y-1; </a:t>
            </a:r>
          </a:p>
          <a:p>
            <a:pPr marL="285750" indent="-285750">
              <a:lnSpc>
                <a:spcPct val="80000"/>
              </a:lnSpc>
              <a:buFont typeface="Wingdings" pitchFamily="2" charset="2"/>
              <a:buAutoNum type="arabicPeriod"/>
            </a:pPr>
            <a:r>
              <a:rPr lang="en-US" altLang="zh-CN" sz="1500" dirty="0">
                <a:latin typeface="Times New Roman" pitchFamily="18" charset="0"/>
              </a:rPr>
              <a:t>       j=</a:t>
            </a:r>
            <a:r>
              <a:rPr lang="en-US" altLang="zh-CN" sz="1500" dirty="0" err="1">
                <a:latin typeface="Times New Roman" pitchFamily="18" charset="0"/>
              </a:rPr>
              <a:t>sqrt</a:t>
            </a:r>
            <a:r>
              <a:rPr lang="en-US" altLang="zh-CN" sz="1500" dirty="0">
                <a:latin typeface="Times New Roman" pitchFamily="18" charset="0"/>
              </a:rPr>
              <a:t>(k);</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if((x==4)||(y&gt;5))</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j=x*y+10;  </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j=j%3; </a:t>
            </a:r>
          </a:p>
          <a:p>
            <a:pPr marL="285750" indent="-285750">
              <a:lnSpc>
                <a:spcPct val="80000"/>
              </a:lnSpc>
              <a:buFont typeface="Wingdings" pitchFamily="2" charset="2"/>
              <a:buAutoNum type="arabicPeriod"/>
            </a:pPr>
            <a:r>
              <a:rPr lang="en-US" altLang="zh-CN" sz="1500" dirty="0">
                <a:latin typeface="Times New Roman" pitchFamily="18" charset="0"/>
              </a:rPr>
              <a:t>}</a:t>
            </a:r>
          </a:p>
        </p:txBody>
      </p:sp>
    </p:spTree>
    <p:extLst>
      <p:ext uri="{BB962C8B-B14F-4D97-AF65-F5344CB8AC3E}">
        <p14:creationId xmlns:p14="http://schemas.microsoft.com/office/powerpoint/2010/main" val="1263413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3">
            <a:extLst>
              <a:ext uri="{FF2B5EF4-FFF2-40B4-BE49-F238E27FC236}">
                <a16:creationId xmlns:a16="http://schemas.microsoft.com/office/drawing/2014/main" id="{FA1B0CC8-5C59-420F-9639-80F20C5BE9A0}"/>
              </a:ext>
            </a:extLst>
          </p:cNvPr>
          <p:cNvSpPr txBox="1">
            <a:spLocks noChangeArrowheads="1"/>
          </p:cNvSpPr>
          <p:nvPr/>
        </p:nvSpPr>
        <p:spPr bwMode="auto">
          <a:xfrm>
            <a:off x="197644" y="917575"/>
            <a:ext cx="6054725"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80000"/>
              </a:lnSpc>
              <a:buFont typeface="Wingdings" pitchFamily="2" charset="2"/>
              <a:buAutoNum type="arabicPeriod"/>
            </a:pPr>
            <a:r>
              <a:rPr lang="en-US" altLang="zh-CN" sz="1500" dirty="0">
                <a:latin typeface="Times New Roman" pitchFamily="18" charset="0"/>
              </a:rPr>
              <a:t>void  </a:t>
            </a:r>
            <a:r>
              <a:rPr lang="en-US" altLang="zh-CN" sz="1500" dirty="0" err="1">
                <a:latin typeface="Times New Roman" pitchFamily="18" charset="0"/>
              </a:rPr>
              <a:t>DoWork</a:t>
            </a:r>
            <a:r>
              <a:rPr lang="en-US" altLang="zh-CN" sz="1500" dirty="0">
                <a:latin typeface="Times New Roman" pitchFamily="18" charset="0"/>
              </a:rPr>
              <a:t>(int </a:t>
            </a:r>
            <a:r>
              <a:rPr lang="en-US" altLang="zh-CN" sz="1500" dirty="0" err="1">
                <a:latin typeface="Times New Roman" pitchFamily="18" charset="0"/>
              </a:rPr>
              <a:t>x,int</a:t>
            </a:r>
            <a:r>
              <a:rPr lang="en-US" altLang="zh-CN" sz="1500" dirty="0">
                <a:latin typeface="Times New Roman" pitchFamily="18" charset="0"/>
              </a:rPr>
              <a:t> </a:t>
            </a:r>
            <a:r>
              <a:rPr lang="en-US" altLang="zh-CN" sz="1500" dirty="0" err="1">
                <a:latin typeface="Times New Roman" pitchFamily="18" charset="0"/>
              </a:rPr>
              <a:t>y,int</a:t>
            </a:r>
            <a:r>
              <a:rPr lang="en-US" altLang="zh-CN" sz="1500" dirty="0">
                <a:latin typeface="Times New Roman" pitchFamily="18" charset="0"/>
              </a:rPr>
              <a:t> z)</a:t>
            </a:r>
          </a:p>
          <a:p>
            <a:pPr marL="285750" indent="-285750">
              <a:lnSpc>
                <a:spcPct val="80000"/>
              </a:lnSpc>
              <a:buFont typeface="Wingdings" pitchFamily="2" charset="2"/>
              <a:buAutoNum type="arabicPeriod"/>
            </a:pPr>
            <a:r>
              <a:rPr lang="en-US" altLang="zh-CN" sz="1500" dirty="0">
                <a:latin typeface="Times New Roman" pitchFamily="18" charset="0"/>
              </a:rPr>
              <a:t>{</a:t>
            </a:r>
          </a:p>
          <a:p>
            <a:pPr marL="285750" indent="-285750">
              <a:lnSpc>
                <a:spcPct val="80000"/>
              </a:lnSpc>
              <a:buFont typeface="Wingdings" pitchFamily="2" charset="2"/>
              <a:buAutoNum type="arabicPeriod"/>
            </a:pPr>
            <a:r>
              <a:rPr lang="en-US" altLang="zh-CN" sz="1500" dirty="0">
                <a:latin typeface="Times New Roman" pitchFamily="18" charset="0"/>
              </a:rPr>
              <a:t>   int  k=0,j=0;</a:t>
            </a:r>
          </a:p>
          <a:p>
            <a:pPr marL="285750" indent="-285750">
              <a:lnSpc>
                <a:spcPct val="80000"/>
              </a:lnSpc>
              <a:buFont typeface="Wingdings" pitchFamily="2" charset="2"/>
              <a:buAutoNum type="arabicPeriod"/>
            </a:pPr>
            <a:r>
              <a:rPr lang="en-US" altLang="zh-CN" sz="1500" dirty="0">
                <a:latin typeface="Times New Roman" pitchFamily="18" charset="0"/>
              </a:rPr>
              <a:t>   if((x&gt;3)&amp;&amp;(z&lt;10))</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k=x*y-1; </a:t>
            </a:r>
          </a:p>
          <a:p>
            <a:pPr marL="285750" indent="-285750">
              <a:lnSpc>
                <a:spcPct val="80000"/>
              </a:lnSpc>
              <a:buFont typeface="Wingdings" pitchFamily="2" charset="2"/>
              <a:buAutoNum type="arabicPeriod"/>
            </a:pPr>
            <a:r>
              <a:rPr lang="en-US" altLang="zh-CN" sz="1500" dirty="0">
                <a:latin typeface="Times New Roman" pitchFamily="18" charset="0"/>
              </a:rPr>
              <a:t>       j=sqrt(k);</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if((x==4)||(y&gt;5))</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j=x*y+10;  </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j=j%3; </a:t>
            </a:r>
          </a:p>
          <a:p>
            <a:pPr marL="285750" indent="-285750">
              <a:lnSpc>
                <a:spcPct val="80000"/>
              </a:lnSpc>
              <a:buFont typeface="Wingdings" pitchFamily="2" charset="2"/>
              <a:buAutoNum type="arabicPeriod"/>
            </a:pPr>
            <a:r>
              <a:rPr lang="en-US" altLang="zh-CN" sz="1500" dirty="0">
                <a:latin typeface="Times New Roman" pitchFamily="18" charset="0"/>
              </a:rPr>
              <a:t>}</a:t>
            </a:r>
          </a:p>
        </p:txBody>
      </p:sp>
      <p:sp>
        <p:nvSpPr>
          <p:cNvPr id="10547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2BA9A5B5-C025-40DB-9DF3-153C7E0A4FC0}" type="slidenum">
              <a:rPr lang="en-US" altLang="zh-CN" sz="1800" b="0" smtClean="0">
                <a:latin typeface="Times New Roman" pitchFamily="18" charset="0"/>
                <a:ea typeface="微软雅黑" pitchFamily="34" charset="-122"/>
              </a:rPr>
              <a:pPr algn="l" eaLnBrk="0" hangingPunct="0">
                <a:spcBef>
                  <a:spcPct val="0"/>
                </a:spcBef>
                <a:buFontTx/>
                <a:buNone/>
              </a:pPr>
              <a:t>60</a:t>
            </a:fld>
            <a:endParaRPr lang="en-US" altLang="zh-CN" sz="1800" b="0">
              <a:latin typeface="Times New Roman" pitchFamily="18" charset="0"/>
              <a:ea typeface="微软雅黑" pitchFamily="34" charset="-122"/>
            </a:endParaRPr>
          </a:p>
        </p:txBody>
      </p:sp>
      <p:sp>
        <p:nvSpPr>
          <p:cNvPr id="105475"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语句覆盖实例</a:t>
            </a:r>
          </a:p>
        </p:txBody>
      </p:sp>
      <p:sp>
        <p:nvSpPr>
          <p:cNvPr id="105476" name="Rectangle 3"/>
          <p:cNvSpPr>
            <a:spLocks noGrp="1" noChangeArrowheads="1"/>
          </p:cNvSpPr>
          <p:nvPr>
            <p:ph type="body" idx="1"/>
          </p:nvPr>
        </p:nvSpPr>
        <p:spPr>
          <a:xfrm>
            <a:off x="2658269" y="1196181"/>
            <a:ext cx="3027362" cy="3081338"/>
          </a:xfrm>
        </p:spPr>
        <p:txBody>
          <a:bodyPr/>
          <a:lstStyle/>
          <a:p>
            <a:pPr>
              <a:spcBef>
                <a:spcPct val="50000"/>
              </a:spcBef>
            </a:pPr>
            <a:r>
              <a:rPr lang="zh-CN" altLang="en-US" dirty="0"/>
              <a:t>用例 </a:t>
            </a:r>
          </a:p>
          <a:p>
            <a:pPr lvl="1">
              <a:spcBef>
                <a:spcPct val="50000"/>
              </a:spcBef>
            </a:pPr>
            <a:r>
              <a:rPr lang="en-US" altLang="zh-CN" dirty="0"/>
              <a:t>{ x=4</a:t>
            </a:r>
            <a:r>
              <a:rPr lang="zh-CN" altLang="en-US" dirty="0"/>
              <a:t>、</a:t>
            </a:r>
            <a:r>
              <a:rPr lang="en-US" altLang="zh-CN" dirty="0"/>
              <a:t>y=5</a:t>
            </a:r>
            <a:r>
              <a:rPr lang="zh-CN" altLang="en-US" dirty="0"/>
              <a:t>、</a:t>
            </a:r>
            <a:r>
              <a:rPr lang="en-US" altLang="zh-CN" dirty="0"/>
              <a:t>z=5}</a:t>
            </a:r>
          </a:p>
          <a:p>
            <a:pPr>
              <a:spcBef>
                <a:spcPct val="50000"/>
              </a:spcBef>
            </a:pPr>
            <a:r>
              <a:rPr lang="zh-CN" altLang="en-US" dirty="0"/>
              <a:t>执行路径</a:t>
            </a:r>
          </a:p>
          <a:p>
            <a:pPr lvl="1">
              <a:spcBef>
                <a:spcPct val="50000"/>
              </a:spcBef>
            </a:pPr>
            <a:r>
              <a:rPr lang="en-US" altLang="zh-CN" dirty="0"/>
              <a:t>ABCDEF</a:t>
            </a:r>
          </a:p>
        </p:txBody>
      </p:sp>
      <p:sp>
        <p:nvSpPr>
          <p:cNvPr id="851972" name="AutoShape 4"/>
          <p:cNvSpPr>
            <a:spLocks noChangeArrowheads="1"/>
          </p:cNvSpPr>
          <p:nvPr/>
        </p:nvSpPr>
        <p:spPr bwMode="auto">
          <a:xfrm>
            <a:off x="5654675" y="1276350"/>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A</a:t>
            </a:r>
          </a:p>
        </p:txBody>
      </p:sp>
      <p:sp>
        <p:nvSpPr>
          <p:cNvPr id="105478" name="Line 5"/>
          <p:cNvSpPr>
            <a:spLocks noChangeShapeType="1"/>
          </p:cNvSpPr>
          <p:nvPr/>
        </p:nvSpPr>
        <p:spPr bwMode="auto">
          <a:xfrm>
            <a:off x="6194425" y="2249488"/>
            <a:ext cx="296863"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79" name="Line 6"/>
          <p:cNvSpPr>
            <a:spLocks noChangeShapeType="1"/>
          </p:cNvSpPr>
          <p:nvPr/>
        </p:nvSpPr>
        <p:spPr bwMode="auto">
          <a:xfrm>
            <a:off x="6194425" y="3168650"/>
            <a:ext cx="32385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80" name="Line 7"/>
          <p:cNvSpPr>
            <a:spLocks noChangeShapeType="1"/>
          </p:cNvSpPr>
          <p:nvPr/>
        </p:nvSpPr>
        <p:spPr bwMode="auto">
          <a:xfrm flipH="1">
            <a:off x="6194425" y="2736850"/>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81" name="Line 8"/>
          <p:cNvSpPr>
            <a:spLocks noChangeShapeType="1"/>
          </p:cNvSpPr>
          <p:nvPr/>
        </p:nvSpPr>
        <p:spPr bwMode="auto">
          <a:xfrm flipH="1">
            <a:off x="6194425" y="3654425"/>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82" name="Line 9"/>
          <p:cNvSpPr>
            <a:spLocks noChangeShapeType="1"/>
          </p:cNvSpPr>
          <p:nvPr/>
        </p:nvSpPr>
        <p:spPr bwMode="auto">
          <a:xfrm>
            <a:off x="5924550" y="1708150"/>
            <a:ext cx="0" cy="271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1978" name="AutoShape 10"/>
          <p:cNvSpPr>
            <a:spLocks noChangeArrowheads="1"/>
          </p:cNvSpPr>
          <p:nvPr/>
        </p:nvSpPr>
        <p:spPr bwMode="auto">
          <a:xfrm>
            <a:off x="5654675" y="1979613"/>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B</a:t>
            </a:r>
          </a:p>
        </p:txBody>
      </p:sp>
      <p:sp>
        <p:nvSpPr>
          <p:cNvPr id="851979" name="AutoShape 11"/>
          <p:cNvSpPr>
            <a:spLocks noChangeArrowheads="1"/>
          </p:cNvSpPr>
          <p:nvPr/>
        </p:nvSpPr>
        <p:spPr bwMode="auto">
          <a:xfrm>
            <a:off x="5654675" y="2844800"/>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D</a:t>
            </a:r>
          </a:p>
        </p:txBody>
      </p:sp>
      <p:sp>
        <p:nvSpPr>
          <p:cNvPr id="851980" name="AutoShape 12"/>
          <p:cNvSpPr>
            <a:spLocks noChangeArrowheads="1"/>
          </p:cNvSpPr>
          <p:nvPr/>
        </p:nvSpPr>
        <p:spPr bwMode="auto">
          <a:xfrm>
            <a:off x="5654675" y="370840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F</a:t>
            </a:r>
          </a:p>
        </p:txBody>
      </p:sp>
      <p:sp>
        <p:nvSpPr>
          <p:cNvPr id="851981" name="AutoShape 13"/>
          <p:cNvSpPr>
            <a:spLocks noChangeArrowheads="1"/>
          </p:cNvSpPr>
          <p:nvPr/>
        </p:nvSpPr>
        <p:spPr bwMode="auto">
          <a:xfrm>
            <a:off x="6410325" y="3330575"/>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E</a:t>
            </a:r>
          </a:p>
        </p:txBody>
      </p:sp>
      <p:sp>
        <p:nvSpPr>
          <p:cNvPr id="851982" name="AutoShape 14"/>
          <p:cNvSpPr>
            <a:spLocks noChangeArrowheads="1"/>
          </p:cNvSpPr>
          <p:nvPr/>
        </p:nvSpPr>
        <p:spPr bwMode="auto">
          <a:xfrm>
            <a:off x="6410325" y="2411413"/>
            <a:ext cx="539750" cy="433387"/>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C</a:t>
            </a:r>
          </a:p>
        </p:txBody>
      </p:sp>
      <p:sp>
        <p:nvSpPr>
          <p:cNvPr id="105488" name="Line 15"/>
          <p:cNvSpPr>
            <a:spLocks noChangeShapeType="1"/>
          </p:cNvSpPr>
          <p:nvPr/>
        </p:nvSpPr>
        <p:spPr bwMode="auto">
          <a:xfrm>
            <a:off x="5924550" y="2411413"/>
            <a:ext cx="0" cy="4333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489" name="Line 16"/>
          <p:cNvSpPr>
            <a:spLocks noChangeShapeType="1"/>
          </p:cNvSpPr>
          <p:nvPr/>
        </p:nvSpPr>
        <p:spPr bwMode="auto">
          <a:xfrm>
            <a:off x="5924550" y="3276600"/>
            <a:ext cx="0" cy="4333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490" name="Freeform 19"/>
          <p:cNvSpPr>
            <a:spLocks/>
          </p:cNvSpPr>
          <p:nvPr/>
        </p:nvSpPr>
        <p:spPr bwMode="auto">
          <a:xfrm>
            <a:off x="5878513" y="1276350"/>
            <a:ext cx="1017587" cy="3135313"/>
          </a:xfrm>
          <a:custGeom>
            <a:avLst/>
            <a:gdLst>
              <a:gd name="T0" fmla="*/ 2147483647 w 854"/>
              <a:gd name="T1" fmla="*/ 0 h 2631"/>
              <a:gd name="T2" fmla="*/ 2147483647 w 854"/>
              <a:gd name="T3" fmla="*/ 2147483647 h 2631"/>
              <a:gd name="T4" fmla="*/ 2147483647 w 854"/>
              <a:gd name="T5" fmla="*/ 2147483647 h 2631"/>
              <a:gd name="T6" fmla="*/ 2147483647 w 854"/>
              <a:gd name="T7" fmla="*/ 2147483647 h 2631"/>
              <a:gd name="T8" fmla="*/ 2147483647 w 854"/>
              <a:gd name="T9" fmla="*/ 2147483647 h 2631"/>
              <a:gd name="T10" fmla="*/ 2147483647 w 854"/>
              <a:gd name="T11" fmla="*/ 2147483647 h 2631"/>
              <a:gd name="T12" fmla="*/ 2147483647 w 854"/>
              <a:gd name="T13" fmla="*/ 2147483647 h 2631"/>
              <a:gd name="T14" fmla="*/ 2147483647 w 854"/>
              <a:gd name="T15" fmla="*/ 2147483647 h 2631"/>
              <a:gd name="T16" fmla="*/ 2147483647 w 854"/>
              <a:gd name="T17" fmla="*/ 2147483647 h 2631"/>
              <a:gd name="T18" fmla="*/ 2147483647 w 854"/>
              <a:gd name="T19" fmla="*/ 2147483647 h 2631"/>
              <a:gd name="T20" fmla="*/ 2147483647 w 854"/>
              <a:gd name="T21" fmla="*/ 2147483647 h 2631"/>
              <a:gd name="T22" fmla="*/ 2147483647 w 854"/>
              <a:gd name="T23" fmla="*/ 2147483647 h 26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54" h="2631">
                <a:moveTo>
                  <a:pt x="113" y="0"/>
                </a:moveTo>
                <a:cubicBezTo>
                  <a:pt x="109" y="332"/>
                  <a:pt x="105" y="665"/>
                  <a:pt x="113" y="816"/>
                </a:cubicBezTo>
                <a:cubicBezTo>
                  <a:pt x="121" y="967"/>
                  <a:pt x="83" y="847"/>
                  <a:pt x="159" y="907"/>
                </a:cubicBezTo>
                <a:cubicBezTo>
                  <a:pt x="235" y="967"/>
                  <a:pt x="506" y="1126"/>
                  <a:pt x="567" y="1179"/>
                </a:cubicBezTo>
                <a:cubicBezTo>
                  <a:pt x="628" y="1232"/>
                  <a:pt x="582" y="1164"/>
                  <a:pt x="522" y="1224"/>
                </a:cubicBezTo>
                <a:cubicBezTo>
                  <a:pt x="462" y="1284"/>
                  <a:pt x="249" y="1474"/>
                  <a:pt x="204" y="1542"/>
                </a:cubicBezTo>
                <a:cubicBezTo>
                  <a:pt x="159" y="1610"/>
                  <a:pt x="158" y="1573"/>
                  <a:pt x="249" y="1633"/>
                </a:cubicBezTo>
                <a:cubicBezTo>
                  <a:pt x="340" y="1693"/>
                  <a:pt x="665" y="1837"/>
                  <a:pt x="748" y="1905"/>
                </a:cubicBezTo>
                <a:cubicBezTo>
                  <a:pt x="831" y="1973"/>
                  <a:pt x="854" y="1966"/>
                  <a:pt x="748" y="2041"/>
                </a:cubicBezTo>
                <a:cubicBezTo>
                  <a:pt x="642" y="2116"/>
                  <a:pt x="226" y="2298"/>
                  <a:pt x="113" y="2358"/>
                </a:cubicBezTo>
                <a:cubicBezTo>
                  <a:pt x="0" y="2418"/>
                  <a:pt x="75" y="2359"/>
                  <a:pt x="68" y="2404"/>
                </a:cubicBezTo>
                <a:cubicBezTo>
                  <a:pt x="61" y="2449"/>
                  <a:pt x="64" y="2540"/>
                  <a:pt x="68" y="2631"/>
                </a:cubicBezTo>
              </a:path>
            </a:pathLst>
          </a:custGeom>
          <a:noFill/>
          <a:ln w="38100" cap="rnd" cmpd="sng">
            <a:solidFill>
              <a:srgbClr val="FF0000"/>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5947351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0DBA18F3-7C29-41CB-91F2-C772319EB62F}" type="slidenum">
              <a:rPr lang="en-US" altLang="zh-CN" sz="1800" b="0" smtClean="0">
                <a:latin typeface="Times New Roman" pitchFamily="18" charset="0"/>
                <a:ea typeface="微软雅黑" pitchFamily="34" charset="-122"/>
              </a:rPr>
              <a:pPr algn="l" eaLnBrk="0" hangingPunct="0">
                <a:spcBef>
                  <a:spcPct val="0"/>
                </a:spcBef>
                <a:buFontTx/>
                <a:buNone/>
              </a:pPr>
              <a:t>61</a:t>
            </a:fld>
            <a:endParaRPr lang="en-US" altLang="zh-CN" sz="1800" b="0">
              <a:latin typeface="Times New Roman" pitchFamily="18" charset="0"/>
              <a:ea typeface="微软雅黑" pitchFamily="34" charset="-122"/>
            </a:endParaRPr>
          </a:p>
        </p:txBody>
      </p:sp>
      <p:sp>
        <p:nvSpPr>
          <p:cNvPr id="106499" name="Rectangle 1026"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分支覆盖</a:t>
            </a:r>
          </a:p>
        </p:txBody>
      </p:sp>
      <p:sp>
        <p:nvSpPr>
          <p:cNvPr id="636931" name="Rectangle 1027"/>
          <p:cNvSpPr>
            <a:spLocks noGrp="1" noChangeArrowheads="1"/>
          </p:cNvSpPr>
          <p:nvPr>
            <p:ph type="body" idx="1"/>
          </p:nvPr>
        </p:nvSpPr>
        <p:spPr>
          <a:xfrm>
            <a:off x="468313" y="990600"/>
            <a:ext cx="8229600" cy="3397250"/>
          </a:xfrm>
        </p:spPr>
        <p:txBody>
          <a:bodyPr/>
          <a:lstStyle/>
          <a:p>
            <a:pPr>
              <a:defRPr/>
            </a:pPr>
            <a:r>
              <a:rPr lang="zh-CN" altLang="en-US" dirty="0"/>
              <a:t>分支覆盖就是设计若干个测试用例，运行被测程序，使得程序中每个判断的取真分支和取假分支至少经历一次。分支覆盖又称为判定覆盖、</a:t>
            </a:r>
            <a:r>
              <a:rPr lang="en-US" altLang="zh-CN" dirty="0"/>
              <a:t>C2</a:t>
            </a:r>
            <a:r>
              <a:rPr lang="zh-CN" altLang="en-US" dirty="0"/>
              <a:t>覆盖、决策覆盖。</a:t>
            </a:r>
          </a:p>
          <a:p>
            <a:pPr>
              <a:defRPr/>
            </a:pPr>
            <a:r>
              <a:rPr lang="zh-CN" altLang="en-US" dirty="0"/>
              <a:t>分支覆盖的盲点</a:t>
            </a:r>
          </a:p>
          <a:p>
            <a:pPr lvl="1">
              <a:defRPr/>
            </a:pPr>
            <a:r>
              <a:rPr lang="zh-CN" altLang="en-US" sz="1802" b="1" dirty="0">
                <a:solidFill>
                  <a:srgbClr val="000000"/>
                </a:solidFill>
              </a:rPr>
              <a:t>短路估值使分支覆盖不必考虑所有条件</a:t>
            </a:r>
          </a:p>
          <a:p>
            <a:pPr lvl="1">
              <a:defRPr/>
            </a:pPr>
            <a:r>
              <a:rPr lang="zh-CN" altLang="en-US" sz="1802" b="1" dirty="0">
                <a:solidFill>
                  <a:srgbClr val="000000"/>
                </a:solidFill>
              </a:rPr>
              <a:t>忽略了从复合谓词引出的隐含路径</a:t>
            </a:r>
          </a:p>
          <a:p>
            <a:pPr lvl="1">
              <a:defRPr/>
            </a:pPr>
            <a:r>
              <a:rPr lang="zh-CN" altLang="en-US" sz="1802" b="1" dirty="0">
                <a:solidFill>
                  <a:srgbClr val="000000"/>
                </a:solidFill>
              </a:rPr>
              <a:t>分支覆盖不能保证所有入口－出口路径都被执行</a:t>
            </a:r>
          </a:p>
        </p:txBody>
      </p:sp>
    </p:spTree>
    <p:extLst>
      <p:ext uri="{BB962C8B-B14F-4D97-AF65-F5344CB8AC3E}">
        <p14:creationId xmlns:p14="http://schemas.microsoft.com/office/powerpoint/2010/main" val="4770984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4E6C93E5-A466-4A22-8B3A-AD98C054F21A}" type="slidenum">
              <a:rPr lang="en-US" altLang="zh-CN" sz="1800" b="0" smtClean="0">
                <a:latin typeface="Times New Roman" pitchFamily="18" charset="0"/>
                <a:ea typeface="微软雅黑" pitchFamily="34" charset="-122"/>
              </a:rPr>
              <a:pPr algn="l" eaLnBrk="0" hangingPunct="0">
                <a:spcBef>
                  <a:spcPct val="0"/>
                </a:spcBef>
                <a:buFontTx/>
                <a:buNone/>
              </a:pPr>
              <a:t>62</a:t>
            </a:fld>
            <a:endParaRPr lang="en-US" altLang="zh-CN" sz="1800" b="0">
              <a:latin typeface="Times New Roman" pitchFamily="18" charset="0"/>
              <a:ea typeface="微软雅黑" pitchFamily="34" charset="-122"/>
            </a:endParaRPr>
          </a:p>
        </p:txBody>
      </p:sp>
      <p:sp>
        <p:nvSpPr>
          <p:cNvPr id="102403"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程序实例</a:t>
            </a:r>
          </a:p>
        </p:txBody>
      </p:sp>
      <p:sp>
        <p:nvSpPr>
          <p:cNvPr id="102404" name="Rectangle 3"/>
          <p:cNvSpPr>
            <a:spLocks noGrp="1" noChangeArrowheads="1"/>
          </p:cNvSpPr>
          <p:nvPr>
            <p:ph type="body" idx="1"/>
          </p:nvPr>
        </p:nvSpPr>
        <p:spPr>
          <a:xfrm>
            <a:off x="1613619" y="1276350"/>
            <a:ext cx="6054725" cy="3297238"/>
          </a:xfrm>
        </p:spPr>
        <p:txBody>
          <a:bodyPr/>
          <a:lstStyle/>
          <a:p>
            <a:pPr marL="285750" indent="-285750">
              <a:lnSpc>
                <a:spcPct val="80000"/>
              </a:lnSpc>
              <a:buFont typeface="Wingdings" pitchFamily="2" charset="2"/>
              <a:buAutoNum type="arabicPeriod"/>
            </a:pPr>
            <a:r>
              <a:rPr lang="en-US" altLang="zh-CN" sz="1500">
                <a:latin typeface="Times New Roman" pitchFamily="18" charset="0"/>
              </a:rPr>
              <a:t>void  DoWork(int x,int y,int z)</a:t>
            </a:r>
          </a:p>
          <a:p>
            <a:pPr marL="285750" indent="-285750">
              <a:lnSpc>
                <a:spcPct val="80000"/>
              </a:lnSpc>
              <a:buFont typeface="Wingdings" pitchFamily="2" charset="2"/>
              <a:buAutoNum type="arabicPeriod"/>
            </a:pPr>
            <a:r>
              <a:rPr lang="en-US" altLang="zh-CN" sz="1500">
                <a:latin typeface="Times New Roman" pitchFamily="18" charset="0"/>
              </a:rPr>
              <a:t>{</a:t>
            </a:r>
          </a:p>
          <a:p>
            <a:pPr marL="285750" indent="-285750">
              <a:lnSpc>
                <a:spcPct val="80000"/>
              </a:lnSpc>
              <a:buFont typeface="Wingdings" pitchFamily="2" charset="2"/>
              <a:buAutoNum type="arabicPeriod"/>
            </a:pPr>
            <a:r>
              <a:rPr lang="en-US" altLang="zh-CN" sz="1500">
                <a:latin typeface="Times New Roman" pitchFamily="18" charset="0"/>
              </a:rPr>
              <a:t>   int  k=0,j=0;</a:t>
            </a:r>
          </a:p>
          <a:p>
            <a:pPr marL="285750" indent="-285750">
              <a:lnSpc>
                <a:spcPct val="80000"/>
              </a:lnSpc>
              <a:buFont typeface="Wingdings" pitchFamily="2" charset="2"/>
              <a:buAutoNum type="arabicPeriod"/>
            </a:pPr>
            <a:r>
              <a:rPr lang="en-US" altLang="zh-CN" sz="1500">
                <a:latin typeface="Times New Roman" pitchFamily="18" charset="0"/>
              </a:rPr>
              <a:t>   if((x&gt;3)&amp;&amp;(z&lt;10))</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k=x*y-1; </a:t>
            </a:r>
          </a:p>
          <a:p>
            <a:pPr marL="285750" indent="-285750">
              <a:lnSpc>
                <a:spcPct val="80000"/>
              </a:lnSpc>
              <a:buFont typeface="Wingdings" pitchFamily="2" charset="2"/>
              <a:buAutoNum type="arabicPeriod"/>
            </a:pPr>
            <a:r>
              <a:rPr lang="en-US" altLang="zh-CN" sz="1500">
                <a:latin typeface="Times New Roman" pitchFamily="18" charset="0"/>
              </a:rPr>
              <a:t>       j=sqrt(k);</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if((x= =4)||(y&gt;5))</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j=x*y+10;  </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j=j%3; </a:t>
            </a:r>
          </a:p>
          <a:p>
            <a:pPr marL="285750" indent="-285750">
              <a:lnSpc>
                <a:spcPct val="80000"/>
              </a:lnSpc>
              <a:buFont typeface="Wingdings" pitchFamily="2" charset="2"/>
              <a:buAutoNum type="arabicPeriod"/>
            </a:pPr>
            <a:r>
              <a:rPr lang="en-US" altLang="zh-CN" sz="1500">
                <a:latin typeface="Times New Roman" pitchFamily="18" charset="0"/>
              </a:rPr>
              <a:t>}</a:t>
            </a:r>
          </a:p>
        </p:txBody>
      </p:sp>
    </p:spTree>
    <p:extLst>
      <p:ext uri="{BB962C8B-B14F-4D97-AF65-F5344CB8AC3E}">
        <p14:creationId xmlns:p14="http://schemas.microsoft.com/office/powerpoint/2010/main" val="12634139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3">
            <a:extLst>
              <a:ext uri="{FF2B5EF4-FFF2-40B4-BE49-F238E27FC236}">
                <a16:creationId xmlns:a16="http://schemas.microsoft.com/office/drawing/2014/main" id="{E857ED53-F86E-477C-BACB-5A541A21AA71}"/>
              </a:ext>
            </a:extLst>
          </p:cNvPr>
          <p:cNvSpPr txBox="1">
            <a:spLocks noChangeArrowheads="1"/>
          </p:cNvSpPr>
          <p:nvPr/>
        </p:nvSpPr>
        <p:spPr bwMode="auto">
          <a:xfrm>
            <a:off x="246856" y="1114425"/>
            <a:ext cx="6054725"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80000"/>
              </a:lnSpc>
              <a:buFont typeface="Wingdings" pitchFamily="2" charset="2"/>
              <a:buAutoNum type="arabicPeriod"/>
            </a:pPr>
            <a:r>
              <a:rPr lang="en-US" altLang="zh-CN" sz="1500">
                <a:latin typeface="Times New Roman" pitchFamily="18" charset="0"/>
              </a:rPr>
              <a:t>void  DoWork(int x,int y,int z)</a:t>
            </a:r>
          </a:p>
          <a:p>
            <a:pPr marL="285750" indent="-285750">
              <a:lnSpc>
                <a:spcPct val="80000"/>
              </a:lnSpc>
              <a:buFont typeface="Wingdings" pitchFamily="2" charset="2"/>
              <a:buAutoNum type="arabicPeriod"/>
            </a:pPr>
            <a:r>
              <a:rPr lang="en-US" altLang="zh-CN" sz="1500">
                <a:latin typeface="Times New Roman" pitchFamily="18" charset="0"/>
              </a:rPr>
              <a:t>{</a:t>
            </a:r>
          </a:p>
          <a:p>
            <a:pPr marL="285750" indent="-285750">
              <a:lnSpc>
                <a:spcPct val="80000"/>
              </a:lnSpc>
              <a:buFont typeface="Wingdings" pitchFamily="2" charset="2"/>
              <a:buAutoNum type="arabicPeriod"/>
            </a:pPr>
            <a:r>
              <a:rPr lang="en-US" altLang="zh-CN" sz="1500">
                <a:latin typeface="Times New Roman" pitchFamily="18" charset="0"/>
              </a:rPr>
              <a:t>   int  k=0,j=0;</a:t>
            </a:r>
          </a:p>
          <a:p>
            <a:pPr marL="285750" indent="-285750">
              <a:lnSpc>
                <a:spcPct val="80000"/>
              </a:lnSpc>
              <a:buFont typeface="Wingdings" pitchFamily="2" charset="2"/>
              <a:buAutoNum type="arabicPeriod"/>
            </a:pPr>
            <a:r>
              <a:rPr lang="en-US" altLang="zh-CN" sz="1500">
                <a:latin typeface="Times New Roman" pitchFamily="18" charset="0"/>
              </a:rPr>
              <a:t>   if((x&gt;3)&amp;&amp;(z&lt;10))</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k=x*y-1; </a:t>
            </a:r>
          </a:p>
          <a:p>
            <a:pPr marL="285750" indent="-285750">
              <a:lnSpc>
                <a:spcPct val="80000"/>
              </a:lnSpc>
              <a:buFont typeface="Wingdings" pitchFamily="2" charset="2"/>
              <a:buAutoNum type="arabicPeriod"/>
            </a:pPr>
            <a:r>
              <a:rPr lang="en-US" altLang="zh-CN" sz="1500">
                <a:latin typeface="Times New Roman" pitchFamily="18" charset="0"/>
              </a:rPr>
              <a:t>       j=sqrt(k);</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if((x= =4)||(y&gt;5))</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j=x*y+10;  </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j=j%3; </a:t>
            </a:r>
          </a:p>
          <a:p>
            <a:pPr marL="285750" indent="-285750">
              <a:lnSpc>
                <a:spcPct val="80000"/>
              </a:lnSpc>
              <a:buFont typeface="Wingdings" pitchFamily="2" charset="2"/>
              <a:buAutoNum type="arabicPeriod"/>
            </a:pPr>
            <a:r>
              <a:rPr lang="en-US" altLang="zh-CN" sz="1500">
                <a:latin typeface="Times New Roman" pitchFamily="18" charset="0"/>
              </a:rPr>
              <a:t>}</a:t>
            </a:r>
          </a:p>
        </p:txBody>
      </p:sp>
      <p:sp>
        <p:nvSpPr>
          <p:cNvPr id="107522" name="灯片编号占位符 3"/>
          <p:cNvSpPr>
            <a:spLocks noGrp="1"/>
          </p:cNvSpPr>
          <p:nvPr>
            <p:ph type="sldNum" sz="quarter" idx="4294967295"/>
          </p:nvPr>
        </p:nvSpPr>
        <p:spPr>
          <a:xfrm>
            <a:off x="8035926" y="5159926"/>
            <a:ext cx="946150" cy="93663"/>
          </a:xfrm>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696C5FDC-303E-4BB0-AA89-06C6D5C587F0}" type="slidenum">
              <a:rPr lang="en-US" altLang="zh-CN" sz="1800" b="0" smtClean="0">
                <a:latin typeface="Times New Roman" pitchFamily="18" charset="0"/>
                <a:ea typeface="微软雅黑" pitchFamily="34" charset="-122"/>
              </a:rPr>
              <a:pPr algn="l" eaLnBrk="0" hangingPunct="0">
                <a:spcBef>
                  <a:spcPct val="0"/>
                </a:spcBef>
                <a:buFontTx/>
                <a:buNone/>
              </a:pPr>
              <a:t>63</a:t>
            </a:fld>
            <a:endParaRPr lang="en-US" altLang="zh-CN" sz="1800" b="0">
              <a:latin typeface="Times New Roman" pitchFamily="18" charset="0"/>
              <a:ea typeface="微软雅黑" pitchFamily="34" charset="-122"/>
            </a:endParaRPr>
          </a:p>
        </p:txBody>
      </p:sp>
      <p:sp>
        <p:nvSpPr>
          <p:cNvPr id="107523"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分支覆盖实例</a:t>
            </a:r>
          </a:p>
        </p:txBody>
      </p:sp>
      <p:sp>
        <p:nvSpPr>
          <p:cNvPr id="107524" name="Rectangle 3"/>
          <p:cNvSpPr>
            <a:spLocks noGrp="1" noChangeArrowheads="1"/>
          </p:cNvSpPr>
          <p:nvPr>
            <p:ph type="body" idx="1"/>
          </p:nvPr>
        </p:nvSpPr>
        <p:spPr>
          <a:xfrm>
            <a:off x="3067052" y="1086644"/>
            <a:ext cx="3995737" cy="3405188"/>
          </a:xfrm>
        </p:spPr>
        <p:txBody>
          <a:bodyPr/>
          <a:lstStyle/>
          <a:p>
            <a:pPr>
              <a:spcBef>
                <a:spcPct val="50000"/>
              </a:spcBef>
            </a:pPr>
            <a:r>
              <a:rPr lang="zh-CN" altLang="en-US" sz="2800" dirty="0"/>
              <a:t>用例</a:t>
            </a:r>
          </a:p>
          <a:p>
            <a:pPr lvl="1">
              <a:spcBef>
                <a:spcPct val="50000"/>
              </a:spcBef>
            </a:pPr>
            <a:r>
              <a:rPr lang="en-US" altLang="zh-CN" sz="2400" dirty="0"/>
              <a:t>{ x=2</a:t>
            </a:r>
            <a:r>
              <a:rPr lang="zh-CN" altLang="en-US" sz="2400" dirty="0"/>
              <a:t>、</a:t>
            </a:r>
            <a:r>
              <a:rPr lang="en-US" altLang="zh-CN" sz="2400" dirty="0"/>
              <a:t>y=3</a:t>
            </a:r>
            <a:r>
              <a:rPr lang="zh-CN" altLang="en-US" sz="2400" dirty="0"/>
              <a:t>、</a:t>
            </a:r>
            <a:r>
              <a:rPr lang="en-US" altLang="zh-CN" sz="2400" dirty="0"/>
              <a:t>z=5}</a:t>
            </a:r>
          </a:p>
          <a:p>
            <a:pPr lvl="1">
              <a:spcBef>
                <a:spcPct val="50000"/>
              </a:spcBef>
            </a:pPr>
            <a:r>
              <a:rPr lang="en-US" altLang="zh-CN" sz="2400" dirty="0"/>
              <a:t>{ x=4</a:t>
            </a:r>
            <a:r>
              <a:rPr lang="zh-CN" altLang="en-US" sz="2400" dirty="0"/>
              <a:t>、</a:t>
            </a:r>
            <a:r>
              <a:rPr lang="en-US" altLang="zh-CN" sz="2400" dirty="0"/>
              <a:t>y=5</a:t>
            </a:r>
            <a:r>
              <a:rPr lang="zh-CN" altLang="en-US" sz="2400" dirty="0"/>
              <a:t>、</a:t>
            </a:r>
            <a:r>
              <a:rPr lang="en-US" altLang="zh-CN" sz="2400" dirty="0"/>
              <a:t>z=5}</a:t>
            </a:r>
          </a:p>
          <a:p>
            <a:pPr>
              <a:spcBef>
                <a:spcPct val="50000"/>
              </a:spcBef>
            </a:pPr>
            <a:r>
              <a:rPr lang="zh-CN" altLang="en-US" sz="2800" dirty="0"/>
              <a:t>执行路径</a:t>
            </a:r>
          </a:p>
          <a:p>
            <a:pPr lvl="1">
              <a:spcBef>
                <a:spcPct val="50000"/>
              </a:spcBef>
            </a:pPr>
            <a:r>
              <a:rPr lang="en-US" altLang="zh-CN" sz="2400" dirty="0"/>
              <a:t>ABDEF</a:t>
            </a:r>
          </a:p>
          <a:p>
            <a:pPr lvl="1">
              <a:spcBef>
                <a:spcPct val="50000"/>
              </a:spcBef>
            </a:pPr>
            <a:r>
              <a:rPr lang="en-US" altLang="zh-CN" sz="2400" dirty="0"/>
              <a:t>ABDF</a:t>
            </a:r>
          </a:p>
        </p:txBody>
      </p:sp>
      <p:sp>
        <p:nvSpPr>
          <p:cNvPr id="857092" name="AutoShape 4"/>
          <p:cNvSpPr>
            <a:spLocks noChangeArrowheads="1"/>
          </p:cNvSpPr>
          <p:nvPr/>
        </p:nvSpPr>
        <p:spPr bwMode="auto">
          <a:xfrm>
            <a:off x="6740526" y="1222375"/>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A</a:t>
            </a:r>
          </a:p>
        </p:txBody>
      </p:sp>
      <p:sp>
        <p:nvSpPr>
          <p:cNvPr id="107526" name="Line 5"/>
          <p:cNvSpPr>
            <a:spLocks noChangeShapeType="1"/>
          </p:cNvSpPr>
          <p:nvPr/>
        </p:nvSpPr>
        <p:spPr bwMode="auto">
          <a:xfrm>
            <a:off x="7280276" y="2195513"/>
            <a:ext cx="296863"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27" name="Line 6"/>
          <p:cNvSpPr>
            <a:spLocks noChangeShapeType="1"/>
          </p:cNvSpPr>
          <p:nvPr/>
        </p:nvSpPr>
        <p:spPr bwMode="auto">
          <a:xfrm>
            <a:off x="7280276" y="3114675"/>
            <a:ext cx="32385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28" name="Line 7"/>
          <p:cNvSpPr>
            <a:spLocks noChangeShapeType="1"/>
          </p:cNvSpPr>
          <p:nvPr/>
        </p:nvSpPr>
        <p:spPr bwMode="auto">
          <a:xfrm flipH="1">
            <a:off x="7280276" y="2682875"/>
            <a:ext cx="269875" cy="217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29" name="Line 8"/>
          <p:cNvSpPr>
            <a:spLocks noChangeShapeType="1"/>
          </p:cNvSpPr>
          <p:nvPr/>
        </p:nvSpPr>
        <p:spPr bwMode="auto">
          <a:xfrm flipH="1">
            <a:off x="7280276" y="3602038"/>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30" name="Line 9"/>
          <p:cNvSpPr>
            <a:spLocks noChangeShapeType="1"/>
          </p:cNvSpPr>
          <p:nvPr/>
        </p:nvSpPr>
        <p:spPr bwMode="auto">
          <a:xfrm>
            <a:off x="7010401" y="1655763"/>
            <a:ext cx="0" cy="269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7098" name="AutoShape 10"/>
          <p:cNvSpPr>
            <a:spLocks noChangeArrowheads="1"/>
          </p:cNvSpPr>
          <p:nvPr/>
        </p:nvSpPr>
        <p:spPr bwMode="auto">
          <a:xfrm>
            <a:off x="6740526" y="1925638"/>
            <a:ext cx="539750" cy="433387"/>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B</a:t>
            </a:r>
          </a:p>
        </p:txBody>
      </p:sp>
      <p:sp>
        <p:nvSpPr>
          <p:cNvPr id="857099" name="AutoShape 11"/>
          <p:cNvSpPr>
            <a:spLocks noChangeArrowheads="1"/>
          </p:cNvSpPr>
          <p:nvPr/>
        </p:nvSpPr>
        <p:spPr bwMode="auto">
          <a:xfrm>
            <a:off x="6740526" y="2790825"/>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D</a:t>
            </a:r>
          </a:p>
        </p:txBody>
      </p:sp>
      <p:sp>
        <p:nvSpPr>
          <p:cNvPr id="857100" name="AutoShape 12"/>
          <p:cNvSpPr>
            <a:spLocks noChangeArrowheads="1"/>
          </p:cNvSpPr>
          <p:nvPr/>
        </p:nvSpPr>
        <p:spPr bwMode="auto">
          <a:xfrm>
            <a:off x="6740526" y="3654425"/>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F</a:t>
            </a:r>
          </a:p>
        </p:txBody>
      </p:sp>
      <p:sp>
        <p:nvSpPr>
          <p:cNvPr id="857101" name="AutoShape 13"/>
          <p:cNvSpPr>
            <a:spLocks noChangeArrowheads="1"/>
          </p:cNvSpPr>
          <p:nvPr/>
        </p:nvSpPr>
        <p:spPr bwMode="auto">
          <a:xfrm>
            <a:off x="7496176" y="3278188"/>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E</a:t>
            </a:r>
          </a:p>
        </p:txBody>
      </p:sp>
      <p:sp>
        <p:nvSpPr>
          <p:cNvPr id="857102" name="AutoShape 14"/>
          <p:cNvSpPr>
            <a:spLocks noChangeArrowheads="1"/>
          </p:cNvSpPr>
          <p:nvPr/>
        </p:nvSpPr>
        <p:spPr bwMode="auto">
          <a:xfrm>
            <a:off x="7496176" y="2359025"/>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C</a:t>
            </a:r>
          </a:p>
        </p:txBody>
      </p:sp>
      <p:sp>
        <p:nvSpPr>
          <p:cNvPr id="107536" name="Line 15"/>
          <p:cNvSpPr>
            <a:spLocks noChangeShapeType="1"/>
          </p:cNvSpPr>
          <p:nvPr/>
        </p:nvSpPr>
        <p:spPr bwMode="auto">
          <a:xfrm>
            <a:off x="7010401" y="235902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537" name="Line 16"/>
          <p:cNvSpPr>
            <a:spLocks noChangeShapeType="1"/>
          </p:cNvSpPr>
          <p:nvPr/>
        </p:nvSpPr>
        <p:spPr bwMode="auto">
          <a:xfrm>
            <a:off x="7010401" y="322421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538" name="Line 18"/>
          <p:cNvSpPr>
            <a:spLocks noChangeShapeType="1"/>
          </p:cNvSpPr>
          <p:nvPr/>
        </p:nvSpPr>
        <p:spPr bwMode="auto">
          <a:xfrm>
            <a:off x="6900864" y="1114425"/>
            <a:ext cx="0" cy="3243263"/>
          </a:xfrm>
          <a:prstGeom prst="line">
            <a:avLst/>
          </a:prstGeom>
          <a:noFill/>
          <a:ln w="38100" cap="rnd">
            <a:solidFill>
              <a:srgbClr val="339966"/>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39" name="Oval 19"/>
          <p:cNvSpPr>
            <a:spLocks noChangeArrowheads="1"/>
          </p:cNvSpPr>
          <p:nvPr/>
        </p:nvSpPr>
        <p:spPr bwMode="auto">
          <a:xfrm>
            <a:off x="7062789" y="4357688"/>
            <a:ext cx="269875" cy="271462"/>
          </a:xfrm>
          <a:prstGeom prst="ellipse">
            <a:avLst/>
          </a:prstGeom>
          <a:noFill/>
          <a:ln w="28575" cap="rnd"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FF0000"/>
                </a:solidFill>
                <a:latin typeface="Times New Roman" pitchFamily="18" charset="0"/>
                <a:ea typeface="微软雅黑" pitchFamily="34" charset="-122"/>
              </a:rPr>
              <a:t>1</a:t>
            </a:r>
          </a:p>
        </p:txBody>
      </p:sp>
      <p:sp>
        <p:nvSpPr>
          <p:cNvPr id="107540" name="Oval 20"/>
          <p:cNvSpPr>
            <a:spLocks noChangeArrowheads="1"/>
          </p:cNvSpPr>
          <p:nvPr/>
        </p:nvSpPr>
        <p:spPr bwMode="auto">
          <a:xfrm>
            <a:off x="6630989" y="4357688"/>
            <a:ext cx="269875" cy="271462"/>
          </a:xfrm>
          <a:prstGeom prst="ellipse">
            <a:avLst/>
          </a:prstGeom>
          <a:noFill/>
          <a:ln w="28575" cap="rnd" algn="ctr">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008000"/>
                </a:solidFill>
                <a:latin typeface="Times New Roman" pitchFamily="18" charset="0"/>
                <a:ea typeface="微软雅黑" pitchFamily="34" charset="-122"/>
              </a:rPr>
              <a:t>2</a:t>
            </a:r>
          </a:p>
        </p:txBody>
      </p:sp>
      <p:sp>
        <p:nvSpPr>
          <p:cNvPr id="107541" name="Freeform 22"/>
          <p:cNvSpPr>
            <a:spLocks/>
          </p:cNvSpPr>
          <p:nvPr/>
        </p:nvSpPr>
        <p:spPr bwMode="auto">
          <a:xfrm>
            <a:off x="7018339" y="1114425"/>
            <a:ext cx="1017587" cy="3135313"/>
          </a:xfrm>
          <a:custGeom>
            <a:avLst/>
            <a:gdLst>
              <a:gd name="T0" fmla="*/ 2147483647 w 854"/>
              <a:gd name="T1" fmla="*/ 0 h 2631"/>
              <a:gd name="T2" fmla="*/ 2147483647 w 854"/>
              <a:gd name="T3" fmla="*/ 2147483647 h 2631"/>
              <a:gd name="T4" fmla="*/ 2147483647 w 854"/>
              <a:gd name="T5" fmla="*/ 2147483647 h 2631"/>
              <a:gd name="T6" fmla="*/ 2147483647 w 854"/>
              <a:gd name="T7" fmla="*/ 2147483647 h 2631"/>
              <a:gd name="T8" fmla="*/ 2147483647 w 854"/>
              <a:gd name="T9" fmla="*/ 2147483647 h 2631"/>
              <a:gd name="T10" fmla="*/ 2147483647 w 854"/>
              <a:gd name="T11" fmla="*/ 2147483647 h 2631"/>
              <a:gd name="T12" fmla="*/ 2147483647 w 854"/>
              <a:gd name="T13" fmla="*/ 2147483647 h 2631"/>
              <a:gd name="T14" fmla="*/ 2147483647 w 854"/>
              <a:gd name="T15" fmla="*/ 2147483647 h 2631"/>
              <a:gd name="T16" fmla="*/ 2147483647 w 854"/>
              <a:gd name="T17" fmla="*/ 2147483647 h 2631"/>
              <a:gd name="T18" fmla="*/ 2147483647 w 854"/>
              <a:gd name="T19" fmla="*/ 2147483647 h 2631"/>
              <a:gd name="T20" fmla="*/ 2147483647 w 854"/>
              <a:gd name="T21" fmla="*/ 2147483647 h 2631"/>
              <a:gd name="T22" fmla="*/ 2147483647 w 854"/>
              <a:gd name="T23" fmla="*/ 2147483647 h 26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54" h="2631">
                <a:moveTo>
                  <a:pt x="113" y="0"/>
                </a:moveTo>
                <a:cubicBezTo>
                  <a:pt x="109" y="332"/>
                  <a:pt x="105" y="665"/>
                  <a:pt x="113" y="816"/>
                </a:cubicBezTo>
                <a:cubicBezTo>
                  <a:pt x="121" y="967"/>
                  <a:pt x="83" y="847"/>
                  <a:pt x="159" y="907"/>
                </a:cubicBezTo>
                <a:cubicBezTo>
                  <a:pt x="235" y="967"/>
                  <a:pt x="506" y="1126"/>
                  <a:pt x="567" y="1179"/>
                </a:cubicBezTo>
                <a:cubicBezTo>
                  <a:pt x="628" y="1232"/>
                  <a:pt x="582" y="1164"/>
                  <a:pt x="522" y="1224"/>
                </a:cubicBezTo>
                <a:cubicBezTo>
                  <a:pt x="462" y="1284"/>
                  <a:pt x="249" y="1474"/>
                  <a:pt x="204" y="1542"/>
                </a:cubicBezTo>
                <a:cubicBezTo>
                  <a:pt x="159" y="1610"/>
                  <a:pt x="158" y="1573"/>
                  <a:pt x="249" y="1633"/>
                </a:cubicBezTo>
                <a:cubicBezTo>
                  <a:pt x="340" y="1693"/>
                  <a:pt x="665" y="1837"/>
                  <a:pt x="748" y="1905"/>
                </a:cubicBezTo>
                <a:cubicBezTo>
                  <a:pt x="831" y="1973"/>
                  <a:pt x="854" y="1966"/>
                  <a:pt x="748" y="2041"/>
                </a:cubicBezTo>
                <a:cubicBezTo>
                  <a:pt x="642" y="2116"/>
                  <a:pt x="226" y="2298"/>
                  <a:pt x="113" y="2358"/>
                </a:cubicBezTo>
                <a:cubicBezTo>
                  <a:pt x="0" y="2418"/>
                  <a:pt x="75" y="2359"/>
                  <a:pt x="68" y="2404"/>
                </a:cubicBezTo>
                <a:cubicBezTo>
                  <a:pt x="61" y="2449"/>
                  <a:pt x="64" y="2540"/>
                  <a:pt x="68" y="2631"/>
                </a:cubicBezTo>
              </a:path>
            </a:pathLst>
          </a:custGeom>
          <a:noFill/>
          <a:ln w="38100" cap="rnd" cmpd="sng">
            <a:solidFill>
              <a:srgbClr val="FF0000"/>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9526837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BBA51E12-A42C-4498-92CA-78EED9014901}" type="slidenum">
              <a:rPr lang="en-US" altLang="zh-CN" sz="1800" b="0" smtClean="0">
                <a:latin typeface="Times New Roman" pitchFamily="18" charset="0"/>
                <a:ea typeface="微软雅黑" pitchFamily="34" charset="-122"/>
              </a:rPr>
              <a:pPr algn="l" eaLnBrk="0" hangingPunct="0">
                <a:spcBef>
                  <a:spcPct val="0"/>
                </a:spcBef>
                <a:buFontTx/>
                <a:buNone/>
              </a:pPr>
              <a:t>64</a:t>
            </a:fld>
            <a:endParaRPr lang="en-US" altLang="zh-CN" sz="1800" b="0">
              <a:latin typeface="Times New Roman" pitchFamily="18" charset="0"/>
              <a:ea typeface="微软雅黑" pitchFamily="34" charset="-122"/>
            </a:endParaRPr>
          </a:p>
        </p:txBody>
      </p:sp>
      <p:sp>
        <p:nvSpPr>
          <p:cNvPr id="108547"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条件覆盖</a:t>
            </a:r>
          </a:p>
        </p:txBody>
      </p:sp>
      <p:sp>
        <p:nvSpPr>
          <p:cNvPr id="108548" name="Rectangle 3"/>
          <p:cNvSpPr>
            <a:spLocks noGrp="1" noChangeArrowheads="1"/>
          </p:cNvSpPr>
          <p:nvPr>
            <p:ph type="body" idx="1"/>
          </p:nvPr>
        </p:nvSpPr>
        <p:spPr>
          <a:xfrm>
            <a:off x="539552" y="1239838"/>
            <a:ext cx="7632848" cy="3090862"/>
          </a:xfrm>
        </p:spPr>
        <p:txBody>
          <a:bodyPr/>
          <a:lstStyle/>
          <a:p>
            <a:r>
              <a:rPr lang="zh-CN" altLang="en-US" dirty="0"/>
              <a:t>条件覆盖就是设计若干个测试用例，运行被测程序，使得程序中每个判断的每个条件的可能取值至少执行一次。</a:t>
            </a:r>
            <a:endParaRPr lang="en-US" altLang="zh-CN" dirty="0"/>
          </a:p>
          <a:p>
            <a:r>
              <a:rPr lang="zh-CN" altLang="en-US" dirty="0"/>
              <a:t>不要求测试所有可能的分支</a:t>
            </a:r>
          </a:p>
        </p:txBody>
      </p:sp>
    </p:spTree>
    <p:extLst>
      <p:ext uri="{BB962C8B-B14F-4D97-AF65-F5344CB8AC3E}">
        <p14:creationId xmlns:p14="http://schemas.microsoft.com/office/powerpoint/2010/main" val="5310981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4294967295"/>
          </p:nvPr>
        </p:nvSpPr>
        <p:spPr>
          <a:xfrm>
            <a:off x="7704733" y="5051425"/>
            <a:ext cx="946150" cy="93663"/>
          </a:xfrm>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1C498F30-4C58-4324-804E-A501ACD5E1DE}" type="slidenum">
              <a:rPr lang="en-US" altLang="zh-CN" sz="1800" b="0" smtClean="0">
                <a:latin typeface="Times New Roman" pitchFamily="18" charset="0"/>
                <a:ea typeface="微软雅黑" pitchFamily="34" charset="-122"/>
              </a:rPr>
              <a:pPr algn="l" eaLnBrk="0" hangingPunct="0">
                <a:spcBef>
                  <a:spcPct val="0"/>
                </a:spcBef>
                <a:buFontTx/>
                <a:buNone/>
              </a:pPr>
              <a:t>65</a:t>
            </a:fld>
            <a:endParaRPr lang="en-US" altLang="zh-CN" sz="1800" b="0">
              <a:latin typeface="Times New Roman" pitchFamily="18" charset="0"/>
              <a:ea typeface="微软雅黑" pitchFamily="34" charset="-122"/>
            </a:endParaRPr>
          </a:p>
        </p:txBody>
      </p:sp>
      <p:sp>
        <p:nvSpPr>
          <p:cNvPr id="109571"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条件覆盖实例</a:t>
            </a:r>
          </a:p>
        </p:txBody>
      </p:sp>
      <p:sp>
        <p:nvSpPr>
          <p:cNvPr id="109572" name="Rectangle 3"/>
          <p:cNvSpPr>
            <a:spLocks noGrp="1" noChangeArrowheads="1"/>
          </p:cNvSpPr>
          <p:nvPr>
            <p:ph type="body" idx="1"/>
          </p:nvPr>
        </p:nvSpPr>
        <p:spPr>
          <a:xfrm>
            <a:off x="4140274" y="1114425"/>
            <a:ext cx="4248150" cy="3405188"/>
          </a:xfrm>
        </p:spPr>
        <p:txBody>
          <a:bodyPr/>
          <a:lstStyle/>
          <a:p>
            <a:pPr>
              <a:spcBef>
                <a:spcPct val="50000"/>
              </a:spcBef>
            </a:pPr>
            <a:r>
              <a:rPr lang="zh-CN" altLang="en-US" sz="2800"/>
              <a:t>用例</a:t>
            </a:r>
          </a:p>
          <a:p>
            <a:pPr lvl="1">
              <a:spcBef>
                <a:spcPct val="50000"/>
              </a:spcBef>
            </a:pPr>
            <a:r>
              <a:rPr lang="en-US" altLang="zh-CN" sz="2400"/>
              <a:t>{ x=4</a:t>
            </a:r>
            <a:r>
              <a:rPr lang="zh-CN" altLang="en-US" sz="2400"/>
              <a:t>、</a:t>
            </a:r>
            <a:r>
              <a:rPr lang="en-US" altLang="zh-CN" sz="2400"/>
              <a:t>y=5</a:t>
            </a:r>
            <a:r>
              <a:rPr lang="zh-CN" altLang="en-US" sz="2400"/>
              <a:t>、</a:t>
            </a:r>
            <a:r>
              <a:rPr lang="en-US" altLang="zh-CN" sz="2400"/>
              <a:t>z=15}</a:t>
            </a:r>
          </a:p>
          <a:p>
            <a:pPr lvl="1">
              <a:spcBef>
                <a:spcPct val="50000"/>
              </a:spcBef>
            </a:pPr>
            <a:r>
              <a:rPr lang="en-US" altLang="zh-CN" sz="2400"/>
              <a:t>{ x=2</a:t>
            </a:r>
            <a:r>
              <a:rPr lang="zh-CN" altLang="en-US" sz="2400"/>
              <a:t>、</a:t>
            </a:r>
            <a:r>
              <a:rPr lang="en-US" altLang="zh-CN" sz="2400"/>
              <a:t>y=6</a:t>
            </a:r>
            <a:r>
              <a:rPr lang="zh-CN" altLang="en-US" sz="2400"/>
              <a:t>、</a:t>
            </a:r>
            <a:r>
              <a:rPr lang="en-US" altLang="zh-CN" sz="2400"/>
              <a:t>z=5}</a:t>
            </a:r>
          </a:p>
          <a:p>
            <a:pPr>
              <a:spcBef>
                <a:spcPct val="50000"/>
              </a:spcBef>
            </a:pPr>
            <a:r>
              <a:rPr lang="zh-CN" altLang="en-US" sz="2800"/>
              <a:t>执行路径</a:t>
            </a:r>
          </a:p>
          <a:p>
            <a:pPr lvl="1">
              <a:spcBef>
                <a:spcPct val="50000"/>
              </a:spcBef>
            </a:pPr>
            <a:r>
              <a:rPr lang="en-US" altLang="zh-CN" sz="2400"/>
              <a:t>ABDF</a:t>
            </a:r>
          </a:p>
          <a:p>
            <a:pPr lvl="1">
              <a:spcBef>
                <a:spcPct val="50000"/>
              </a:spcBef>
            </a:pPr>
            <a:r>
              <a:rPr lang="en-US" altLang="zh-CN" sz="2400"/>
              <a:t>ABCDEF</a:t>
            </a:r>
          </a:p>
        </p:txBody>
      </p:sp>
      <p:sp>
        <p:nvSpPr>
          <p:cNvPr id="858116" name="AutoShape 4"/>
          <p:cNvSpPr>
            <a:spLocks noChangeArrowheads="1"/>
          </p:cNvSpPr>
          <p:nvPr/>
        </p:nvSpPr>
        <p:spPr bwMode="auto">
          <a:xfrm>
            <a:off x="7633865" y="138430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A</a:t>
            </a:r>
          </a:p>
        </p:txBody>
      </p:sp>
      <p:sp>
        <p:nvSpPr>
          <p:cNvPr id="109574" name="Line 5"/>
          <p:cNvSpPr>
            <a:spLocks noChangeShapeType="1"/>
          </p:cNvSpPr>
          <p:nvPr/>
        </p:nvSpPr>
        <p:spPr bwMode="auto">
          <a:xfrm>
            <a:off x="8173615" y="2357438"/>
            <a:ext cx="296863"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9575" name="Line 6"/>
          <p:cNvSpPr>
            <a:spLocks noChangeShapeType="1"/>
          </p:cNvSpPr>
          <p:nvPr/>
        </p:nvSpPr>
        <p:spPr bwMode="auto">
          <a:xfrm>
            <a:off x="8173615" y="3276600"/>
            <a:ext cx="32385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9576" name="Line 7"/>
          <p:cNvSpPr>
            <a:spLocks noChangeShapeType="1"/>
          </p:cNvSpPr>
          <p:nvPr/>
        </p:nvSpPr>
        <p:spPr bwMode="auto">
          <a:xfrm flipH="1">
            <a:off x="8173615" y="2844800"/>
            <a:ext cx="269875" cy="217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9577" name="Line 8"/>
          <p:cNvSpPr>
            <a:spLocks noChangeShapeType="1"/>
          </p:cNvSpPr>
          <p:nvPr/>
        </p:nvSpPr>
        <p:spPr bwMode="auto">
          <a:xfrm flipH="1">
            <a:off x="8173615" y="3763963"/>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9578" name="Line 9"/>
          <p:cNvSpPr>
            <a:spLocks noChangeShapeType="1"/>
          </p:cNvSpPr>
          <p:nvPr/>
        </p:nvSpPr>
        <p:spPr bwMode="auto">
          <a:xfrm>
            <a:off x="7903740" y="1817688"/>
            <a:ext cx="0" cy="269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8122" name="AutoShape 10"/>
          <p:cNvSpPr>
            <a:spLocks noChangeArrowheads="1"/>
          </p:cNvSpPr>
          <p:nvPr/>
        </p:nvSpPr>
        <p:spPr bwMode="auto">
          <a:xfrm>
            <a:off x="7633865" y="2087563"/>
            <a:ext cx="539750" cy="433387"/>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B</a:t>
            </a:r>
          </a:p>
        </p:txBody>
      </p:sp>
      <p:sp>
        <p:nvSpPr>
          <p:cNvPr id="858123" name="AutoShape 11"/>
          <p:cNvSpPr>
            <a:spLocks noChangeArrowheads="1"/>
          </p:cNvSpPr>
          <p:nvPr/>
        </p:nvSpPr>
        <p:spPr bwMode="auto">
          <a:xfrm>
            <a:off x="7633865" y="295275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D</a:t>
            </a:r>
          </a:p>
        </p:txBody>
      </p:sp>
      <p:sp>
        <p:nvSpPr>
          <p:cNvPr id="858124" name="AutoShape 12"/>
          <p:cNvSpPr>
            <a:spLocks noChangeArrowheads="1"/>
          </p:cNvSpPr>
          <p:nvPr/>
        </p:nvSpPr>
        <p:spPr bwMode="auto">
          <a:xfrm>
            <a:off x="7633865" y="381635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F</a:t>
            </a:r>
          </a:p>
        </p:txBody>
      </p:sp>
      <p:sp>
        <p:nvSpPr>
          <p:cNvPr id="858125" name="AutoShape 13"/>
          <p:cNvSpPr>
            <a:spLocks noChangeArrowheads="1"/>
          </p:cNvSpPr>
          <p:nvPr/>
        </p:nvSpPr>
        <p:spPr bwMode="auto">
          <a:xfrm>
            <a:off x="8389515" y="3440113"/>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E</a:t>
            </a:r>
          </a:p>
        </p:txBody>
      </p:sp>
      <p:sp>
        <p:nvSpPr>
          <p:cNvPr id="858126" name="AutoShape 14"/>
          <p:cNvSpPr>
            <a:spLocks noChangeArrowheads="1"/>
          </p:cNvSpPr>
          <p:nvPr/>
        </p:nvSpPr>
        <p:spPr bwMode="auto">
          <a:xfrm>
            <a:off x="8389515" y="2520950"/>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C</a:t>
            </a:r>
          </a:p>
        </p:txBody>
      </p:sp>
      <p:sp>
        <p:nvSpPr>
          <p:cNvPr id="109584" name="Line 15"/>
          <p:cNvSpPr>
            <a:spLocks noChangeShapeType="1"/>
          </p:cNvSpPr>
          <p:nvPr/>
        </p:nvSpPr>
        <p:spPr bwMode="auto">
          <a:xfrm>
            <a:off x="7903740" y="25209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585" name="Line 16"/>
          <p:cNvSpPr>
            <a:spLocks noChangeShapeType="1"/>
          </p:cNvSpPr>
          <p:nvPr/>
        </p:nvSpPr>
        <p:spPr bwMode="auto">
          <a:xfrm>
            <a:off x="7903740" y="338613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586" name="Line 18"/>
          <p:cNvSpPr>
            <a:spLocks noChangeShapeType="1"/>
          </p:cNvSpPr>
          <p:nvPr/>
        </p:nvSpPr>
        <p:spPr bwMode="auto">
          <a:xfrm>
            <a:off x="7794203" y="1276350"/>
            <a:ext cx="0" cy="3243263"/>
          </a:xfrm>
          <a:prstGeom prst="line">
            <a:avLst/>
          </a:prstGeom>
          <a:noFill/>
          <a:ln w="38100" cap="rnd">
            <a:solidFill>
              <a:srgbClr val="339966"/>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7" name="Oval 19"/>
          <p:cNvSpPr>
            <a:spLocks noChangeArrowheads="1"/>
          </p:cNvSpPr>
          <p:nvPr/>
        </p:nvSpPr>
        <p:spPr bwMode="auto">
          <a:xfrm>
            <a:off x="7956128" y="4519613"/>
            <a:ext cx="269875" cy="271462"/>
          </a:xfrm>
          <a:prstGeom prst="ellipse">
            <a:avLst/>
          </a:prstGeom>
          <a:noFill/>
          <a:ln w="28575" cap="rnd"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FF0000"/>
                </a:solidFill>
                <a:latin typeface="Times New Roman" pitchFamily="18" charset="0"/>
                <a:ea typeface="微软雅黑" pitchFamily="34" charset="-122"/>
              </a:rPr>
              <a:t>1</a:t>
            </a:r>
          </a:p>
        </p:txBody>
      </p:sp>
      <p:sp>
        <p:nvSpPr>
          <p:cNvPr id="109588" name="Oval 20"/>
          <p:cNvSpPr>
            <a:spLocks noChangeArrowheads="1"/>
          </p:cNvSpPr>
          <p:nvPr/>
        </p:nvSpPr>
        <p:spPr bwMode="auto">
          <a:xfrm>
            <a:off x="7524328" y="4519613"/>
            <a:ext cx="269875" cy="271462"/>
          </a:xfrm>
          <a:prstGeom prst="ellipse">
            <a:avLst/>
          </a:prstGeom>
          <a:noFill/>
          <a:ln w="28575" cap="rnd" algn="ctr">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008000"/>
                </a:solidFill>
                <a:latin typeface="Times New Roman" pitchFamily="18" charset="0"/>
                <a:ea typeface="微软雅黑" pitchFamily="34" charset="-122"/>
              </a:rPr>
              <a:t>2</a:t>
            </a:r>
          </a:p>
        </p:txBody>
      </p:sp>
      <p:sp>
        <p:nvSpPr>
          <p:cNvPr id="109589" name="Freeform 21"/>
          <p:cNvSpPr>
            <a:spLocks/>
          </p:cNvSpPr>
          <p:nvPr/>
        </p:nvSpPr>
        <p:spPr bwMode="auto">
          <a:xfrm>
            <a:off x="7984703" y="1276350"/>
            <a:ext cx="728662" cy="3243263"/>
          </a:xfrm>
          <a:custGeom>
            <a:avLst/>
            <a:gdLst>
              <a:gd name="T0" fmla="*/ 2147483647 w 611"/>
              <a:gd name="T1" fmla="*/ 0 h 2722"/>
              <a:gd name="T2" fmla="*/ 2147483647 w 611"/>
              <a:gd name="T3" fmla="*/ 2147483647 h 2722"/>
              <a:gd name="T4" fmla="*/ 2147483647 w 611"/>
              <a:gd name="T5" fmla="*/ 2147483647 h 2722"/>
              <a:gd name="T6" fmla="*/ 2147483647 w 611"/>
              <a:gd name="T7" fmla="*/ 2147483647 h 2722"/>
              <a:gd name="T8" fmla="*/ 2147483647 w 611"/>
              <a:gd name="T9" fmla="*/ 2147483647 h 2722"/>
              <a:gd name="T10" fmla="*/ 2147483647 w 611"/>
              <a:gd name="T11" fmla="*/ 2147483647 h 2722"/>
              <a:gd name="T12" fmla="*/ 2147483647 w 611"/>
              <a:gd name="T13" fmla="*/ 2147483647 h 2722"/>
              <a:gd name="T14" fmla="*/ 2147483647 w 611"/>
              <a:gd name="T15" fmla="*/ 2147483647 h 272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1" h="2722">
                <a:moveTo>
                  <a:pt x="83" y="0"/>
                </a:moveTo>
                <a:cubicBezTo>
                  <a:pt x="75" y="620"/>
                  <a:pt x="68" y="1241"/>
                  <a:pt x="83" y="1543"/>
                </a:cubicBezTo>
                <a:cubicBezTo>
                  <a:pt x="98" y="1845"/>
                  <a:pt x="98" y="1740"/>
                  <a:pt x="173" y="1815"/>
                </a:cubicBezTo>
                <a:cubicBezTo>
                  <a:pt x="248" y="1890"/>
                  <a:pt x="476" y="1951"/>
                  <a:pt x="536" y="1996"/>
                </a:cubicBezTo>
                <a:cubicBezTo>
                  <a:pt x="596" y="2041"/>
                  <a:pt x="611" y="2027"/>
                  <a:pt x="536" y="2087"/>
                </a:cubicBezTo>
                <a:cubicBezTo>
                  <a:pt x="461" y="2147"/>
                  <a:pt x="166" y="2299"/>
                  <a:pt x="83" y="2359"/>
                </a:cubicBezTo>
                <a:cubicBezTo>
                  <a:pt x="0" y="2419"/>
                  <a:pt x="45" y="2390"/>
                  <a:pt x="37" y="2450"/>
                </a:cubicBezTo>
                <a:cubicBezTo>
                  <a:pt x="29" y="2510"/>
                  <a:pt x="33" y="2616"/>
                  <a:pt x="37" y="2722"/>
                </a:cubicBezTo>
              </a:path>
            </a:pathLst>
          </a:custGeom>
          <a:noFill/>
          <a:ln w="38100" cap="rnd" cmpd="sng">
            <a:solidFill>
              <a:srgbClr val="FF0000"/>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Rectangle 3">
            <a:extLst>
              <a:ext uri="{FF2B5EF4-FFF2-40B4-BE49-F238E27FC236}">
                <a16:creationId xmlns:a16="http://schemas.microsoft.com/office/drawing/2014/main" id="{C055A82E-4CEA-4F6F-8CE8-0D41D68BDAFC}"/>
              </a:ext>
            </a:extLst>
          </p:cNvPr>
          <p:cNvSpPr txBox="1">
            <a:spLocks noChangeArrowheads="1"/>
          </p:cNvSpPr>
          <p:nvPr/>
        </p:nvSpPr>
        <p:spPr bwMode="auto">
          <a:xfrm>
            <a:off x="611560" y="1276350"/>
            <a:ext cx="6054725"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80000"/>
              </a:lnSpc>
              <a:buFont typeface="Wingdings" pitchFamily="2" charset="2"/>
              <a:buAutoNum type="arabicPeriod"/>
            </a:pPr>
            <a:r>
              <a:rPr lang="en-US" altLang="zh-CN" sz="1500">
                <a:latin typeface="Times New Roman" pitchFamily="18" charset="0"/>
              </a:rPr>
              <a:t>void  DoWork(int x,int y,int z)</a:t>
            </a:r>
          </a:p>
          <a:p>
            <a:pPr marL="285750" indent="-285750">
              <a:lnSpc>
                <a:spcPct val="80000"/>
              </a:lnSpc>
              <a:buFont typeface="Wingdings" pitchFamily="2" charset="2"/>
              <a:buAutoNum type="arabicPeriod"/>
            </a:pPr>
            <a:r>
              <a:rPr lang="en-US" altLang="zh-CN" sz="1500">
                <a:latin typeface="Times New Roman" pitchFamily="18" charset="0"/>
              </a:rPr>
              <a:t>{</a:t>
            </a:r>
          </a:p>
          <a:p>
            <a:pPr marL="285750" indent="-285750">
              <a:lnSpc>
                <a:spcPct val="80000"/>
              </a:lnSpc>
              <a:buFont typeface="Wingdings" pitchFamily="2" charset="2"/>
              <a:buAutoNum type="arabicPeriod"/>
            </a:pPr>
            <a:r>
              <a:rPr lang="en-US" altLang="zh-CN" sz="1500">
                <a:latin typeface="Times New Roman" pitchFamily="18" charset="0"/>
              </a:rPr>
              <a:t>   int  k=0,j=0;</a:t>
            </a:r>
          </a:p>
          <a:p>
            <a:pPr marL="285750" indent="-285750">
              <a:lnSpc>
                <a:spcPct val="80000"/>
              </a:lnSpc>
              <a:buFont typeface="Wingdings" pitchFamily="2" charset="2"/>
              <a:buAutoNum type="arabicPeriod"/>
            </a:pPr>
            <a:r>
              <a:rPr lang="en-US" altLang="zh-CN" sz="1500">
                <a:latin typeface="Times New Roman" pitchFamily="18" charset="0"/>
              </a:rPr>
              <a:t>   if((x&gt;3)&amp;&amp;(z&lt;10))</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k=x*y-1; </a:t>
            </a:r>
          </a:p>
          <a:p>
            <a:pPr marL="285750" indent="-285750">
              <a:lnSpc>
                <a:spcPct val="80000"/>
              </a:lnSpc>
              <a:buFont typeface="Wingdings" pitchFamily="2" charset="2"/>
              <a:buAutoNum type="arabicPeriod"/>
            </a:pPr>
            <a:r>
              <a:rPr lang="en-US" altLang="zh-CN" sz="1500">
                <a:latin typeface="Times New Roman" pitchFamily="18" charset="0"/>
              </a:rPr>
              <a:t>       j=sqrt(k);</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if((x= =4)||(y&gt;5))</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j=x*y+10;  </a:t>
            </a:r>
          </a:p>
          <a:p>
            <a:pPr marL="285750" indent="-285750">
              <a:lnSpc>
                <a:spcPct val="80000"/>
              </a:lnSpc>
              <a:buFont typeface="Wingdings" pitchFamily="2" charset="2"/>
              <a:buAutoNum type="arabicPeriod"/>
            </a:pPr>
            <a:r>
              <a:rPr lang="en-US" altLang="zh-CN" sz="1500">
                <a:latin typeface="Times New Roman" pitchFamily="18" charset="0"/>
              </a:rPr>
              <a:t>  }</a:t>
            </a:r>
          </a:p>
          <a:p>
            <a:pPr marL="285750" indent="-285750">
              <a:lnSpc>
                <a:spcPct val="80000"/>
              </a:lnSpc>
              <a:buFont typeface="Wingdings" pitchFamily="2" charset="2"/>
              <a:buAutoNum type="arabicPeriod"/>
            </a:pPr>
            <a:r>
              <a:rPr lang="en-US" altLang="zh-CN" sz="1500">
                <a:latin typeface="Times New Roman" pitchFamily="18" charset="0"/>
              </a:rPr>
              <a:t>  j=j%3; </a:t>
            </a:r>
          </a:p>
          <a:p>
            <a:pPr marL="285750" indent="-285750">
              <a:lnSpc>
                <a:spcPct val="80000"/>
              </a:lnSpc>
              <a:buFont typeface="Wingdings" pitchFamily="2" charset="2"/>
              <a:buAutoNum type="arabicPeriod"/>
            </a:pPr>
            <a:r>
              <a:rPr lang="en-US" altLang="zh-CN" sz="1500">
                <a:latin typeface="Times New Roman" pitchFamily="18" charset="0"/>
              </a:rPr>
              <a:t>}</a:t>
            </a:r>
            <a:endParaRPr lang="en-US" altLang="zh-CN" sz="1500" dirty="0">
              <a:latin typeface="Times New Roman" pitchFamily="18" charset="0"/>
            </a:endParaRPr>
          </a:p>
        </p:txBody>
      </p:sp>
    </p:spTree>
    <p:extLst>
      <p:ext uri="{BB962C8B-B14F-4D97-AF65-F5344CB8AC3E}">
        <p14:creationId xmlns:p14="http://schemas.microsoft.com/office/powerpoint/2010/main" val="42440454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DDDE5054-B4B2-4958-9BBF-B92D3CA8F501}" type="slidenum">
              <a:rPr lang="en-US" altLang="zh-CN" sz="1800" b="0" smtClean="0">
                <a:latin typeface="Times New Roman" pitchFamily="18" charset="0"/>
                <a:ea typeface="微软雅黑" pitchFamily="34" charset="-122"/>
              </a:rPr>
              <a:pPr algn="l" eaLnBrk="0" hangingPunct="0">
                <a:spcBef>
                  <a:spcPct val="0"/>
                </a:spcBef>
                <a:buFontTx/>
                <a:buNone/>
              </a:pPr>
              <a:t>66</a:t>
            </a:fld>
            <a:endParaRPr lang="en-US" altLang="zh-CN" sz="1800" b="0">
              <a:latin typeface="Times New Roman" pitchFamily="18" charset="0"/>
              <a:ea typeface="微软雅黑" pitchFamily="34" charset="-122"/>
            </a:endParaRPr>
          </a:p>
        </p:txBody>
      </p:sp>
      <p:sp>
        <p:nvSpPr>
          <p:cNvPr id="110595"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条件组合覆盖</a:t>
            </a:r>
          </a:p>
        </p:txBody>
      </p:sp>
      <p:sp>
        <p:nvSpPr>
          <p:cNvPr id="110596" name="Rectangle 3"/>
          <p:cNvSpPr>
            <a:spLocks noGrp="1" noChangeArrowheads="1"/>
          </p:cNvSpPr>
          <p:nvPr>
            <p:ph type="body" idx="1"/>
          </p:nvPr>
        </p:nvSpPr>
        <p:spPr>
          <a:xfrm>
            <a:off x="468313" y="990600"/>
            <a:ext cx="8229600" cy="3397250"/>
          </a:xfrm>
        </p:spPr>
        <p:txBody>
          <a:bodyPr/>
          <a:lstStyle/>
          <a:p>
            <a:pPr>
              <a:lnSpc>
                <a:spcPct val="110000"/>
              </a:lnSpc>
              <a:spcBef>
                <a:spcPct val="30000"/>
              </a:spcBef>
            </a:pPr>
            <a:r>
              <a:rPr lang="zh-CN" altLang="en-US" sz="2400" dirty="0"/>
              <a:t>判定－条件覆盖就是设计足够的测试用例，使得判断中每个条件的所有可能取值至少执行一次，同时每个判断所有条件的各种组合情况至少执行一次。</a:t>
            </a:r>
            <a:endParaRPr lang="en-US" altLang="zh-CN" sz="2400" dirty="0"/>
          </a:p>
          <a:p>
            <a:pPr>
              <a:lnSpc>
                <a:spcPct val="110000"/>
              </a:lnSpc>
              <a:spcBef>
                <a:spcPct val="30000"/>
              </a:spcBef>
            </a:pPr>
            <a:r>
              <a:rPr lang="zh-CN" altLang="en-US" sz="2400" dirty="0"/>
              <a:t>达到了条件组合覆盖，所有的语句、分支和条件都将覆盖，但不保证路径覆盖。</a:t>
            </a:r>
          </a:p>
          <a:p>
            <a:pPr>
              <a:lnSpc>
                <a:spcPct val="110000"/>
              </a:lnSpc>
              <a:spcBef>
                <a:spcPct val="30000"/>
              </a:spcBef>
            </a:pPr>
            <a:r>
              <a:rPr lang="zh-CN" altLang="en-US" sz="2400" dirty="0"/>
              <a:t>在实际测试中，由于谓词表达式的短路估值和排它性条件使得达到所有条件组合不可能。</a:t>
            </a:r>
          </a:p>
        </p:txBody>
      </p:sp>
    </p:spTree>
    <p:extLst>
      <p:ext uri="{BB962C8B-B14F-4D97-AF65-F5344CB8AC3E}">
        <p14:creationId xmlns:p14="http://schemas.microsoft.com/office/powerpoint/2010/main" val="15110654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3C3D0E3D-08A2-46D9-8841-185A2E2E039C}" type="slidenum">
              <a:rPr lang="en-US" altLang="zh-CN" sz="1800" b="0" smtClean="0">
                <a:latin typeface="Times New Roman" pitchFamily="18" charset="0"/>
                <a:ea typeface="微软雅黑" pitchFamily="34" charset="-122"/>
              </a:rPr>
              <a:pPr algn="l" eaLnBrk="0" hangingPunct="0">
                <a:spcBef>
                  <a:spcPct val="0"/>
                </a:spcBef>
                <a:buFontTx/>
                <a:buNone/>
              </a:pPr>
              <a:t>67</a:t>
            </a:fld>
            <a:endParaRPr lang="en-US" altLang="zh-CN" sz="1800" b="0">
              <a:latin typeface="Times New Roman" pitchFamily="18" charset="0"/>
              <a:ea typeface="微软雅黑" pitchFamily="34" charset="-122"/>
            </a:endParaRPr>
          </a:p>
        </p:txBody>
      </p:sp>
      <p:sp>
        <p:nvSpPr>
          <p:cNvPr id="111619"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条件组合覆盖实例</a:t>
            </a:r>
          </a:p>
        </p:txBody>
      </p:sp>
      <p:sp>
        <p:nvSpPr>
          <p:cNvPr id="859139" name="Rectangle 3"/>
          <p:cNvSpPr>
            <a:spLocks noGrp="1" noChangeArrowheads="1"/>
          </p:cNvSpPr>
          <p:nvPr>
            <p:ph type="body" idx="1"/>
          </p:nvPr>
        </p:nvSpPr>
        <p:spPr>
          <a:xfrm>
            <a:off x="3491880" y="1168400"/>
            <a:ext cx="3243262" cy="3513138"/>
          </a:xfrm>
        </p:spPr>
        <p:txBody>
          <a:bodyPr/>
          <a:lstStyle/>
          <a:p>
            <a:pPr>
              <a:lnSpc>
                <a:spcPct val="80000"/>
              </a:lnSpc>
              <a:spcBef>
                <a:spcPct val="50000"/>
              </a:spcBef>
              <a:defRPr/>
            </a:pPr>
            <a:r>
              <a:rPr lang="zh-CN" altLang="en-US" sz="1802"/>
              <a:t>用例</a:t>
            </a:r>
          </a:p>
          <a:p>
            <a:pPr lvl="1">
              <a:lnSpc>
                <a:spcPct val="80000"/>
              </a:lnSpc>
              <a:spcBef>
                <a:spcPct val="50000"/>
              </a:spcBef>
              <a:defRPr/>
            </a:pPr>
            <a:r>
              <a:rPr lang="en-US" altLang="zh-CN" sz="1802"/>
              <a:t>{ x=4</a:t>
            </a:r>
            <a:r>
              <a:rPr lang="zh-CN" altLang="en-US" sz="1802"/>
              <a:t>、</a:t>
            </a:r>
            <a:r>
              <a:rPr lang="en-US" altLang="zh-CN" sz="1802"/>
              <a:t>y=6</a:t>
            </a:r>
            <a:r>
              <a:rPr lang="zh-CN" altLang="en-US" sz="1802"/>
              <a:t>、</a:t>
            </a:r>
            <a:r>
              <a:rPr lang="en-US" altLang="zh-CN" sz="1802"/>
              <a:t>z=5}</a:t>
            </a:r>
          </a:p>
          <a:p>
            <a:pPr lvl="1">
              <a:lnSpc>
                <a:spcPct val="80000"/>
              </a:lnSpc>
              <a:spcBef>
                <a:spcPct val="50000"/>
              </a:spcBef>
              <a:defRPr/>
            </a:pPr>
            <a:r>
              <a:rPr lang="en-US" altLang="zh-CN" sz="1802"/>
              <a:t>{ x=4</a:t>
            </a:r>
            <a:r>
              <a:rPr lang="zh-CN" altLang="en-US" sz="1802"/>
              <a:t>、</a:t>
            </a:r>
            <a:r>
              <a:rPr lang="en-US" altLang="zh-CN" sz="1802"/>
              <a:t>y=5</a:t>
            </a:r>
            <a:r>
              <a:rPr lang="zh-CN" altLang="en-US" sz="1802"/>
              <a:t>、</a:t>
            </a:r>
            <a:r>
              <a:rPr lang="en-US" altLang="zh-CN" sz="1802"/>
              <a:t>z=15}</a:t>
            </a:r>
          </a:p>
          <a:p>
            <a:pPr lvl="1">
              <a:lnSpc>
                <a:spcPct val="80000"/>
              </a:lnSpc>
              <a:spcBef>
                <a:spcPct val="50000"/>
              </a:spcBef>
              <a:defRPr/>
            </a:pPr>
            <a:r>
              <a:rPr lang="en-US" altLang="zh-CN" sz="1802"/>
              <a:t>{ x=2</a:t>
            </a:r>
            <a:r>
              <a:rPr lang="zh-CN" altLang="en-US" sz="1802"/>
              <a:t>、</a:t>
            </a:r>
            <a:r>
              <a:rPr lang="en-US" altLang="zh-CN" sz="1802"/>
              <a:t>y=6</a:t>
            </a:r>
            <a:r>
              <a:rPr lang="zh-CN" altLang="en-US" sz="1802"/>
              <a:t>、</a:t>
            </a:r>
            <a:r>
              <a:rPr lang="en-US" altLang="zh-CN" sz="1802"/>
              <a:t>z=5}</a:t>
            </a:r>
          </a:p>
          <a:p>
            <a:pPr lvl="1">
              <a:lnSpc>
                <a:spcPct val="80000"/>
              </a:lnSpc>
              <a:spcBef>
                <a:spcPct val="50000"/>
              </a:spcBef>
              <a:defRPr/>
            </a:pPr>
            <a:r>
              <a:rPr lang="en-US" altLang="zh-CN" sz="1802"/>
              <a:t>{ x=2</a:t>
            </a:r>
            <a:r>
              <a:rPr lang="zh-CN" altLang="en-US" sz="1802"/>
              <a:t>、</a:t>
            </a:r>
            <a:r>
              <a:rPr lang="en-US" altLang="zh-CN" sz="1802"/>
              <a:t>y=5</a:t>
            </a:r>
            <a:r>
              <a:rPr lang="zh-CN" altLang="en-US" sz="1802"/>
              <a:t>、</a:t>
            </a:r>
            <a:r>
              <a:rPr lang="en-US" altLang="zh-CN" sz="1802"/>
              <a:t>z=15}</a:t>
            </a:r>
          </a:p>
          <a:p>
            <a:pPr>
              <a:lnSpc>
                <a:spcPct val="80000"/>
              </a:lnSpc>
              <a:spcBef>
                <a:spcPct val="50000"/>
              </a:spcBef>
              <a:defRPr/>
            </a:pPr>
            <a:r>
              <a:rPr lang="zh-CN" altLang="en-US" sz="1802"/>
              <a:t>执行路径</a:t>
            </a:r>
          </a:p>
          <a:p>
            <a:pPr lvl="1">
              <a:lnSpc>
                <a:spcPct val="80000"/>
              </a:lnSpc>
              <a:spcBef>
                <a:spcPct val="50000"/>
              </a:spcBef>
              <a:defRPr/>
            </a:pPr>
            <a:r>
              <a:rPr lang="en-US" altLang="zh-CN" sz="1802"/>
              <a:t>ABCDEF</a:t>
            </a:r>
          </a:p>
          <a:p>
            <a:pPr lvl="1">
              <a:lnSpc>
                <a:spcPct val="80000"/>
              </a:lnSpc>
              <a:spcBef>
                <a:spcPct val="50000"/>
              </a:spcBef>
              <a:defRPr/>
            </a:pPr>
            <a:r>
              <a:rPr lang="en-US" altLang="zh-CN" sz="1802"/>
              <a:t>ABDEF</a:t>
            </a:r>
          </a:p>
          <a:p>
            <a:pPr lvl="1">
              <a:lnSpc>
                <a:spcPct val="80000"/>
              </a:lnSpc>
              <a:spcBef>
                <a:spcPct val="50000"/>
              </a:spcBef>
              <a:defRPr/>
            </a:pPr>
            <a:r>
              <a:rPr lang="en-US" altLang="zh-CN" sz="1802"/>
              <a:t>ABDEF</a:t>
            </a:r>
          </a:p>
          <a:p>
            <a:pPr lvl="1">
              <a:lnSpc>
                <a:spcPct val="80000"/>
              </a:lnSpc>
              <a:spcBef>
                <a:spcPct val="50000"/>
              </a:spcBef>
              <a:defRPr/>
            </a:pPr>
            <a:r>
              <a:rPr lang="en-US" altLang="zh-CN" sz="1802"/>
              <a:t>ABDF</a:t>
            </a:r>
          </a:p>
        </p:txBody>
      </p:sp>
      <p:sp>
        <p:nvSpPr>
          <p:cNvPr id="859140" name="AutoShape 4"/>
          <p:cNvSpPr>
            <a:spLocks noChangeArrowheads="1"/>
          </p:cNvSpPr>
          <p:nvPr/>
        </p:nvSpPr>
        <p:spPr bwMode="auto">
          <a:xfrm>
            <a:off x="7547942" y="138430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A</a:t>
            </a:r>
          </a:p>
        </p:txBody>
      </p:sp>
      <p:sp>
        <p:nvSpPr>
          <p:cNvPr id="111622" name="Line 5"/>
          <p:cNvSpPr>
            <a:spLocks noChangeShapeType="1"/>
          </p:cNvSpPr>
          <p:nvPr/>
        </p:nvSpPr>
        <p:spPr bwMode="auto">
          <a:xfrm>
            <a:off x="8087692" y="2357438"/>
            <a:ext cx="296863"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3" name="Line 6"/>
          <p:cNvSpPr>
            <a:spLocks noChangeShapeType="1"/>
          </p:cNvSpPr>
          <p:nvPr/>
        </p:nvSpPr>
        <p:spPr bwMode="auto">
          <a:xfrm>
            <a:off x="8087692" y="3276600"/>
            <a:ext cx="32385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4" name="Line 7"/>
          <p:cNvSpPr>
            <a:spLocks noChangeShapeType="1"/>
          </p:cNvSpPr>
          <p:nvPr/>
        </p:nvSpPr>
        <p:spPr bwMode="auto">
          <a:xfrm flipH="1">
            <a:off x="8087692" y="2844800"/>
            <a:ext cx="269875" cy="217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5" name="Line 8"/>
          <p:cNvSpPr>
            <a:spLocks noChangeShapeType="1"/>
          </p:cNvSpPr>
          <p:nvPr/>
        </p:nvSpPr>
        <p:spPr bwMode="auto">
          <a:xfrm flipH="1">
            <a:off x="8087692" y="3763963"/>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26" name="Line 9"/>
          <p:cNvSpPr>
            <a:spLocks noChangeShapeType="1"/>
          </p:cNvSpPr>
          <p:nvPr/>
        </p:nvSpPr>
        <p:spPr bwMode="auto">
          <a:xfrm>
            <a:off x="7817817" y="1817688"/>
            <a:ext cx="0" cy="269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59146" name="AutoShape 10"/>
          <p:cNvSpPr>
            <a:spLocks noChangeArrowheads="1"/>
          </p:cNvSpPr>
          <p:nvPr/>
        </p:nvSpPr>
        <p:spPr bwMode="auto">
          <a:xfrm>
            <a:off x="7547942" y="2087563"/>
            <a:ext cx="539750" cy="433387"/>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B</a:t>
            </a:r>
          </a:p>
        </p:txBody>
      </p:sp>
      <p:sp>
        <p:nvSpPr>
          <p:cNvPr id="859147" name="AutoShape 11"/>
          <p:cNvSpPr>
            <a:spLocks noChangeArrowheads="1"/>
          </p:cNvSpPr>
          <p:nvPr/>
        </p:nvSpPr>
        <p:spPr bwMode="auto">
          <a:xfrm>
            <a:off x="7547942" y="295275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D</a:t>
            </a:r>
          </a:p>
        </p:txBody>
      </p:sp>
      <p:sp>
        <p:nvSpPr>
          <p:cNvPr id="859148" name="AutoShape 12"/>
          <p:cNvSpPr>
            <a:spLocks noChangeArrowheads="1"/>
          </p:cNvSpPr>
          <p:nvPr/>
        </p:nvSpPr>
        <p:spPr bwMode="auto">
          <a:xfrm>
            <a:off x="7547942" y="381635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F</a:t>
            </a:r>
          </a:p>
        </p:txBody>
      </p:sp>
      <p:sp>
        <p:nvSpPr>
          <p:cNvPr id="859149" name="AutoShape 13"/>
          <p:cNvSpPr>
            <a:spLocks noChangeArrowheads="1"/>
          </p:cNvSpPr>
          <p:nvPr/>
        </p:nvSpPr>
        <p:spPr bwMode="auto">
          <a:xfrm>
            <a:off x="8357567" y="3440113"/>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E</a:t>
            </a:r>
          </a:p>
        </p:txBody>
      </p:sp>
      <p:sp>
        <p:nvSpPr>
          <p:cNvPr id="859150" name="AutoShape 14"/>
          <p:cNvSpPr>
            <a:spLocks noChangeArrowheads="1"/>
          </p:cNvSpPr>
          <p:nvPr/>
        </p:nvSpPr>
        <p:spPr bwMode="auto">
          <a:xfrm>
            <a:off x="8303592" y="2520950"/>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C</a:t>
            </a:r>
          </a:p>
        </p:txBody>
      </p:sp>
      <p:sp>
        <p:nvSpPr>
          <p:cNvPr id="111632" name="Line 15"/>
          <p:cNvSpPr>
            <a:spLocks noChangeShapeType="1"/>
          </p:cNvSpPr>
          <p:nvPr/>
        </p:nvSpPr>
        <p:spPr bwMode="auto">
          <a:xfrm>
            <a:off x="7817817" y="25209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633" name="Line 16"/>
          <p:cNvSpPr>
            <a:spLocks noChangeShapeType="1"/>
          </p:cNvSpPr>
          <p:nvPr/>
        </p:nvSpPr>
        <p:spPr bwMode="auto">
          <a:xfrm>
            <a:off x="7817817" y="338613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634" name="Line 17"/>
          <p:cNvSpPr>
            <a:spLocks noChangeShapeType="1"/>
          </p:cNvSpPr>
          <p:nvPr/>
        </p:nvSpPr>
        <p:spPr bwMode="auto">
          <a:xfrm>
            <a:off x="7492380" y="1222375"/>
            <a:ext cx="0" cy="3244850"/>
          </a:xfrm>
          <a:prstGeom prst="line">
            <a:avLst/>
          </a:prstGeom>
          <a:noFill/>
          <a:ln w="38100" cap="rnd">
            <a:solidFill>
              <a:srgbClr val="339966"/>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35" name="Oval 18"/>
          <p:cNvSpPr>
            <a:spLocks noChangeArrowheads="1"/>
          </p:cNvSpPr>
          <p:nvPr/>
        </p:nvSpPr>
        <p:spPr bwMode="auto">
          <a:xfrm>
            <a:off x="8032130" y="4519613"/>
            <a:ext cx="271462" cy="271462"/>
          </a:xfrm>
          <a:prstGeom prst="ellipse">
            <a:avLst/>
          </a:prstGeom>
          <a:noFill/>
          <a:ln w="28575" cap="rnd"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FF0000"/>
                </a:solidFill>
                <a:latin typeface="Times New Roman" pitchFamily="18" charset="0"/>
                <a:ea typeface="微软雅黑" pitchFamily="34" charset="-122"/>
              </a:rPr>
              <a:t>1</a:t>
            </a:r>
          </a:p>
        </p:txBody>
      </p:sp>
      <p:sp>
        <p:nvSpPr>
          <p:cNvPr id="111636" name="Oval 19"/>
          <p:cNvSpPr>
            <a:spLocks noChangeArrowheads="1"/>
          </p:cNvSpPr>
          <p:nvPr/>
        </p:nvSpPr>
        <p:spPr bwMode="auto">
          <a:xfrm>
            <a:off x="7222505" y="4519613"/>
            <a:ext cx="269875" cy="271462"/>
          </a:xfrm>
          <a:prstGeom prst="ellipse">
            <a:avLst/>
          </a:prstGeom>
          <a:noFill/>
          <a:ln w="28575" cap="rnd" algn="ctr">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008000"/>
                </a:solidFill>
                <a:latin typeface="Times New Roman" pitchFamily="18" charset="0"/>
                <a:ea typeface="微软雅黑" pitchFamily="34" charset="-122"/>
              </a:rPr>
              <a:t>4</a:t>
            </a:r>
          </a:p>
        </p:txBody>
      </p:sp>
      <p:sp>
        <p:nvSpPr>
          <p:cNvPr id="111637" name="Freeform 20"/>
          <p:cNvSpPr>
            <a:spLocks/>
          </p:cNvSpPr>
          <p:nvPr/>
        </p:nvSpPr>
        <p:spPr bwMode="auto">
          <a:xfrm>
            <a:off x="7816230" y="1222375"/>
            <a:ext cx="728662" cy="3244850"/>
          </a:xfrm>
          <a:custGeom>
            <a:avLst/>
            <a:gdLst>
              <a:gd name="T0" fmla="*/ 2147483647 w 611"/>
              <a:gd name="T1" fmla="*/ 0 h 2722"/>
              <a:gd name="T2" fmla="*/ 2147483647 w 611"/>
              <a:gd name="T3" fmla="*/ 2147483647 h 2722"/>
              <a:gd name="T4" fmla="*/ 2147483647 w 611"/>
              <a:gd name="T5" fmla="*/ 2147483647 h 2722"/>
              <a:gd name="T6" fmla="*/ 2147483647 w 611"/>
              <a:gd name="T7" fmla="*/ 2147483647 h 2722"/>
              <a:gd name="T8" fmla="*/ 2147483647 w 611"/>
              <a:gd name="T9" fmla="*/ 2147483647 h 2722"/>
              <a:gd name="T10" fmla="*/ 2147483647 w 611"/>
              <a:gd name="T11" fmla="*/ 2147483647 h 2722"/>
              <a:gd name="T12" fmla="*/ 2147483647 w 611"/>
              <a:gd name="T13" fmla="*/ 2147483647 h 2722"/>
              <a:gd name="T14" fmla="*/ 2147483647 w 611"/>
              <a:gd name="T15" fmla="*/ 2147483647 h 272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1" h="2722">
                <a:moveTo>
                  <a:pt x="83" y="0"/>
                </a:moveTo>
                <a:cubicBezTo>
                  <a:pt x="75" y="620"/>
                  <a:pt x="68" y="1241"/>
                  <a:pt x="83" y="1543"/>
                </a:cubicBezTo>
                <a:cubicBezTo>
                  <a:pt x="98" y="1845"/>
                  <a:pt x="98" y="1740"/>
                  <a:pt x="173" y="1815"/>
                </a:cubicBezTo>
                <a:cubicBezTo>
                  <a:pt x="248" y="1890"/>
                  <a:pt x="476" y="1951"/>
                  <a:pt x="536" y="1996"/>
                </a:cubicBezTo>
                <a:cubicBezTo>
                  <a:pt x="596" y="2041"/>
                  <a:pt x="611" y="2027"/>
                  <a:pt x="536" y="2087"/>
                </a:cubicBezTo>
                <a:cubicBezTo>
                  <a:pt x="461" y="2147"/>
                  <a:pt x="166" y="2299"/>
                  <a:pt x="83" y="2359"/>
                </a:cubicBezTo>
                <a:cubicBezTo>
                  <a:pt x="0" y="2419"/>
                  <a:pt x="45" y="2390"/>
                  <a:pt x="37" y="2450"/>
                </a:cubicBezTo>
                <a:cubicBezTo>
                  <a:pt x="29" y="2510"/>
                  <a:pt x="33" y="2616"/>
                  <a:pt x="37" y="2722"/>
                </a:cubicBezTo>
              </a:path>
            </a:pathLst>
          </a:custGeom>
          <a:noFill/>
          <a:ln w="38100" cap="rnd" cmpd="sng">
            <a:solidFill>
              <a:srgbClr val="3366FF"/>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38" name="Freeform 22"/>
          <p:cNvSpPr>
            <a:spLocks/>
          </p:cNvSpPr>
          <p:nvPr/>
        </p:nvSpPr>
        <p:spPr bwMode="auto">
          <a:xfrm>
            <a:off x="7943230" y="1220788"/>
            <a:ext cx="792162" cy="3190875"/>
          </a:xfrm>
          <a:custGeom>
            <a:avLst/>
            <a:gdLst>
              <a:gd name="T0" fmla="*/ 2147483647 w 665"/>
              <a:gd name="T1" fmla="*/ 0 h 2677"/>
              <a:gd name="T2" fmla="*/ 2147483647 w 665"/>
              <a:gd name="T3" fmla="*/ 2147483647 h 2677"/>
              <a:gd name="T4" fmla="*/ 2147483647 w 665"/>
              <a:gd name="T5" fmla="*/ 2147483647 h 2677"/>
              <a:gd name="T6" fmla="*/ 2147483647 w 665"/>
              <a:gd name="T7" fmla="*/ 2147483647 h 2677"/>
              <a:gd name="T8" fmla="*/ 2147483647 w 665"/>
              <a:gd name="T9" fmla="*/ 2147483647 h 2677"/>
              <a:gd name="T10" fmla="*/ 2147483647 w 665"/>
              <a:gd name="T11" fmla="*/ 2147483647 h 2677"/>
              <a:gd name="T12" fmla="*/ 2147483647 w 665"/>
              <a:gd name="T13" fmla="*/ 2147483647 h 2677"/>
              <a:gd name="T14" fmla="*/ 2147483647 w 665"/>
              <a:gd name="T15" fmla="*/ 2147483647 h 2677"/>
              <a:gd name="T16" fmla="*/ 2147483647 w 665"/>
              <a:gd name="T17" fmla="*/ 2147483647 h 2677"/>
              <a:gd name="T18" fmla="*/ 2147483647 w 665"/>
              <a:gd name="T19" fmla="*/ 2147483647 h 2677"/>
              <a:gd name="T20" fmla="*/ 2147483647 w 665"/>
              <a:gd name="T21" fmla="*/ 2147483647 h 2677"/>
              <a:gd name="T22" fmla="*/ 2147483647 w 665"/>
              <a:gd name="T23" fmla="*/ 2147483647 h 26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65" h="2677">
                <a:moveTo>
                  <a:pt x="128" y="0"/>
                </a:moveTo>
                <a:cubicBezTo>
                  <a:pt x="116" y="321"/>
                  <a:pt x="105" y="643"/>
                  <a:pt x="128" y="817"/>
                </a:cubicBezTo>
                <a:cubicBezTo>
                  <a:pt x="151" y="991"/>
                  <a:pt x="196" y="969"/>
                  <a:pt x="264" y="1044"/>
                </a:cubicBezTo>
                <a:cubicBezTo>
                  <a:pt x="332" y="1119"/>
                  <a:pt x="491" y="1210"/>
                  <a:pt x="536" y="1270"/>
                </a:cubicBezTo>
                <a:cubicBezTo>
                  <a:pt x="581" y="1330"/>
                  <a:pt x="611" y="1339"/>
                  <a:pt x="536" y="1407"/>
                </a:cubicBezTo>
                <a:cubicBezTo>
                  <a:pt x="461" y="1475"/>
                  <a:pt x="159" y="1619"/>
                  <a:pt x="83" y="1679"/>
                </a:cubicBezTo>
                <a:cubicBezTo>
                  <a:pt x="7" y="1739"/>
                  <a:pt x="0" y="1709"/>
                  <a:pt x="83" y="1769"/>
                </a:cubicBezTo>
                <a:cubicBezTo>
                  <a:pt x="166" y="1829"/>
                  <a:pt x="499" y="1982"/>
                  <a:pt x="582" y="2042"/>
                </a:cubicBezTo>
                <a:cubicBezTo>
                  <a:pt x="665" y="2102"/>
                  <a:pt x="665" y="2079"/>
                  <a:pt x="582" y="2132"/>
                </a:cubicBezTo>
                <a:cubicBezTo>
                  <a:pt x="499" y="2185"/>
                  <a:pt x="166" y="2291"/>
                  <a:pt x="83" y="2359"/>
                </a:cubicBezTo>
                <a:cubicBezTo>
                  <a:pt x="0" y="2427"/>
                  <a:pt x="83" y="2488"/>
                  <a:pt x="83" y="2541"/>
                </a:cubicBezTo>
                <a:cubicBezTo>
                  <a:pt x="83" y="2594"/>
                  <a:pt x="83" y="2635"/>
                  <a:pt x="83" y="2677"/>
                </a:cubicBezTo>
              </a:path>
            </a:pathLst>
          </a:custGeom>
          <a:noFill/>
          <a:ln w="38100" cap="rnd" cmpd="sng">
            <a:solidFill>
              <a:srgbClr val="FF0000"/>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39" name="Oval 23"/>
          <p:cNvSpPr>
            <a:spLocks noChangeArrowheads="1"/>
          </p:cNvSpPr>
          <p:nvPr/>
        </p:nvSpPr>
        <p:spPr bwMode="auto">
          <a:xfrm>
            <a:off x="7763842" y="4519613"/>
            <a:ext cx="269875" cy="271462"/>
          </a:xfrm>
          <a:prstGeom prst="ellipse">
            <a:avLst/>
          </a:prstGeom>
          <a:noFill/>
          <a:ln w="28575" cap="rnd" algn="ctr">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3333FF"/>
                </a:solidFill>
                <a:latin typeface="Times New Roman" pitchFamily="18" charset="0"/>
                <a:ea typeface="微软雅黑" pitchFamily="34" charset="-122"/>
              </a:rPr>
              <a:t>2</a:t>
            </a:r>
          </a:p>
        </p:txBody>
      </p:sp>
      <p:sp>
        <p:nvSpPr>
          <p:cNvPr id="111640" name="Freeform 24"/>
          <p:cNvSpPr>
            <a:spLocks/>
          </p:cNvSpPr>
          <p:nvPr/>
        </p:nvSpPr>
        <p:spPr bwMode="auto">
          <a:xfrm>
            <a:off x="7628905" y="1222375"/>
            <a:ext cx="728662" cy="3244850"/>
          </a:xfrm>
          <a:custGeom>
            <a:avLst/>
            <a:gdLst>
              <a:gd name="T0" fmla="*/ 2147483647 w 611"/>
              <a:gd name="T1" fmla="*/ 0 h 2722"/>
              <a:gd name="T2" fmla="*/ 2147483647 w 611"/>
              <a:gd name="T3" fmla="*/ 2147483647 h 2722"/>
              <a:gd name="T4" fmla="*/ 2147483647 w 611"/>
              <a:gd name="T5" fmla="*/ 2147483647 h 2722"/>
              <a:gd name="T6" fmla="*/ 2147483647 w 611"/>
              <a:gd name="T7" fmla="*/ 2147483647 h 2722"/>
              <a:gd name="T8" fmla="*/ 2147483647 w 611"/>
              <a:gd name="T9" fmla="*/ 2147483647 h 2722"/>
              <a:gd name="T10" fmla="*/ 2147483647 w 611"/>
              <a:gd name="T11" fmla="*/ 2147483647 h 2722"/>
              <a:gd name="T12" fmla="*/ 2147483647 w 611"/>
              <a:gd name="T13" fmla="*/ 2147483647 h 2722"/>
              <a:gd name="T14" fmla="*/ 2147483647 w 611"/>
              <a:gd name="T15" fmla="*/ 2147483647 h 272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1" h="2722">
                <a:moveTo>
                  <a:pt x="83" y="0"/>
                </a:moveTo>
                <a:cubicBezTo>
                  <a:pt x="75" y="620"/>
                  <a:pt x="68" y="1241"/>
                  <a:pt x="83" y="1543"/>
                </a:cubicBezTo>
                <a:cubicBezTo>
                  <a:pt x="98" y="1845"/>
                  <a:pt x="98" y="1740"/>
                  <a:pt x="173" y="1815"/>
                </a:cubicBezTo>
                <a:cubicBezTo>
                  <a:pt x="248" y="1890"/>
                  <a:pt x="476" y="1951"/>
                  <a:pt x="536" y="1996"/>
                </a:cubicBezTo>
                <a:cubicBezTo>
                  <a:pt x="596" y="2041"/>
                  <a:pt x="611" y="2027"/>
                  <a:pt x="536" y="2087"/>
                </a:cubicBezTo>
                <a:cubicBezTo>
                  <a:pt x="461" y="2147"/>
                  <a:pt x="166" y="2299"/>
                  <a:pt x="83" y="2359"/>
                </a:cubicBezTo>
                <a:cubicBezTo>
                  <a:pt x="0" y="2419"/>
                  <a:pt x="45" y="2390"/>
                  <a:pt x="37" y="2450"/>
                </a:cubicBezTo>
                <a:cubicBezTo>
                  <a:pt x="29" y="2510"/>
                  <a:pt x="33" y="2616"/>
                  <a:pt x="37" y="2722"/>
                </a:cubicBezTo>
              </a:path>
            </a:pathLst>
          </a:custGeom>
          <a:noFill/>
          <a:ln w="38100" cap="rnd" cmpd="sng">
            <a:solidFill>
              <a:srgbClr val="800080"/>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41" name="Oval 25"/>
          <p:cNvSpPr>
            <a:spLocks noChangeArrowheads="1"/>
          </p:cNvSpPr>
          <p:nvPr/>
        </p:nvSpPr>
        <p:spPr bwMode="auto">
          <a:xfrm>
            <a:off x="7492380" y="4519613"/>
            <a:ext cx="271462" cy="271462"/>
          </a:xfrm>
          <a:prstGeom prst="ellipse">
            <a:avLst/>
          </a:prstGeom>
          <a:noFill/>
          <a:ln w="28575" cap="rnd" algn="ctr">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993300"/>
                </a:solidFill>
                <a:latin typeface="Times New Roman" pitchFamily="18" charset="0"/>
                <a:ea typeface="微软雅黑" pitchFamily="34" charset="-122"/>
              </a:rPr>
              <a:t>3</a:t>
            </a:r>
          </a:p>
        </p:txBody>
      </p:sp>
      <p:sp>
        <p:nvSpPr>
          <p:cNvPr id="28" name="Rectangle 3">
            <a:extLst>
              <a:ext uri="{FF2B5EF4-FFF2-40B4-BE49-F238E27FC236}">
                <a16:creationId xmlns:a16="http://schemas.microsoft.com/office/drawing/2014/main" id="{6755CAD8-26A2-4D0A-A5FF-92D7D1C73D4B}"/>
              </a:ext>
            </a:extLst>
          </p:cNvPr>
          <p:cNvSpPr txBox="1">
            <a:spLocks noChangeArrowheads="1"/>
          </p:cNvSpPr>
          <p:nvPr/>
        </p:nvSpPr>
        <p:spPr bwMode="auto">
          <a:xfrm>
            <a:off x="464517" y="1304131"/>
            <a:ext cx="6054725"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80000"/>
              </a:lnSpc>
              <a:buFont typeface="Wingdings" pitchFamily="2" charset="2"/>
              <a:buAutoNum type="arabicPeriod"/>
            </a:pPr>
            <a:r>
              <a:rPr lang="en-US" altLang="zh-CN" sz="1500" dirty="0">
                <a:latin typeface="Times New Roman" pitchFamily="18" charset="0"/>
              </a:rPr>
              <a:t>void  </a:t>
            </a:r>
            <a:r>
              <a:rPr lang="en-US" altLang="zh-CN" sz="1500" dirty="0" err="1">
                <a:latin typeface="Times New Roman" pitchFamily="18" charset="0"/>
              </a:rPr>
              <a:t>DoWork</a:t>
            </a:r>
            <a:r>
              <a:rPr lang="en-US" altLang="zh-CN" sz="1500" dirty="0">
                <a:latin typeface="Times New Roman" pitchFamily="18" charset="0"/>
              </a:rPr>
              <a:t>(int </a:t>
            </a:r>
            <a:r>
              <a:rPr lang="en-US" altLang="zh-CN" sz="1500" dirty="0" err="1">
                <a:latin typeface="Times New Roman" pitchFamily="18" charset="0"/>
              </a:rPr>
              <a:t>x,int</a:t>
            </a:r>
            <a:r>
              <a:rPr lang="en-US" altLang="zh-CN" sz="1500" dirty="0">
                <a:latin typeface="Times New Roman" pitchFamily="18" charset="0"/>
              </a:rPr>
              <a:t> </a:t>
            </a:r>
            <a:r>
              <a:rPr lang="en-US" altLang="zh-CN" sz="1500" dirty="0" err="1">
                <a:latin typeface="Times New Roman" pitchFamily="18" charset="0"/>
              </a:rPr>
              <a:t>y,int</a:t>
            </a:r>
            <a:r>
              <a:rPr lang="en-US" altLang="zh-CN" sz="1500" dirty="0">
                <a:latin typeface="Times New Roman" pitchFamily="18" charset="0"/>
              </a:rPr>
              <a:t> z)</a:t>
            </a:r>
          </a:p>
          <a:p>
            <a:pPr marL="285750" indent="-285750">
              <a:lnSpc>
                <a:spcPct val="80000"/>
              </a:lnSpc>
              <a:buFont typeface="Wingdings" pitchFamily="2" charset="2"/>
              <a:buAutoNum type="arabicPeriod"/>
            </a:pPr>
            <a:r>
              <a:rPr lang="en-US" altLang="zh-CN" sz="1500" dirty="0">
                <a:latin typeface="Times New Roman" pitchFamily="18" charset="0"/>
              </a:rPr>
              <a:t>{</a:t>
            </a:r>
          </a:p>
          <a:p>
            <a:pPr marL="285750" indent="-285750">
              <a:lnSpc>
                <a:spcPct val="80000"/>
              </a:lnSpc>
              <a:buFont typeface="Wingdings" pitchFamily="2" charset="2"/>
              <a:buAutoNum type="arabicPeriod"/>
            </a:pPr>
            <a:r>
              <a:rPr lang="en-US" altLang="zh-CN" sz="1500" dirty="0">
                <a:latin typeface="Times New Roman" pitchFamily="18" charset="0"/>
              </a:rPr>
              <a:t>   int  k=0,j=0;</a:t>
            </a:r>
          </a:p>
          <a:p>
            <a:pPr marL="285750" indent="-285750">
              <a:lnSpc>
                <a:spcPct val="80000"/>
              </a:lnSpc>
              <a:buFont typeface="Wingdings" pitchFamily="2" charset="2"/>
              <a:buAutoNum type="arabicPeriod"/>
            </a:pPr>
            <a:r>
              <a:rPr lang="en-US" altLang="zh-CN" sz="1500" dirty="0">
                <a:latin typeface="Times New Roman" pitchFamily="18" charset="0"/>
              </a:rPr>
              <a:t>   if((x&gt;3)&amp;&amp;(z&lt;10))</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k=x*y-1; </a:t>
            </a:r>
          </a:p>
          <a:p>
            <a:pPr marL="285750" indent="-285750">
              <a:lnSpc>
                <a:spcPct val="80000"/>
              </a:lnSpc>
              <a:buFont typeface="Wingdings" pitchFamily="2" charset="2"/>
              <a:buAutoNum type="arabicPeriod"/>
            </a:pPr>
            <a:r>
              <a:rPr lang="en-US" altLang="zh-CN" sz="1500" dirty="0">
                <a:latin typeface="Times New Roman" pitchFamily="18" charset="0"/>
              </a:rPr>
              <a:t>       j=sqrt(k);</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if((x= =4)||(y&gt;5))</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j=x*y+10;  </a:t>
            </a:r>
          </a:p>
          <a:p>
            <a:pPr marL="285750" indent="-285750">
              <a:lnSpc>
                <a:spcPct val="80000"/>
              </a:lnSpc>
              <a:buFont typeface="Wingdings" pitchFamily="2" charset="2"/>
              <a:buAutoNum type="arabicPeriod"/>
            </a:pPr>
            <a:r>
              <a:rPr lang="en-US" altLang="zh-CN" sz="1500" dirty="0">
                <a:latin typeface="Times New Roman" pitchFamily="18" charset="0"/>
              </a:rPr>
              <a:t>  }</a:t>
            </a:r>
          </a:p>
          <a:p>
            <a:pPr marL="285750" indent="-285750">
              <a:lnSpc>
                <a:spcPct val="80000"/>
              </a:lnSpc>
              <a:buFont typeface="Wingdings" pitchFamily="2" charset="2"/>
              <a:buAutoNum type="arabicPeriod"/>
            </a:pPr>
            <a:r>
              <a:rPr lang="en-US" altLang="zh-CN" sz="1500" dirty="0">
                <a:latin typeface="Times New Roman" pitchFamily="18" charset="0"/>
              </a:rPr>
              <a:t>  j=j%3; </a:t>
            </a:r>
          </a:p>
          <a:p>
            <a:pPr marL="285750" indent="-285750">
              <a:lnSpc>
                <a:spcPct val="80000"/>
              </a:lnSpc>
              <a:buFont typeface="Wingdings" pitchFamily="2" charset="2"/>
              <a:buAutoNum type="arabicPeriod"/>
            </a:pPr>
            <a:r>
              <a:rPr lang="en-US" altLang="zh-CN" sz="1500" dirty="0">
                <a:latin typeface="Times New Roman" pitchFamily="18" charset="0"/>
              </a:rPr>
              <a:t>}</a:t>
            </a:r>
          </a:p>
        </p:txBody>
      </p:sp>
    </p:spTree>
    <p:extLst>
      <p:ext uri="{BB962C8B-B14F-4D97-AF65-F5344CB8AC3E}">
        <p14:creationId xmlns:p14="http://schemas.microsoft.com/office/powerpoint/2010/main" val="30685472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75DF8C85-4751-4F70-A9D4-5D6111A549A1}" type="slidenum">
              <a:rPr lang="en-US" altLang="zh-CN" sz="1800" b="0" smtClean="0">
                <a:latin typeface="Times New Roman" pitchFamily="18" charset="0"/>
                <a:ea typeface="微软雅黑" pitchFamily="34" charset="-122"/>
              </a:rPr>
              <a:pPr algn="l" eaLnBrk="0" hangingPunct="0">
                <a:spcBef>
                  <a:spcPct val="0"/>
                </a:spcBef>
                <a:buFontTx/>
                <a:buNone/>
              </a:pPr>
              <a:t>68</a:t>
            </a:fld>
            <a:endParaRPr lang="en-US" altLang="zh-CN" sz="1800" b="0">
              <a:latin typeface="Times New Roman" pitchFamily="18" charset="0"/>
              <a:ea typeface="微软雅黑" pitchFamily="34" charset="-122"/>
            </a:endParaRPr>
          </a:p>
        </p:txBody>
      </p:sp>
      <p:sp>
        <p:nvSpPr>
          <p:cNvPr id="112643"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基本路径覆盖</a:t>
            </a:r>
          </a:p>
        </p:txBody>
      </p:sp>
      <p:sp>
        <p:nvSpPr>
          <p:cNvPr id="112644" name="Rectangle 3"/>
          <p:cNvSpPr>
            <a:spLocks noGrp="1" noChangeArrowheads="1"/>
          </p:cNvSpPr>
          <p:nvPr>
            <p:ph type="body" idx="1"/>
          </p:nvPr>
        </p:nvSpPr>
        <p:spPr>
          <a:xfrm>
            <a:off x="468313" y="990600"/>
            <a:ext cx="8229600" cy="3397250"/>
          </a:xfrm>
        </p:spPr>
        <p:txBody>
          <a:bodyPr/>
          <a:lstStyle/>
          <a:p>
            <a:r>
              <a:rPr lang="zh-CN" altLang="en-US"/>
              <a:t>圈复杂度</a:t>
            </a:r>
            <a:r>
              <a:rPr lang="en-US" altLang="zh-CN"/>
              <a:t>C=e-n+2</a:t>
            </a:r>
          </a:p>
          <a:p>
            <a:r>
              <a:rPr lang="zh-CN" altLang="en-US"/>
              <a:t>基本路径覆盖要求测试</a:t>
            </a:r>
            <a:r>
              <a:rPr lang="en-US" altLang="zh-CN"/>
              <a:t>C</a:t>
            </a:r>
            <a:r>
              <a:rPr lang="zh-CN" altLang="en-US"/>
              <a:t>条不同的入口－出口路径</a:t>
            </a:r>
          </a:p>
          <a:p>
            <a:r>
              <a:rPr lang="zh-CN" altLang="en-US"/>
              <a:t>在某些程序中，分支覆盖可在少于</a:t>
            </a:r>
            <a:r>
              <a:rPr lang="en-US" altLang="zh-CN"/>
              <a:t>C</a:t>
            </a:r>
            <a:r>
              <a:rPr lang="zh-CN" altLang="en-US"/>
              <a:t>条路径的情况下获得</a:t>
            </a:r>
          </a:p>
          <a:p>
            <a:r>
              <a:rPr lang="zh-CN" altLang="en-US"/>
              <a:t>基本路径覆盖可能既没有获得语句覆盖也没有获得分支覆盖。</a:t>
            </a:r>
          </a:p>
        </p:txBody>
      </p:sp>
    </p:spTree>
    <p:extLst>
      <p:ext uri="{BB962C8B-B14F-4D97-AF65-F5344CB8AC3E}">
        <p14:creationId xmlns:p14="http://schemas.microsoft.com/office/powerpoint/2010/main" val="35501503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A97D1D50-B94F-4216-9AAC-87FC1384DAAE}" type="slidenum">
              <a:rPr lang="en-US" altLang="zh-CN" sz="1800" b="0" smtClean="0">
                <a:latin typeface="Times New Roman" pitchFamily="18" charset="0"/>
                <a:ea typeface="微软雅黑" pitchFamily="34" charset="-122"/>
              </a:rPr>
              <a:pPr algn="l" eaLnBrk="0" hangingPunct="0">
                <a:spcBef>
                  <a:spcPct val="0"/>
                </a:spcBef>
                <a:buFontTx/>
                <a:buNone/>
              </a:pPr>
              <a:t>69</a:t>
            </a:fld>
            <a:endParaRPr lang="en-US" altLang="zh-CN" sz="1800" b="0">
              <a:latin typeface="Times New Roman" pitchFamily="18" charset="0"/>
              <a:ea typeface="微软雅黑" pitchFamily="34" charset="-122"/>
            </a:endParaRPr>
          </a:p>
        </p:txBody>
      </p:sp>
      <p:sp>
        <p:nvSpPr>
          <p:cNvPr id="113667"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基本路径覆盖实例</a:t>
            </a:r>
          </a:p>
        </p:txBody>
      </p:sp>
      <p:sp>
        <p:nvSpPr>
          <p:cNvPr id="860163" name="Rectangle 3"/>
          <p:cNvSpPr>
            <a:spLocks noGrp="1" noChangeArrowheads="1"/>
          </p:cNvSpPr>
          <p:nvPr>
            <p:ph type="body" idx="1"/>
          </p:nvPr>
        </p:nvSpPr>
        <p:spPr>
          <a:xfrm>
            <a:off x="1598613" y="1168400"/>
            <a:ext cx="3027362" cy="3460750"/>
          </a:xfrm>
        </p:spPr>
        <p:txBody>
          <a:bodyPr/>
          <a:lstStyle/>
          <a:p>
            <a:pPr>
              <a:lnSpc>
                <a:spcPct val="90000"/>
              </a:lnSpc>
              <a:spcBef>
                <a:spcPct val="50000"/>
              </a:spcBef>
              <a:defRPr/>
            </a:pPr>
            <a:r>
              <a:rPr lang="zh-CN" altLang="en-US" sz="1802"/>
              <a:t>圈复杂度</a:t>
            </a:r>
          </a:p>
          <a:p>
            <a:pPr lvl="1">
              <a:lnSpc>
                <a:spcPct val="90000"/>
              </a:lnSpc>
              <a:spcBef>
                <a:spcPct val="50000"/>
              </a:spcBef>
              <a:defRPr/>
            </a:pPr>
            <a:r>
              <a:rPr lang="en-US" altLang="zh-CN" sz="1802"/>
              <a:t>C=7-6+2=3</a:t>
            </a:r>
          </a:p>
          <a:p>
            <a:pPr>
              <a:lnSpc>
                <a:spcPct val="90000"/>
              </a:lnSpc>
              <a:spcBef>
                <a:spcPct val="50000"/>
              </a:spcBef>
              <a:defRPr/>
            </a:pPr>
            <a:r>
              <a:rPr lang="zh-CN" altLang="en-US" sz="1802"/>
              <a:t>用例</a:t>
            </a:r>
          </a:p>
          <a:p>
            <a:pPr lvl="1">
              <a:lnSpc>
                <a:spcPct val="90000"/>
              </a:lnSpc>
              <a:spcBef>
                <a:spcPct val="50000"/>
              </a:spcBef>
              <a:defRPr/>
            </a:pPr>
            <a:r>
              <a:rPr lang="en-US" altLang="zh-CN" sz="1501"/>
              <a:t>{ x=4</a:t>
            </a:r>
            <a:r>
              <a:rPr lang="zh-CN" altLang="en-US" sz="1501"/>
              <a:t>、</a:t>
            </a:r>
            <a:r>
              <a:rPr lang="en-US" altLang="zh-CN" sz="1501"/>
              <a:t>y=6</a:t>
            </a:r>
            <a:r>
              <a:rPr lang="zh-CN" altLang="en-US" sz="1501"/>
              <a:t>、</a:t>
            </a:r>
            <a:r>
              <a:rPr lang="en-US" altLang="zh-CN" sz="1501"/>
              <a:t>z=5}</a:t>
            </a:r>
          </a:p>
          <a:p>
            <a:pPr lvl="1">
              <a:lnSpc>
                <a:spcPct val="90000"/>
              </a:lnSpc>
              <a:spcBef>
                <a:spcPct val="50000"/>
              </a:spcBef>
              <a:defRPr/>
            </a:pPr>
            <a:r>
              <a:rPr lang="en-US" altLang="zh-CN" sz="1501"/>
              <a:t>{ x=4</a:t>
            </a:r>
            <a:r>
              <a:rPr lang="zh-CN" altLang="en-US" sz="1501"/>
              <a:t>、</a:t>
            </a:r>
            <a:r>
              <a:rPr lang="en-US" altLang="zh-CN" sz="1501"/>
              <a:t>y=5</a:t>
            </a:r>
            <a:r>
              <a:rPr lang="zh-CN" altLang="en-US" sz="1501"/>
              <a:t>、</a:t>
            </a:r>
            <a:r>
              <a:rPr lang="en-US" altLang="zh-CN" sz="1501"/>
              <a:t>z=15}</a:t>
            </a:r>
          </a:p>
          <a:p>
            <a:pPr lvl="1">
              <a:lnSpc>
                <a:spcPct val="90000"/>
              </a:lnSpc>
              <a:spcBef>
                <a:spcPct val="50000"/>
              </a:spcBef>
              <a:defRPr/>
            </a:pPr>
            <a:r>
              <a:rPr lang="en-US" altLang="zh-CN" sz="1501"/>
              <a:t>{ x=2</a:t>
            </a:r>
            <a:r>
              <a:rPr lang="zh-CN" altLang="en-US" sz="1501"/>
              <a:t>、</a:t>
            </a:r>
            <a:r>
              <a:rPr lang="en-US" altLang="zh-CN" sz="1501"/>
              <a:t>y=5</a:t>
            </a:r>
            <a:r>
              <a:rPr lang="zh-CN" altLang="en-US" sz="1501"/>
              <a:t>、</a:t>
            </a:r>
            <a:r>
              <a:rPr lang="en-US" altLang="zh-CN" sz="1501"/>
              <a:t>z=15}</a:t>
            </a:r>
          </a:p>
          <a:p>
            <a:pPr>
              <a:lnSpc>
                <a:spcPct val="90000"/>
              </a:lnSpc>
              <a:spcBef>
                <a:spcPct val="50000"/>
              </a:spcBef>
              <a:defRPr/>
            </a:pPr>
            <a:r>
              <a:rPr lang="zh-CN" altLang="en-US" sz="1802"/>
              <a:t>执行路径</a:t>
            </a:r>
          </a:p>
          <a:p>
            <a:pPr lvl="1">
              <a:lnSpc>
                <a:spcPct val="90000"/>
              </a:lnSpc>
              <a:spcBef>
                <a:spcPct val="50000"/>
              </a:spcBef>
              <a:defRPr/>
            </a:pPr>
            <a:r>
              <a:rPr lang="en-US" altLang="zh-CN" sz="1501"/>
              <a:t>ABCDEF</a:t>
            </a:r>
          </a:p>
          <a:p>
            <a:pPr lvl="1">
              <a:lnSpc>
                <a:spcPct val="90000"/>
              </a:lnSpc>
              <a:spcBef>
                <a:spcPct val="50000"/>
              </a:spcBef>
              <a:defRPr/>
            </a:pPr>
            <a:r>
              <a:rPr lang="en-US" altLang="zh-CN" sz="1501"/>
              <a:t>ABDEF</a:t>
            </a:r>
          </a:p>
          <a:p>
            <a:pPr lvl="1">
              <a:lnSpc>
                <a:spcPct val="90000"/>
              </a:lnSpc>
              <a:spcBef>
                <a:spcPct val="50000"/>
              </a:spcBef>
              <a:defRPr/>
            </a:pPr>
            <a:r>
              <a:rPr lang="en-US" altLang="zh-CN" sz="1501"/>
              <a:t>ABDF</a:t>
            </a:r>
          </a:p>
        </p:txBody>
      </p:sp>
      <p:sp>
        <p:nvSpPr>
          <p:cNvPr id="860164" name="AutoShape 4"/>
          <p:cNvSpPr>
            <a:spLocks noChangeArrowheads="1"/>
          </p:cNvSpPr>
          <p:nvPr/>
        </p:nvSpPr>
        <p:spPr bwMode="auto">
          <a:xfrm>
            <a:off x="5654675" y="138430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A</a:t>
            </a:r>
          </a:p>
        </p:txBody>
      </p:sp>
      <p:sp>
        <p:nvSpPr>
          <p:cNvPr id="113670" name="Line 5"/>
          <p:cNvSpPr>
            <a:spLocks noChangeShapeType="1"/>
          </p:cNvSpPr>
          <p:nvPr/>
        </p:nvSpPr>
        <p:spPr bwMode="auto">
          <a:xfrm>
            <a:off x="6194425" y="2357438"/>
            <a:ext cx="296863"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671" name="Line 6"/>
          <p:cNvSpPr>
            <a:spLocks noChangeShapeType="1"/>
          </p:cNvSpPr>
          <p:nvPr/>
        </p:nvSpPr>
        <p:spPr bwMode="auto">
          <a:xfrm>
            <a:off x="6194425" y="3276600"/>
            <a:ext cx="32385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672" name="Line 7"/>
          <p:cNvSpPr>
            <a:spLocks noChangeShapeType="1"/>
          </p:cNvSpPr>
          <p:nvPr/>
        </p:nvSpPr>
        <p:spPr bwMode="auto">
          <a:xfrm flipH="1">
            <a:off x="6194425" y="2844800"/>
            <a:ext cx="269875" cy="2174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673" name="Line 8"/>
          <p:cNvSpPr>
            <a:spLocks noChangeShapeType="1"/>
          </p:cNvSpPr>
          <p:nvPr/>
        </p:nvSpPr>
        <p:spPr bwMode="auto">
          <a:xfrm flipH="1">
            <a:off x="6194425" y="3763963"/>
            <a:ext cx="269875"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674" name="Line 9"/>
          <p:cNvSpPr>
            <a:spLocks noChangeShapeType="1"/>
          </p:cNvSpPr>
          <p:nvPr/>
        </p:nvSpPr>
        <p:spPr bwMode="auto">
          <a:xfrm>
            <a:off x="5924550" y="1817688"/>
            <a:ext cx="0" cy="269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60170" name="AutoShape 10"/>
          <p:cNvSpPr>
            <a:spLocks noChangeArrowheads="1"/>
          </p:cNvSpPr>
          <p:nvPr/>
        </p:nvSpPr>
        <p:spPr bwMode="auto">
          <a:xfrm>
            <a:off x="5654675" y="2087563"/>
            <a:ext cx="539750" cy="433387"/>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B</a:t>
            </a:r>
          </a:p>
        </p:txBody>
      </p:sp>
      <p:sp>
        <p:nvSpPr>
          <p:cNvPr id="860171" name="AutoShape 11"/>
          <p:cNvSpPr>
            <a:spLocks noChangeArrowheads="1"/>
          </p:cNvSpPr>
          <p:nvPr/>
        </p:nvSpPr>
        <p:spPr bwMode="auto">
          <a:xfrm>
            <a:off x="5654675" y="295275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D</a:t>
            </a:r>
          </a:p>
        </p:txBody>
      </p:sp>
      <p:sp>
        <p:nvSpPr>
          <p:cNvPr id="860172" name="AutoShape 12"/>
          <p:cNvSpPr>
            <a:spLocks noChangeArrowheads="1"/>
          </p:cNvSpPr>
          <p:nvPr/>
        </p:nvSpPr>
        <p:spPr bwMode="auto">
          <a:xfrm>
            <a:off x="5654675" y="3816350"/>
            <a:ext cx="539750" cy="433388"/>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F</a:t>
            </a:r>
          </a:p>
        </p:txBody>
      </p:sp>
      <p:sp>
        <p:nvSpPr>
          <p:cNvPr id="860173" name="AutoShape 13"/>
          <p:cNvSpPr>
            <a:spLocks noChangeArrowheads="1"/>
          </p:cNvSpPr>
          <p:nvPr/>
        </p:nvSpPr>
        <p:spPr bwMode="auto">
          <a:xfrm>
            <a:off x="6464300" y="3440113"/>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E</a:t>
            </a:r>
          </a:p>
        </p:txBody>
      </p:sp>
      <p:sp>
        <p:nvSpPr>
          <p:cNvPr id="860174" name="AutoShape 14"/>
          <p:cNvSpPr>
            <a:spLocks noChangeArrowheads="1"/>
          </p:cNvSpPr>
          <p:nvPr/>
        </p:nvSpPr>
        <p:spPr bwMode="auto">
          <a:xfrm>
            <a:off x="6410325" y="2520950"/>
            <a:ext cx="539750" cy="431800"/>
          </a:xfrm>
          <a:prstGeom prst="flowChartConnector">
            <a:avLst/>
          </a:prstGeom>
          <a:solidFill>
            <a:srgbClr val="FFFFFF"/>
          </a:solidFill>
          <a:ln w="9525">
            <a:solidFill>
              <a:srgbClr val="000000"/>
            </a:solidFill>
            <a:round/>
            <a:headEnd/>
            <a:tailEnd/>
          </a:ln>
        </p:spPr>
        <p:txBody>
          <a:bodyPr tIns="62158"/>
          <a:lstStyle/>
          <a:p>
            <a:pPr algn="ctr">
              <a:defRPr/>
            </a:pPr>
            <a:r>
              <a:rPr lang="en-US" altLang="zh-CN" sz="1351" b="1"/>
              <a:t>C</a:t>
            </a:r>
          </a:p>
        </p:txBody>
      </p:sp>
      <p:sp>
        <p:nvSpPr>
          <p:cNvPr id="113680" name="Line 15"/>
          <p:cNvSpPr>
            <a:spLocks noChangeShapeType="1"/>
          </p:cNvSpPr>
          <p:nvPr/>
        </p:nvSpPr>
        <p:spPr bwMode="auto">
          <a:xfrm>
            <a:off x="5924550" y="25209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681" name="Line 16"/>
          <p:cNvSpPr>
            <a:spLocks noChangeShapeType="1"/>
          </p:cNvSpPr>
          <p:nvPr/>
        </p:nvSpPr>
        <p:spPr bwMode="auto">
          <a:xfrm>
            <a:off x="5924550" y="338613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682" name="Line 17"/>
          <p:cNvSpPr>
            <a:spLocks noChangeShapeType="1"/>
          </p:cNvSpPr>
          <p:nvPr/>
        </p:nvSpPr>
        <p:spPr bwMode="auto">
          <a:xfrm>
            <a:off x="5707063" y="1222375"/>
            <a:ext cx="0" cy="3244850"/>
          </a:xfrm>
          <a:prstGeom prst="line">
            <a:avLst/>
          </a:prstGeom>
          <a:noFill/>
          <a:ln w="38100" cap="rnd">
            <a:solidFill>
              <a:srgbClr val="339966"/>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3" name="Oval 18"/>
          <p:cNvSpPr>
            <a:spLocks noChangeArrowheads="1"/>
          </p:cNvSpPr>
          <p:nvPr/>
        </p:nvSpPr>
        <p:spPr bwMode="auto">
          <a:xfrm>
            <a:off x="6138863" y="4519613"/>
            <a:ext cx="271462" cy="271462"/>
          </a:xfrm>
          <a:prstGeom prst="ellipse">
            <a:avLst/>
          </a:prstGeom>
          <a:noFill/>
          <a:ln w="28575" cap="rnd"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FF0000"/>
                </a:solidFill>
                <a:latin typeface="Times New Roman" pitchFamily="18" charset="0"/>
                <a:ea typeface="微软雅黑" pitchFamily="34" charset="-122"/>
              </a:rPr>
              <a:t>1</a:t>
            </a:r>
          </a:p>
        </p:txBody>
      </p:sp>
      <p:sp>
        <p:nvSpPr>
          <p:cNvPr id="113684" name="Oval 19"/>
          <p:cNvSpPr>
            <a:spLocks noChangeArrowheads="1"/>
          </p:cNvSpPr>
          <p:nvPr/>
        </p:nvSpPr>
        <p:spPr bwMode="auto">
          <a:xfrm>
            <a:off x="5491163" y="4519613"/>
            <a:ext cx="269875" cy="271462"/>
          </a:xfrm>
          <a:prstGeom prst="ellipse">
            <a:avLst/>
          </a:prstGeom>
          <a:noFill/>
          <a:ln w="28575" cap="rnd" algn="ctr">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008000"/>
                </a:solidFill>
                <a:latin typeface="Times New Roman" pitchFamily="18" charset="0"/>
                <a:ea typeface="微软雅黑" pitchFamily="34" charset="-122"/>
              </a:rPr>
              <a:t>3</a:t>
            </a:r>
          </a:p>
        </p:txBody>
      </p:sp>
      <p:sp>
        <p:nvSpPr>
          <p:cNvPr id="113685" name="Freeform 20"/>
          <p:cNvSpPr>
            <a:spLocks/>
          </p:cNvSpPr>
          <p:nvPr/>
        </p:nvSpPr>
        <p:spPr bwMode="auto">
          <a:xfrm>
            <a:off x="5922963" y="1222375"/>
            <a:ext cx="728662" cy="3244850"/>
          </a:xfrm>
          <a:custGeom>
            <a:avLst/>
            <a:gdLst>
              <a:gd name="T0" fmla="*/ 2147483647 w 611"/>
              <a:gd name="T1" fmla="*/ 0 h 2722"/>
              <a:gd name="T2" fmla="*/ 2147483647 w 611"/>
              <a:gd name="T3" fmla="*/ 2147483647 h 2722"/>
              <a:gd name="T4" fmla="*/ 2147483647 w 611"/>
              <a:gd name="T5" fmla="*/ 2147483647 h 2722"/>
              <a:gd name="T6" fmla="*/ 2147483647 w 611"/>
              <a:gd name="T7" fmla="*/ 2147483647 h 2722"/>
              <a:gd name="T8" fmla="*/ 2147483647 w 611"/>
              <a:gd name="T9" fmla="*/ 2147483647 h 2722"/>
              <a:gd name="T10" fmla="*/ 2147483647 w 611"/>
              <a:gd name="T11" fmla="*/ 2147483647 h 2722"/>
              <a:gd name="T12" fmla="*/ 2147483647 w 611"/>
              <a:gd name="T13" fmla="*/ 2147483647 h 2722"/>
              <a:gd name="T14" fmla="*/ 2147483647 w 611"/>
              <a:gd name="T15" fmla="*/ 2147483647 h 272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1" h="2722">
                <a:moveTo>
                  <a:pt x="83" y="0"/>
                </a:moveTo>
                <a:cubicBezTo>
                  <a:pt x="75" y="620"/>
                  <a:pt x="68" y="1241"/>
                  <a:pt x="83" y="1543"/>
                </a:cubicBezTo>
                <a:cubicBezTo>
                  <a:pt x="98" y="1845"/>
                  <a:pt x="98" y="1740"/>
                  <a:pt x="173" y="1815"/>
                </a:cubicBezTo>
                <a:cubicBezTo>
                  <a:pt x="248" y="1890"/>
                  <a:pt x="476" y="1951"/>
                  <a:pt x="536" y="1996"/>
                </a:cubicBezTo>
                <a:cubicBezTo>
                  <a:pt x="596" y="2041"/>
                  <a:pt x="611" y="2027"/>
                  <a:pt x="536" y="2087"/>
                </a:cubicBezTo>
                <a:cubicBezTo>
                  <a:pt x="461" y="2147"/>
                  <a:pt x="166" y="2299"/>
                  <a:pt x="83" y="2359"/>
                </a:cubicBezTo>
                <a:cubicBezTo>
                  <a:pt x="0" y="2419"/>
                  <a:pt x="45" y="2390"/>
                  <a:pt x="37" y="2450"/>
                </a:cubicBezTo>
                <a:cubicBezTo>
                  <a:pt x="29" y="2510"/>
                  <a:pt x="33" y="2616"/>
                  <a:pt x="37" y="2722"/>
                </a:cubicBezTo>
              </a:path>
            </a:pathLst>
          </a:custGeom>
          <a:noFill/>
          <a:ln w="38100" cap="rnd" cmpd="sng">
            <a:solidFill>
              <a:srgbClr val="3366FF"/>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6" name="Freeform 21"/>
          <p:cNvSpPr>
            <a:spLocks/>
          </p:cNvSpPr>
          <p:nvPr/>
        </p:nvSpPr>
        <p:spPr bwMode="auto">
          <a:xfrm>
            <a:off x="6049963" y="1220788"/>
            <a:ext cx="792162" cy="3190875"/>
          </a:xfrm>
          <a:custGeom>
            <a:avLst/>
            <a:gdLst>
              <a:gd name="T0" fmla="*/ 2147483647 w 665"/>
              <a:gd name="T1" fmla="*/ 0 h 2677"/>
              <a:gd name="T2" fmla="*/ 2147483647 w 665"/>
              <a:gd name="T3" fmla="*/ 2147483647 h 2677"/>
              <a:gd name="T4" fmla="*/ 2147483647 w 665"/>
              <a:gd name="T5" fmla="*/ 2147483647 h 2677"/>
              <a:gd name="T6" fmla="*/ 2147483647 w 665"/>
              <a:gd name="T7" fmla="*/ 2147483647 h 2677"/>
              <a:gd name="T8" fmla="*/ 2147483647 w 665"/>
              <a:gd name="T9" fmla="*/ 2147483647 h 2677"/>
              <a:gd name="T10" fmla="*/ 2147483647 w 665"/>
              <a:gd name="T11" fmla="*/ 2147483647 h 2677"/>
              <a:gd name="T12" fmla="*/ 2147483647 w 665"/>
              <a:gd name="T13" fmla="*/ 2147483647 h 2677"/>
              <a:gd name="T14" fmla="*/ 2147483647 w 665"/>
              <a:gd name="T15" fmla="*/ 2147483647 h 2677"/>
              <a:gd name="T16" fmla="*/ 2147483647 w 665"/>
              <a:gd name="T17" fmla="*/ 2147483647 h 2677"/>
              <a:gd name="T18" fmla="*/ 2147483647 w 665"/>
              <a:gd name="T19" fmla="*/ 2147483647 h 2677"/>
              <a:gd name="T20" fmla="*/ 2147483647 w 665"/>
              <a:gd name="T21" fmla="*/ 2147483647 h 2677"/>
              <a:gd name="T22" fmla="*/ 2147483647 w 665"/>
              <a:gd name="T23" fmla="*/ 2147483647 h 26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65" h="2677">
                <a:moveTo>
                  <a:pt x="128" y="0"/>
                </a:moveTo>
                <a:cubicBezTo>
                  <a:pt x="116" y="321"/>
                  <a:pt x="105" y="643"/>
                  <a:pt x="128" y="817"/>
                </a:cubicBezTo>
                <a:cubicBezTo>
                  <a:pt x="151" y="991"/>
                  <a:pt x="196" y="969"/>
                  <a:pt x="264" y="1044"/>
                </a:cubicBezTo>
                <a:cubicBezTo>
                  <a:pt x="332" y="1119"/>
                  <a:pt x="491" y="1210"/>
                  <a:pt x="536" y="1270"/>
                </a:cubicBezTo>
                <a:cubicBezTo>
                  <a:pt x="581" y="1330"/>
                  <a:pt x="611" y="1339"/>
                  <a:pt x="536" y="1407"/>
                </a:cubicBezTo>
                <a:cubicBezTo>
                  <a:pt x="461" y="1475"/>
                  <a:pt x="159" y="1619"/>
                  <a:pt x="83" y="1679"/>
                </a:cubicBezTo>
                <a:cubicBezTo>
                  <a:pt x="7" y="1739"/>
                  <a:pt x="0" y="1709"/>
                  <a:pt x="83" y="1769"/>
                </a:cubicBezTo>
                <a:cubicBezTo>
                  <a:pt x="166" y="1829"/>
                  <a:pt x="499" y="1982"/>
                  <a:pt x="582" y="2042"/>
                </a:cubicBezTo>
                <a:cubicBezTo>
                  <a:pt x="665" y="2102"/>
                  <a:pt x="665" y="2079"/>
                  <a:pt x="582" y="2132"/>
                </a:cubicBezTo>
                <a:cubicBezTo>
                  <a:pt x="499" y="2185"/>
                  <a:pt x="166" y="2291"/>
                  <a:pt x="83" y="2359"/>
                </a:cubicBezTo>
                <a:cubicBezTo>
                  <a:pt x="0" y="2427"/>
                  <a:pt x="83" y="2488"/>
                  <a:pt x="83" y="2541"/>
                </a:cubicBezTo>
                <a:cubicBezTo>
                  <a:pt x="83" y="2594"/>
                  <a:pt x="83" y="2635"/>
                  <a:pt x="83" y="2677"/>
                </a:cubicBezTo>
              </a:path>
            </a:pathLst>
          </a:custGeom>
          <a:noFill/>
          <a:ln w="38100" cap="rnd" cmpd="sng">
            <a:solidFill>
              <a:srgbClr val="FF0000"/>
            </a:solidFill>
            <a:prstDash val="solid"/>
            <a:round/>
            <a:headEnd type="none" w="med" len="med"/>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7" name="Oval 22"/>
          <p:cNvSpPr>
            <a:spLocks noChangeArrowheads="1"/>
          </p:cNvSpPr>
          <p:nvPr/>
        </p:nvSpPr>
        <p:spPr bwMode="auto">
          <a:xfrm>
            <a:off x="5815013" y="4519613"/>
            <a:ext cx="269875" cy="271462"/>
          </a:xfrm>
          <a:prstGeom prst="ellipse">
            <a:avLst/>
          </a:prstGeom>
          <a:noFill/>
          <a:ln w="28575" cap="rnd" algn="ctr">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Tx/>
              <a:buNone/>
            </a:pPr>
            <a:r>
              <a:rPr lang="en-US" altLang="zh-CN" sz="1800">
                <a:solidFill>
                  <a:srgbClr val="3333FF"/>
                </a:solidFill>
                <a:latin typeface="Times New Roman" pitchFamily="18" charset="0"/>
                <a:ea typeface="微软雅黑" pitchFamily="34" charset="-122"/>
              </a:rPr>
              <a:t>2</a:t>
            </a:r>
          </a:p>
        </p:txBody>
      </p:sp>
    </p:spTree>
    <p:extLst>
      <p:ext uri="{BB962C8B-B14F-4D97-AF65-F5344CB8AC3E}">
        <p14:creationId xmlns:p14="http://schemas.microsoft.com/office/powerpoint/2010/main" val="6098937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p:cNvSpPr>
            <a:spLocks noGrp="1"/>
          </p:cNvSpPr>
          <p:nvPr>
            <p:ph type="sldNum" sz="quarter" idx="4294967295"/>
          </p:nvPr>
        </p:nvSpPr>
        <p:spPr>
          <a:xfrm>
            <a:off x="6631000" y="5051425"/>
            <a:ext cx="946150" cy="93663"/>
          </a:xfrm>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D932F764-56AA-41EC-AB90-830F38A33088}" type="slidenum">
              <a:rPr lang="en-US" altLang="zh-CN" sz="1800" b="0" smtClean="0">
                <a:latin typeface="Times New Roman" pitchFamily="18" charset="0"/>
                <a:ea typeface="微软雅黑" pitchFamily="34" charset="-122"/>
              </a:rPr>
              <a:pPr algn="l" eaLnBrk="0" hangingPunct="0">
                <a:spcBef>
                  <a:spcPct val="0"/>
                </a:spcBef>
                <a:buFontTx/>
                <a:buNone/>
              </a:pPr>
              <a:t>70</a:t>
            </a:fld>
            <a:endParaRPr lang="en-US" altLang="zh-CN" sz="1800" b="0">
              <a:latin typeface="Times New Roman" pitchFamily="18" charset="0"/>
              <a:ea typeface="微软雅黑" pitchFamily="34" charset="-122"/>
            </a:endParaRPr>
          </a:p>
        </p:txBody>
      </p:sp>
      <p:sp>
        <p:nvSpPr>
          <p:cNvPr id="114691"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循环覆盖</a:t>
            </a:r>
          </a:p>
        </p:txBody>
      </p:sp>
      <p:sp>
        <p:nvSpPr>
          <p:cNvPr id="6" name="Rectangle 3"/>
          <p:cNvSpPr>
            <a:spLocks noChangeArrowheads="1"/>
          </p:cNvSpPr>
          <p:nvPr/>
        </p:nvSpPr>
        <p:spPr bwMode="auto">
          <a:xfrm>
            <a:off x="2270273" y="1799430"/>
            <a:ext cx="514350" cy="3238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7" name="AutoShape 4"/>
          <p:cNvSpPr>
            <a:spLocks noChangeArrowheads="1"/>
          </p:cNvSpPr>
          <p:nvPr/>
        </p:nvSpPr>
        <p:spPr bwMode="auto">
          <a:xfrm>
            <a:off x="2298848" y="2304255"/>
            <a:ext cx="438150" cy="371475"/>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8" name="Line 5"/>
          <p:cNvSpPr>
            <a:spLocks noChangeShapeType="1"/>
          </p:cNvSpPr>
          <p:nvPr/>
        </p:nvSpPr>
        <p:spPr bwMode="auto">
          <a:xfrm>
            <a:off x="2536973" y="1564480"/>
            <a:ext cx="0" cy="2206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
          <p:cNvSpPr>
            <a:spLocks noChangeShapeType="1"/>
          </p:cNvSpPr>
          <p:nvPr/>
        </p:nvSpPr>
        <p:spPr bwMode="auto">
          <a:xfrm>
            <a:off x="2527448" y="2156617"/>
            <a:ext cx="0" cy="1619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Freeform 7"/>
          <p:cNvSpPr>
            <a:spLocks/>
          </p:cNvSpPr>
          <p:nvPr/>
        </p:nvSpPr>
        <p:spPr bwMode="auto">
          <a:xfrm>
            <a:off x="2060723" y="1989930"/>
            <a:ext cx="230188" cy="506412"/>
          </a:xfrm>
          <a:custGeom>
            <a:avLst/>
            <a:gdLst>
              <a:gd name="T0" fmla="*/ 2147483647 w 193"/>
              <a:gd name="T1" fmla="*/ 2147483647 h 425"/>
              <a:gd name="T2" fmla="*/ 0 w 193"/>
              <a:gd name="T3" fmla="*/ 2147483647 h 425"/>
              <a:gd name="T4" fmla="*/ 0 w 193"/>
              <a:gd name="T5" fmla="*/ 0 h 425"/>
              <a:gd name="T6" fmla="*/ 2147483647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8"/>
          <p:cNvSpPr>
            <a:spLocks noChangeShapeType="1"/>
          </p:cNvSpPr>
          <p:nvPr/>
        </p:nvSpPr>
        <p:spPr bwMode="auto">
          <a:xfrm>
            <a:off x="2541736" y="2709067"/>
            <a:ext cx="0" cy="2000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9"/>
          <p:cNvSpPr>
            <a:spLocks noChangeArrowheads="1"/>
          </p:cNvSpPr>
          <p:nvPr/>
        </p:nvSpPr>
        <p:spPr bwMode="auto">
          <a:xfrm>
            <a:off x="3529161" y="1569242"/>
            <a:ext cx="515937" cy="3238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3" name="AutoShape 10"/>
          <p:cNvSpPr>
            <a:spLocks noChangeArrowheads="1"/>
          </p:cNvSpPr>
          <p:nvPr/>
        </p:nvSpPr>
        <p:spPr bwMode="auto">
          <a:xfrm>
            <a:off x="3557736" y="2074067"/>
            <a:ext cx="439737" cy="371475"/>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4" name="Line 11"/>
          <p:cNvSpPr>
            <a:spLocks noChangeShapeType="1"/>
          </p:cNvSpPr>
          <p:nvPr/>
        </p:nvSpPr>
        <p:spPr bwMode="auto">
          <a:xfrm>
            <a:off x="3795861" y="1335880"/>
            <a:ext cx="0" cy="2190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a:off x="3786336" y="1926430"/>
            <a:ext cx="0" cy="1619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Freeform 13"/>
          <p:cNvSpPr>
            <a:spLocks/>
          </p:cNvSpPr>
          <p:nvPr/>
        </p:nvSpPr>
        <p:spPr bwMode="auto">
          <a:xfrm>
            <a:off x="3319611" y="1759742"/>
            <a:ext cx="230187" cy="506413"/>
          </a:xfrm>
          <a:custGeom>
            <a:avLst/>
            <a:gdLst>
              <a:gd name="T0" fmla="*/ 2147483647 w 193"/>
              <a:gd name="T1" fmla="*/ 2147483647 h 425"/>
              <a:gd name="T2" fmla="*/ 0 w 193"/>
              <a:gd name="T3" fmla="*/ 2147483647 h 425"/>
              <a:gd name="T4" fmla="*/ 0 w 193"/>
              <a:gd name="T5" fmla="*/ 0 h 425"/>
              <a:gd name="T6" fmla="*/ 2147483647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4"/>
          <p:cNvSpPr>
            <a:spLocks noChangeShapeType="1"/>
          </p:cNvSpPr>
          <p:nvPr/>
        </p:nvSpPr>
        <p:spPr bwMode="auto">
          <a:xfrm>
            <a:off x="3800623" y="2478880"/>
            <a:ext cx="0" cy="2000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utoShape 15"/>
          <p:cNvSpPr>
            <a:spLocks noChangeArrowheads="1"/>
          </p:cNvSpPr>
          <p:nvPr/>
        </p:nvSpPr>
        <p:spPr bwMode="auto">
          <a:xfrm>
            <a:off x="3586311" y="2683667"/>
            <a:ext cx="439737" cy="373063"/>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9" name="Line 16"/>
          <p:cNvSpPr>
            <a:spLocks noChangeShapeType="1"/>
          </p:cNvSpPr>
          <p:nvPr/>
        </p:nvSpPr>
        <p:spPr bwMode="auto">
          <a:xfrm>
            <a:off x="3829198" y="3061492"/>
            <a:ext cx="0" cy="2000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Freeform 17"/>
          <p:cNvSpPr>
            <a:spLocks/>
          </p:cNvSpPr>
          <p:nvPr/>
        </p:nvSpPr>
        <p:spPr bwMode="auto">
          <a:xfrm>
            <a:off x="3233886" y="1512092"/>
            <a:ext cx="563562" cy="1363663"/>
          </a:xfrm>
          <a:custGeom>
            <a:avLst/>
            <a:gdLst>
              <a:gd name="T0" fmla="*/ 2147483647 w 473"/>
              <a:gd name="T1" fmla="*/ 2147483647 h 1145"/>
              <a:gd name="T2" fmla="*/ 0 w 473"/>
              <a:gd name="T3" fmla="*/ 2147483647 h 1145"/>
              <a:gd name="T4" fmla="*/ 0 w 473"/>
              <a:gd name="T5" fmla="*/ 0 h 1145"/>
              <a:gd name="T6" fmla="*/ 2147483647 w 473"/>
              <a:gd name="T7" fmla="*/ 0 h 11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3" h="1145">
                <a:moveTo>
                  <a:pt x="296" y="1144"/>
                </a:moveTo>
                <a:lnTo>
                  <a:pt x="0" y="1144"/>
                </a:lnTo>
                <a:lnTo>
                  <a:pt x="0" y="0"/>
                </a:lnTo>
                <a:lnTo>
                  <a:pt x="472"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 name="Group 18"/>
          <p:cNvGrpSpPr>
            <a:grpSpLocks/>
          </p:cNvGrpSpPr>
          <p:nvPr/>
        </p:nvGrpSpPr>
        <p:grpSpPr bwMode="auto">
          <a:xfrm>
            <a:off x="4514998" y="1181892"/>
            <a:ext cx="725488" cy="2508250"/>
            <a:chOff x="2784" y="1029"/>
            <a:chExt cx="608" cy="2104"/>
          </a:xfrm>
        </p:grpSpPr>
        <p:sp>
          <p:nvSpPr>
            <p:cNvPr id="22" name="Rectangle 19"/>
            <p:cNvSpPr>
              <a:spLocks noChangeArrowheads="1"/>
            </p:cNvSpPr>
            <p:nvPr/>
          </p:nvSpPr>
          <p:spPr bwMode="auto">
            <a:xfrm>
              <a:off x="2960" y="1225"/>
              <a:ext cx="432" cy="27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3" name="AutoShape 20"/>
            <p:cNvSpPr>
              <a:spLocks noChangeArrowheads="1"/>
            </p:cNvSpPr>
            <p:nvPr/>
          </p:nvSpPr>
          <p:spPr bwMode="auto">
            <a:xfrm>
              <a:off x="2984" y="1649"/>
              <a:ext cx="368" cy="312"/>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4" name="Line 21"/>
            <p:cNvSpPr>
              <a:spLocks noChangeShapeType="1"/>
            </p:cNvSpPr>
            <p:nvPr/>
          </p:nvSpPr>
          <p:spPr bwMode="auto">
            <a:xfrm>
              <a:off x="3184" y="1029"/>
              <a:ext cx="0" cy="1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2"/>
            <p:cNvSpPr>
              <a:spLocks noChangeShapeType="1"/>
            </p:cNvSpPr>
            <p:nvPr/>
          </p:nvSpPr>
          <p:spPr bwMode="auto">
            <a:xfrm>
              <a:off x="3176" y="1525"/>
              <a:ext cx="0" cy="1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Freeform 23"/>
            <p:cNvSpPr>
              <a:spLocks/>
            </p:cNvSpPr>
            <p:nvPr/>
          </p:nvSpPr>
          <p:spPr bwMode="auto">
            <a:xfrm>
              <a:off x="2784" y="1385"/>
              <a:ext cx="193" cy="425"/>
            </a:xfrm>
            <a:custGeom>
              <a:avLst/>
              <a:gdLst>
                <a:gd name="T0" fmla="*/ 192 w 193"/>
                <a:gd name="T1" fmla="*/ 424 h 425"/>
                <a:gd name="T2" fmla="*/ 0 w 193"/>
                <a:gd name="T3" fmla="*/ 424 h 425"/>
                <a:gd name="T4" fmla="*/ 0 w 193"/>
                <a:gd name="T5" fmla="*/ 0 h 425"/>
                <a:gd name="T6" fmla="*/ 160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4"/>
            <p:cNvSpPr>
              <a:spLocks noChangeShapeType="1"/>
            </p:cNvSpPr>
            <p:nvPr/>
          </p:nvSpPr>
          <p:spPr bwMode="auto">
            <a:xfrm>
              <a:off x="3188" y="1989"/>
              <a:ext cx="0" cy="16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Rectangle 25"/>
            <p:cNvSpPr>
              <a:spLocks noChangeArrowheads="1"/>
            </p:cNvSpPr>
            <p:nvPr/>
          </p:nvSpPr>
          <p:spPr bwMode="auto">
            <a:xfrm>
              <a:off x="2960" y="2193"/>
              <a:ext cx="432" cy="27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9" name="AutoShape 26"/>
            <p:cNvSpPr>
              <a:spLocks noChangeArrowheads="1"/>
            </p:cNvSpPr>
            <p:nvPr/>
          </p:nvSpPr>
          <p:spPr bwMode="auto">
            <a:xfrm>
              <a:off x="2984" y="2617"/>
              <a:ext cx="368" cy="312"/>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30" name="Line 27"/>
            <p:cNvSpPr>
              <a:spLocks noChangeShapeType="1"/>
            </p:cNvSpPr>
            <p:nvPr/>
          </p:nvSpPr>
          <p:spPr bwMode="auto">
            <a:xfrm>
              <a:off x="3184" y="1997"/>
              <a:ext cx="0" cy="1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8"/>
            <p:cNvSpPr>
              <a:spLocks noChangeShapeType="1"/>
            </p:cNvSpPr>
            <p:nvPr/>
          </p:nvSpPr>
          <p:spPr bwMode="auto">
            <a:xfrm>
              <a:off x="3176" y="2493"/>
              <a:ext cx="0" cy="1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Freeform 29"/>
            <p:cNvSpPr>
              <a:spLocks/>
            </p:cNvSpPr>
            <p:nvPr/>
          </p:nvSpPr>
          <p:spPr bwMode="auto">
            <a:xfrm>
              <a:off x="2784" y="2353"/>
              <a:ext cx="193" cy="425"/>
            </a:xfrm>
            <a:custGeom>
              <a:avLst/>
              <a:gdLst>
                <a:gd name="T0" fmla="*/ 192 w 193"/>
                <a:gd name="T1" fmla="*/ 424 h 425"/>
                <a:gd name="T2" fmla="*/ 0 w 193"/>
                <a:gd name="T3" fmla="*/ 424 h 425"/>
                <a:gd name="T4" fmla="*/ 0 w 193"/>
                <a:gd name="T5" fmla="*/ 0 h 425"/>
                <a:gd name="T6" fmla="*/ 160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30"/>
            <p:cNvSpPr>
              <a:spLocks noChangeShapeType="1"/>
            </p:cNvSpPr>
            <p:nvPr/>
          </p:nvSpPr>
          <p:spPr bwMode="auto">
            <a:xfrm>
              <a:off x="3180" y="2965"/>
              <a:ext cx="0" cy="16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 name="Group 31"/>
          <p:cNvGrpSpPr>
            <a:grpSpLocks/>
          </p:cNvGrpSpPr>
          <p:nvPr/>
        </p:nvGrpSpPr>
        <p:grpSpPr bwMode="auto">
          <a:xfrm>
            <a:off x="6031061" y="962817"/>
            <a:ext cx="1565275" cy="3022600"/>
            <a:chOff x="3768" y="845"/>
            <a:chExt cx="1313" cy="2536"/>
          </a:xfrm>
        </p:grpSpPr>
        <p:sp>
          <p:nvSpPr>
            <p:cNvPr id="35" name="Rectangle 32"/>
            <p:cNvSpPr>
              <a:spLocks noChangeArrowheads="1"/>
            </p:cNvSpPr>
            <p:nvPr/>
          </p:nvSpPr>
          <p:spPr bwMode="auto">
            <a:xfrm>
              <a:off x="4160" y="1041"/>
              <a:ext cx="432" cy="27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36" name="AutoShape 33"/>
            <p:cNvSpPr>
              <a:spLocks noChangeArrowheads="1"/>
            </p:cNvSpPr>
            <p:nvPr/>
          </p:nvSpPr>
          <p:spPr bwMode="auto">
            <a:xfrm>
              <a:off x="4184" y="1465"/>
              <a:ext cx="368" cy="312"/>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37" name="Line 34"/>
            <p:cNvSpPr>
              <a:spLocks noChangeShapeType="1"/>
            </p:cNvSpPr>
            <p:nvPr/>
          </p:nvSpPr>
          <p:spPr bwMode="auto">
            <a:xfrm>
              <a:off x="4384" y="845"/>
              <a:ext cx="0" cy="18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5"/>
            <p:cNvSpPr>
              <a:spLocks noChangeShapeType="1"/>
            </p:cNvSpPr>
            <p:nvPr/>
          </p:nvSpPr>
          <p:spPr bwMode="auto">
            <a:xfrm>
              <a:off x="4376" y="1341"/>
              <a:ext cx="0" cy="1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36"/>
            <p:cNvSpPr>
              <a:spLocks/>
            </p:cNvSpPr>
            <p:nvPr/>
          </p:nvSpPr>
          <p:spPr bwMode="auto">
            <a:xfrm>
              <a:off x="3984" y="1201"/>
              <a:ext cx="193" cy="425"/>
            </a:xfrm>
            <a:custGeom>
              <a:avLst/>
              <a:gdLst>
                <a:gd name="T0" fmla="*/ 192 w 193"/>
                <a:gd name="T1" fmla="*/ 424 h 425"/>
                <a:gd name="T2" fmla="*/ 0 w 193"/>
                <a:gd name="T3" fmla="*/ 424 h 425"/>
                <a:gd name="T4" fmla="*/ 0 w 193"/>
                <a:gd name="T5" fmla="*/ 0 h 425"/>
                <a:gd name="T6" fmla="*/ 160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37"/>
            <p:cNvSpPr>
              <a:spLocks noChangeShapeType="1"/>
            </p:cNvSpPr>
            <p:nvPr/>
          </p:nvSpPr>
          <p:spPr bwMode="auto">
            <a:xfrm>
              <a:off x="4388" y="1805"/>
              <a:ext cx="0" cy="16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38"/>
            <p:cNvSpPr>
              <a:spLocks noChangeArrowheads="1"/>
            </p:cNvSpPr>
            <p:nvPr/>
          </p:nvSpPr>
          <p:spPr bwMode="auto">
            <a:xfrm>
              <a:off x="4160" y="2025"/>
              <a:ext cx="432" cy="27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2" name="AutoShape 39"/>
            <p:cNvSpPr>
              <a:spLocks noChangeArrowheads="1"/>
            </p:cNvSpPr>
            <p:nvPr/>
          </p:nvSpPr>
          <p:spPr bwMode="auto">
            <a:xfrm>
              <a:off x="4184" y="2433"/>
              <a:ext cx="368" cy="312"/>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3" name="Line 40"/>
            <p:cNvSpPr>
              <a:spLocks noChangeShapeType="1"/>
            </p:cNvSpPr>
            <p:nvPr/>
          </p:nvSpPr>
          <p:spPr bwMode="auto">
            <a:xfrm>
              <a:off x="4384" y="1813"/>
              <a:ext cx="0" cy="1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1"/>
            <p:cNvSpPr>
              <a:spLocks noChangeShapeType="1"/>
            </p:cNvSpPr>
            <p:nvPr/>
          </p:nvSpPr>
          <p:spPr bwMode="auto">
            <a:xfrm>
              <a:off x="4376" y="2309"/>
              <a:ext cx="0" cy="1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42"/>
            <p:cNvSpPr>
              <a:spLocks/>
            </p:cNvSpPr>
            <p:nvPr/>
          </p:nvSpPr>
          <p:spPr bwMode="auto">
            <a:xfrm>
              <a:off x="3880" y="1113"/>
              <a:ext cx="329" cy="1481"/>
            </a:xfrm>
            <a:custGeom>
              <a:avLst/>
              <a:gdLst>
                <a:gd name="T0" fmla="*/ 328 w 329"/>
                <a:gd name="T1" fmla="*/ 1480 h 1481"/>
                <a:gd name="T2" fmla="*/ 0 w 329"/>
                <a:gd name="T3" fmla="*/ 1480 h 1481"/>
                <a:gd name="T4" fmla="*/ 0 w 329"/>
                <a:gd name="T5" fmla="*/ 0 h 1481"/>
                <a:gd name="T6" fmla="*/ 273 w 329"/>
                <a:gd name="T7" fmla="*/ 0 h 14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9" h="1481">
                  <a:moveTo>
                    <a:pt x="328" y="1480"/>
                  </a:moveTo>
                  <a:lnTo>
                    <a:pt x="0" y="1480"/>
                  </a:lnTo>
                  <a:lnTo>
                    <a:pt x="0" y="0"/>
                  </a:lnTo>
                  <a:lnTo>
                    <a:pt x="273"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43"/>
            <p:cNvSpPr>
              <a:spLocks noChangeShapeType="1"/>
            </p:cNvSpPr>
            <p:nvPr/>
          </p:nvSpPr>
          <p:spPr bwMode="auto">
            <a:xfrm>
              <a:off x="4388" y="2773"/>
              <a:ext cx="0" cy="16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44"/>
            <p:cNvSpPr>
              <a:spLocks/>
            </p:cNvSpPr>
            <p:nvPr/>
          </p:nvSpPr>
          <p:spPr bwMode="auto">
            <a:xfrm>
              <a:off x="4560" y="1625"/>
              <a:ext cx="337" cy="977"/>
            </a:xfrm>
            <a:custGeom>
              <a:avLst/>
              <a:gdLst>
                <a:gd name="T0" fmla="*/ 0 w 337"/>
                <a:gd name="T1" fmla="*/ 0 h 977"/>
                <a:gd name="T2" fmla="*/ 336 w 337"/>
                <a:gd name="T3" fmla="*/ 0 h 977"/>
                <a:gd name="T4" fmla="*/ 328 w 337"/>
                <a:gd name="T5" fmla="*/ 976 h 977"/>
                <a:gd name="T6" fmla="*/ 24 w 337"/>
                <a:gd name="T7" fmla="*/ 976 h 9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7" h="977">
                  <a:moveTo>
                    <a:pt x="0" y="0"/>
                  </a:moveTo>
                  <a:lnTo>
                    <a:pt x="336" y="0"/>
                  </a:lnTo>
                  <a:lnTo>
                    <a:pt x="328" y="976"/>
                  </a:lnTo>
                  <a:lnTo>
                    <a:pt x="24" y="976"/>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AutoShape 45"/>
            <p:cNvSpPr>
              <a:spLocks noChangeArrowheads="1"/>
            </p:cNvSpPr>
            <p:nvPr/>
          </p:nvSpPr>
          <p:spPr bwMode="auto">
            <a:xfrm>
              <a:off x="4200" y="2921"/>
              <a:ext cx="368" cy="312"/>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9" name="Freeform 46"/>
            <p:cNvSpPr>
              <a:spLocks/>
            </p:cNvSpPr>
            <p:nvPr/>
          </p:nvSpPr>
          <p:spPr bwMode="auto">
            <a:xfrm>
              <a:off x="4576" y="2177"/>
              <a:ext cx="505" cy="921"/>
            </a:xfrm>
            <a:custGeom>
              <a:avLst/>
              <a:gdLst>
                <a:gd name="T0" fmla="*/ 0 w 505"/>
                <a:gd name="T1" fmla="*/ 920 h 921"/>
                <a:gd name="T2" fmla="*/ 504 w 505"/>
                <a:gd name="T3" fmla="*/ 920 h 921"/>
                <a:gd name="T4" fmla="*/ 504 w 505"/>
                <a:gd name="T5" fmla="*/ 0 h 921"/>
                <a:gd name="T6" fmla="*/ 48 w 505"/>
                <a:gd name="T7" fmla="*/ 0 h 9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 h="921">
                  <a:moveTo>
                    <a:pt x="0" y="920"/>
                  </a:moveTo>
                  <a:lnTo>
                    <a:pt x="504" y="920"/>
                  </a:lnTo>
                  <a:lnTo>
                    <a:pt x="504" y="0"/>
                  </a:lnTo>
                  <a:lnTo>
                    <a:pt x="48"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Freeform 47"/>
            <p:cNvSpPr>
              <a:spLocks/>
            </p:cNvSpPr>
            <p:nvPr/>
          </p:nvSpPr>
          <p:spPr bwMode="auto">
            <a:xfrm>
              <a:off x="3768" y="1417"/>
              <a:ext cx="601" cy="1665"/>
            </a:xfrm>
            <a:custGeom>
              <a:avLst/>
              <a:gdLst>
                <a:gd name="T0" fmla="*/ 424 w 601"/>
                <a:gd name="T1" fmla="*/ 1664 h 1665"/>
                <a:gd name="T2" fmla="*/ 0 w 601"/>
                <a:gd name="T3" fmla="*/ 1664 h 1665"/>
                <a:gd name="T4" fmla="*/ 8 w 601"/>
                <a:gd name="T5" fmla="*/ 0 h 1665"/>
                <a:gd name="T6" fmla="*/ 600 w 601"/>
                <a:gd name="T7" fmla="*/ 0 h 16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1" h="1665">
                  <a:moveTo>
                    <a:pt x="424" y="1664"/>
                  </a:moveTo>
                  <a:lnTo>
                    <a:pt x="0" y="1664"/>
                  </a:lnTo>
                  <a:lnTo>
                    <a:pt x="8" y="0"/>
                  </a:lnTo>
                  <a:lnTo>
                    <a:pt x="60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48"/>
            <p:cNvSpPr>
              <a:spLocks noChangeShapeType="1"/>
            </p:cNvSpPr>
            <p:nvPr/>
          </p:nvSpPr>
          <p:spPr bwMode="auto">
            <a:xfrm>
              <a:off x="4396" y="3213"/>
              <a:ext cx="0" cy="16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 name="Text Box 49"/>
          <p:cNvSpPr txBox="1">
            <a:spLocks noChangeArrowheads="1"/>
          </p:cNvSpPr>
          <p:nvPr/>
        </p:nvSpPr>
        <p:spPr bwMode="auto">
          <a:xfrm>
            <a:off x="1865461" y="3124992"/>
            <a:ext cx="1114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zh-CN" altLang="en-US" sz="1800" b="1" dirty="0">
                <a:solidFill>
                  <a:srgbClr val="000000"/>
                </a:solidFill>
                <a:latin typeface="Times New Roman" pitchFamily="18" charset="0"/>
                <a:ea typeface="楷体_GB2312"/>
                <a:cs typeface="楷体_GB2312"/>
              </a:rPr>
              <a:t>简单循环</a:t>
            </a:r>
          </a:p>
        </p:txBody>
      </p:sp>
      <p:sp>
        <p:nvSpPr>
          <p:cNvPr id="53" name="Text Box 50"/>
          <p:cNvSpPr txBox="1">
            <a:spLocks noChangeArrowheads="1"/>
          </p:cNvSpPr>
          <p:nvPr/>
        </p:nvSpPr>
        <p:spPr bwMode="auto">
          <a:xfrm>
            <a:off x="3108473" y="3502817"/>
            <a:ext cx="1114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zh-CN" altLang="en-US" sz="1800" b="1">
                <a:solidFill>
                  <a:srgbClr val="000000"/>
                </a:solidFill>
                <a:latin typeface="Times New Roman" pitchFamily="18" charset="0"/>
                <a:ea typeface="楷体_GB2312"/>
                <a:cs typeface="楷体_GB2312"/>
              </a:rPr>
              <a:t>嵌套循环</a:t>
            </a:r>
          </a:p>
        </p:txBody>
      </p:sp>
      <p:sp>
        <p:nvSpPr>
          <p:cNvPr id="54" name="Text Box 51"/>
          <p:cNvSpPr txBox="1">
            <a:spLocks noChangeArrowheads="1"/>
          </p:cNvSpPr>
          <p:nvPr/>
        </p:nvSpPr>
        <p:spPr bwMode="auto">
          <a:xfrm>
            <a:off x="4461023" y="3882230"/>
            <a:ext cx="1114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zh-CN" altLang="en-US" sz="1800" b="1">
                <a:solidFill>
                  <a:srgbClr val="000000"/>
                </a:solidFill>
                <a:latin typeface="Times New Roman" pitchFamily="18" charset="0"/>
                <a:ea typeface="楷体_GB2312"/>
                <a:cs typeface="楷体_GB2312"/>
              </a:rPr>
              <a:t>顺序循环</a:t>
            </a:r>
          </a:p>
        </p:txBody>
      </p:sp>
      <p:sp>
        <p:nvSpPr>
          <p:cNvPr id="55" name="Text Box 52"/>
          <p:cNvSpPr txBox="1">
            <a:spLocks noChangeArrowheads="1"/>
          </p:cNvSpPr>
          <p:nvPr/>
        </p:nvSpPr>
        <p:spPr bwMode="auto">
          <a:xfrm>
            <a:off x="6081861" y="4206080"/>
            <a:ext cx="11144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zh-CN" altLang="en-US" sz="1800" b="1">
                <a:solidFill>
                  <a:srgbClr val="000000"/>
                </a:solidFill>
                <a:latin typeface="Times New Roman" pitchFamily="18" charset="0"/>
                <a:ea typeface="楷体_GB2312"/>
                <a:cs typeface="楷体_GB2312"/>
              </a:rPr>
              <a:t>面条循环</a:t>
            </a:r>
          </a:p>
        </p:txBody>
      </p:sp>
    </p:spTree>
    <p:extLst>
      <p:ext uri="{BB962C8B-B14F-4D97-AF65-F5344CB8AC3E}">
        <p14:creationId xmlns:p14="http://schemas.microsoft.com/office/powerpoint/2010/main" val="13241695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简单循环的测试</a:t>
            </a:r>
          </a:p>
        </p:txBody>
      </p:sp>
      <p:sp>
        <p:nvSpPr>
          <p:cNvPr id="116739" name="Rectangle 3"/>
          <p:cNvSpPr>
            <a:spLocks noGrp="1" noChangeArrowheads="1"/>
          </p:cNvSpPr>
          <p:nvPr>
            <p:ph type="body" idx="1"/>
          </p:nvPr>
        </p:nvSpPr>
        <p:spPr>
          <a:xfrm>
            <a:off x="468313" y="990600"/>
            <a:ext cx="8229600" cy="3397250"/>
          </a:xfrm>
        </p:spPr>
        <p:txBody>
          <a:bodyPr/>
          <a:lstStyle/>
          <a:p>
            <a:pPr marL="400050" indent="-400050">
              <a:buFont typeface="Arial" pitchFamily="34" charset="0"/>
              <a:buNone/>
            </a:pPr>
            <a:r>
              <a:rPr lang="en-US" altLang="zh-CN" i="1" dirty="0">
                <a:ea typeface="宋体" pitchFamily="2" charset="-122"/>
              </a:rPr>
              <a:t>n</a:t>
            </a:r>
            <a:r>
              <a:rPr lang="en-US" altLang="zh-CN" dirty="0">
                <a:ea typeface="宋体" pitchFamily="2" charset="-122"/>
              </a:rPr>
              <a:t> </a:t>
            </a:r>
            <a:r>
              <a:rPr lang="zh-CN" altLang="en-US" dirty="0"/>
              <a:t>是循环的最大数</a:t>
            </a:r>
          </a:p>
          <a:p>
            <a:pPr lvl="1" indent="-400050">
              <a:buFont typeface="Wingdings" pitchFamily="2" charset="2"/>
              <a:buAutoNum type="arabicPeriod"/>
            </a:pPr>
            <a:r>
              <a:rPr lang="zh-CN" altLang="en-US" b="1" dirty="0">
                <a:latin typeface="楷体_GB2312"/>
              </a:rPr>
              <a:t>跳过循环</a:t>
            </a:r>
          </a:p>
          <a:p>
            <a:pPr lvl="1" indent="-400050">
              <a:buFont typeface="Wingdings" pitchFamily="2" charset="2"/>
              <a:buAutoNum type="arabicPeriod"/>
            </a:pPr>
            <a:r>
              <a:rPr lang="zh-CN" altLang="en-US" b="1" dirty="0">
                <a:latin typeface="楷体_GB2312"/>
              </a:rPr>
              <a:t>通过循环</a:t>
            </a:r>
            <a:r>
              <a:rPr lang="en-US" altLang="zh-CN" b="1" dirty="0">
                <a:latin typeface="楷体_GB2312"/>
              </a:rPr>
              <a:t>1</a:t>
            </a:r>
            <a:r>
              <a:rPr lang="zh-CN" altLang="en-US" b="1" dirty="0">
                <a:latin typeface="楷体_GB2312"/>
              </a:rPr>
              <a:t>次</a:t>
            </a:r>
          </a:p>
          <a:p>
            <a:pPr lvl="1" indent="-400050">
              <a:buFont typeface="Wingdings" pitchFamily="2" charset="2"/>
              <a:buAutoNum type="arabicPeriod"/>
            </a:pPr>
            <a:r>
              <a:rPr lang="zh-CN" altLang="en-US" b="1" dirty="0">
                <a:latin typeface="楷体_GB2312"/>
              </a:rPr>
              <a:t>通过循环</a:t>
            </a:r>
            <a:r>
              <a:rPr lang="en-US" altLang="zh-CN" b="1" dirty="0">
                <a:latin typeface="楷体_GB2312"/>
              </a:rPr>
              <a:t>2</a:t>
            </a:r>
            <a:r>
              <a:rPr lang="zh-CN" altLang="en-US" b="1" dirty="0">
                <a:latin typeface="楷体_GB2312"/>
              </a:rPr>
              <a:t>次</a:t>
            </a:r>
          </a:p>
          <a:p>
            <a:pPr lvl="1" indent="-400050">
              <a:buFont typeface="Wingdings" pitchFamily="2" charset="2"/>
              <a:buAutoNum type="arabicPeriod"/>
            </a:pPr>
            <a:r>
              <a:rPr lang="zh-CN" altLang="en-US" b="1" dirty="0">
                <a:latin typeface="楷体_GB2312"/>
              </a:rPr>
              <a:t>通过循环</a:t>
            </a:r>
            <a:r>
              <a:rPr lang="en-US" altLang="zh-CN" b="1" dirty="0">
                <a:latin typeface="楷体_GB2312"/>
              </a:rPr>
              <a:t>m</a:t>
            </a:r>
            <a:r>
              <a:rPr lang="zh-CN" altLang="en-US" b="1" dirty="0">
                <a:latin typeface="楷体_GB2312"/>
              </a:rPr>
              <a:t>次</a:t>
            </a:r>
            <a:r>
              <a:rPr lang="en-US" altLang="zh-CN" b="1" dirty="0">
                <a:latin typeface="楷体_GB2312"/>
              </a:rPr>
              <a:t>, m&lt;n</a:t>
            </a:r>
          </a:p>
          <a:p>
            <a:pPr lvl="1" indent="-400050">
              <a:buFont typeface="Wingdings" pitchFamily="2" charset="2"/>
              <a:buAutoNum type="arabicPeriod"/>
            </a:pPr>
            <a:r>
              <a:rPr lang="zh-CN" altLang="en-US" b="1" dirty="0">
                <a:latin typeface="楷体_GB2312"/>
              </a:rPr>
              <a:t>通过循环</a:t>
            </a:r>
            <a:r>
              <a:rPr lang="en-US" altLang="zh-CN" dirty="0">
                <a:ea typeface="宋体" pitchFamily="2" charset="-122"/>
              </a:rPr>
              <a:t>n-1, n</a:t>
            </a:r>
            <a:r>
              <a:rPr lang="zh-CN" altLang="en-US" b="1" dirty="0">
                <a:latin typeface="楷体_GB2312"/>
              </a:rPr>
              <a:t>次</a:t>
            </a:r>
          </a:p>
        </p:txBody>
      </p:sp>
    </p:spTree>
    <p:extLst>
      <p:ext uri="{BB962C8B-B14F-4D97-AF65-F5344CB8AC3E}">
        <p14:creationId xmlns:p14="http://schemas.microsoft.com/office/powerpoint/2010/main" val="11317885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嵌套循环的测试</a:t>
            </a:r>
          </a:p>
        </p:txBody>
      </p:sp>
      <p:sp>
        <p:nvSpPr>
          <p:cNvPr id="117763" name="Rectangle 3"/>
          <p:cNvSpPr>
            <a:spLocks noGrp="1" noChangeArrowheads="1"/>
          </p:cNvSpPr>
          <p:nvPr>
            <p:ph type="body" idx="1"/>
          </p:nvPr>
        </p:nvSpPr>
        <p:spPr>
          <a:xfrm>
            <a:off x="468313" y="990600"/>
            <a:ext cx="8229600" cy="3397250"/>
          </a:xfrm>
        </p:spPr>
        <p:txBody>
          <a:bodyPr/>
          <a:lstStyle/>
          <a:p>
            <a:pPr marL="400050" indent="-400050">
              <a:buFont typeface="Wingdings" pitchFamily="2" charset="2"/>
              <a:buAutoNum type="arabicPeriod"/>
            </a:pPr>
            <a:r>
              <a:rPr lang="zh-CN" altLang="en-US" sz="2400"/>
              <a:t>从最内层循环开始</a:t>
            </a:r>
            <a:r>
              <a:rPr lang="en-US" altLang="zh-CN" sz="2400">
                <a:solidFill>
                  <a:schemeClr val="tx2"/>
                </a:solidFill>
              </a:rPr>
              <a:t>, </a:t>
            </a:r>
            <a:r>
              <a:rPr lang="zh-CN" altLang="en-US" sz="2400"/>
              <a:t>设置所有的外层循环叠代参数为最小值</a:t>
            </a:r>
          </a:p>
          <a:p>
            <a:pPr marL="400050" indent="-400050">
              <a:buFont typeface="Wingdings" pitchFamily="2" charset="2"/>
              <a:buAutoNum type="arabicPeriod"/>
            </a:pPr>
            <a:r>
              <a:rPr lang="zh-CN" altLang="en-US" sz="2400">
                <a:solidFill>
                  <a:schemeClr val="tx2"/>
                </a:solidFill>
              </a:rPr>
              <a:t>保持所有</a:t>
            </a:r>
            <a:r>
              <a:rPr lang="zh-CN" altLang="en-US" sz="2400"/>
              <a:t>外层循环叠代参数为最小值，测试最内层循环参数为</a:t>
            </a:r>
            <a:r>
              <a:rPr lang="en-US" altLang="zh-CN" sz="2400">
                <a:solidFill>
                  <a:schemeClr val="tx2"/>
                </a:solidFill>
              </a:rPr>
              <a:t>min+1, </a:t>
            </a:r>
            <a:r>
              <a:rPr lang="zh-CN" altLang="en-US" sz="2400">
                <a:solidFill>
                  <a:schemeClr val="tx2"/>
                </a:solidFill>
              </a:rPr>
              <a:t>典型</a:t>
            </a:r>
            <a:r>
              <a:rPr lang="en-US" altLang="zh-CN" sz="2400">
                <a:solidFill>
                  <a:schemeClr val="tx2"/>
                </a:solidFill>
              </a:rPr>
              <a:t>, max-1, max</a:t>
            </a:r>
            <a:r>
              <a:rPr lang="zh-CN" altLang="en-US" sz="2400">
                <a:solidFill>
                  <a:schemeClr val="tx2"/>
                </a:solidFill>
              </a:rPr>
              <a:t>值</a:t>
            </a:r>
          </a:p>
          <a:p>
            <a:pPr marL="400050" indent="-400050">
              <a:buFont typeface="Wingdings" pitchFamily="2" charset="2"/>
              <a:buAutoNum type="arabicPeriod"/>
            </a:pPr>
            <a:r>
              <a:rPr lang="zh-CN" altLang="en-US" sz="2400">
                <a:solidFill>
                  <a:schemeClr val="tx2"/>
                </a:solidFill>
              </a:rPr>
              <a:t>向外移动一层循环</a:t>
            </a:r>
            <a:r>
              <a:rPr lang="en-US" altLang="zh-CN" sz="2400">
                <a:solidFill>
                  <a:schemeClr val="tx2"/>
                </a:solidFill>
              </a:rPr>
              <a:t>, </a:t>
            </a:r>
            <a:r>
              <a:rPr lang="zh-CN" altLang="en-US" sz="2400">
                <a:solidFill>
                  <a:schemeClr val="tx2"/>
                </a:solidFill>
              </a:rPr>
              <a:t>所有</a:t>
            </a:r>
            <a:r>
              <a:rPr lang="zh-CN" altLang="en-US" sz="2400"/>
              <a:t>内层循环叠代参数为</a:t>
            </a:r>
            <a:r>
              <a:rPr lang="zh-CN" altLang="en-US" sz="2400">
                <a:solidFill>
                  <a:schemeClr val="tx2"/>
                </a:solidFill>
              </a:rPr>
              <a:t>典型值</a:t>
            </a:r>
            <a:r>
              <a:rPr lang="en-US" altLang="zh-CN" sz="2400">
                <a:solidFill>
                  <a:schemeClr val="tx2"/>
                </a:solidFill>
              </a:rPr>
              <a:t>, </a:t>
            </a:r>
            <a:r>
              <a:rPr lang="zh-CN" altLang="en-US" sz="2400">
                <a:solidFill>
                  <a:schemeClr val="tx2"/>
                </a:solidFill>
              </a:rPr>
              <a:t>所有</a:t>
            </a:r>
            <a:r>
              <a:rPr lang="zh-CN" altLang="en-US" sz="2400"/>
              <a:t>外层循环叠代参数为最小值</a:t>
            </a:r>
            <a:r>
              <a:rPr lang="en-US" altLang="zh-CN" sz="2400">
                <a:solidFill>
                  <a:schemeClr val="tx2"/>
                </a:solidFill>
              </a:rPr>
              <a:t>,</a:t>
            </a:r>
            <a:r>
              <a:rPr lang="zh-CN" altLang="en-US" sz="2400"/>
              <a:t>测试循环参数为</a:t>
            </a:r>
            <a:r>
              <a:rPr lang="en-US" altLang="zh-CN" sz="2400">
                <a:solidFill>
                  <a:schemeClr val="tx2"/>
                </a:solidFill>
              </a:rPr>
              <a:t>min+1, </a:t>
            </a:r>
            <a:r>
              <a:rPr lang="zh-CN" altLang="en-US" sz="2400">
                <a:solidFill>
                  <a:schemeClr val="tx2"/>
                </a:solidFill>
              </a:rPr>
              <a:t>典型</a:t>
            </a:r>
            <a:r>
              <a:rPr lang="en-US" altLang="zh-CN" sz="2400">
                <a:solidFill>
                  <a:schemeClr val="tx2"/>
                </a:solidFill>
              </a:rPr>
              <a:t>, max-1, max</a:t>
            </a:r>
            <a:r>
              <a:rPr lang="zh-CN" altLang="en-US" sz="2400">
                <a:solidFill>
                  <a:schemeClr val="tx2"/>
                </a:solidFill>
              </a:rPr>
              <a:t>值</a:t>
            </a:r>
          </a:p>
          <a:p>
            <a:pPr marL="400050" indent="-400050">
              <a:buFont typeface="Wingdings" pitchFamily="2" charset="2"/>
              <a:buAutoNum type="arabicPeriod"/>
            </a:pPr>
            <a:r>
              <a:rPr lang="zh-CN" altLang="en-US" sz="2400">
                <a:solidFill>
                  <a:schemeClr val="tx2"/>
                </a:solidFill>
              </a:rPr>
              <a:t>重复步骤</a:t>
            </a:r>
            <a:r>
              <a:rPr lang="en-US" altLang="zh-CN" sz="2400">
                <a:solidFill>
                  <a:schemeClr val="tx2"/>
                </a:solidFill>
              </a:rPr>
              <a:t>3 , </a:t>
            </a:r>
            <a:r>
              <a:rPr lang="zh-CN" altLang="en-US" sz="2400">
                <a:solidFill>
                  <a:schemeClr val="tx2"/>
                </a:solidFill>
              </a:rPr>
              <a:t>直到最外层循环</a:t>
            </a:r>
          </a:p>
        </p:txBody>
      </p:sp>
    </p:spTree>
    <p:extLst>
      <p:ext uri="{BB962C8B-B14F-4D97-AF65-F5344CB8AC3E}">
        <p14:creationId xmlns:p14="http://schemas.microsoft.com/office/powerpoint/2010/main" val="9808033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顺序循环的测试</a:t>
            </a:r>
          </a:p>
        </p:txBody>
      </p:sp>
      <p:sp>
        <p:nvSpPr>
          <p:cNvPr id="118787" name="Rectangle 3"/>
          <p:cNvSpPr>
            <a:spLocks noGrp="1" noChangeArrowheads="1"/>
          </p:cNvSpPr>
          <p:nvPr>
            <p:ph type="body" idx="1"/>
          </p:nvPr>
        </p:nvSpPr>
        <p:spPr>
          <a:xfrm>
            <a:off x="468313" y="990600"/>
            <a:ext cx="8229600" cy="3397250"/>
          </a:xfrm>
        </p:spPr>
        <p:txBody>
          <a:bodyPr/>
          <a:lstStyle/>
          <a:p>
            <a:r>
              <a:rPr lang="zh-CN" altLang="en-US" sz="2800" dirty="0"/>
              <a:t>当顺序循环相互独立时</a:t>
            </a:r>
            <a:r>
              <a:rPr lang="en-US" altLang="zh-CN" sz="2800" dirty="0">
                <a:solidFill>
                  <a:schemeClr val="tx2"/>
                </a:solidFill>
              </a:rPr>
              <a:t>, </a:t>
            </a:r>
            <a:r>
              <a:rPr lang="zh-CN" altLang="en-US" sz="2800" dirty="0">
                <a:solidFill>
                  <a:schemeClr val="tx2"/>
                </a:solidFill>
              </a:rPr>
              <a:t>将每个循环当作简单循环进行测试</a:t>
            </a:r>
          </a:p>
          <a:p>
            <a:r>
              <a:rPr lang="zh-CN" altLang="en-US" sz="2800" dirty="0"/>
              <a:t>当顺序循环不独立时</a:t>
            </a:r>
            <a:r>
              <a:rPr lang="en-US" altLang="zh-CN" sz="2800" dirty="0">
                <a:solidFill>
                  <a:schemeClr val="tx2"/>
                </a:solidFill>
              </a:rPr>
              <a:t>, </a:t>
            </a:r>
            <a:r>
              <a:rPr lang="zh-CN" altLang="en-US" sz="2800" dirty="0">
                <a:solidFill>
                  <a:schemeClr val="tx2"/>
                </a:solidFill>
              </a:rPr>
              <a:t>当作嵌套循环进行测试</a:t>
            </a:r>
          </a:p>
        </p:txBody>
      </p:sp>
    </p:spTree>
    <p:extLst>
      <p:ext uri="{BB962C8B-B14F-4D97-AF65-F5344CB8AC3E}">
        <p14:creationId xmlns:p14="http://schemas.microsoft.com/office/powerpoint/2010/main" val="17543054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82C93C99-F49D-4B2A-8A3E-0C0B3C3A5A4F}" type="slidenum">
              <a:rPr lang="en-US" altLang="zh-CN" sz="1800" b="0" smtClean="0">
                <a:latin typeface="Times New Roman" pitchFamily="18" charset="0"/>
                <a:ea typeface="微软雅黑" pitchFamily="34" charset="-122"/>
              </a:rPr>
              <a:pPr algn="l" eaLnBrk="0" hangingPunct="0">
                <a:spcBef>
                  <a:spcPct val="0"/>
                </a:spcBef>
                <a:buFontTx/>
                <a:buNone/>
              </a:pPr>
              <a:t>74</a:t>
            </a:fld>
            <a:endParaRPr lang="en-US" altLang="zh-CN" sz="1800" b="0">
              <a:latin typeface="Times New Roman" pitchFamily="18" charset="0"/>
              <a:ea typeface="微软雅黑" pitchFamily="34" charset="-122"/>
            </a:endParaRPr>
          </a:p>
        </p:txBody>
      </p:sp>
      <p:sp>
        <p:nvSpPr>
          <p:cNvPr id="119811"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数据流覆盖（了解）</a:t>
            </a:r>
          </a:p>
        </p:txBody>
      </p:sp>
      <p:sp>
        <p:nvSpPr>
          <p:cNvPr id="119812" name="Rectangle 3"/>
          <p:cNvSpPr>
            <a:spLocks noGrp="1" noChangeArrowheads="1"/>
          </p:cNvSpPr>
          <p:nvPr>
            <p:ph type="body" idx="1"/>
          </p:nvPr>
        </p:nvSpPr>
        <p:spPr>
          <a:xfrm>
            <a:off x="539750" y="1060450"/>
            <a:ext cx="8135938" cy="3333750"/>
          </a:xfrm>
        </p:spPr>
        <p:txBody>
          <a:bodyPr/>
          <a:lstStyle/>
          <a:p>
            <a:r>
              <a:rPr lang="zh-CN" altLang="en-US" sz="2800" dirty="0"/>
              <a:t>通过一定的覆盖准则检查程序中每个数据对象的每次定义、使用和消除。</a:t>
            </a:r>
          </a:p>
          <a:p>
            <a:r>
              <a:rPr lang="zh-CN" altLang="en-US" sz="2800" dirty="0"/>
              <a:t>数据流模型</a:t>
            </a:r>
            <a:r>
              <a:rPr lang="en-US" altLang="zh-CN" sz="2800" dirty="0"/>
              <a:t>(DUK) </a:t>
            </a:r>
          </a:p>
          <a:p>
            <a:r>
              <a:rPr lang="zh-CN" altLang="en-US" sz="2800" dirty="0"/>
              <a:t>数据流覆盖策略</a:t>
            </a:r>
          </a:p>
        </p:txBody>
      </p:sp>
    </p:spTree>
    <p:extLst>
      <p:ext uri="{BB962C8B-B14F-4D97-AF65-F5344CB8AC3E}">
        <p14:creationId xmlns:p14="http://schemas.microsoft.com/office/powerpoint/2010/main" val="106317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4C3C1B83-61D7-480B-A720-2A291C99ECE5}" type="slidenum">
              <a:rPr lang="en-US" altLang="zh-CN" sz="1800" b="0" smtClean="0">
                <a:latin typeface="Times New Roman" pitchFamily="18" charset="0"/>
                <a:ea typeface="微软雅黑" pitchFamily="34" charset="-122"/>
              </a:rPr>
              <a:pPr algn="l" eaLnBrk="0" hangingPunct="0">
                <a:spcBef>
                  <a:spcPct val="0"/>
                </a:spcBef>
                <a:buFontTx/>
                <a:buNone/>
              </a:pPr>
              <a:t>75</a:t>
            </a:fld>
            <a:endParaRPr lang="en-US" altLang="zh-CN" sz="1800" b="0">
              <a:latin typeface="Times New Roman" pitchFamily="18" charset="0"/>
              <a:ea typeface="微软雅黑" pitchFamily="34" charset="-122"/>
            </a:endParaRPr>
          </a:p>
        </p:txBody>
      </p:sp>
      <p:sp>
        <p:nvSpPr>
          <p:cNvPr id="120835"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变元覆盖（了解）</a:t>
            </a:r>
          </a:p>
        </p:txBody>
      </p:sp>
      <p:sp>
        <p:nvSpPr>
          <p:cNvPr id="120836" name="Rectangle 3"/>
          <p:cNvSpPr>
            <a:spLocks noGrp="1" noChangeArrowheads="1"/>
          </p:cNvSpPr>
          <p:nvPr>
            <p:ph type="body" idx="1"/>
          </p:nvPr>
        </p:nvSpPr>
        <p:spPr>
          <a:xfrm>
            <a:off x="611188" y="1062038"/>
            <a:ext cx="8086725" cy="3303587"/>
          </a:xfrm>
        </p:spPr>
        <p:txBody>
          <a:bodyPr/>
          <a:lstStyle/>
          <a:p>
            <a:r>
              <a:rPr lang="zh-CN" altLang="en-US" sz="2800" dirty="0"/>
              <a:t>代码变异测试</a:t>
            </a:r>
            <a:endParaRPr lang="en-US" altLang="zh-CN" sz="2800" dirty="0"/>
          </a:p>
          <a:p>
            <a:r>
              <a:rPr lang="zh-CN" altLang="en-US" sz="2800" dirty="0"/>
              <a:t>测试覆盖实现中指定的变体，如测试探测到变元，则变体“退役”，如测试探测不到变元，则修正测试包。</a:t>
            </a:r>
          </a:p>
          <a:p>
            <a:r>
              <a:rPr lang="zh-CN" altLang="en-US" sz="2800" dirty="0"/>
              <a:t>变元是指为程序植入小的变化，一般是常出现的错误，如将</a:t>
            </a:r>
            <a:r>
              <a:rPr lang="en-US" altLang="zh-CN" sz="2800" dirty="0"/>
              <a:t>&gt;=</a:t>
            </a:r>
            <a:r>
              <a:rPr lang="zh-CN" altLang="en-US" sz="2800" dirty="0"/>
              <a:t>改写成</a:t>
            </a:r>
            <a:r>
              <a:rPr lang="en-US" altLang="zh-CN" sz="2800" dirty="0"/>
              <a:t>&gt;</a:t>
            </a:r>
            <a:r>
              <a:rPr lang="zh-CN" altLang="en-US" sz="2800" dirty="0"/>
              <a:t>。</a:t>
            </a:r>
          </a:p>
          <a:p>
            <a:r>
              <a:rPr lang="zh-CN" altLang="en-US" sz="2800" dirty="0"/>
              <a:t>用于检查系统的容错能力和测试套件的充分性。</a:t>
            </a:r>
          </a:p>
        </p:txBody>
      </p:sp>
    </p:spTree>
    <p:extLst>
      <p:ext uri="{BB962C8B-B14F-4D97-AF65-F5344CB8AC3E}">
        <p14:creationId xmlns:p14="http://schemas.microsoft.com/office/powerpoint/2010/main" val="18010004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DAA53C01-A8BD-462E-AED4-954667EAE4DF}" type="slidenum">
              <a:rPr lang="en-US" altLang="zh-CN" sz="1800" b="0" smtClean="0">
                <a:latin typeface="Times New Roman" pitchFamily="18" charset="0"/>
                <a:ea typeface="微软雅黑" pitchFamily="34" charset="-122"/>
              </a:rPr>
              <a:pPr algn="l" eaLnBrk="0" hangingPunct="0">
                <a:spcBef>
                  <a:spcPct val="0"/>
                </a:spcBef>
                <a:buFontTx/>
                <a:buNone/>
              </a:pPr>
              <a:t>76</a:t>
            </a:fld>
            <a:endParaRPr lang="en-US" altLang="zh-CN" sz="1800" b="0">
              <a:latin typeface="Times New Roman" pitchFamily="18" charset="0"/>
              <a:ea typeface="微软雅黑" pitchFamily="34" charset="-122"/>
            </a:endParaRPr>
          </a:p>
        </p:txBody>
      </p:sp>
      <p:sp>
        <p:nvSpPr>
          <p:cNvPr id="121859"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变元覆盖实例</a:t>
            </a:r>
          </a:p>
        </p:txBody>
      </p:sp>
      <p:sp>
        <p:nvSpPr>
          <p:cNvPr id="861187" name="Rectangle 3"/>
          <p:cNvSpPr>
            <a:spLocks noGrp="1" noChangeArrowheads="1"/>
          </p:cNvSpPr>
          <p:nvPr>
            <p:ph type="body" idx="1"/>
          </p:nvPr>
        </p:nvSpPr>
        <p:spPr>
          <a:xfrm>
            <a:off x="468313" y="990600"/>
            <a:ext cx="8229600" cy="3397250"/>
          </a:xfrm>
        </p:spPr>
        <p:txBody>
          <a:bodyPr/>
          <a:lstStyle/>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void  Max( </a:t>
            </a:r>
            <a:r>
              <a:rPr lang="en-US" altLang="zh-CN" sz="1802" dirty="0" err="1">
                <a:latin typeface="Times New Roman" panose="02020603050405020304" pitchFamily="18" charset="0"/>
              </a:rPr>
              <a:t>int</a:t>
            </a:r>
            <a:r>
              <a:rPr lang="en-US" altLang="zh-CN" sz="1802" dirty="0">
                <a:latin typeface="Times New Roman" panose="02020603050405020304" pitchFamily="18" charset="0"/>
              </a:rPr>
              <a:t> m, </a:t>
            </a:r>
            <a:r>
              <a:rPr lang="en-US" altLang="zh-CN" sz="1802" dirty="0" err="1">
                <a:latin typeface="Times New Roman" panose="02020603050405020304" pitchFamily="18" charset="0"/>
              </a:rPr>
              <a:t>int</a:t>
            </a:r>
            <a:r>
              <a:rPr lang="en-US" altLang="zh-CN" sz="1802" dirty="0">
                <a:latin typeface="Times New Roman" panose="02020603050405020304" pitchFamily="18" charset="0"/>
              </a:rPr>
              <a:t> n)</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if (m&gt;n) </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return m; </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else</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return n;</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   }</a:t>
            </a:r>
          </a:p>
          <a:p>
            <a:pPr marL="400423" indent="-400423">
              <a:lnSpc>
                <a:spcPct val="80000"/>
              </a:lnSpc>
              <a:buFont typeface="Wingdings" panose="05000000000000000000" pitchFamily="2" charset="2"/>
              <a:buAutoNum type="arabicPeriod"/>
              <a:defRPr/>
            </a:pPr>
            <a:r>
              <a:rPr lang="en-US" altLang="zh-CN" sz="1802" dirty="0">
                <a:latin typeface="Times New Roman" panose="02020603050405020304" pitchFamily="18" charset="0"/>
              </a:rPr>
              <a:t>}</a:t>
            </a:r>
          </a:p>
        </p:txBody>
      </p:sp>
    </p:spTree>
    <p:extLst>
      <p:ext uri="{BB962C8B-B14F-4D97-AF65-F5344CB8AC3E}">
        <p14:creationId xmlns:p14="http://schemas.microsoft.com/office/powerpoint/2010/main" val="13089950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4"/>
          <p:cNvSpPr>
            <a:spLocks noGrp="1"/>
          </p:cNvSpPr>
          <p:nvPr>
            <p:ph type="sldNum" sz="quarter" idx="10"/>
          </p:nvPr>
        </p:nvSpPr>
        <p:spPr>
          <a:noFill/>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 typeface="Arial" pitchFamily="34" charset="0"/>
              <a:buNone/>
            </a:pPr>
            <a:fld id="{05D968C4-CA76-465B-9BB8-2A34E31754CE}" type="slidenum">
              <a:rPr lang="en-US" altLang="zh-CN" sz="600" smtClean="0">
                <a:solidFill>
                  <a:schemeClr val="bg1"/>
                </a:solidFill>
                <a:latin typeface="黑体" pitchFamily="49" charset="-122"/>
                <a:ea typeface="微软雅黑" pitchFamily="34" charset="-122"/>
              </a:rPr>
              <a:pPr>
                <a:spcBef>
                  <a:spcPct val="0"/>
                </a:spcBef>
                <a:buFont typeface="Arial" pitchFamily="34" charset="0"/>
                <a:buNone/>
              </a:pPr>
              <a:t>77</a:t>
            </a:fld>
            <a:endParaRPr lang="en-US" altLang="zh-CN" sz="600">
              <a:solidFill>
                <a:schemeClr val="bg1"/>
              </a:solidFill>
              <a:latin typeface="黑体" pitchFamily="49" charset="-122"/>
              <a:ea typeface="微软雅黑" pitchFamily="34" charset="-122"/>
            </a:endParaRPr>
          </a:p>
        </p:txBody>
      </p:sp>
      <p:sp>
        <p:nvSpPr>
          <p:cNvPr id="122883" name="Rectangle 2" descr="Large confetti"/>
          <p:cNvSpPr>
            <a:spLocks noGrp="1" noChangeArrowheads="1"/>
          </p:cNvSpPr>
          <p:nvPr>
            <p:ph type="title"/>
          </p:nvPr>
        </p:nvSpPr>
        <p:spPr>
          <a:xfrm>
            <a:off x="739775" y="341313"/>
            <a:ext cx="7558088" cy="622300"/>
          </a:xfrm>
        </p:spPr>
        <p:txBody>
          <a:bodyPr/>
          <a:lstStyle/>
          <a:p>
            <a:r>
              <a:rPr lang="zh-CN" altLang="en-US" dirty="0"/>
              <a:t>白盒测试－</a:t>
            </a:r>
            <a:r>
              <a:rPr lang="zh-CN" altLang="en-US" dirty="0">
                <a:latin typeface="楷体_GB2312"/>
                <a:ea typeface="楷体_GB2312"/>
                <a:cs typeface="楷体_GB2312"/>
              </a:rPr>
              <a:t>变元覆盖实例</a:t>
            </a:r>
          </a:p>
        </p:txBody>
      </p:sp>
      <p:sp>
        <p:nvSpPr>
          <p:cNvPr id="862211" name="Rectangle 3"/>
          <p:cNvSpPr>
            <a:spLocks noGrp="1" noChangeArrowheads="1"/>
          </p:cNvSpPr>
          <p:nvPr>
            <p:ph type="body" sz="half" idx="1"/>
          </p:nvPr>
        </p:nvSpPr>
        <p:spPr>
          <a:xfrm>
            <a:off x="1328738" y="1276350"/>
            <a:ext cx="3081337" cy="3089275"/>
          </a:xfrm>
        </p:spPr>
        <p:txBody>
          <a:bodyPr/>
          <a:lstStyle/>
          <a:p>
            <a:pPr>
              <a:defRPr/>
            </a:pPr>
            <a:r>
              <a:rPr lang="zh-CN" altLang="en-US" sz="1802"/>
              <a:t>测试用例</a:t>
            </a:r>
          </a:p>
          <a:p>
            <a:pPr lvl="1">
              <a:defRPr/>
            </a:pPr>
            <a:r>
              <a:rPr lang="zh-CN" altLang="en-US" sz="1802" b="1">
                <a:solidFill>
                  <a:srgbClr val="000000"/>
                </a:solidFill>
              </a:rPr>
              <a:t>输入</a:t>
            </a:r>
            <a:r>
              <a:rPr lang="en-US" altLang="zh-CN" sz="1802"/>
              <a:t>: M=1, N=2</a:t>
            </a:r>
          </a:p>
          <a:p>
            <a:pPr lvl="1">
              <a:defRPr/>
            </a:pPr>
            <a:r>
              <a:rPr lang="zh-CN" altLang="en-US" sz="1802" b="1">
                <a:solidFill>
                  <a:srgbClr val="000000"/>
                </a:solidFill>
              </a:rPr>
              <a:t>返回</a:t>
            </a:r>
            <a:r>
              <a:rPr lang="en-US" altLang="zh-CN" sz="1802"/>
              <a:t>: 2</a:t>
            </a:r>
          </a:p>
          <a:p>
            <a:pPr>
              <a:defRPr/>
            </a:pPr>
            <a:r>
              <a:rPr lang="zh-CN" altLang="en-US" sz="1802"/>
              <a:t>测试结果见右表</a:t>
            </a:r>
          </a:p>
          <a:p>
            <a:pPr>
              <a:defRPr/>
            </a:pPr>
            <a:r>
              <a:rPr lang="zh-CN" altLang="en-US" sz="1802"/>
              <a:t>增加测试用例</a:t>
            </a:r>
          </a:p>
          <a:p>
            <a:pPr lvl="1">
              <a:defRPr/>
            </a:pPr>
            <a:r>
              <a:rPr lang="zh-CN" altLang="en-US" sz="1802" b="1">
                <a:solidFill>
                  <a:srgbClr val="000000"/>
                </a:solidFill>
              </a:rPr>
              <a:t>输入</a:t>
            </a:r>
            <a:r>
              <a:rPr lang="en-US" altLang="zh-CN" sz="1802"/>
              <a:t>: M=2, N=1</a:t>
            </a:r>
          </a:p>
          <a:p>
            <a:pPr lvl="1">
              <a:defRPr/>
            </a:pPr>
            <a:r>
              <a:rPr lang="zh-CN" altLang="en-US" sz="1802" b="1">
                <a:solidFill>
                  <a:srgbClr val="000000"/>
                </a:solidFill>
              </a:rPr>
              <a:t>可测试出</a:t>
            </a:r>
            <a:r>
              <a:rPr lang="en-US" altLang="zh-CN" sz="1501"/>
              <a:t>if M=N</a:t>
            </a:r>
            <a:r>
              <a:rPr lang="en-US" altLang="zh-CN" sz="1501" b="1"/>
              <a:t>, </a:t>
            </a:r>
            <a:r>
              <a:rPr lang="zh-CN" altLang="en-US" sz="1802" b="1">
                <a:solidFill>
                  <a:srgbClr val="000000"/>
                </a:solidFill>
              </a:rPr>
              <a:t>但测不出</a:t>
            </a:r>
            <a:r>
              <a:rPr lang="en-US" altLang="zh-CN" sz="1501"/>
              <a:t>if M&gt;=N</a:t>
            </a:r>
          </a:p>
          <a:p>
            <a:pPr>
              <a:defRPr/>
            </a:pPr>
            <a:r>
              <a:rPr lang="zh-CN" altLang="en-US" sz="1802"/>
              <a:t>没有用例能测出</a:t>
            </a:r>
            <a:r>
              <a:rPr lang="en-US" altLang="zh-CN" sz="1802"/>
              <a:t>if M&gt;=N</a:t>
            </a:r>
          </a:p>
        </p:txBody>
      </p:sp>
      <p:graphicFrame>
        <p:nvGraphicFramePr>
          <p:cNvPr id="862259" name="Group 51"/>
          <p:cNvGraphicFramePr>
            <a:graphicFrameLocks noGrp="1"/>
          </p:cNvGraphicFramePr>
          <p:nvPr>
            <p:ph sz="half" idx="2"/>
          </p:nvPr>
        </p:nvGraphicFramePr>
        <p:xfrm>
          <a:off x="4859338" y="1709738"/>
          <a:ext cx="3298825" cy="2124075"/>
        </p:xfrm>
        <a:graphic>
          <a:graphicData uri="http://schemas.openxmlformats.org/drawingml/2006/table">
            <a:tbl>
              <a:tblPr/>
              <a:tblGrid>
                <a:gridCol w="1134977">
                  <a:extLst>
                    <a:ext uri="{9D8B030D-6E8A-4147-A177-3AD203B41FA5}">
                      <a16:colId xmlns:a16="http://schemas.microsoft.com/office/drawing/2014/main" val="20000"/>
                    </a:ext>
                  </a:extLst>
                </a:gridCol>
                <a:gridCol w="865539">
                  <a:extLst>
                    <a:ext uri="{9D8B030D-6E8A-4147-A177-3AD203B41FA5}">
                      <a16:colId xmlns:a16="http://schemas.microsoft.com/office/drawing/2014/main" val="20001"/>
                    </a:ext>
                  </a:extLst>
                </a:gridCol>
                <a:gridCol w="1298309">
                  <a:extLst>
                    <a:ext uri="{9D8B030D-6E8A-4147-A177-3AD203B41FA5}">
                      <a16:colId xmlns:a16="http://schemas.microsoft.com/office/drawing/2014/main" val="20002"/>
                    </a:ext>
                  </a:extLst>
                </a:gridCol>
              </a:tblGrid>
              <a:tr h="448178">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Mutants</a:t>
                      </a:r>
                    </a:p>
                  </a:txBody>
                  <a:tcPr marL="68671" marR="68671" marT="34329" marB="343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Tahoma" panose="020B0604030504040204" pitchFamily="34" charset="0"/>
                          <a:ea typeface="仿宋_GB2312"/>
                          <a:cs typeface="仿宋_GB2312"/>
                        </a:rPr>
                        <a:t>Outputs</a:t>
                      </a:r>
                    </a:p>
                  </a:txBody>
                  <a:tcPr marL="68671" marR="68671" marT="34329" marB="343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Tahoma" panose="020B0604030504040204" pitchFamily="34" charset="0"/>
                          <a:ea typeface="仿宋_GB2312"/>
                          <a:cs typeface="仿宋_GB2312"/>
                        </a:rPr>
                        <a:t>Comparison</a:t>
                      </a:r>
                    </a:p>
                  </a:txBody>
                  <a:tcPr marL="68671" marR="68671" marT="34329" marB="343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213">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if M&gt;=N</a:t>
                      </a:r>
                    </a:p>
                  </a:txBody>
                  <a:tcPr marL="68671" marR="68671" marT="34329" marB="343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2</a:t>
                      </a:r>
                    </a:p>
                  </a:txBody>
                  <a:tcPr marL="68671" marR="68671" marT="34329" marB="343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Tahoma" panose="020B0604030504040204" pitchFamily="34" charset="0"/>
                          <a:ea typeface="仿宋_GB2312"/>
                          <a:cs typeface="仿宋_GB2312"/>
                        </a:rPr>
                        <a:t>live</a:t>
                      </a:r>
                    </a:p>
                  </a:txBody>
                  <a:tcPr marL="68671" marR="68671" marT="34329" marB="343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4213">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if M&lt;N</a:t>
                      </a:r>
                    </a:p>
                  </a:txBody>
                  <a:tcPr marL="68671" marR="68671" marT="34329" marB="343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1" lang="en-US" altLang="zh-CN" sz="1500" b="0" i="0" u="none" strike="noStrike" cap="none" normalizeH="0" baseline="0">
                          <a:ln>
                            <a:noFill/>
                          </a:ln>
                          <a:solidFill>
                            <a:srgbClr val="000000"/>
                          </a:solidFill>
                          <a:effectLst/>
                          <a:latin typeface="Tahoma" panose="020B0604030504040204" pitchFamily="34" charset="0"/>
                          <a:ea typeface="仿宋_GB2312"/>
                          <a:cs typeface="仿宋_GB2312"/>
                        </a:rPr>
                        <a:t>1</a:t>
                      </a:r>
                    </a:p>
                  </a:txBody>
                  <a:tcPr marL="68671" marR="68671" marT="34329" marB="343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dead</a:t>
                      </a:r>
                    </a:p>
                  </a:txBody>
                  <a:tcPr marL="68671" marR="68671" marT="34329" marB="343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06">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if M&lt;=N</a:t>
                      </a:r>
                    </a:p>
                  </a:txBody>
                  <a:tcPr marL="68671" marR="68671" marT="34329" marB="343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1" lang="en-US" altLang="zh-CN" sz="1500" b="0" i="0" u="none" strike="noStrike" cap="none" normalizeH="0" baseline="0">
                          <a:ln>
                            <a:noFill/>
                          </a:ln>
                          <a:solidFill>
                            <a:srgbClr val="000000"/>
                          </a:solidFill>
                          <a:effectLst/>
                          <a:latin typeface="Tahoma" panose="020B0604030504040204" pitchFamily="34" charset="0"/>
                          <a:ea typeface="仿宋_GB2312"/>
                          <a:cs typeface="仿宋_GB2312"/>
                        </a:rPr>
                        <a:t>1</a:t>
                      </a:r>
                    </a:p>
                  </a:txBody>
                  <a:tcPr marL="68671" marR="68671" marT="34329" marB="343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Tahoma" panose="020B0604030504040204" pitchFamily="34" charset="0"/>
                          <a:ea typeface="仿宋_GB2312"/>
                          <a:cs typeface="仿宋_GB2312"/>
                        </a:rPr>
                        <a:t>dead</a:t>
                      </a:r>
                    </a:p>
                  </a:txBody>
                  <a:tcPr marL="68671" marR="68671" marT="34329" marB="343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4213">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if M=N</a:t>
                      </a:r>
                    </a:p>
                  </a:txBody>
                  <a:tcPr marL="68671" marR="68671" marT="34329" marB="343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2</a:t>
                      </a:r>
                    </a:p>
                  </a:txBody>
                  <a:tcPr marL="68671" marR="68671" marT="34329" marB="343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a:ln>
                            <a:noFill/>
                          </a:ln>
                          <a:solidFill>
                            <a:schemeClr val="tx1"/>
                          </a:solidFill>
                          <a:effectLst/>
                          <a:latin typeface="Tahoma" panose="020B0604030504040204" pitchFamily="34" charset="0"/>
                          <a:ea typeface="仿宋_GB2312"/>
                          <a:cs typeface="仿宋_GB2312"/>
                        </a:rPr>
                        <a:t>live</a:t>
                      </a:r>
                    </a:p>
                  </a:txBody>
                  <a:tcPr marL="68671" marR="68671" marT="34329" marB="343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7852">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if M&lt;&gt;N</a:t>
                      </a:r>
                    </a:p>
                  </a:txBody>
                  <a:tcPr marL="68671" marR="68671" marT="34329" marB="343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1" lang="en-US" altLang="zh-CN" sz="1500" b="0" i="0" u="none" strike="noStrike" cap="none" normalizeH="0" baseline="0">
                          <a:ln>
                            <a:noFill/>
                          </a:ln>
                          <a:solidFill>
                            <a:srgbClr val="000000"/>
                          </a:solidFill>
                          <a:effectLst/>
                          <a:latin typeface="Tahoma" panose="020B0604030504040204" pitchFamily="34" charset="0"/>
                          <a:ea typeface="仿宋_GB2312"/>
                          <a:cs typeface="仿宋_GB2312"/>
                        </a:rPr>
                        <a:t>1</a:t>
                      </a:r>
                    </a:p>
                  </a:txBody>
                  <a:tcPr marL="68671" marR="68671" marT="34329" marB="343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Font typeface="Wingdings" panose="05000000000000000000" pitchFamily="2" charset="2"/>
                        <a:defRPr kumimoji="1" sz="2400" b="1">
                          <a:solidFill>
                            <a:srgbClr val="000000"/>
                          </a:solidFill>
                          <a:latin typeface="Tahoma" panose="020B0604030504040204" pitchFamily="34" charset="0"/>
                          <a:ea typeface="仿宋_GB2312"/>
                          <a:cs typeface="仿宋_GB2312"/>
                        </a:defRPr>
                      </a:lvl1pPr>
                      <a:lvl2pPr>
                        <a:spcBef>
                          <a:spcPct val="20000"/>
                        </a:spcBef>
                        <a:buClr>
                          <a:schemeClr val="bg2"/>
                        </a:buClr>
                        <a:buSzPct val="85000"/>
                        <a:buFont typeface="Wingdings" panose="05000000000000000000" pitchFamily="2" charset="2"/>
                        <a:defRPr kumimoji="1" sz="2400">
                          <a:solidFill>
                            <a:schemeClr val="tx1"/>
                          </a:solidFill>
                          <a:latin typeface="Tahoma" panose="020B0604030504040204" pitchFamily="34" charset="0"/>
                          <a:ea typeface="楷体_GB2312"/>
                          <a:cs typeface="楷体_GB2312"/>
                        </a:defRPr>
                      </a:lvl2pPr>
                      <a:lvl3pPr>
                        <a:spcBef>
                          <a:spcPct val="20000"/>
                        </a:spcBef>
                        <a:buFont typeface="Wingdings" panose="05000000000000000000" pitchFamily="2" charset="2"/>
                        <a:defRPr kumimoji="1" sz="2000">
                          <a:solidFill>
                            <a:schemeClr val="tx1"/>
                          </a:solidFill>
                          <a:latin typeface="Comic Sans MS" panose="030F0702030302020204" pitchFamily="66" charset="0"/>
                          <a:ea typeface="宋体" panose="02010600030101010101" pitchFamily="2" charset="-122"/>
                          <a:cs typeface="楷体_GB2312"/>
                        </a:defRPr>
                      </a:lvl3pPr>
                      <a:lvl4pPr>
                        <a:spcBef>
                          <a:spcPct val="20000"/>
                        </a:spcBef>
                        <a:buSzPct val="70000"/>
                        <a:buFont typeface="Wingdings" panose="05000000000000000000" pitchFamily="2" charset="2"/>
                        <a:defRPr kumimoji="1">
                          <a:solidFill>
                            <a:srgbClr val="3F3B6F"/>
                          </a:solidFill>
                          <a:latin typeface="Comic Sans MS" panose="030F0702030302020204" pitchFamily="66" charset="0"/>
                          <a:ea typeface="宋体" panose="02010600030101010101" pitchFamily="2" charset="-122"/>
                          <a:cs typeface="楷体_GB2312"/>
                        </a:defRPr>
                      </a:lvl4pPr>
                      <a:lvl5pPr>
                        <a:spcBef>
                          <a:spcPct val="20000"/>
                        </a:spcBef>
                        <a:defRPr kumimoji="1">
                          <a:solidFill>
                            <a:srgbClr val="48447E"/>
                          </a:solidFill>
                          <a:latin typeface="Comic Sans MS" panose="030F0702030302020204" pitchFamily="66" charset="0"/>
                          <a:ea typeface="宋体" panose="02010600030101010101" pitchFamily="2" charset="-122"/>
                          <a:cs typeface="楷体_GB2312"/>
                        </a:defRPr>
                      </a:lvl5pPr>
                      <a:lvl6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6pPr>
                      <a:lvl7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7pPr>
                      <a:lvl8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8pPr>
                      <a:lvl9pPr fontAlgn="base">
                        <a:spcBef>
                          <a:spcPct val="20000"/>
                        </a:spcBef>
                        <a:spcAft>
                          <a:spcPct val="0"/>
                        </a:spcAft>
                        <a:defRPr kumimoji="1">
                          <a:solidFill>
                            <a:srgbClr val="48447E"/>
                          </a:solidFill>
                          <a:latin typeface="Comic Sans MS" panose="030F0702030302020204" pitchFamily="66"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tabLst/>
                      </a:pPr>
                      <a:r>
                        <a:rPr kumimoji="0" lang="en-US" altLang="zh-CN" sz="1500" b="0" i="0" u="none" strike="noStrike" cap="none" normalizeH="0" baseline="0" dirty="0">
                          <a:ln>
                            <a:noFill/>
                          </a:ln>
                          <a:solidFill>
                            <a:schemeClr val="tx1"/>
                          </a:solidFill>
                          <a:effectLst/>
                          <a:latin typeface="Tahoma" panose="020B0604030504040204" pitchFamily="34" charset="0"/>
                          <a:ea typeface="仿宋_GB2312"/>
                          <a:cs typeface="仿宋_GB2312"/>
                        </a:rPr>
                        <a:t>dead</a:t>
                      </a:r>
                    </a:p>
                  </a:txBody>
                  <a:tcPr marL="68671" marR="68671" marT="34329" marB="343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673175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E50B6BC0-9E0C-41B3-8C85-39C6ADFDADD1}" type="slidenum">
              <a:rPr lang="en-US" altLang="zh-CN" sz="1800" b="0" smtClean="0">
                <a:latin typeface="Times New Roman" pitchFamily="18" charset="0"/>
                <a:ea typeface="微软雅黑" pitchFamily="34" charset="-122"/>
              </a:rPr>
              <a:pPr algn="l" eaLnBrk="0" hangingPunct="0">
                <a:spcBef>
                  <a:spcPct val="0"/>
                </a:spcBef>
                <a:buFontTx/>
                <a:buNone/>
              </a:pPr>
              <a:t>78</a:t>
            </a:fld>
            <a:endParaRPr lang="en-US" altLang="zh-CN" sz="1800" b="0">
              <a:latin typeface="Times New Roman" pitchFamily="18" charset="0"/>
              <a:ea typeface="微软雅黑" pitchFamily="34" charset="-122"/>
            </a:endParaRPr>
          </a:p>
        </p:txBody>
      </p:sp>
      <p:sp>
        <p:nvSpPr>
          <p:cNvPr id="123907" name="Rectangle 2"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覆盖分析器</a:t>
            </a:r>
          </a:p>
        </p:txBody>
      </p:sp>
      <p:sp>
        <p:nvSpPr>
          <p:cNvPr id="409603" name="Rectangle 3"/>
          <p:cNvSpPr>
            <a:spLocks noGrp="1" noChangeArrowheads="1"/>
          </p:cNvSpPr>
          <p:nvPr>
            <p:ph type="body" idx="1"/>
          </p:nvPr>
        </p:nvSpPr>
        <p:spPr>
          <a:xfrm>
            <a:off x="971550" y="1062038"/>
            <a:ext cx="7200900" cy="3216275"/>
          </a:xfrm>
        </p:spPr>
        <p:txBody>
          <a:bodyPr/>
          <a:lstStyle/>
          <a:p>
            <a:pPr marL="457627" indent="-457627">
              <a:defRPr/>
            </a:pPr>
            <a:r>
              <a:rPr lang="zh-CN" altLang="en-US" dirty="0"/>
              <a:t>覆盖分析器是分析测试覆盖率的工具</a:t>
            </a:r>
          </a:p>
          <a:p>
            <a:pPr marL="457627" indent="-457627">
              <a:defRPr/>
            </a:pPr>
            <a:r>
              <a:rPr lang="zh-CN" altLang="en-US" dirty="0"/>
              <a:t>覆盖分析器工作原理</a:t>
            </a:r>
          </a:p>
          <a:p>
            <a:pPr marL="743643" lvl="1" indent="-400423">
              <a:buFont typeface="Wingdings" panose="05000000000000000000" pitchFamily="2" charset="2"/>
              <a:buAutoNum type="arabicParenR"/>
              <a:defRPr/>
            </a:pPr>
            <a:r>
              <a:rPr lang="zh-CN" altLang="en-US" sz="1802" b="1" dirty="0">
                <a:solidFill>
                  <a:srgbClr val="000000"/>
                </a:solidFill>
              </a:rPr>
              <a:t>通过对源代码的词法分析，插入可跟踪代码，再编译连接；</a:t>
            </a:r>
          </a:p>
          <a:p>
            <a:pPr marL="743643" lvl="1" indent="-400423">
              <a:buFont typeface="Wingdings" panose="05000000000000000000" pitchFamily="2" charset="2"/>
              <a:buAutoNum type="arabicParenR"/>
              <a:defRPr/>
            </a:pPr>
            <a:r>
              <a:rPr lang="zh-CN" altLang="en-US" sz="1802" b="1" dirty="0">
                <a:solidFill>
                  <a:srgbClr val="000000"/>
                </a:solidFill>
              </a:rPr>
              <a:t>当装配过可跟踪代码的软件执行时，就会产生一个跟踪文件；</a:t>
            </a:r>
          </a:p>
          <a:p>
            <a:pPr marL="743643" lvl="1" indent="-400423">
              <a:buFont typeface="Wingdings" panose="05000000000000000000" pitchFamily="2" charset="2"/>
              <a:buAutoNum type="arabicParenR"/>
              <a:defRPr/>
            </a:pPr>
            <a:r>
              <a:rPr lang="zh-CN" altLang="en-US" sz="1802" b="1" dirty="0">
                <a:solidFill>
                  <a:srgbClr val="000000"/>
                </a:solidFill>
              </a:rPr>
              <a:t>测试完成后，利用跟踪文件生成覆盖报告。</a:t>
            </a:r>
          </a:p>
        </p:txBody>
      </p:sp>
    </p:spTree>
    <p:extLst>
      <p:ext uri="{BB962C8B-B14F-4D97-AF65-F5344CB8AC3E}">
        <p14:creationId xmlns:p14="http://schemas.microsoft.com/office/powerpoint/2010/main" val="30903471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1DCE1B93-D1A1-4226-B055-BF8F18A951A8}" type="slidenum">
              <a:rPr lang="en-US" altLang="zh-CN" sz="1800" b="0" smtClean="0">
                <a:latin typeface="Times New Roman" pitchFamily="18" charset="0"/>
                <a:ea typeface="微软雅黑" pitchFamily="34" charset="-122"/>
              </a:rPr>
              <a:pPr algn="l" eaLnBrk="0" hangingPunct="0">
                <a:spcBef>
                  <a:spcPct val="0"/>
                </a:spcBef>
                <a:buFontTx/>
                <a:buNone/>
              </a:pPr>
              <a:t>79</a:t>
            </a:fld>
            <a:endParaRPr lang="en-US" altLang="zh-CN" sz="1800" b="0">
              <a:latin typeface="Times New Roman" pitchFamily="18" charset="0"/>
              <a:ea typeface="微软雅黑" pitchFamily="34" charset="-122"/>
            </a:endParaRPr>
          </a:p>
        </p:txBody>
      </p:sp>
      <p:sp>
        <p:nvSpPr>
          <p:cNvPr id="124931" name="Rectangle 1026"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覆盖率的作用</a:t>
            </a:r>
          </a:p>
        </p:txBody>
      </p:sp>
      <p:sp>
        <p:nvSpPr>
          <p:cNvPr id="124932" name="Rectangle 1027"/>
          <p:cNvSpPr>
            <a:spLocks noGrp="1" noChangeArrowheads="1"/>
          </p:cNvSpPr>
          <p:nvPr>
            <p:ph type="body" idx="1"/>
          </p:nvPr>
        </p:nvSpPr>
        <p:spPr>
          <a:xfrm>
            <a:off x="1598613" y="1114425"/>
            <a:ext cx="6007100" cy="3089275"/>
          </a:xfrm>
        </p:spPr>
        <p:txBody>
          <a:bodyPr/>
          <a:lstStyle/>
          <a:p>
            <a:r>
              <a:rPr lang="zh-CN" altLang="en-US"/>
              <a:t>不可执行的路径或条件</a:t>
            </a:r>
          </a:p>
          <a:p>
            <a:r>
              <a:rPr lang="zh-CN" altLang="en-US"/>
              <a:t>不可能到达或冗余的代码</a:t>
            </a:r>
          </a:p>
          <a:p>
            <a:r>
              <a:rPr lang="zh-CN" altLang="en-US"/>
              <a:t>不充分的测试用例集</a:t>
            </a:r>
          </a:p>
        </p:txBody>
      </p:sp>
    </p:spTree>
    <p:extLst>
      <p:ext uri="{BB962C8B-B14F-4D97-AF65-F5344CB8AC3E}">
        <p14:creationId xmlns:p14="http://schemas.microsoft.com/office/powerpoint/2010/main" val="27997507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A366EDDF-0C7B-4689-9CC3-95F5ACC46264}" type="slidenum">
              <a:rPr lang="en-US" altLang="zh-CN" sz="1800" b="0" smtClean="0">
                <a:latin typeface="Times New Roman" pitchFamily="18" charset="0"/>
                <a:ea typeface="微软雅黑" pitchFamily="34" charset="-122"/>
              </a:rPr>
              <a:pPr algn="l" eaLnBrk="0" hangingPunct="0">
                <a:spcBef>
                  <a:spcPct val="0"/>
                </a:spcBef>
                <a:buFontTx/>
                <a:buNone/>
              </a:pPr>
              <a:t>80</a:t>
            </a:fld>
            <a:endParaRPr lang="en-US" altLang="zh-CN" sz="1800" b="0">
              <a:latin typeface="Times New Roman" pitchFamily="18" charset="0"/>
              <a:ea typeface="微软雅黑" pitchFamily="34" charset="-122"/>
            </a:endParaRPr>
          </a:p>
        </p:txBody>
      </p:sp>
      <p:sp>
        <p:nvSpPr>
          <p:cNvPr id="125955" name="Rectangle 1026" descr="Large confetti"/>
          <p:cNvSpPr>
            <a:spLocks noGrp="1" noChangeArrowheads="1"/>
          </p:cNvSpPr>
          <p:nvPr>
            <p:ph type="title"/>
          </p:nvPr>
        </p:nvSpPr>
        <p:spPr>
          <a:xfrm>
            <a:off x="468313" y="269875"/>
            <a:ext cx="8229600" cy="647700"/>
          </a:xfrm>
        </p:spPr>
        <p:txBody>
          <a:bodyPr/>
          <a:lstStyle/>
          <a:p>
            <a:r>
              <a:rPr lang="zh-CN" altLang="en-US" dirty="0"/>
              <a:t>白盒测试－</a:t>
            </a:r>
            <a:r>
              <a:rPr lang="zh-CN" altLang="en-US" dirty="0">
                <a:latin typeface="楷体_GB2312"/>
                <a:ea typeface="楷体_GB2312"/>
                <a:cs typeface="楷体_GB2312"/>
              </a:rPr>
              <a:t>覆盖率与缺陷查找</a:t>
            </a:r>
          </a:p>
        </p:txBody>
      </p:sp>
      <p:sp>
        <p:nvSpPr>
          <p:cNvPr id="604163" name="Rectangle 1027"/>
          <p:cNvSpPr>
            <a:spLocks noGrp="1" noChangeArrowheads="1"/>
          </p:cNvSpPr>
          <p:nvPr>
            <p:ph type="body" idx="1"/>
          </p:nvPr>
        </p:nvSpPr>
        <p:spPr>
          <a:xfrm>
            <a:off x="539750" y="1114425"/>
            <a:ext cx="8158163" cy="3343275"/>
          </a:xfrm>
        </p:spPr>
        <p:txBody>
          <a:bodyPr/>
          <a:lstStyle/>
          <a:p>
            <a:pPr marL="457627" indent="-457627">
              <a:defRPr/>
            </a:pPr>
            <a:r>
              <a:rPr lang="zh-CN" altLang="en-US" dirty="0"/>
              <a:t>覆盖与发现缺陷之间没有必然联系</a:t>
            </a:r>
          </a:p>
          <a:p>
            <a:pPr marL="457627" indent="-457627">
              <a:defRPr/>
            </a:pPr>
            <a:r>
              <a:rPr lang="zh-CN" altLang="en-US" dirty="0"/>
              <a:t>达到</a:t>
            </a:r>
            <a:r>
              <a:rPr lang="en-US" altLang="zh-CN" dirty="0"/>
              <a:t>85% </a:t>
            </a:r>
            <a:r>
              <a:rPr lang="zh-CN" altLang="en-US" dirty="0"/>
              <a:t>容易</a:t>
            </a:r>
            <a:r>
              <a:rPr lang="en-US" altLang="zh-CN" dirty="0"/>
              <a:t>, </a:t>
            </a:r>
            <a:r>
              <a:rPr lang="zh-CN" altLang="en-US" dirty="0"/>
              <a:t>达到</a:t>
            </a:r>
            <a:r>
              <a:rPr lang="en-US" altLang="zh-CN" dirty="0"/>
              <a:t>100% </a:t>
            </a:r>
            <a:r>
              <a:rPr lang="zh-CN" altLang="en-US" dirty="0"/>
              <a:t>困难</a:t>
            </a:r>
          </a:p>
          <a:p>
            <a:pPr marL="743643" lvl="1" indent="-400423">
              <a:defRPr/>
            </a:pPr>
            <a:r>
              <a:rPr lang="zh-CN" altLang="en-US" sz="1802" b="1" dirty="0">
                <a:solidFill>
                  <a:srgbClr val="000000"/>
                </a:solidFill>
              </a:rPr>
              <a:t>不可到达的代码</a:t>
            </a:r>
            <a:r>
              <a:rPr lang="en-US" altLang="zh-CN" sz="1802" b="1" dirty="0">
                <a:solidFill>
                  <a:srgbClr val="000000"/>
                </a:solidFill>
              </a:rPr>
              <a:t>(</a:t>
            </a:r>
            <a:r>
              <a:rPr lang="zh-CN" altLang="en-US" sz="1802" b="1" dirty="0">
                <a:solidFill>
                  <a:srgbClr val="000000"/>
                </a:solidFill>
              </a:rPr>
              <a:t>控制流无法到达</a:t>
            </a:r>
            <a:r>
              <a:rPr lang="en-US" altLang="zh-CN" sz="1802" b="1" dirty="0">
                <a:solidFill>
                  <a:srgbClr val="000000"/>
                </a:solidFill>
              </a:rPr>
              <a:t>)</a:t>
            </a:r>
          </a:p>
          <a:p>
            <a:pPr marL="743643" lvl="1" indent="-400423">
              <a:defRPr/>
            </a:pPr>
            <a:r>
              <a:rPr lang="zh-CN" altLang="en-US" sz="1802" b="1" dirty="0">
                <a:solidFill>
                  <a:srgbClr val="000000"/>
                </a:solidFill>
              </a:rPr>
              <a:t>复杂序列</a:t>
            </a:r>
            <a:r>
              <a:rPr lang="en-US" altLang="zh-CN" sz="1802" b="1" dirty="0">
                <a:solidFill>
                  <a:srgbClr val="000000"/>
                </a:solidFill>
              </a:rPr>
              <a:t>(</a:t>
            </a:r>
            <a:r>
              <a:rPr lang="zh-CN" altLang="en-US" sz="1802" b="1" dirty="0">
                <a:solidFill>
                  <a:srgbClr val="000000"/>
                </a:solidFill>
              </a:rPr>
              <a:t>很难使控制流到达</a:t>
            </a:r>
            <a:r>
              <a:rPr lang="en-US" altLang="zh-CN" sz="1802" b="1" dirty="0">
                <a:solidFill>
                  <a:srgbClr val="000000"/>
                </a:solidFill>
              </a:rPr>
              <a:t>)</a:t>
            </a:r>
          </a:p>
          <a:p>
            <a:pPr marL="457627" indent="-457627">
              <a:defRPr/>
            </a:pPr>
            <a:r>
              <a:rPr lang="zh-CN" altLang="en-US" dirty="0"/>
              <a:t>获得任何覆盖目标都不意味着没有缺陷</a:t>
            </a:r>
          </a:p>
          <a:p>
            <a:pPr marL="743643" lvl="1" indent="-400423">
              <a:buFont typeface="Wingdings" panose="05000000000000000000" pitchFamily="2" charset="2"/>
              <a:buAutoNum type="arabicParenR"/>
              <a:defRPr/>
            </a:pPr>
            <a:r>
              <a:rPr lang="zh-CN" altLang="en-US" sz="1802" b="1" dirty="0">
                <a:solidFill>
                  <a:srgbClr val="000000"/>
                </a:solidFill>
              </a:rPr>
              <a:t>需求相关的缺陷</a:t>
            </a:r>
          </a:p>
          <a:p>
            <a:pPr marL="743643" lvl="1" indent="-400423">
              <a:buFont typeface="Wingdings" panose="05000000000000000000" pitchFamily="2" charset="2"/>
              <a:buAutoNum type="arabicParenR"/>
              <a:defRPr/>
            </a:pPr>
            <a:r>
              <a:rPr lang="zh-CN" altLang="en-US" sz="1802" b="1" dirty="0">
                <a:solidFill>
                  <a:srgbClr val="000000"/>
                </a:solidFill>
              </a:rPr>
              <a:t>丢失的代码</a:t>
            </a:r>
          </a:p>
          <a:p>
            <a:pPr marL="743643" lvl="1" indent="-400423">
              <a:buFont typeface="Wingdings" panose="05000000000000000000" pitchFamily="2" charset="2"/>
              <a:buAutoNum type="arabicParenR"/>
              <a:defRPr/>
            </a:pPr>
            <a:r>
              <a:rPr lang="zh-CN" altLang="en-US" sz="1802" b="1" dirty="0">
                <a:solidFill>
                  <a:srgbClr val="000000"/>
                </a:solidFill>
              </a:rPr>
              <a:t>中断相关的缺陷</a:t>
            </a:r>
          </a:p>
          <a:p>
            <a:pPr marL="743643" lvl="1" indent="-400423">
              <a:buFont typeface="Wingdings" panose="05000000000000000000" pitchFamily="2" charset="2"/>
              <a:buAutoNum type="arabicParenR"/>
              <a:defRPr/>
            </a:pPr>
            <a:r>
              <a:rPr lang="zh-CN" altLang="en-US" sz="1802" b="1" dirty="0">
                <a:solidFill>
                  <a:srgbClr val="000000"/>
                </a:solidFill>
              </a:rPr>
              <a:t>兼容性</a:t>
            </a:r>
            <a:r>
              <a:rPr lang="en-US" altLang="zh-CN" sz="1802" b="1" dirty="0">
                <a:solidFill>
                  <a:srgbClr val="000000"/>
                </a:solidFill>
              </a:rPr>
              <a:t>/</a:t>
            </a:r>
            <a:r>
              <a:rPr lang="zh-CN" altLang="en-US" sz="1802" b="1" dirty="0">
                <a:solidFill>
                  <a:srgbClr val="000000"/>
                </a:solidFill>
              </a:rPr>
              <a:t>配置相关的缺陷</a:t>
            </a:r>
          </a:p>
        </p:txBody>
      </p:sp>
    </p:spTree>
    <p:extLst>
      <p:ext uri="{BB962C8B-B14F-4D97-AF65-F5344CB8AC3E}">
        <p14:creationId xmlns:p14="http://schemas.microsoft.com/office/powerpoint/2010/main" val="40878203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3"/>
          <p:cNvSpPr>
            <a:spLocks noGrp="1"/>
          </p:cNvSpPr>
          <p:nvPr>
            <p:ph type="sldNum" sz="quarter" idx="4294967295"/>
          </p:nvPr>
        </p:nvSpPr>
        <p:spPr>
          <a:xfrm>
            <a:off x="7668344" y="5185700"/>
            <a:ext cx="946150" cy="93663"/>
          </a:xfrm>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A366EDDF-0C7B-4689-9CC3-95F5ACC46264}" type="slidenum">
              <a:rPr lang="en-US" altLang="zh-CN" sz="1800" b="0" smtClean="0">
                <a:latin typeface="Times New Roman" pitchFamily="18" charset="0"/>
                <a:ea typeface="微软雅黑" pitchFamily="34" charset="-122"/>
              </a:rPr>
              <a:pPr algn="l" eaLnBrk="0" hangingPunct="0">
                <a:spcBef>
                  <a:spcPct val="0"/>
                </a:spcBef>
                <a:buFontTx/>
                <a:buNone/>
              </a:pPr>
              <a:t>81</a:t>
            </a:fld>
            <a:endParaRPr lang="en-US" altLang="zh-CN" sz="1800" b="0">
              <a:latin typeface="Times New Roman" pitchFamily="18" charset="0"/>
              <a:ea typeface="微软雅黑" pitchFamily="34" charset="-122"/>
            </a:endParaRPr>
          </a:p>
        </p:txBody>
      </p:sp>
      <p:sp>
        <p:nvSpPr>
          <p:cNvPr id="125955" name="Rectangle 1026" descr="Large confetti"/>
          <p:cNvSpPr>
            <a:spLocks noGrp="1" noChangeArrowheads="1"/>
          </p:cNvSpPr>
          <p:nvPr>
            <p:ph type="title"/>
          </p:nvPr>
        </p:nvSpPr>
        <p:spPr>
          <a:xfrm>
            <a:off x="468313" y="269875"/>
            <a:ext cx="8229600" cy="647700"/>
          </a:xfrm>
        </p:spPr>
        <p:txBody>
          <a:bodyPr/>
          <a:lstStyle/>
          <a:p>
            <a:r>
              <a:rPr lang="zh-CN" altLang="en-US" dirty="0"/>
              <a:t>白盒测试－总结与讨论</a:t>
            </a:r>
            <a:endParaRPr lang="zh-CN" altLang="en-US" dirty="0">
              <a:latin typeface="楷体_GB2312"/>
              <a:ea typeface="楷体_GB2312"/>
              <a:cs typeface="楷体_GB2312"/>
            </a:endParaRPr>
          </a:p>
        </p:txBody>
      </p:sp>
      <p:sp>
        <p:nvSpPr>
          <p:cNvPr id="5" name="灯片编号占位符 3"/>
          <p:cNvSpPr txBox="1">
            <a:spLocks/>
          </p:cNvSpPr>
          <p:nvPr/>
        </p:nvSpPr>
        <p:spPr bwMode="auto">
          <a:xfrm>
            <a:off x="7668344" y="5185700"/>
            <a:ext cx="946150" cy="9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Font typeface="Arial" pitchFamily="34" charset="0"/>
              <a:buChar char="•"/>
              <a:defRPr sz="3200" b="1" kern="1200">
                <a:solidFill>
                  <a:schemeClr val="tx1"/>
                </a:solidFill>
                <a:latin typeface="Arial" pitchFamily="34" charset="0"/>
                <a:ea typeface="黑体" pitchFamily="49" charset="-122"/>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Arial" pitchFamily="34" charset="0"/>
                <a:ea typeface="黑体" pitchFamily="49" charset="-122"/>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Arial" pitchFamily="34" charset="0"/>
                <a:ea typeface="黑体" pitchFamily="49" charset="-122"/>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Arial" pitchFamily="34" charset="0"/>
                <a:ea typeface="黑体" pitchFamily="49" charset="-122"/>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Arial" pitchFamily="34" charset="0"/>
                <a:ea typeface="黑体" pitchFamily="49" charset="-122"/>
                <a:cs typeface="+mn-cs"/>
              </a:defRPr>
            </a:lvl5pPr>
            <a:lvl6pPr marL="2514600" indent="-228600" algn="l" defTabSz="914400" rtl="0" eaLnBrk="0" fontAlgn="base" latinLnBrk="0" hangingPunct="0">
              <a:spcBef>
                <a:spcPct val="20000"/>
              </a:spcBef>
              <a:spcAft>
                <a:spcPct val="0"/>
              </a:spcAft>
              <a:buFont typeface="Arial" pitchFamily="34" charset="0"/>
              <a:buChar char="»"/>
              <a:defRPr sz="2000" kern="1200">
                <a:solidFill>
                  <a:schemeClr val="tx1"/>
                </a:solidFill>
                <a:latin typeface="Arial" pitchFamily="34" charset="0"/>
                <a:ea typeface="黑体" pitchFamily="49" charset="-122"/>
                <a:cs typeface="+mn-cs"/>
              </a:defRPr>
            </a:lvl6pPr>
            <a:lvl7pPr marL="2971800" indent="-228600" algn="l" defTabSz="914400" rtl="0" eaLnBrk="0" fontAlgn="base" latinLnBrk="0" hangingPunct="0">
              <a:spcBef>
                <a:spcPct val="20000"/>
              </a:spcBef>
              <a:spcAft>
                <a:spcPct val="0"/>
              </a:spcAft>
              <a:buFont typeface="Arial" pitchFamily="34" charset="0"/>
              <a:buChar char="»"/>
              <a:defRPr sz="2000" kern="1200">
                <a:solidFill>
                  <a:schemeClr val="tx1"/>
                </a:solidFill>
                <a:latin typeface="Arial" pitchFamily="34" charset="0"/>
                <a:ea typeface="黑体" pitchFamily="49" charset="-122"/>
                <a:cs typeface="+mn-cs"/>
              </a:defRPr>
            </a:lvl7pPr>
            <a:lvl8pPr marL="3429000" indent="-228600" algn="l" defTabSz="914400" rtl="0" eaLnBrk="0" fontAlgn="base" latinLnBrk="0" hangingPunct="0">
              <a:spcBef>
                <a:spcPct val="20000"/>
              </a:spcBef>
              <a:spcAft>
                <a:spcPct val="0"/>
              </a:spcAft>
              <a:buFont typeface="Arial" pitchFamily="34" charset="0"/>
              <a:buChar char="»"/>
              <a:defRPr sz="2000" kern="1200">
                <a:solidFill>
                  <a:schemeClr val="tx1"/>
                </a:solidFill>
                <a:latin typeface="Arial" pitchFamily="34" charset="0"/>
                <a:ea typeface="黑体" pitchFamily="49" charset="-122"/>
                <a:cs typeface="+mn-cs"/>
              </a:defRPr>
            </a:lvl8pPr>
            <a:lvl9pPr marL="3886200" indent="-228600" algn="l" defTabSz="914400" rtl="0" eaLnBrk="0" fontAlgn="base" latinLnBrk="0" hangingPunct="0">
              <a:spcBef>
                <a:spcPct val="20000"/>
              </a:spcBef>
              <a:spcAft>
                <a:spcPct val="0"/>
              </a:spcAft>
              <a:buFont typeface="Arial" pitchFamily="34" charset="0"/>
              <a:buChar char="»"/>
              <a:defRPr sz="2000" kern="1200">
                <a:solidFill>
                  <a:schemeClr val="tx1"/>
                </a:solidFill>
                <a:latin typeface="Arial" pitchFamily="34" charset="0"/>
                <a:ea typeface="黑体" pitchFamily="49" charset="-122"/>
                <a:cs typeface="+mn-cs"/>
              </a:defRPr>
            </a:lvl9pPr>
          </a:lstStyle>
          <a:p>
            <a:pPr algn="l" eaLnBrk="0" hangingPunct="0">
              <a:spcBef>
                <a:spcPct val="0"/>
              </a:spcBef>
              <a:buFontTx/>
              <a:buNone/>
            </a:pPr>
            <a:fld id="{0F99B659-8C8E-4036-BB75-B10AC410AEAF}" type="slidenum">
              <a:rPr lang="en-US" altLang="zh-CN" sz="1800" b="0" smtClean="0">
                <a:latin typeface="Times New Roman" pitchFamily="18" charset="0"/>
                <a:ea typeface="微软雅黑" pitchFamily="34" charset="-122"/>
              </a:rPr>
              <a:pPr algn="l" eaLnBrk="0" hangingPunct="0">
                <a:spcBef>
                  <a:spcPct val="0"/>
                </a:spcBef>
                <a:buFontTx/>
                <a:buNone/>
              </a:pPr>
              <a:t>81</a:t>
            </a:fld>
            <a:endParaRPr lang="en-US" altLang="zh-CN" sz="1800" b="0">
              <a:latin typeface="Times New Roman" pitchFamily="18" charset="0"/>
              <a:ea typeface="微软雅黑" pitchFamily="34" charset="-122"/>
            </a:endParaRPr>
          </a:p>
        </p:txBody>
      </p:sp>
      <p:grpSp>
        <p:nvGrpSpPr>
          <p:cNvPr id="6" name="Group 93"/>
          <p:cNvGrpSpPr>
            <a:grpSpLocks/>
          </p:cNvGrpSpPr>
          <p:nvPr/>
        </p:nvGrpSpPr>
        <p:grpSpPr bwMode="auto">
          <a:xfrm>
            <a:off x="3022600" y="2349202"/>
            <a:ext cx="1031875" cy="712787"/>
            <a:chOff x="1825" y="3148"/>
            <a:chExt cx="866" cy="598"/>
          </a:xfrm>
        </p:grpSpPr>
        <p:sp>
          <p:nvSpPr>
            <p:cNvPr id="7" name="Rectangle 94"/>
            <p:cNvSpPr>
              <a:spLocks noChangeArrowheads="1"/>
            </p:cNvSpPr>
            <p:nvPr/>
          </p:nvSpPr>
          <p:spPr bwMode="auto">
            <a:xfrm>
              <a:off x="1829" y="3262"/>
              <a:ext cx="718" cy="480"/>
            </a:xfrm>
            <a:prstGeom prst="rect">
              <a:avLst/>
            </a:prstGeom>
            <a:solidFill>
              <a:srgbClr val="FFFFFF"/>
            </a:solidFill>
            <a:ln w="12700">
              <a:solidFill>
                <a:srgbClr val="000000"/>
              </a:solidFill>
              <a:miter lim="800000"/>
              <a:headEnd/>
              <a:tailEnd/>
            </a:ln>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8" name="Freeform 95"/>
            <p:cNvSpPr>
              <a:spLocks/>
            </p:cNvSpPr>
            <p:nvPr/>
          </p:nvSpPr>
          <p:spPr bwMode="auto">
            <a:xfrm>
              <a:off x="1825" y="3148"/>
              <a:ext cx="866" cy="110"/>
            </a:xfrm>
            <a:custGeom>
              <a:avLst/>
              <a:gdLst>
                <a:gd name="T0" fmla="*/ 215 w 866"/>
                <a:gd name="T1" fmla="*/ 0 h 110"/>
                <a:gd name="T2" fmla="*/ 0 w 866"/>
                <a:gd name="T3" fmla="*/ 110 h 110"/>
                <a:gd name="T4" fmla="*/ 718 w 866"/>
                <a:gd name="T5" fmla="*/ 110 h 110"/>
                <a:gd name="T6" fmla="*/ 866 w 866"/>
                <a:gd name="T7" fmla="*/ 0 h 110"/>
                <a:gd name="T8" fmla="*/ 215 w 86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6" h="110">
                  <a:moveTo>
                    <a:pt x="215" y="0"/>
                  </a:moveTo>
                  <a:lnTo>
                    <a:pt x="0" y="110"/>
                  </a:lnTo>
                  <a:lnTo>
                    <a:pt x="718" y="110"/>
                  </a:lnTo>
                  <a:lnTo>
                    <a:pt x="866" y="0"/>
                  </a:lnTo>
                  <a:lnTo>
                    <a:pt x="215" y="0"/>
                  </a:lnTo>
                  <a:close/>
                </a:path>
              </a:pathLst>
            </a:custGeom>
            <a:blipFill dpi="0" rotWithShape="0">
              <a:blip r:embed="rId2"/>
              <a:srcRect/>
              <a:tile tx="0" ty="0" sx="100000" sy="100000" flip="none" algn="tl"/>
            </a:blipFill>
            <a:ln w="12700">
              <a:solidFill>
                <a:srgbClr val="000000"/>
              </a:solidFill>
              <a:prstDash val="solid"/>
              <a:round/>
              <a:headEnd/>
              <a:tailEnd/>
            </a:ln>
          </p:spPr>
          <p:txBody>
            <a:bodyPr/>
            <a:lstStyle/>
            <a:p>
              <a:endParaRPr lang="zh-CN" altLang="en-US"/>
            </a:p>
          </p:txBody>
        </p:sp>
        <p:sp>
          <p:nvSpPr>
            <p:cNvPr id="9" name="Freeform 96"/>
            <p:cNvSpPr>
              <a:spLocks/>
            </p:cNvSpPr>
            <p:nvPr/>
          </p:nvSpPr>
          <p:spPr bwMode="auto">
            <a:xfrm>
              <a:off x="2543" y="3148"/>
              <a:ext cx="148" cy="598"/>
            </a:xfrm>
            <a:custGeom>
              <a:avLst/>
              <a:gdLst>
                <a:gd name="T0" fmla="*/ 0 w 148"/>
                <a:gd name="T1" fmla="*/ 110 h 598"/>
                <a:gd name="T2" fmla="*/ 0 w 148"/>
                <a:gd name="T3" fmla="*/ 598 h 598"/>
                <a:gd name="T4" fmla="*/ 148 w 148"/>
                <a:gd name="T5" fmla="*/ 431 h 598"/>
                <a:gd name="T6" fmla="*/ 148 w 148"/>
                <a:gd name="T7" fmla="*/ 0 h 598"/>
                <a:gd name="T8" fmla="*/ 0 w 148"/>
                <a:gd name="T9" fmla="*/ 110 h 5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598">
                  <a:moveTo>
                    <a:pt x="0" y="110"/>
                  </a:moveTo>
                  <a:lnTo>
                    <a:pt x="0" y="598"/>
                  </a:lnTo>
                  <a:lnTo>
                    <a:pt x="148" y="431"/>
                  </a:lnTo>
                  <a:lnTo>
                    <a:pt x="148" y="0"/>
                  </a:lnTo>
                  <a:lnTo>
                    <a:pt x="0" y="110"/>
                  </a:lnTo>
                  <a:close/>
                </a:path>
              </a:pathLst>
            </a:custGeom>
            <a:blipFill dpi="0" rotWithShape="0">
              <a:blip r:embed="rId3"/>
              <a:srcRect/>
              <a:tile tx="0" ty="0" sx="100000" sy="100000" flip="none" algn="tl"/>
            </a:blipFill>
            <a:ln w="12700">
              <a:solidFill>
                <a:srgbClr val="000000"/>
              </a:solidFill>
              <a:prstDash val="solid"/>
              <a:round/>
              <a:headEnd/>
              <a:tailEnd/>
            </a:ln>
          </p:spPr>
          <p:txBody>
            <a:bodyPr/>
            <a:lstStyle/>
            <a:p>
              <a:endParaRPr lang="zh-CN" altLang="en-US"/>
            </a:p>
          </p:txBody>
        </p:sp>
      </p:grpSp>
      <p:sp>
        <p:nvSpPr>
          <p:cNvPr id="10" name="Rectangle 97"/>
          <p:cNvSpPr>
            <a:spLocks noChangeArrowheads="1"/>
          </p:cNvSpPr>
          <p:nvPr/>
        </p:nvSpPr>
        <p:spPr bwMode="auto">
          <a:xfrm>
            <a:off x="4503738" y="2407939"/>
            <a:ext cx="685800"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nSpc>
                <a:spcPct val="90000"/>
              </a:lnSpc>
              <a:spcBef>
                <a:spcPct val="0"/>
              </a:spcBef>
              <a:buFontTx/>
              <a:buNone/>
            </a:pPr>
            <a:r>
              <a:rPr lang="tr-TR" altLang="zh-CN" sz="900">
                <a:latin typeface="Helvetica" pitchFamily="34" charset="0"/>
                <a:ea typeface="微软雅黑" pitchFamily="34" charset="-122"/>
              </a:rPr>
              <a:t>RESULTANT</a:t>
            </a:r>
            <a:endParaRPr lang="en-US" altLang="zh-CN" sz="900">
              <a:latin typeface="Helvetica" pitchFamily="34" charset="0"/>
              <a:ea typeface="微软雅黑" pitchFamily="34" charset="-122"/>
            </a:endParaRPr>
          </a:p>
          <a:p>
            <a:pPr>
              <a:lnSpc>
                <a:spcPct val="90000"/>
              </a:lnSpc>
              <a:spcBef>
                <a:spcPct val="0"/>
              </a:spcBef>
              <a:buFontTx/>
              <a:buNone/>
            </a:pPr>
            <a:r>
              <a:rPr lang="tr-TR" altLang="zh-CN" sz="900">
                <a:latin typeface="Helvetica" pitchFamily="34" charset="0"/>
                <a:ea typeface="微软雅黑" pitchFamily="34" charset="-122"/>
              </a:rPr>
              <a:t>OUTPUTS </a:t>
            </a:r>
          </a:p>
        </p:txBody>
      </p:sp>
      <p:sp>
        <p:nvSpPr>
          <p:cNvPr id="11" name="Rectangle 98"/>
          <p:cNvSpPr>
            <a:spLocks noChangeArrowheads="1"/>
          </p:cNvSpPr>
          <p:nvPr/>
        </p:nvSpPr>
        <p:spPr bwMode="auto">
          <a:xfrm>
            <a:off x="4581525" y="2744489"/>
            <a:ext cx="596900"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nSpc>
                <a:spcPct val="90000"/>
              </a:lnSpc>
              <a:spcBef>
                <a:spcPct val="0"/>
              </a:spcBef>
              <a:buFontTx/>
              <a:buNone/>
            </a:pPr>
            <a:r>
              <a:rPr lang="tr-TR" altLang="zh-CN" sz="900">
                <a:latin typeface="Helvetica" pitchFamily="34" charset="0"/>
                <a:ea typeface="微软雅黑" pitchFamily="34" charset="-122"/>
              </a:rPr>
              <a:t>INTERNAL</a:t>
            </a:r>
            <a:endParaRPr lang="en-US" altLang="zh-CN" sz="900">
              <a:latin typeface="Helvetica" pitchFamily="34" charset="0"/>
              <a:ea typeface="微软雅黑" pitchFamily="34" charset="-122"/>
            </a:endParaRPr>
          </a:p>
          <a:p>
            <a:pPr>
              <a:lnSpc>
                <a:spcPct val="90000"/>
              </a:lnSpc>
              <a:spcBef>
                <a:spcPct val="0"/>
              </a:spcBef>
              <a:buFontTx/>
              <a:buNone/>
            </a:pPr>
            <a:r>
              <a:rPr lang="tr-TR" altLang="zh-CN" sz="900">
                <a:latin typeface="Helvetica" pitchFamily="34" charset="0"/>
                <a:ea typeface="微软雅黑" pitchFamily="34" charset="-122"/>
              </a:rPr>
              <a:t>BEHAVIOR</a:t>
            </a:r>
          </a:p>
        </p:txBody>
      </p:sp>
      <p:sp>
        <p:nvSpPr>
          <p:cNvPr id="12" name="Rectangle 99"/>
          <p:cNvSpPr>
            <a:spLocks noChangeArrowheads="1"/>
          </p:cNvSpPr>
          <p:nvPr/>
        </p:nvSpPr>
        <p:spPr bwMode="auto">
          <a:xfrm>
            <a:off x="6153150" y="2447627"/>
            <a:ext cx="544513"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nSpc>
                <a:spcPct val="90000"/>
              </a:lnSpc>
              <a:spcBef>
                <a:spcPct val="0"/>
              </a:spcBef>
              <a:buFontTx/>
              <a:buNone/>
            </a:pPr>
            <a:r>
              <a:rPr lang="tr-TR" altLang="zh-CN" sz="900">
                <a:latin typeface="Helvetica" pitchFamily="34" charset="0"/>
                <a:ea typeface="微软雅黑" pitchFamily="34" charset="-122"/>
              </a:rPr>
              <a:t>DESIRED </a:t>
            </a:r>
            <a:endParaRPr lang="en-US" altLang="zh-CN" sz="900">
              <a:latin typeface="Helvetica" pitchFamily="34" charset="0"/>
              <a:ea typeface="微软雅黑" pitchFamily="34" charset="-122"/>
            </a:endParaRPr>
          </a:p>
          <a:p>
            <a:pPr>
              <a:lnSpc>
                <a:spcPct val="90000"/>
              </a:lnSpc>
              <a:spcBef>
                <a:spcPct val="0"/>
              </a:spcBef>
              <a:buFontTx/>
              <a:buNone/>
            </a:pPr>
            <a:r>
              <a:rPr lang="tr-TR" altLang="zh-CN" sz="900">
                <a:latin typeface="Helvetica" pitchFamily="34" charset="0"/>
                <a:ea typeface="微软雅黑" pitchFamily="34" charset="-122"/>
              </a:rPr>
              <a:t>OUTPUT</a:t>
            </a:r>
            <a:endParaRPr lang="tr-TR" altLang="zh-CN" sz="900" b="1">
              <a:latin typeface="Helvetica" pitchFamily="34" charset="0"/>
              <a:ea typeface="微软雅黑" pitchFamily="34" charset="-122"/>
            </a:endParaRPr>
          </a:p>
        </p:txBody>
      </p:sp>
      <p:sp>
        <p:nvSpPr>
          <p:cNvPr id="13" name="Rectangle 100"/>
          <p:cNvSpPr>
            <a:spLocks noChangeArrowheads="1"/>
          </p:cNvSpPr>
          <p:nvPr/>
        </p:nvSpPr>
        <p:spPr bwMode="auto">
          <a:xfrm>
            <a:off x="6118225" y="2784177"/>
            <a:ext cx="6540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nSpc>
                <a:spcPct val="90000"/>
              </a:lnSpc>
              <a:spcBef>
                <a:spcPct val="0"/>
              </a:spcBef>
              <a:buFontTx/>
              <a:buNone/>
            </a:pPr>
            <a:r>
              <a:rPr lang="tr-TR" altLang="zh-CN" sz="900">
                <a:latin typeface="Helvetica" pitchFamily="34" charset="0"/>
                <a:ea typeface="微软雅黑" pitchFamily="34" charset="-122"/>
              </a:rPr>
              <a:t>SOFTWARE</a:t>
            </a:r>
            <a:endParaRPr lang="en-US" altLang="zh-CN" sz="900">
              <a:latin typeface="Helvetica" pitchFamily="34" charset="0"/>
              <a:ea typeface="微软雅黑" pitchFamily="34" charset="-122"/>
            </a:endParaRPr>
          </a:p>
          <a:p>
            <a:pPr>
              <a:lnSpc>
                <a:spcPct val="90000"/>
              </a:lnSpc>
              <a:spcBef>
                <a:spcPct val="0"/>
              </a:spcBef>
              <a:buFontTx/>
              <a:buNone/>
            </a:pPr>
            <a:r>
              <a:rPr lang="tr-TR" altLang="zh-CN" sz="900">
                <a:latin typeface="Helvetica" pitchFamily="34" charset="0"/>
                <a:ea typeface="微软雅黑" pitchFamily="34" charset="-122"/>
              </a:rPr>
              <a:t>DESIGN</a:t>
            </a:r>
            <a:endParaRPr lang="tr-TR" altLang="zh-CN" sz="900" b="1">
              <a:latin typeface="Helvetica" pitchFamily="34" charset="0"/>
              <a:ea typeface="微软雅黑" pitchFamily="34" charset="-122"/>
            </a:endParaRPr>
          </a:p>
        </p:txBody>
      </p:sp>
      <p:sp>
        <p:nvSpPr>
          <p:cNvPr id="14" name="Rectangle 102"/>
          <p:cNvSpPr>
            <a:spLocks noChangeArrowheads="1"/>
          </p:cNvSpPr>
          <p:nvPr/>
        </p:nvSpPr>
        <p:spPr bwMode="auto">
          <a:xfrm>
            <a:off x="3317875" y="3292177"/>
            <a:ext cx="151606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defRPr/>
            </a:pPr>
            <a:r>
              <a:rPr lang="tr-TR" altLang="zh-CN" sz="1051" b="1">
                <a:latin typeface="Helvetica" panose="020B0604020202020204" pitchFamily="34" charset="0"/>
              </a:rPr>
              <a:t>“WHITE BOX” TESTING</a:t>
            </a:r>
            <a:endParaRPr lang="tr-TR" altLang="zh-CN" sz="1351" b="1">
              <a:latin typeface="Helvetica" panose="020B0604020202020204" pitchFamily="34" charset="0"/>
            </a:endParaRPr>
          </a:p>
        </p:txBody>
      </p:sp>
      <p:grpSp>
        <p:nvGrpSpPr>
          <p:cNvPr id="15" name="Group 103"/>
          <p:cNvGrpSpPr>
            <a:grpSpLocks/>
          </p:cNvGrpSpPr>
          <p:nvPr/>
        </p:nvGrpSpPr>
        <p:grpSpPr bwMode="auto">
          <a:xfrm>
            <a:off x="2522538" y="2519064"/>
            <a:ext cx="3448050" cy="376238"/>
            <a:chOff x="1405" y="3290"/>
            <a:chExt cx="2894" cy="315"/>
          </a:xfrm>
        </p:grpSpPr>
        <p:grpSp>
          <p:nvGrpSpPr>
            <p:cNvPr id="16" name="Group 104"/>
            <p:cNvGrpSpPr>
              <a:grpSpLocks/>
            </p:cNvGrpSpPr>
            <p:nvPr/>
          </p:nvGrpSpPr>
          <p:grpSpPr bwMode="auto">
            <a:xfrm>
              <a:off x="1405" y="3450"/>
              <a:ext cx="395" cy="45"/>
              <a:chOff x="1405" y="3450"/>
              <a:chExt cx="395" cy="45"/>
            </a:xfrm>
          </p:grpSpPr>
          <p:sp>
            <p:nvSpPr>
              <p:cNvPr id="31" name="Freeform 105"/>
              <p:cNvSpPr>
                <a:spLocks/>
              </p:cNvSpPr>
              <p:nvPr/>
            </p:nvSpPr>
            <p:spPr bwMode="auto">
              <a:xfrm>
                <a:off x="1693" y="3450"/>
                <a:ext cx="107" cy="45"/>
              </a:xfrm>
              <a:custGeom>
                <a:avLst/>
                <a:gdLst>
                  <a:gd name="T0" fmla="*/ 107 w 107"/>
                  <a:gd name="T1" fmla="*/ 26 h 45"/>
                  <a:gd name="T2" fmla="*/ 0 w 107"/>
                  <a:gd name="T3" fmla="*/ 45 h 45"/>
                  <a:gd name="T4" fmla="*/ 0 w 107"/>
                  <a:gd name="T5" fmla="*/ 26 h 45"/>
                  <a:gd name="T6" fmla="*/ 0 w 107"/>
                  <a:gd name="T7" fmla="*/ 0 h 45"/>
                  <a:gd name="T8" fmla="*/ 107 w 107"/>
                  <a:gd name="T9" fmla="*/ 26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 h="45">
                    <a:moveTo>
                      <a:pt x="107" y="26"/>
                    </a:moveTo>
                    <a:lnTo>
                      <a:pt x="0" y="45"/>
                    </a:lnTo>
                    <a:lnTo>
                      <a:pt x="0" y="26"/>
                    </a:lnTo>
                    <a:lnTo>
                      <a:pt x="0" y="0"/>
                    </a:lnTo>
                    <a:lnTo>
                      <a:pt x="10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Line 106"/>
              <p:cNvSpPr>
                <a:spLocks noChangeShapeType="1"/>
              </p:cNvSpPr>
              <p:nvPr/>
            </p:nvSpPr>
            <p:spPr bwMode="auto">
              <a:xfrm>
                <a:off x="1405" y="3476"/>
                <a:ext cx="28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Group 107"/>
            <p:cNvGrpSpPr>
              <a:grpSpLocks/>
            </p:cNvGrpSpPr>
            <p:nvPr/>
          </p:nvGrpSpPr>
          <p:grpSpPr bwMode="auto">
            <a:xfrm>
              <a:off x="2642" y="3290"/>
              <a:ext cx="354" cy="45"/>
              <a:chOff x="2642" y="3290"/>
              <a:chExt cx="354" cy="45"/>
            </a:xfrm>
          </p:grpSpPr>
          <p:sp>
            <p:nvSpPr>
              <p:cNvPr id="29" name="Freeform 108"/>
              <p:cNvSpPr>
                <a:spLocks/>
              </p:cNvSpPr>
              <p:nvPr/>
            </p:nvSpPr>
            <p:spPr bwMode="auto">
              <a:xfrm>
                <a:off x="2889" y="3290"/>
                <a:ext cx="107" cy="45"/>
              </a:xfrm>
              <a:custGeom>
                <a:avLst/>
                <a:gdLst>
                  <a:gd name="T0" fmla="*/ 107 w 107"/>
                  <a:gd name="T1" fmla="*/ 25 h 45"/>
                  <a:gd name="T2" fmla="*/ 0 w 107"/>
                  <a:gd name="T3" fmla="*/ 45 h 45"/>
                  <a:gd name="T4" fmla="*/ 0 w 107"/>
                  <a:gd name="T5" fmla="*/ 25 h 45"/>
                  <a:gd name="T6" fmla="*/ 0 w 107"/>
                  <a:gd name="T7" fmla="*/ 0 h 45"/>
                  <a:gd name="T8" fmla="*/ 107 w 107"/>
                  <a:gd name="T9" fmla="*/ 25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 h="45">
                    <a:moveTo>
                      <a:pt x="107" y="25"/>
                    </a:moveTo>
                    <a:lnTo>
                      <a:pt x="0" y="45"/>
                    </a:lnTo>
                    <a:lnTo>
                      <a:pt x="0" y="25"/>
                    </a:lnTo>
                    <a:lnTo>
                      <a:pt x="0" y="0"/>
                    </a:lnTo>
                    <a:lnTo>
                      <a:pt x="107"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Line 109"/>
              <p:cNvSpPr>
                <a:spLocks noChangeShapeType="1"/>
              </p:cNvSpPr>
              <p:nvPr/>
            </p:nvSpPr>
            <p:spPr bwMode="auto">
              <a:xfrm>
                <a:off x="2642" y="3315"/>
                <a:ext cx="24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 name="Group 110"/>
            <p:cNvGrpSpPr>
              <a:grpSpLocks/>
            </p:cNvGrpSpPr>
            <p:nvPr/>
          </p:nvGrpSpPr>
          <p:grpSpPr bwMode="auto">
            <a:xfrm>
              <a:off x="2642" y="3553"/>
              <a:ext cx="354" cy="52"/>
              <a:chOff x="2642" y="3553"/>
              <a:chExt cx="354" cy="52"/>
            </a:xfrm>
          </p:grpSpPr>
          <p:sp>
            <p:nvSpPr>
              <p:cNvPr id="27" name="Freeform 111"/>
              <p:cNvSpPr>
                <a:spLocks/>
              </p:cNvSpPr>
              <p:nvPr/>
            </p:nvSpPr>
            <p:spPr bwMode="auto">
              <a:xfrm>
                <a:off x="2889" y="3553"/>
                <a:ext cx="107" cy="52"/>
              </a:xfrm>
              <a:custGeom>
                <a:avLst/>
                <a:gdLst>
                  <a:gd name="T0" fmla="*/ 107 w 107"/>
                  <a:gd name="T1" fmla="*/ 26 h 52"/>
                  <a:gd name="T2" fmla="*/ 0 w 107"/>
                  <a:gd name="T3" fmla="*/ 52 h 52"/>
                  <a:gd name="T4" fmla="*/ 0 w 107"/>
                  <a:gd name="T5" fmla="*/ 26 h 52"/>
                  <a:gd name="T6" fmla="*/ 0 w 107"/>
                  <a:gd name="T7" fmla="*/ 0 h 52"/>
                  <a:gd name="T8" fmla="*/ 107 w 107"/>
                  <a:gd name="T9" fmla="*/ 26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 h="52">
                    <a:moveTo>
                      <a:pt x="107" y="26"/>
                    </a:moveTo>
                    <a:lnTo>
                      <a:pt x="0" y="52"/>
                    </a:lnTo>
                    <a:lnTo>
                      <a:pt x="0" y="26"/>
                    </a:lnTo>
                    <a:lnTo>
                      <a:pt x="0" y="0"/>
                    </a:lnTo>
                    <a:lnTo>
                      <a:pt x="10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Line 112"/>
              <p:cNvSpPr>
                <a:spLocks noChangeShapeType="1"/>
              </p:cNvSpPr>
              <p:nvPr/>
            </p:nvSpPr>
            <p:spPr bwMode="auto">
              <a:xfrm flipH="1">
                <a:off x="2642" y="3579"/>
                <a:ext cx="24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 name="Group 113"/>
            <p:cNvGrpSpPr>
              <a:grpSpLocks/>
            </p:cNvGrpSpPr>
            <p:nvPr/>
          </p:nvGrpSpPr>
          <p:grpSpPr bwMode="auto">
            <a:xfrm>
              <a:off x="3722" y="3290"/>
              <a:ext cx="577" cy="45"/>
              <a:chOff x="3722" y="3290"/>
              <a:chExt cx="577" cy="45"/>
            </a:xfrm>
          </p:grpSpPr>
          <p:sp>
            <p:nvSpPr>
              <p:cNvPr id="24" name="Freeform 114"/>
              <p:cNvSpPr>
                <a:spLocks/>
              </p:cNvSpPr>
              <p:nvPr/>
            </p:nvSpPr>
            <p:spPr bwMode="auto">
              <a:xfrm>
                <a:off x="3722" y="3290"/>
                <a:ext cx="107" cy="45"/>
              </a:xfrm>
              <a:custGeom>
                <a:avLst/>
                <a:gdLst>
                  <a:gd name="T0" fmla="*/ 0 w 107"/>
                  <a:gd name="T1" fmla="*/ 25 h 45"/>
                  <a:gd name="T2" fmla="*/ 107 w 107"/>
                  <a:gd name="T3" fmla="*/ 0 h 45"/>
                  <a:gd name="T4" fmla="*/ 107 w 107"/>
                  <a:gd name="T5" fmla="*/ 25 h 45"/>
                  <a:gd name="T6" fmla="*/ 107 w 107"/>
                  <a:gd name="T7" fmla="*/ 45 h 45"/>
                  <a:gd name="T8" fmla="*/ 0 w 107"/>
                  <a:gd name="T9" fmla="*/ 25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 h="45">
                    <a:moveTo>
                      <a:pt x="0" y="25"/>
                    </a:moveTo>
                    <a:lnTo>
                      <a:pt x="107" y="0"/>
                    </a:lnTo>
                    <a:lnTo>
                      <a:pt x="107" y="25"/>
                    </a:lnTo>
                    <a:lnTo>
                      <a:pt x="107" y="4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5"/>
              <p:cNvSpPr>
                <a:spLocks/>
              </p:cNvSpPr>
              <p:nvPr/>
            </p:nvSpPr>
            <p:spPr bwMode="auto">
              <a:xfrm>
                <a:off x="4184" y="3290"/>
                <a:ext cx="115" cy="45"/>
              </a:xfrm>
              <a:custGeom>
                <a:avLst/>
                <a:gdLst>
                  <a:gd name="T0" fmla="*/ 115 w 115"/>
                  <a:gd name="T1" fmla="*/ 25 h 45"/>
                  <a:gd name="T2" fmla="*/ 0 w 115"/>
                  <a:gd name="T3" fmla="*/ 45 h 45"/>
                  <a:gd name="T4" fmla="*/ 0 w 115"/>
                  <a:gd name="T5" fmla="*/ 25 h 45"/>
                  <a:gd name="T6" fmla="*/ 0 w 115"/>
                  <a:gd name="T7" fmla="*/ 0 h 45"/>
                  <a:gd name="T8" fmla="*/ 115 w 115"/>
                  <a:gd name="T9" fmla="*/ 25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 h="45">
                    <a:moveTo>
                      <a:pt x="115" y="25"/>
                    </a:moveTo>
                    <a:lnTo>
                      <a:pt x="0" y="45"/>
                    </a:lnTo>
                    <a:lnTo>
                      <a:pt x="0" y="25"/>
                    </a:lnTo>
                    <a:lnTo>
                      <a:pt x="0" y="0"/>
                    </a:lnTo>
                    <a:lnTo>
                      <a:pt x="115"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Line 116"/>
              <p:cNvSpPr>
                <a:spLocks noChangeShapeType="1"/>
              </p:cNvSpPr>
              <p:nvPr/>
            </p:nvSpPr>
            <p:spPr bwMode="auto">
              <a:xfrm>
                <a:off x="3829" y="3315"/>
                <a:ext cx="35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0" name="Group 117"/>
            <p:cNvGrpSpPr>
              <a:grpSpLocks/>
            </p:cNvGrpSpPr>
            <p:nvPr/>
          </p:nvGrpSpPr>
          <p:grpSpPr bwMode="auto">
            <a:xfrm>
              <a:off x="3722" y="3553"/>
              <a:ext cx="577" cy="52"/>
              <a:chOff x="3722" y="3553"/>
              <a:chExt cx="577" cy="52"/>
            </a:xfrm>
          </p:grpSpPr>
          <p:sp>
            <p:nvSpPr>
              <p:cNvPr id="21" name="Freeform 118"/>
              <p:cNvSpPr>
                <a:spLocks/>
              </p:cNvSpPr>
              <p:nvPr/>
            </p:nvSpPr>
            <p:spPr bwMode="auto">
              <a:xfrm>
                <a:off x="3722" y="3553"/>
                <a:ext cx="107" cy="52"/>
              </a:xfrm>
              <a:custGeom>
                <a:avLst/>
                <a:gdLst>
                  <a:gd name="T0" fmla="*/ 0 w 107"/>
                  <a:gd name="T1" fmla="*/ 26 h 52"/>
                  <a:gd name="T2" fmla="*/ 107 w 107"/>
                  <a:gd name="T3" fmla="*/ 0 h 52"/>
                  <a:gd name="T4" fmla="*/ 107 w 107"/>
                  <a:gd name="T5" fmla="*/ 26 h 52"/>
                  <a:gd name="T6" fmla="*/ 107 w 107"/>
                  <a:gd name="T7" fmla="*/ 52 h 52"/>
                  <a:gd name="T8" fmla="*/ 0 w 107"/>
                  <a:gd name="T9" fmla="*/ 26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 h="52">
                    <a:moveTo>
                      <a:pt x="0" y="26"/>
                    </a:moveTo>
                    <a:lnTo>
                      <a:pt x="107" y="0"/>
                    </a:lnTo>
                    <a:lnTo>
                      <a:pt x="107" y="26"/>
                    </a:lnTo>
                    <a:lnTo>
                      <a:pt x="107" y="52"/>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9"/>
              <p:cNvSpPr>
                <a:spLocks/>
              </p:cNvSpPr>
              <p:nvPr/>
            </p:nvSpPr>
            <p:spPr bwMode="auto">
              <a:xfrm>
                <a:off x="4184" y="3553"/>
                <a:ext cx="115" cy="52"/>
              </a:xfrm>
              <a:custGeom>
                <a:avLst/>
                <a:gdLst>
                  <a:gd name="T0" fmla="*/ 115 w 115"/>
                  <a:gd name="T1" fmla="*/ 26 h 52"/>
                  <a:gd name="T2" fmla="*/ 0 w 115"/>
                  <a:gd name="T3" fmla="*/ 52 h 52"/>
                  <a:gd name="T4" fmla="*/ 0 w 115"/>
                  <a:gd name="T5" fmla="*/ 26 h 52"/>
                  <a:gd name="T6" fmla="*/ 0 w 115"/>
                  <a:gd name="T7" fmla="*/ 0 h 52"/>
                  <a:gd name="T8" fmla="*/ 115 w 115"/>
                  <a:gd name="T9" fmla="*/ 26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 h="52">
                    <a:moveTo>
                      <a:pt x="115" y="26"/>
                    </a:moveTo>
                    <a:lnTo>
                      <a:pt x="0" y="52"/>
                    </a:lnTo>
                    <a:lnTo>
                      <a:pt x="0" y="26"/>
                    </a:lnTo>
                    <a:lnTo>
                      <a:pt x="0" y="0"/>
                    </a:lnTo>
                    <a:lnTo>
                      <a:pt x="11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Line 120"/>
              <p:cNvSpPr>
                <a:spLocks noChangeShapeType="1"/>
              </p:cNvSpPr>
              <p:nvPr/>
            </p:nvSpPr>
            <p:spPr bwMode="auto">
              <a:xfrm>
                <a:off x="3829" y="3579"/>
                <a:ext cx="35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3" name="Group 139"/>
          <p:cNvGrpSpPr>
            <a:grpSpLocks/>
          </p:cNvGrpSpPr>
          <p:nvPr/>
        </p:nvGrpSpPr>
        <p:grpSpPr bwMode="auto">
          <a:xfrm>
            <a:off x="2051050" y="2158702"/>
            <a:ext cx="77788" cy="322262"/>
            <a:chOff x="1009" y="2988"/>
            <a:chExt cx="66" cy="270"/>
          </a:xfrm>
        </p:grpSpPr>
        <p:sp>
          <p:nvSpPr>
            <p:cNvPr id="34" name="Freeform 140"/>
            <p:cNvSpPr>
              <a:spLocks/>
            </p:cNvSpPr>
            <p:nvPr/>
          </p:nvSpPr>
          <p:spPr bwMode="auto">
            <a:xfrm>
              <a:off x="1009" y="3174"/>
              <a:ext cx="66" cy="84"/>
            </a:xfrm>
            <a:custGeom>
              <a:avLst/>
              <a:gdLst>
                <a:gd name="T0" fmla="*/ 33 w 66"/>
                <a:gd name="T1" fmla="*/ 84 h 84"/>
                <a:gd name="T2" fmla="*/ 0 w 66"/>
                <a:gd name="T3" fmla="*/ 0 h 84"/>
                <a:gd name="T4" fmla="*/ 33 w 66"/>
                <a:gd name="T5" fmla="*/ 0 h 84"/>
                <a:gd name="T6" fmla="*/ 66 w 66"/>
                <a:gd name="T7" fmla="*/ 0 h 84"/>
                <a:gd name="T8" fmla="*/ 33 w 66"/>
                <a:gd name="T9" fmla="*/ 84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84">
                  <a:moveTo>
                    <a:pt x="33" y="84"/>
                  </a:moveTo>
                  <a:lnTo>
                    <a:pt x="0" y="0"/>
                  </a:lnTo>
                  <a:lnTo>
                    <a:pt x="33" y="0"/>
                  </a:lnTo>
                  <a:lnTo>
                    <a:pt x="66" y="0"/>
                  </a:lnTo>
                  <a:lnTo>
                    <a:pt x="33"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Line 141"/>
            <p:cNvSpPr>
              <a:spLocks noChangeShapeType="1"/>
            </p:cNvSpPr>
            <p:nvPr/>
          </p:nvSpPr>
          <p:spPr bwMode="auto">
            <a:xfrm flipV="1">
              <a:off x="1042" y="2988"/>
              <a:ext cx="1" cy="18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 name="Line 142"/>
          <p:cNvSpPr>
            <a:spLocks noChangeShapeType="1"/>
          </p:cNvSpPr>
          <p:nvPr/>
        </p:nvSpPr>
        <p:spPr bwMode="auto">
          <a:xfrm>
            <a:off x="2089150" y="2158702"/>
            <a:ext cx="4314825" cy="15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7" name="Group 143"/>
          <p:cNvGrpSpPr>
            <a:grpSpLocks/>
          </p:cNvGrpSpPr>
          <p:nvPr/>
        </p:nvGrpSpPr>
        <p:grpSpPr bwMode="auto">
          <a:xfrm>
            <a:off x="6364288" y="2158702"/>
            <a:ext cx="79375" cy="260350"/>
            <a:chOff x="4629" y="2988"/>
            <a:chExt cx="66" cy="218"/>
          </a:xfrm>
        </p:grpSpPr>
        <p:sp>
          <p:nvSpPr>
            <p:cNvPr id="38" name="Freeform 144"/>
            <p:cNvSpPr>
              <a:spLocks/>
            </p:cNvSpPr>
            <p:nvPr/>
          </p:nvSpPr>
          <p:spPr bwMode="auto">
            <a:xfrm>
              <a:off x="4629" y="3116"/>
              <a:ext cx="66" cy="90"/>
            </a:xfrm>
            <a:custGeom>
              <a:avLst/>
              <a:gdLst>
                <a:gd name="T0" fmla="*/ 33 w 66"/>
                <a:gd name="T1" fmla="*/ 90 h 90"/>
                <a:gd name="T2" fmla="*/ 0 w 66"/>
                <a:gd name="T3" fmla="*/ 0 h 90"/>
                <a:gd name="T4" fmla="*/ 33 w 66"/>
                <a:gd name="T5" fmla="*/ 0 h 90"/>
                <a:gd name="T6" fmla="*/ 66 w 66"/>
                <a:gd name="T7" fmla="*/ 0 h 90"/>
                <a:gd name="T8" fmla="*/ 33 w 66"/>
                <a:gd name="T9" fmla="*/ 90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90">
                  <a:moveTo>
                    <a:pt x="33" y="90"/>
                  </a:moveTo>
                  <a:lnTo>
                    <a:pt x="0" y="0"/>
                  </a:lnTo>
                  <a:lnTo>
                    <a:pt x="33" y="0"/>
                  </a:lnTo>
                  <a:lnTo>
                    <a:pt x="66" y="0"/>
                  </a:lnTo>
                  <a:lnTo>
                    <a:pt x="33"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Line 145"/>
            <p:cNvSpPr>
              <a:spLocks noChangeShapeType="1"/>
            </p:cNvSpPr>
            <p:nvPr/>
          </p:nvSpPr>
          <p:spPr bwMode="auto">
            <a:xfrm>
              <a:off x="4662" y="2988"/>
              <a:ext cx="1" cy="12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0" name="Group 151"/>
          <p:cNvGrpSpPr>
            <a:grpSpLocks/>
          </p:cNvGrpSpPr>
          <p:nvPr/>
        </p:nvGrpSpPr>
        <p:grpSpPr bwMode="auto">
          <a:xfrm>
            <a:off x="3127375" y="2515889"/>
            <a:ext cx="682625" cy="519113"/>
            <a:chOff x="1912" y="3287"/>
            <a:chExt cx="574" cy="436"/>
          </a:xfrm>
        </p:grpSpPr>
        <p:grpSp>
          <p:nvGrpSpPr>
            <p:cNvPr id="41" name="Group 152"/>
            <p:cNvGrpSpPr>
              <a:grpSpLocks/>
            </p:cNvGrpSpPr>
            <p:nvPr/>
          </p:nvGrpSpPr>
          <p:grpSpPr bwMode="auto">
            <a:xfrm>
              <a:off x="1982" y="3315"/>
              <a:ext cx="504" cy="380"/>
              <a:chOff x="1982" y="3315"/>
              <a:chExt cx="504" cy="380"/>
            </a:xfrm>
          </p:grpSpPr>
          <p:sp>
            <p:nvSpPr>
              <p:cNvPr id="50" name="Line 153"/>
              <p:cNvSpPr>
                <a:spLocks noChangeShapeType="1"/>
              </p:cNvSpPr>
              <p:nvPr/>
            </p:nvSpPr>
            <p:spPr bwMode="auto">
              <a:xfrm>
                <a:off x="2163" y="3315"/>
                <a:ext cx="1" cy="16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54"/>
              <p:cNvSpPr>
                <a:spLocks noChangeShapeType="1"/>
              </p:cNvSpPr>
              <p:nvPr/>
            </p:nvSpPr>
            <p:spPr bwMode="auto">
              <a:xfrm>
                <a:off x="2163" y="3476"/>
                <a:ext cx="2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155"/>
              <p:cNvSpPr>
                <a:spLocks noChangeShapeType="1"/>
              </p:cNvSpPr>
              <p:nvPr/>
            </p:nvSpPr>
            <p:spPr bwMode="auto">
              <a:xfrm>
                <a:off x="2378" y="3476"/>
                <a:ext cx="1" cy="5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156"/>
              <p:cNvSpPr>
                <a:spLocks noChangeShapeType="1"/>
              </p:cNvSpPr>
              <p:nvPr/>
            </p:nvSpPr>
            <p:spPr bwMode="auto">
              <a:xfrm flipH="1">
                <a:off x="2270" y="3534"/>
                <a:ext cx="10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157"/>
              <p:cNvSpPr>
                <a:spLocks noChangeShapeType="1"/>
              </p:cNvSpPr>
              <p:nvPr/>
            </p:nvSpPr>
            <p:spPr bwMode="auto">
              <a:xfrm>
                <a:off x="2270" y="3534"/>
                <a:ext cx="1" cy="1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158"/>
              <p:cNvSpPr>
                <a:spLocks noChangeShapeType="1"/>
              </p:cNvSpPr>
              <p:nvPr/>
            </p:nvSpPr>
            <p:spPr bwMode="auto">
              <a:xfrm>
                <a:off x="2378" y="3534"/>
                <a:ext cx="10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59"/>
              <p:cNvSpPr>
                <a:spLocks noChangeShapeType="1"/>
              </p:cNvSpPr>
              <p:nvPr/>
            </p:nvSpPr>
            <p:spPr bwMode="auto">
              <a:xfrm>
                <a:off x="2485" y="3534"/>
                <a:ext cx="1" cy="1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160"/>
              <p:cNvSpPr>
                <a:spLocks noChangeShapeType="1"/>
              </p:cNvSpPr>
              <p:nvPr/>
            </p:nvSpPr>
            <p:spPr bwMode="auto">
              <a:xfrm flipH="1">
                <a:off x="1982" y="3694"/>
                <a:ext cx="50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61"/>
              <p:cNvSpPr>
                <a:spLocks noChangeShapeType="1"/>
              </p:cNvSpPr>
              <p:nvPr/>
            </p:nvSpPr>
            <p:spPr bwMode="auto">
              <a:xfrm flipV="1">
                <a:off x="1982" y="3476"/>
                <a:ext cx="1" cy="21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162"/>
              <p:cNvSpPr>
                <a:spLocks noChangeShapeType="1"/>
              </p:cNvSpPr>
              <p:nvPr/>
            </p:nvSpPr>
            <p:spPr bwMode="auto">
              <a:xfrm>
                <a:off x="1982" y="3476"/>
                <a:ext cx="18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 name="Group 163"/>
            <p:cNvGrpSpPr>
              <a:grpSpLocks/>
            </p:cNvGrpSpPr>
            <p:nvPr/>
          </p:nvGrpSpPr>
          <p:grpSpPr bwMode="auto">
            <a:xfrm>
              <a:off x="1912" y="3287"/>
              <a:ext cx="548" cy="436"/>
              <a:chOff x="1912" y="3287"/>
              <a:chExt cx="548" cy="436"/>
            </a:xfrm>
          </p:grpSpPr>
          <p:sp>
            <p:nvSpPr>
              <p:cNvPr id="43" name="Oval 164"/>
              <p:cNvSpPr>
                <a:spLocks noChangeArrowheads="1"/>
              </p:cNvSpPr>
              <p:nvPr/>
            </p:nvSpPr>
            <p:spPr bwMode="auto">
              <a:xfrm>
                <a:off x="2126" y="3287"/>
                <a:ext cx="83" cy="50"/>
              </a:xfrm>
              <a:prstGeom prst="ellipse">
                <a:avLst/>
              </a:prstGeom>
              <a:solidFill>
                <a:srgbClr val="FFFFFF"/>
              </a:solidFill>
              <a:ln w="12700">
                <a:solidFill>
                  <a:srgbClr val="000000"/>
                </a:solidFill>
                <a:round/>
                <a:headEnd/>
                <a:tailEnd/>
              </a:ln>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4" name="Oval 165"/>
              <p:cNvSpPr>
                <a:spLocks noChangeArrowheads="1"/>
              </p:cNvSpPr>
              <p:nvPr/>
            </p:nvSpPr>
            <p:spPr bwMode="auto">
              <a:xfrm>
                <a:off x="2126" y="3666"/>
                <a:ext cx="83" cy="57"/>
              </a:xfrm>
              <a:prstGeom prst="ellipse">
                <a:avLst/>
              </a:prstGeom>
              <a:solidFill>
                <a:srgbClr val="FFFFFF"/>
              </a:solidFill>
              <a:ln w="12700">
                <a:solidFill>
                  <a:srgbClr val="000000"/>
                </a:solidFill>
                <a:round/>
                <a:headEnd/>
                <a:tailEnd/>
              </a:ln>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5" name="Rectangle 166"/>
              <p:cNvSpPr>
                <a:spLocks noChangeArrowheads="1"/>
              </p:cNvSpPr>
              <p:nvPr/>
            </p:nvSpPr>
            <p:spPr bwMode="auto">
              <a:xfrm>
                <a:off x="2093" y="3371"/>
                <a:ext cx="157" cy="56"/>
              </a:xfrm>
              <a:prstGeom prst="rect">
                <a:avLst/>
              </a:prstGeom>
              <a:solidFill>
                <a:srgbClr val="FFFFFF"/>
              </a:solidFill>
              <a:ln w="12700">
                <a:solidFill>
                  <a:srgbClr val="000000"/>
                </a:solidFill>
                <a:miter lim="800000"/>
                <a:headEnd/>
                <a:tailEnd/>
              </a:ln>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6" name="Freeform 167"/>
              <p:cNvSpPr>
                <a:spLocks/>
              </p:cNvSpPr>
              <p:nvPr/>
            </p:nvSpPr>
            <p:spPr bwMode="auto">
              <a:xfrm>
                <a:off x="2089" y="3444"/>
                <a:ext cx="157" cy="58"/>
              </a:xfrm>
              <a:custGeom>
                <a:avLst/>
                <a:gdLst>
                  <a:gd name="T0" fmla="*/ 74 w 157"/>
                  <a:gd name="T1" fmla="*/ 0 h 58"/>
                  <a:gd name="T2" fmla="*/ 0 w 157"/>
                  <a:gd name="T3" fmla="*/ 32 h 58"/>
                  <a:gd name="T4" fmla="*/ 74 w 157"/>
                  <a:gd name="T5" fmla="*/ 58 h 58"/>
                  <a:gd name="T6" fmla="*/ 157 w 157"/>
                  <a:gd name="T7" fmla="*/ 32 h 58"/>
                  <a:gd name="T8" fmla="*/ 74 w 157"/>
                  <a:gd name="T9" fmla="*/ 0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58">
                    <a:moveTo>
                      <a:pt x="74" y="0"/>
                    </a:moveTo>
                    <a:lnTo>
                      <a:pt x="0" y="32"/>
                    </a:lnTo>
                    <a:lnTo>
                      <a:pt x="74" y="58"/>
                    </a:lnTo>
                    <a:lnTo>
                      <a:pt x="157" y="32"/>
                    </a:lnTo>
                    <a:lnTo>
                      <a:pt x="74" y="0"/>
                    </a:lnTo>
                    <a:close/>
                  </a:path>
                </a:pathLst>
              </a:custGeom>
              <a:solidFill>
                <a:srgbClr val="FFFFFF"/>
              </a:solidFill>
              <a:ln w="12700">
                <a:solidFill>
                  <a:srgbClr val="000000"/>
                </a:solidFill>
                <a:prstDash val="solid"/>
                <a:round/>
                <a:headEnd/>
                <a:tailEnd/>
              </a:ln>
            </p:spPr>
            <p:txBody>
              <a:bodyPr/>
              <a:lstStyle/>
              <a:p>
                <a:endParaRPr lang="zh-CN" altLang="en-US"/>
              </a:p>
            </p:txBody>
          </p:sp>
          <p:sp>
            <p:nvSpPr>
              <p:cNvPr id="47" name="Rectangle 168"/>
              <p:cNvSpPr>
                <a:spLocks noChangeArrowheads="1"/>
              </p:cNvSpPr>
              <p:nvPr/>
            </p:nvSpPr>
            <p:spPr bwMode="auto">
              <a:xfrm>
                <a:off x="1912" y="3557"/>
                <a:ext cx="140" cy="50"/>
              </a:xfrm>
              <a:prstGeom prst="rect">
                <a:avLst/>
              </a:prstGeom>
              <a:solidFill>
                <a:srgbClr val="FFFFFF"/>
              </a:solidFill>
              <a:ln w="12700">
                <a:solidFill>
                  <a:srgbClr val="000000"/>
                </a:solidFill>
                <a:miter lim="800000"/>
                <a:headEnd/>
                <a:tailEnd/>
              </a:ln>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8" name="Rectangle 169"/>
              <p:cNvSpPr>
                <a:spLocks noChangeArrowheads="1"/>
              </p:cNvSpPr>
              <p:nvPr/>
            </p:nvSpPr>
            <p:spPr bwMode="auto">
              <a:xfrm>
                <a:off x="2200" y="3583"/>
                <a:ext cx="149" cy="56"/>
              </a:xfrm>
              <a:prstGeom prst="rect">
                <a:avLst/>
              </a:prstGeom>
              <a:solidFill>
                <a:srgbClr val="FFFFFF"/>
              </a:solidFill>
              <a:ln w="12700">
                <a:solidFill>
                  <a:srgbClr val="000000"/>
                </a:solidFill>
                <a:miter lim="800000"/>
                <a:headEnd/>
                <a:tailEnd/>
              </a:ln>
            </p:spPr>
            <p:txBody>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49" name="Freeform 170"/>
              <p:cNvSpPr>
                <a:spLocks/>
              </p:cNvSpPr>
              <p:nvPr/>
            </p:nvSpPr>
            <p:spPr bwMode="auto">
              <a:xfrm>
                <a:off x="2320" y="3502"/>
                <a:ext cx="140" cy="51"/>
              </a:xfrm>
              <a:custGeom>
                <a:avLst/>
                <a:gdLst>
                  <a:gd name="T0" fmla="*/ 58 w 140"/>
                  <a:gd name="T1" fmla="*/ 0 h 51"/>
                  <a:gd name="T2" fmla="*/ 0 w 140"/>
                  <a:gd name="T3" fmla="*/ 32 h 51"/>
                  <a:gd name="T4" fmla="*/ 58 w 140"/>
                  <a:gd name="T5" fmla="*/ 51 h 51"/>
                  <a:gd name="T6" fmla="*/ 140 w 140"/>
                  <a:gd name="T7" fmla="*/ 32 h 51"/>
                  <a:gd name="T8" fmla="*/ 58 w 140"/>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51">
                    <a:moveTo>
                      <a:pt x="58" y="0"/>
                    </a:moveTo>
                    <a:lnTo>
                      <a:pt x="0" y="32"/>
                    </a:lnTo>
                    <a:lnTo>
                      <a:pt x="58" y="51"/>
                    </a:lnTo>
                    <a:lnTo>
                      <a:pt x="140" y="32"/>
                    </a:lnTo>
                    <a:lnTo>
                      <a:pt x="58" y="0"/>
                    </a:lnTo>
                    <a:close/>
                  </a:path>
                </a:pathLst>
              </a:custGeom>
              <a:solidFill>
                <a:srgbClr val="FFFFFF"/>
              </a:solidFill>
              <a:ln w="12700">
                <a:solidFill>
                  <a:srgbClr val="000000"/>
                </a:solidFill>
                <a:prstDash val="solid"/>
                <a:round/>
                <a:headEnd/>
                <a:tailEnd/>
              </a:ln>
            </p:spPr>
            <p:txBody>
              <a:bodyPr/>
              <a:lstStyle/>
              <a:p>
                <a:endParaRPr lang="zh-CN" altLang="en-US"/>
              </a:p>
            </p:txBody>
          </p:sp>
        </p:grpSp>
      </p:grpSp>
      <p:sp>
        <p:nvSpPr>
          <p:cNvPr id="60" name="Rectangle 171"/>
          <p:cNvSpPr>
            <a:spLocks noChangeArrowheads="1"/>
          </p:cNvSpPr>
          <p:nvPr/>
        </p:nvSpPr>
        <p:spPr bwMode="auto">
          <a:xfrm>
            <a:off x="1762125" y="2636539"/>
            <a:ext cx="6413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nSpc>
                <a:spcPct val="90000"/>
              </a:lnSpc>
              <a:spcBef>
                <a:spcPct val="0"/>
              </a:spcBef>
              <a:buFontTx/>
              <a:buNone/>
            </a:pPr>
            <a:r>
              <a:rPr lang="tr-TR" altLang="zh-CN" sz="900">
                <a:latin typeface="Helvetica" pitchFamily="34" charset="0"/>
                <a:ea typeface="微软雅黑" pitchFamily="34" charset="-122"/>
              </a:rPr>
              <a:t>SELECTED </a:t>
            </a:r>
            <a:endParaRPr lang="en-US" altLang="zh-CN" sz="900">
              <a:latin typeface="Helvetica" pitchFamily="34" charset="0"/>
              <a:ea typeface="微软雅黑" pitchFamily="34" charset="-122"/>
            </a:endParaRPr>
          </a:p>
          <a:p>
            <a:pPr>
              <a:lnSpc>
                <a:spcPct val="90000"/>
              </a:lnSpc>
              <a:spcBef>
                <a:spcPct val="0"/>
              </a:spcBef>
              <a:buFontTx/>
              <a:buNone/>
            </a:pPr>
            <a:r>
              <a:rPr lang="tr-TR" altLang="zh-CN" sz="900">
                <a:latin typeface="Helvetica" pitchFamily="34" charset="0"/>
                <a:ea typeface="微软雅黑" pitchFamily="34" charset="-122"/>
              </a:rPr>
              <a:t>INPUTS </a:t>
            </a:r>
          </a:p>
        </p:txBody>
      </p:sp>
    </p:spTree>
    <p:extLst>
      <p:ext uri="{BB962C8B-B14F-4D97-AF65-F5344CB8AC3E}">
        <p14:creationId xmlns:p14="http://schemas.microsoft.com/office/powerpoint/2010/main" val="565189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比较黑盒测试与白盒测试</a:t>
            </a:r>
          </a:p>
        </p:txBody>
      </p:sp>
      <p:sp>
        <p:nvSpPr>
          <p:cNvPr id="3" name="内容占位符 2"/>
          <p:cNvSpPr>
            <a:spLocks noGrp="1"/>
          </p:cNvSpPr>
          <p:nvPr>
            <p:ph idx="1"/>
          </p:nvPr>
        </p:nvSpPr>
        <p:spPr/>
        <p:txBody>
          <a:bodyPr/>
          <a:lstStyle/>
          <a:p>
            <a:r>
              <a:rPr lang="zh-CN" altLang="en-US" sz="2800" dirty="0"/>
              <a:t>黑盒测试方法</a:t>
            </a:r>
            <a:r>
              <a:rPr lang="zh-CN" altLang="en-US" sz="2800" dirty="0">
                <a:solidFill>
                  <a:srgbClr val="FF0000"/>
                </a:solidFill>
              </a:rPr>
              <a:t>技术相对要求低</a:t>
            </a:r>
            <a:r>
              <a:rPr lang="zh-CN" altLang="en-US" sz="2800" dirty="0"/>
              <a:t>，方法简单有效，可以整体测试系统的行为，可以从头到尾（</a:t>
            </a:r>
            <a:r>
              <a:rPr lang="en-US" altLang="zh-CN" sz="2800" dirty="0"/>
              <a:t>end-to-end</a:t>
            </a:r>
            <a:r>
              <a:rPr lang="zh-CN" altLang="en-US" sz="2800" dirty="0"/>
              <a:t>）进行数据完整性测试。黑盒测试方法适合系统的</a:t>
            </a:r>
            <a:r>
              <a:rPr lang="zh-CN" altLang="en-US" sz="2800" dirty="0">
                <a:solidFill>
                  <a:srgbClr val="FF0000"/>
                </a:solidFill>
              </a:rPr>
              <a:t>功能测试、易用性测试</a:t>
            </a:r>
            <a:r>
              <a:rPr lang="zh-CN" altLang="en-US" sz="2800" dirty="0"/>
              <a:t>，也适合和用户共同进行</a:t>
            </a:r>
            <a:r>
              <a:rPr lang="zh-CN" altLang="en-US" sz="2800" dirty="0">
                <a:solidFill>
                  <a:srgbClr val="FF0000"/>
                </a:solidFill>
              </a:rPr>
              <a:t>验收测试、软件确认测试</a:t>
            </a:r>
            <a:r>
              <a:rPr lang="zh-CN" altLang="en-US" sz="2800" dirty="0"/>
              <a:t>。黑盒测试方法不适合单元测试、集成测试，而且测试结果的</a:t>
            </a:r>
            <a:r>
              <a:rPr lang="zh-CN" altLang="en-US" sz="2800" dirty="0">
                <a:solidFill>
                  <a:srgbClr val="FF0000"/>
                </a:solidFill>
              </a:rPr>
              <a:t>覆盖度不容易度量</a:t>
            </a:r>
            <a:r>
              <a:rPr lang="zh-CN" altLang="en-US" sz="2800" dirty="0"/>
              <a:t>，其测试的</a:t>
            </a:r>
            <a:r>
              <a:rPr lang="zh-CN" altLang="en-US" sz="2800" dirty="0">
                <a:solidFill>
                  <a:srgbClr val="FF0000"/>
                </a:solidFill>
              </a:rPr>
              <a:t>潜在风险比较</a:t>
            </a:r>
            <a:r>
              <a:rPr lang="zh-CN" altLang="en-US" sz="2800" dirty="0"/>
              <a:t>高。</a:t>
            </a:r>
            <a:endParaRPr lang="zh-CN" altLang="en-US" dirty="0"/>
          </a:p>
        </p:txBody>
      </p:sp>
    </p:spTree>
    <p:extLst>
      <p:ext uri="{BB962C8B-B14F-4D97-AF65-F5344CB8AC3E}">
        <p14:creationId xmlns:p14="http://schemas.microsoft.com/office/powerpoint/2010/main" val="34520415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比较黑盒测试与白盒测试</a:t>
            </a:r>
          </a:p>
        </p:txBody>
      </p:sp>
      <p:sp>
        <p:nvSpPr>
          <p:cNvPr id="3" name="内容占位符 2"/>
          <p:cNvSpPr>
            <a:spLocks noGrp="1"/>
          </p:cNvSpPr>
          <p:nvPr>
            <p:ph idx="1"/>
          </p:nvPr>
        </p:nvSpPr>
        <p:spPr/>
        <p:txBody>
          <a:bodyPr/>
          <a:lstStyle/>
          <a:p>
            <a:r>
              <a:rPr lang="zh-CN" altLang="en-US" sz="1800" dirty="0"/>
              <a:t>由于白盒测试方法，已知产品的内部工作过程，针对性很强，可以对程序每一行语句、每一个条件或分支进行测试，测试效率比较高，而且可以</a:t>
            </a:r>
            <a:r>
              <a:rPr lang="zh-CN" altLang="en-US" sz="1800" dirty="0">
                <a:solidFill>
                  <a:srgbClr val="FF0000"/>
                </a:solidFill>
              </a:rPr>
              <a:t>清楚已测试的覆盖程度</a:t>
            </a:r>
            <a:r>
              <a:rPr lang="zh-CN" altLang="en-US" sz="1800" dirty="0"/>
              <a:t>。如果时间足够多，可以保证所有的语句和条件得到测试，测试的覆盖程度达到很高。白盒测试方法所以</a:t>
            </a:r>
            <a:r>
              <a:rPr lang="zh-CN" altLang="en-US" sz="1800" dirty="0">
                <a:solidFill>
                  <a:srgbClr val="FF0000"/>
                </a:solidFill>
              </a:rPr>
              <a:t>适合单元测试、集成测试</a:t>
            </a:r>
            <a:r>
              <a:rPr lang="zh-CN" altLang="en-US" sz="1800" dirty="0"/>
              <a:t>，而不适合系统测试。白盒测试方法</a:t>
            </a:r>
            <a:r>
              <a:rPr lang="zh-CN" altLang="en-US" sz="1800" dirty="0">
                <a:solidFill>
                  <a:srgbClr val="FF0000"/>
                </a:solidFill>
              </a:rPr>
              <a:t>准备的时间很长</a:t>
            </a:r>
            <a:r>
              <a:rPr lang="zh-CN" altLang="en-US" sz="1800" dirty="0"/>
              <a:t>，如果要覆盖全部程序语句、分支的测试，一般花费比编程更长的时间。</a:t>
            </a:r>
          </a:p>
          <a:p>
            <a:r>
              <a:rPr lang="zh-CN" altLang="en-US" sz="1800" dirty="0"/>
              <a:t>白盒测试方法所要求的</a:t>
            </a:r>
            <a:r>
              <a:rPr lang="zh-CN" altLang="en-US" sz="1800" dirty="0">
                <a:solidFill>
                  <a:srgbClr val="FF0000"/>
                </a:solidFill>
              </a:rPr>
              <a:t>技术也较高</a:t>
            </a:r>
            <a:r>
              <a:rPr lang="zh-CN" altLang="en-US" sz="1800" dirty="0"/>
              <a:t>，相应的</a:t>
            </a:r>
            <a:r>
              <a:rPr lang="zh-CN" altLang="en-US" sz="1800" dirty="0">
                <a:solidFill>
                  <a:srgbClr val="FF0000"/>
                </a:solidFill>
              </a:rPr>
              <a:t>测试成本要大</a:t>
            </a:r>
            <a:r>
              <a:rPr lang="zh-CN" altLang="en-US" sz="1800" dirty="0"/>
              <a:t>。对于一个应用的系统，程序的路径数可能是一个天文数字，即使借助一些测试工具，白盒测试法也</a:t>
            </a:r>
            <a:r>
              <a:rPr lang="zh-CN" altLang="en-US" sz="1800" dirty="0">
                <a:solidFill>
                  <a:srgbClr val="FF0000"/>
                </a:solidFill>
              </a:rPr>
              <a:t>不可能进行穷举测试</a:t>
            </a:r>
            <a:r>
              <a:rPr lang="zh-CN" altLang="en-US" sz="1800" dirty="0"/>
              <a:t>，企图遍历所有的路径往往是做不到的。即使，穷举路径测试，也不能查出程序违反了设计规范的地方，不能发现程序中已实现但不是用户所需要的功能，可能</a:t>
            </a:r>
            <a:r>
              <a:rPr lang="zh-CN" altLang="en-US" sz="1800" dirty="0">
                <a:solidFill>
                  <a:srgbClr val="FF0000"/>
                </a:solidFill>
              </a:rPr>
              <a:t>发现不了一些与数据相关的错误或用户操作行为的缺陷</a:t>
            </a:r>
            <a:r>
              <a:rPr lang="zh-CN" altLang="en-US" sz="1800" dirty="0"/>
              <a:t>。所以白盒测试方法也存在一定的局限性。</a:t>
            </a:r>
            <a:endParaRPr lang="zh-CN" altLang="en-US" dirty="0"/>
          </a:p>
        </p:txBody>
      </p:sp>
    </p:spTree>
    <p:extLst>
      <p:ext uri="{BB962C8B-B14F-4D97-AF65-F5344CB8AC3E}">
        <p14:creationId xmlns:p14="http://schemas.microsoft.com/office/powerpoint/2010/main" val="29362711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A7E08ECA-353B-44A0-9447-5EDA6548D241}" type="slidenum">
              <a:rPr lang="en-US" altLang="zh-CN" sz="1800" b="0" smtClean="0">
                <a:latin typeface="Times New Roman" pitchFamily="18" charset="0"/>
                <a:ea typeface="微软雅黑" pitchFamily="34" charset="-122"/>
              </a:rPr>
              <a:pPr algn="l" eaLnBrk="0" hangingPunct="0">
                <a:spcBef>
                  <a:spcPct val="0"/>
                </a:spcBef>
                <a:buFontTx/>
                <a:buNone/>
              </a:pPr>
              <a:t>84</a:t>
            </a:fld>
            <a:endParaRPr lang="en-US" altLang="zh-CN" sz="1800" b="0">
              <a:latin typeface="Times New Roman" pitchFamily="18" charset="0"/>
              <a:ea typeface="微软雅黑" pitchFamily="34" charset="-122"/>
            </a:endParaRPr>
          </a:p>
        </p:txBody>
      </p:sp>
      <p:sp>
        <p:nvSpPr>
          <p:cNvPr id="523266" name="Rectangle 1026" descr="Large confetti"/>
          <p:cNvSpPr>
            <a:spLocks noGrp="1" noChangeArrowheads="1"/>
          </p:cNvSpPr>
          <p:nvPr>
            <p:ph type="title"/>
          </p:nvPr>
        </p:nvSpPr>
        <p:spPr>
          <a:xfrm>
            <a:off x="468313" y="269875"/>
            <a:ext cx="8229600" cy="647700"/>
          </a:xfrm>
        </p:spPr>
        <p:txBody>
          <a:bodyPr/>
          <a:lstStyle/>
          <a:p>
            <a:pPr>
              <a:defRPr/>
            </a:pPr>
            <a:r>
              <a:rPr lang="zh-CN" altLang="en-US" sz="4000" dirty="0">
                <a:ea typeface="楷体_GB2312"/>
                <a:cs typeface="楷体_GB2312"/>
              </a:rPr>
              <a:t>平衡黑盒与白盒测试</a:t>
            </a:r>
          </a:p>
        </p:txBody>
      </p:sp>
      <p:sp>
        <p:nvSpPr>
          <p:cNvPr id="177156" name="Rectangle 1027"/>
          <p:cNvSpPr>
            <a:spLocks noGrp="1" noChangeArrowheads="1"/>
          </p:cNvSpPr>
          <p:nvPr>
            <p:ph type="body" idx="1"/>
          </p:nvPr>
        </p:nvSpPr>
        <p:spPr>
          <a:xfrm>
            <a:off x="539750" y="1006475"/>
            <a:ext cx="7993063" cy="3513138"/>
          </a:xfrm>
        </p:spPr>
        <p:txBody>
          <a:bodyPr/>
          <a:lstStyle/>
          <a:p>
            <a:pPr>
              <a:lnSpc>
                <a:spcPct val="110000"/>
              </a:lnSpc>
              <a:spcAft>
                <a:spcPct val="20000"/>
              </a:spcAft>
              <a:buFont typeface="Wingdings" pitchFamily="2" charset="2"/>
              <a:buNone/>
            </a:pPr>
            <a:r>
              <a:rPr lang="en-US" altLang="zh-CN" sz="1600" dirty="0"/>
              <a:t>          </a:t>
            </a:r>
            <a:r>
              <a:rPr lang="zh-CN" altLang="en-US" sz="2400" dirty="0"/>
              <a:t>从原理上讲，功能</a:t>
            </a:r>
            <a:r>
              <a:rPr lang="en-US" altLang="zh-CN" sz="2400" dirty="0"/>
              <a:t>(</a:t>
            </a:r>
            <a:r>
              <a:rPr lang="zh-CN" altLang="en-US" sz="2400" dirty="0"/>
              <a:t>黑盒</a:t>
            </a:r>
            <a:r>
              <a:rPr lang="en-US" altLang="zh-CN" sz="2400" dirty="0"/>
              <a:t>)</a:t>
            </a:r>
            <a:r>
              <a:rPr lang="zh-CN" altLang="en-US" sz="2400" dirty="0"/>
              <a:t>测试能检测出所有错误，但要花费无限的时间。结构</a:t>
            </a:r>
            <a:r>
              <a:rPr lang="en-US" altLang="zh-CN" sz="2400" dirty="0"/>
              <a:t>(</a:t>
            </a:r>
            <a:r>
              <a:rPr lang="zh-CN" altLang="en-US" sz="2400" dirty="0"/>
              <a:t>白盒</a:t>
            </a:r>
            <a:r>
              <a:rPr lang="en-US" altLang="zh-CN" sz="2400" dirty="0"/>
              <a:t>)</a:t>
            </a:r>
            <a:r>
              <a:rPr lang="zh-CN" altLang="en-US" sz="2400" dirty="0"/>
              <a:t>测试基本上是有限的，但即使是全部执行也不能测试出全部的错误。某种程度上讲，测试的技巧就是在结构</a:t>
            </a:r>
            <a:r>
              <a:rPr lang="en-US" altLang="zh-CN" sz="2400" dirty="0"/>
              <a:t>(</a:t>
            </a:r>
            <a:r>
              <a:rPr lang="zh-CN" altLang="en-US" sz="2400" dirty="0"/>
              <a:t>白盒</a:t>
            </a:r>
            <a:r>
              <a:rPr lang="en-US" altLang="zh-CN" sz="2400" dirty="0"/>
              <a:t>)</a:t>
            </a:r>
            <a:r>
              <a:rPr lang="zh-CN" altLang="en-US" sz="2400" dirty="0"/>
              <a:t>测试与功能</a:t>
            </a:r>
            <a:r>
              <a:rPr lang="en-US" altLang="zh-CN" sz="2400" dirty="0"/>
              <a:t>(</a:t>
            </a:r>
            <a:r>
              <a:rPr lang="zh-CN" altLang="en-US" sz="2400" dirty="0"/>
              <a:t>黑盒</a:t>
            </a:r>
            <a:r>
              <a:rPr lang="en-US" altLang="zh-CN" sz="2400" dirty="0"/>
              <a:t>)</a:t>
            </a:r>
            <a:r>
              <a:rPr lang="zh-CN" altLang="en-US" sz="2400" dirty="0"/>
              <a:t>测试之间如何进行选择。</a:t>
            </a:r>
          </a:p>
          <a:p>
            <a:pPr>
              <a:buFont typeface="Wingdings" pitchFamily="2" charset="2"/>
              <a:buNone/>
            </a:pPr>
            <a:r>
              <a:rPr lang="zh-CN" altLang="en-US" sz="1600" dirty="0"/>
              <a:t>                                </a:t>
            </a:r>
            <a:r>
              <a:rPr lang="en-US" altLang="zh-CN" sz="1600" dirty="0"/>
              <a:t>----- </a:t>
            </a:r>
            <a:r>
              <a:rPr lang="en-US" altLang="zh-CN" sz="1600" dirty="0" err="1"/>
              <a:t>Beizer</a:t>
            </a:r>
            <a:endParaRPr lang="en-US" altLang="zh-CN" sz="1600" dirty="0"/>
          </a:p>
        </p:txBody>
      </p:sp>
    </p:spTree>
    <p:extLst>
      <p:ext uri="{BB962C8B-B14F-4D97-AF65-F5344CB8AC3E}">
        <p14:creationId xmlns:p14="http://schemas.microsoft.com/office/powerpoint/2010/main" val="4403521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按方法（手段）分类</a:t>
            </a:r>
          </a:p>
        </p:txBody>
      </p:sp>
      <p:graphicFrame>
        <p:nvGraphicFramePr>
          <p:cNvPr id="4" name="图示 3"/>
          <p:cNvGraphicFramePr/>
          <p:nvPr>
            <p:extLst>
              <p:ext uri="{D42A27DB-BD31-4B8C-83A1-F6EECF244321}">
                <p14:modId xmlns:p14="http://schemas.microsoft.com/office/powerpoint/2010/main" val="3474614587"/>
              </p:ext>
            </p:extLst>
          </p:nvPr>
        </p:nvGraphicFramePr>
        <p:xfrm>
          <a:off x="971600" y="98995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64387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86</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zh-CN" altLang="en-US" dirty="0">
                <a:latin typeface="楷体_GB2312"/>
              </a:rPr>
              <a:t>定义</a:t>
            </a:r>
            <a:endParaRPr lang="zh-CN" altLang="en-US" dirty="0">
              <a:latin typeface="楷体_GB2312"/>
              <a:ea typeface="楷体_GB2312"/>
              <a:cs typeface="楷体_GB2312"/>
            </a:endParaRPr>
          </a:p>
        </p:txBody>
      </p:sp>
      <p:sp>
        <p:nvSpPr>
          <p:cNvPr id="64516" name="Rectangle 3"/>
          <p:cNvSpPr>
            <a:spLocks noGrp="1" noChangeArrowheads="1"/>
          </p:cNvSpPr>
          <p:nvPr>
            <p:ph type="body" idx="1"/>
          </p:nvPr>
        </p:nvSpPr>
        <p:spPr>
          <a:xfrm>
            <a:off x="468313" y="1114425"/>
            <a:ext cx="7078662" cy="3343275"/>
          </a:xfrm>
        </p:spPr>
        <p:txBody>
          <a:bodyPr/>
          <a:lstStyle/>
          <a:p>
            <a:pPr>
              <a:spcBef>
                <a:spcPct val="50000"/>
              </a:spcBef>
              <a:buClr>
                <a:schemeClr val="tx2"/>
              </a:buClr>
            </a:pPr>
            <a:r>
              <a:rPr lang="zh-CN" altLang="en-US" sz="2800" dirty="0"/>
              <a:t>静态测试是不动态执行程序代码而寻找程序代码中可能存在的缺陷或评估程序代码的过程。</a:t>
            </a:r>
            <a:endParaRPr lang="en-US" altLang="zh-CN" sz="2800" dirty="0"/>
          </a:p>
          <a:p>
            <a:pPr lvl="1">
              <a:spcBef>
                <a:spcPct val="50000"/>
              </a:spcBef>
              <a:buClr>
                <a:schemeClr val="tx2"/>
              </a:buClr>
            </a:pPr>
            <a:r>
              <a:rPr lang="zh-CN" altLang="en-US" sz="2400" dirty="0"/>
              <a:t>因此，静态测试常称为“分析”，静态分析是对被测对象进行特性分析的一些方法的总称。</a:t>
            </a:r>
            <a:endParaRPr lang="en-US" altLang="zh-CN"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87</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zh-CN" altLang="en-US" dirty="0">
                <a:latin typeface="楷体_GB2312"/>
              </a:rPr>
              <a:t>特征</a:t>
            </a:r>
            <a:endParaRPr lang="zh-CN" altLang="en-US" dirty="0">
              <a:latin typeface="楷体_GB2312"/>
              <a:ea typeface="楷体_GB2312"/>
              <a:cs typeface="楷体_GB2312"/>
            </a:endParaRPr>
          </a:p>
        </p:txBody>
      </p:sp>
      <p:sp>
        <p:nvSpPr>
          <p:cNvPr id="64516" name="Rectangle 3"/>
          <p:cNvSpPr>
            <a:spLocks noGrp="1" noChangeArrowheads="1"/>
          </p:cNvSpPr>
          <p:nvPr>
            <p:ph type="body" idx="1"/>
          </p:nvPr>
        </p:nvSpPr>
        <p:spPr>
          <a:xfrm>
            <a:off x="468312" y="1114425"/>
            <a:ext cx="8208143" cy="3343275"/>
          </a:xfrm>
        </p:spPr>
        <p:txBody>
          <a:bodyPr/>
          <a:lstStyle/>
          <a:p>
            <a:pPr>
              <a:spcBef>
                <a:spcPct val="50000"/>
              </a:spcBef>
              <a:buClr>
                <a:schemeClr val="tx2"/>
              </a:buClr>
            </a:pPr>
            <a:r>
              <a:rPr lang="zh-CN" altLang="en-US" sz="2800" dirty="0"/>
              <a:t>不动态运行程序</a:t>
            </a:r>
            <a:endParaRPr lang="en-US" altLang="zh-CN" sz="2800" dirty="0"/>
          </a:p>
          <a:p>
            <a:pPr>
              <a:spcBef>
                <a:spcPct val="50000"/>
              </a:spcBef>
              <a:buClr>
                <a:schemeClr val="tx2"/>
              </a:buClr>
            </a:pPr>
            <a:r>
              <a:rPr lang="zh-CN" altLang="en-US" sz="2800" dirty="0"/>
              <a:t>充分发挥人的思维优势</a:t>
            </a:r>
          </a:p>
          <a:p>
            <a:pPr>
              <a:spcBef>
                <a:spcPct val="50000"/>
              </a:spcBef>
              <a:buClr>
                <a:schemeClr val="tx2"/>
              </a:buClr>
            </a:pPr>
            <a:r>
              <a:rPr lang="zh-CN" altLang="en-US" sz="2800" dirty="0"/>
              <a:t>易开展，不需特别条件，</a:t>
            </a:r>
            <a:r>
              <a:rPr lang="zh-CN" altLang="en-US" sz="2800" dirty="0">
                <a:solidFill>
                  <a:srgbClr val="FF0000"/>
                </a:solidFill>
              </a:rPr>
              <a:t>但可能非常耗时</a:t>
            </a:r>
            <a:endParaRPr lang="en-US" altLang="zh-CN" sz="2800" dirty="0">
              <a:solidFill>
                <a:srgbClr val="FF0000"/>
              </a:solidFill>
            </a:endParaRPr>
          </a:p>
          <a:p>
            <a:pPr>
              <a:spcBef>
                <a:spcPct val="50000"/>
              </a:spcBef>
              <a:buClr>
                <a:schemeClr val="tx2"/>
              </a:buClr>
            </a:pPr>
            <a:r>
              <a:rPr lang="zh-CN" altLang="en-US" sz="2800" dirty="0"/>
              <a:t>对测试人员要求较高，要有编程经验，需要有知识和经验的积累，能发现问题本身而非征兆</a:t>
            </a:r>
          </a:p>
        </p:txBody>
      </p:sp>
    </p:spTree>
    <p:extLst>
      <p:ext uri="{BB962C8B-B14F-4D97-AF65-F5344CB8AC3E}">
        <p14:creationId xmlns:p14="http://schemas.microsoft.com/office/powerpoint/2010/main" val="24494721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88</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静态测试－内容</a:t>
            </a:r>
            <a:endParaRPr lang="zh-CN" altLang="en-US" dirty="0">
              <a:latin typeface="楷体_GB2312"/>
              <a:ea typeface="楷体_GB2312"/>
              <a:cs typeface="楷体_GB2312"/>
            </a:endParaRPr>
          </a:p>
        </p:txBody>
      </p:sp>
      <p:sp>
        <p:nvSpPr>
          <p:cNvPr id="64516" name="Rectangle 3"/>
          <p:cNvSpPr>
            <a:spLocks noGrp="1" noChangeArrowheads="1"/>
          </p:cNvSpPr>
          <p:nvPr>
            <p:ph type="body" idx="1"/>
          </p:nvPr>
        </p:nvSpPr>
        <p:spPr>
          <a:xfrm>
            <a:off x="468312" y="1114425"/>
            <a:ext cx="8208143" cy="3343275"/>
          </a:xfrm>
        </p:spPr>
        <p:txBody>
          <a:bodyPr/>
          <a:lstStyle/>
          <a:p>
            <a:pPr>
              <a:spcBef>
                <a:spcPct val="50000"/>
              </a:spcBef>
              <a:buClr>
                <a:schemeClr val="tx2"/>
              </a:buClr>
            </a:pPr>
            <a:r>
              <a:rPr lang="zh-CN" altLang="en-US" sz="2800" dirty="0"/>
              <a:t>主要包括：各阶段的</a:t>
            </a:r>
            <a:r>
              <a:rPr lang="zh-CN" altLang="en-US" sz="2800" dirty="0">
                <a:solidFill>
                  <a:srgbClr val="FF0000"/>
                </a:solidFill>
              </a:rPr>
              <a:t>文档</a:t>
            </a:r>
            <a:r>
              <a:rPr lang="zh-CN" altLang="en-US" sz="2800" dirty="0"/>
              <a:t>评审、</a:t>
            </a:r>
            <a:r>
              <a:rPr lang="zh-CN" altLang="en-US" sz="2800" dirty="0">
                <a:solidFill>
                  <a:srgbClr val="FF0000"/>
                </a:solidFill>
              </a:rPr>
              <a:t>代码</a:t>
            </a:r>
            <a:r>
              <a:rPr lang="zh-CN" altLang="en-US" sz="2800" dirty="0"/>
              <a:t>检查、</a:t>
            </a:r>
            <a:r>
              <a:rPr lang="zh-CN" altLang="en-US" sz="2800" dirty="0">
                <a:solidFill>
                  <a:srgbClr val="FF0000"/>
                </a:solidFill>
              </a:rPr>
              <a:t>代码</a:t>
            </a:r>
            <a:r>
              <a:rPr lang="zh-CN" altLang="en-US" sz="2800" dirty="0"/>
              <a:t>度量等</a:t>
            </a:r>
            <a:endParaRPr lang="en-US" altLang="zh-CN" sz="2800" dirty="0"/>
          </a:p>
          <a:p>
            <a:pPr lvl="1">
              <a:spcBef>
                <a:spcPct val="50000"/>
              </a:spcBef>
              <a:buClr>
                <a:schemeClr val="tx2"/>
              </a:buClr>
            </a:pPr>
            <a:r>
              <a:rPr lang="zh-CN" altLang="en-US" sz="2400" dirty="0"/>
              <a:t>对象：程序代码、界面或文档中可能存在的错误的过程。 </a:t>
            </a:r>
          </a:p>
          <a:p>
            <a:pPr lvl="1">
              <a:spcBef>
                <a:spcPct val="50000"/>
              </a:spcBef>
              <a:buClr>
                <a:schemeClr val="tx2"/>
              </a:buClr>
            </a:pPr>
            <a:endParaRPr lang="zh-CN" altLang="en-US" sz="2400" dirty="0"/>
          </a:p>
        </p:txBody>
      </p:sp>
    </p:spTree>
    <p:extLst>
      <p:ext uri="{BB962C8B-B14F-4D97-AF65-F5344CB8AC3E}">
        <p14:creationId xmlns:p14="http://schemas.microsoft.com/office/powerpoint/2010/main" val="4416150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89</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endParaRPr lang="zh-CN" altLang="en-US" dirty="0">
              <a:latin typeface="楷体_GB2312"/>
              <a:ea typeface="楷体_GB2312"/>
              <a:cs typeface="楷体_GB2312"/>
            </a:endParaRPr>
          </a:p>
        </p:txBody>
      </p:sp>
      <p:sp>
        <p:nvSpPr>
          <p:cNvPr id="64516" name="Rectangle 3"/>
          <p:cNvSpPr>
            <a:spLocks noGrp="1" noChangeArrowheads="1"/>
          </p:cNvSpPr>
          <p:nvPr>
            <p:ph type="body" idx="1"/>
          </p:nvPr>
        </p:nvSpPr>
        <p:spPr>
          <a:xfrm>
            <a:off x="468312" y="1114425"/>
            <a:ext cx="8208143" cy="3343275"/>
          </a:xfrm>
        </p:spPr>
        <p:txBody>
          <a:bodyPr/>
          <a:lstStyle/>
          <a:p>
            <a:pPr>
              <a:spcBef>
                <a:spcPct val="50000"/>
              </a:spcBef>
              <a:buClr>
                <a:schemeClr val="tx2"/>
              </a:buClr>
            </a:pPr>
            <a:r>
              <a:rPr lang="zh-CN" altLang="en-US" sz="2800" b="1" dirty="0"/>
              <a:t>人工检测</a:t>
            </a:r>
            <a:r>
              <a:rPr lang="zh-CN" altLang="en-US" sz="2800" dirty="0">
                <a:solidFill>
                  <a:srgbClr val="FF0000"/>
                </a:solidFill>
              </a:rPr>
              <a:t>（又称为评审）</a:t>
            </a:r>
            <a:endParaRPr lang="en-US" altLang="zh-CN" sz="2800" dirty="0">
              <a:solidFill>
                <a:srgbClr val="FF0000"/>
              </a:solidFill>
            </a:endParaRPr>
          </a:p>
          <a:p>
            <a:pPr lvl="1">
              <a:spcBef>
                <a:spcPct val="50000"/>
              </a:spcBef>
              <a:buClr>
                <a:schemeClr val="tx2"/>
              </a:buClr>
            </a:pPr>
            <a:r>
              <a:rPr lang="zh-CN" altLang="en-US" sz="1800" dirty="0"/>
              <a:t>人工检测是指不依靠计算机而完全靠人工审查或评审软件。人工检测这种方法可以有效地发现逻辑设计和编码错误，发现计算机不易发现的问题。</a:t>
            </a:r>
            <a:endParaRPr lang="en-US" altLang="zh-CN" sz="1800" dirty="0"/>
          </a:p>
          <a:p>
            <a:pPr>
              <a:spcBef>
                <a:spcPct val="50000"/>
              </a:spcBef>
              <a:buClr>
                <a:schemeClr val="tx2"/>
              </a:buClr>
            </a:pPr>
            <a:r>
              <a:rPr lang="zh-CN" altLang="en-US" sz="2800" dirty="0"/>
              <a:t>计算机辅助静态分析</a:t>
            </a:r>
            <a:endParaRPr lang="en-US" altLang="zh-CN" sz="2800" dirty="0"/>
          </a:p>
          <a:p>
            <a:pPr lvl="1">
              <a:spcBef>
                <a:spcPct val="50000"/>
              </a:spcBef>
              <a:buClr>
                <a:schemeClr val="tx2"/>
              </a:buClr>
            </a:pPr>
            <a:r>
              <a:rPr lang="zh-CN" altLang="en-US" sz="1800" dirty="0"/>
              <a:t>利用静态分析工具对被测程序进行特性分析，从程序中提取一些信息，以便检查程序逻辑的各种缺陷和可疑的程序构造。如用错的局部变量和全局变量，不匹配的参数，潜在的死循环等。静态分析中还可以用符号代替数值求得程序结果，阻便对程序进行运算规律的检验。</a:t>
            </a:r>
            <a:endParaRPr lang="zh-CN" altLang="en-US" sz="2400" dirty="0"/>
          </a:p>
        </p:txBody>
      </p:sp>
    </p:spTree>
    <p:extLst>
      <p:ext uri="{BB962C8B-B14F-4D97-AF65-F5344CB8AC3E}">
        <p14:creationId xmlns:p14="http://schemas.microsoft.com/office/powerpoint/2010/main" val="27902139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90</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评审</a:t>
            </a:r>
            <a:endParaRPr lang="zh-CN" altLang="en-US" dirty="0">
              <a:latin typeface="楷体_GB2312"/>
              <a:ea typeface="楷体_GB2312"/>
              <a:cs typeface="楷体_GB2312"/>
            </a:endParaRPr>
          </a:p>
        </p:txBody>
      </p:sp>
      <p:sp>
        <p:nvSpPr>
          <p:cNvPr id="64516" name="Rectangle 3"/>
          <p:cNvSpPr>
            <a:spLocks noGrp="1" noChangeArrowheads="1"/>
          </p:cNvSpPr>
          <p:nvPr>
            <p:ph type="body" idx="1"/>
          </p:nvPr>
        </p:nvSpPr>
        <p:spPr>
          <a:xfrm>
            <a:off x="468312" y="1114425"/>
            <a:ext cx="8208143" cy="3343275"/>
          </a:xfrm>
        </p:spPr>
        <p:txBody>
          <a:bodyPr/>
          <a:lstStyle/>
          <a:p>
            <a:pPr>
              <a:spcBef>
                <a:spcPct val="50000"/>
              </a:spcBef>
              <a:buClr>
                <a:schemeClr val="tx2"/>
              </a:buClr>
            </a:pPr>
            <a:r>
              <a:rPr lang="zh-CN" altLang="en-US" sz="2400" dirty="0"/>
              <a:t>评审是对所有人工静态分析和具体文档检查技术的通称。</a:t>
            </a:r>
            <a:endParaRPr lang="en-US" altLang="zh-CN" sz="2400" dirty="0"/>
          </a:p>
          <a:p>
            <a:pPr>
              <a:spcBef>
                <a:spcPct val="50000"/>
              </a:spcBef>
              <a:buClr>
                <a:schemeClr val="tx2"/>
              </a:buClr>
            </a:pPr>
            <a:r>
              <a:rPr lang="zh-CN" altLang="en-US" sz="2400" dirty="0"/>
              <a:t>评审对象：</a:t>
            </a:r>
            <a:endParaRPr lang="en-US" altLang="zh-CN" sz="2400" dirty="0"/>
          </a:p>
          <a:p>
            <a:pPr lvl="1">
              <a:spcBef>
                <a:spcPct val="50000"/>
              </a:spcBef>
              <a:buClr>
                <a:schemeClr val="tx2"/>
              </a:buClr>
            </a:pPr>
            <a:r>
              <a:rPr lang="zh-CN" altLang="en-US" sz="2000" dirty="0"/>
              <a:t>开发项目中所有文档及项目外有价值的文档。如：合同、需求定义、设计规格说明、程序代码、测试计划和手册等。</a:t>
            </a:r>
            <a:endParaRPr lang="en-US" altLang="zh-CN" sz="2000" dirty="0"/>
          </a:p>
          <a:p>
            <a:pPr>
              <a:spcBef>
                <a:spcPct val="50000"/>
              </a:spcBef>
              <a:buClr>
                <a:schemeClr val="tx2"/>
              </a:buClr>
            </a:pPr>
            <a:r>
              <a:rPr lang="zh-CN" altLang="en-US" sz="2400" dirty="0"/>
              <a:t>评审是一种保证质量的方法，积极作用有：</a:t>
            </a:r>
            <a:endParaRPr lang="en-US" altLang="zh-CN" sz="2400" dirty="0"/>
          </a:p>
          <a:p>
            <a:pPr lvl="1">
              <a:spcBef>
                <a:spcPct val="50000"/>
              </a:spcBef>
              <a:buClr>
                <a:schemeClr val="tx2"/>
              </a:buClr>
            </a:pPr>
            <a:r>
              <a:rPr lang="zh-CN" altLang="en-US" sz="1600" dirty="0"/>
              <a:t>可降低消除缺陷的成本              </a:t>
            </a:r>
            <a:r>
              <a:rPr lang="en-US" altLang="zh-CN" sz="1600" dirty="0"/>
              <a:t>-</a:t>
            </a:r>
            <a:r>
              <a:rPr lang="zh-CN" altLang="en-US" sz="1600" dirty="0"/>
              <a:t>可减少系统安装后的变更申请</a:t>
            </a:r>
            <a:endParaRPr lang="en-US" altLang="zh-CN" sz="1600" dirty="0"/>
          </a:p>
          <a:p>
            <a:pPr lvl="1">
              <a:spcBef>
                <a:spcPct val="50000"/>
              </a:spcBef>
              <a:buClr>
                <a:schemeClr val="tx2"/>
              </a:buClr>
            </a:pPr>
            <a:r>
              <a:rPr lang="zh-CN" altLang="en-US" sz="1600" dirty="0"/>
              <a:t>可缩短开发时间                         </a:t>
            </a:r>
            <a:r>
              <a:rPr lang="en-US" altLang="zh-CN" sz="1600" dirty="0"/>
              <a:t>-</a:t>
            </a:r>
            <a:r>
              <a:rPr lang="zh-CN" altLang="en-US" sz="1600" dirty="0"/>
              <a:t>降低系统运行故障率</a:t>
            </a:r>
            <a:endParaRPr lang="en-US" altLang="zh-CN" sz="1600" dirty="0"/>
          </a:p>
          <a:p>
            <a:pPr lvl="1">
              <a:spcBef>
                <a:spcPct val="50000"/>
              </a:spcBef>
              <a:buClr>
                <a:schemeClr val="tx2"/>
              </a:buClr>
            </a:pPr>
            <a:r>
              <a:rPr lang="zh-CN" altLang="en-US" sz="1600" dirty="0"/>
              <a:t>可减少动态测试时间和成本      </a:t>
            </a:r>
            <a:r>
              <a:rPr lang="en-US" altLang="zh-CN" sz="1600" dirty="0"/>
              <a:t>-</a:t>
            </a:r>
            <a:r>
              <a:rPr lang="zh-CN" altLang="en-US" sz="1600" dirty="0"/>
              <a:t>检查团对活动，改进团队成员的工作方法</a:t>
            </a:r>
          </a:p>
        </p:txBody>
      </p:sp>
    </p:spTree>
    <p:extLst>
      <p:ext uri="{BB962C8B-B14F-4D97-AF65-F5344CB8AC3E}">
        <p14:creationId xmlns:p14="http://schemas.microsoft.com/office/powerpoint/2010/main" val="29422373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91</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评审</a:t>
            </a:r>
            <a:endParaRPr lang="zh-CN" altLang="en-US" dirty="0">
              <a:latin typeface="楷体_GB2312"/>
              <a:ea typeface="楷体_GB2312"/>
              <a:cs typeface="楷体_GB2312"/>
            </a:endParaRPr>
          </a:p>
        </p:txBody>
      </p:sp>
      <p:sp>
        <p:nvSpPr>
          <p:cNvPr id="64516" name="Rectangle 3"/>
          <p:cNvSpPr>
            <a:spLocks noGrp="1" noChangeArrowheads="1"/>
          </p:cNvSpPr>
          <p:nvPr>
            <p:ph type="body" idx="1"/>
          </p:nvPr>
        </p:nvSpPr>
        <p:spPr>
          <a:xfrm>
            <a:off x="395536" y="1133971"/>
            <a:ext cx="8208143" cy="3343275"/>
          </a:xfrm>
        </p:spPr>
        <p:txBody>
          <a:bodyPr/>
          <a:lstStyle/>
          <a:p>
            <a:pPr>
              <a:spcBef>
                <a:spcPct val="50000"/>
              </a:spcBef>
              <a:buClr>
                <a:schemeClr val="tx2"/>
              </a:buClr>
            </a:pPr>
            <a:r>
              <a:rPr lang="zh-CN" altLang="en-US" sz="2000" dirty="0"/>
              <a:t>评审潜在的问题</a:t>
            </a:r>
            <a:endParaRPr lang="en-US" altLang="zh-CN" sz="2000" dirty="0"/>
          </a:p>
          <a:p>
            <a:pPr lvl="1">
              <a:spcBef>
                <a:spcPct val="50000"/>
              </a:spcBef>
              <a:buClr>
                <a:schemeClr val="tx2"/>
              </a:buClr>
            </a:pPr>
            <a:r>
              <a:rPr lang="zh-CN" altLang="en-US" sz="1800" dirty="0"/>
              <a:t>注意不要使作者感到严格检查是针对他人而非他提交的文档。</a:t>
            </a:r>
            <a:endParaRPr lang="en-US" altLang="zh-CN" sz="1800" dirty="0"/>
          </a:p>
          <a:p>
            <a:pPr>
              <a:spcBef>
                <a:spcPct val="50000"/>
              </a:spcBef>
              <a:buClr>
                <a:schemeClr val="tx2"/>
              </a:buClr>
            </a:pPr>
            <a:r>
              <a:rPr lang="zh-CN" altLang="en-US" sz="2000" dirty="0"/>
              <a:t>评审的成本和收益</a:t>
            </a:r>
            <a:endParaRPr lang="en-US" altLang="zh-CN" sz="2000" dirty="0"/>
          </a:p>
          <a:p>
            <a:pPr lvl="1">
              <a:spcBef>
                <a:spcPct val="50000"/>
              </a:spcBef>
              <a:buClr>
                <a:schemeClr val="tx2"/>
              </a:buClr>
            </a:pPr>
            <a:r>
              <a:rPr lang="zh-CN" altLang="en-US" sz="1800" dirty="0"/>
              <a:t>评审的成本大概占整个开发预算的</a:t>
            </a:r>
            <a:r>
              <a:rPr lang="en-US" altLang="zh-CN" sz="1800" dirty="0"/>
              <a:t>10%~15%,</a:t>
            </a:r>
            <a:r>
              <a:rPr lang="zh-CN" altLang="en-US" sz="1800" dirty="0"/>
              <a:t>包括评审过程、评审分析和过程改进的工作量。估计节约的成本约为</a:t>
            </a:r>
            <a:r>
              <a:rPr lang="en-US" altLang="zh-CN" sz="1800" dirty="0"/>
              <a:t>14%~25%</a:t>
            </a:r>
            <a:r>
              <a:rPr lang="zh-CN" altLang="en-US" sz="1800" dirty="0"/>
              <a:t>。</a:t>
            </a:r>
            <a:endParaRPr lang="en-US" altLang="zh-CN" sz="1800" dirty="0"/>
          </a:p>
          <a:p>
            <a:pPr lvl="1">
              <a:spcBef>
                <a:spcPct val="50000"/>
              </a:spcBef>
              <a:buClr>
                <a:schemeClr val="tx2"/>
              </a:buClr>
            </a:pPr>
            <a:r>
              <a:rPr lang="zh-CN" altLang="en-US" sz="1800" dirty="0"/>
              <a:t>如评审有效，应能发现</a:t>
            </a:r>
            <a:r>
              <a:rPr lang="en-US" altLang="zh-CN" sz="1800" dirty="0"/>
              <a:t>70%</a:t>
            </a:r>
            <a:r>
              <a:rPr lang="zh-CN" altLang="en-US" sz="1800" dirty="0"/>
              <a:t>以上的文档缺陷。</a:t>
            </a:r>
            <a:endParaRPr lang="en-US" altLang="zh-CN" sz="1800" dirty="0"/>
          </a:p>
          <a:p>
            <a:pPr>
              <a:spcBef>
                <a:spcPct val="50000"/>
              </a:spcBef>
              <a:buClr>
                <a:schemeClr val="tx2"/>
              </a:buClr>
            </a:pPr>
            <a:r>
              <a:rPr lang="zh-CN" altLang="en-US" sz="2000" dirty="0"/>
              <a:t>能促使评审成功的因素</a:t>
            </a:r>
            <a:endParaRPr lang="en-US" altLang="zh-CN" sz="2000" dirty="0"/>
          </a:p>
          <a:p>
            <a:pPr lvl="1">
              <a:spcBef>
                <a:spcPct val="50000"/>
              </a:spcBef>
              <a:buClr>
                <a:schemeClr val="tx2"/>
              </a:buClr>
            </a:pPr>
            <a:r>
              <a:rPr lang="zh-CN" altLang="en-US" sz="1800" dirty="0"/>
              <a:t>每次评审都事先定于一个明确的目标；</a:t>
            </a:r>
            <a:endParaRPr lang="en-US" altLang="zh-CN" sz="1800" dirty="0"/>
          </a:p>
          <a:p>
            <a:pPr lvl="1">
              <a:spcBef>
                <a:spcPct val="50000"/>
              </a:spcBef>
              <a:buClr>
                <a:schemeClr val="tx2"/>
              </a:buClr>
            </a:pPr>
            <a:r>
              <a:rPr lang="zh-CN" altLang="en-US" sz="1800" dirty="0"/>
              <a:t>根据每个人的知识和技能水平选择合适的评审参与者。</a:t>
            </a:r>
          </a:p>
        </p:txBody>
      </p:sp>
    </p:spTree>
    <p:extLst>
      <p:ext uri="{BB962C8B-B14F-4D97-AF65-F5344CB8AC3E}">
        <p14:creationId xmlns:p14="http://schemas.microsoft.com/office/powerpoint/2010/main" val="35309478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92</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评审</a:t>
            </a:r>
            <a:endParaRPr lang="zh-CN" altLang="en-US" dirty="0">
              <a:latin typeface="楷体_GB2312"/>
              <a:ea typeface="楷体_GB2312"/>
              <a:cs typeface="楷体_GB2312"/>
            </a:endParaRPr>
          </a:p>
        </p:txBody>
      </p:sp>
      <p:pic>
        <p:nvPicPr>
          <p:cNvPr id="6154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883" y="2124074"/>
            <a:ext cx="6434137" cy="90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22326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93</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评审</a:t>
            </a:r>
            <a:endParaRPr lang="zh-CN" altLang="en-US" dirty="0">
              <a:latin typeface="楷体_GB2312"/>
              <a:ea typeface="楷体_GB2312"/>
              <a:cs typeface="楷体_GB2312"/>
            </a:endParaRPr>
          </a:p>
        </p:txBody>
      </p:sp>
      <p:pic>
        <p:nvPicPr>
          <p:cNvPr id="6154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883" y="2124074"/>
            <a:ext cx="6434137" cy="90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4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6917" y="1494010"/>
            <a:ext cx="62960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椭圆 1"/>
          <p:cNvSpPr/>
          <p:nvPr/>
        </p:nvSpPr>
        <p:spPr bwMode="auto">
          <a:xfrm>
            <a:off x="6372200" y="1422003"/>
            <a:ext cx="1800200" cy="2232248"/>
          </a:xfrm>
          <a:prstGeom prst="ellipse">
            <a:avLst/>
          </a:prstGeom>
          <a:noFill/>
          <a:ln w="41275"/>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1736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5427"/>
                                        </p:tgtEl>
                                        <p:attrNameLst>
                                          <p:attrName>style.visibility</p:attrName>
                                        </p:attrNameLst>
                                      </p:cBhvr>
                                      <p:to>
                                        <p:strVal val="visible"/>
                                      </p:to>
                                    </p:set>
                                    <p:anim calcmode="lin" valueType="num">
                                      <p:cBhvr additive="base">
                                        <p:cTn id="7" dur="500" fill="hold"/>
                                        <p:tgtEl>
                                          <p:spTgt spid="615427"/>
                                        </p:tgtEl>
                                        <p:attrNameLst>
                                          <p:attrName>ppt_x</p:attrName>
                                        </p:attrNameLst>
                                      </p:cBhvr>
                                      <p:tavLst>
                                        <p:tav tm="0">
                                          <p:val>
                                            <p:strVal val="#ppt_x"/>
                                          </p:val>
                                        </p:tav>
                                        <p:tav tm="100000">
                                          <p:val>
                                            <p:strVal val="#ppt_x"/>
                                          </p:val>
                                        </p:tav>
                                      </p:tavLst>
                                    </p:anim>
                                    <p:anim calcmode="lin" valueType="num">
                                      <p:cBhvr additive="base">
                                        <p:cTn id="8" dur="500" fill="hold"/>
                                        <p:tgtEl>
                                          <p:spTgt spid="6154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95536" y="1133971"/>
            <a:ext cx="8208143" cy="3343275"/>
          </a:xfrm>
        </p:spPr>
        <p:txBody>
          <a:bodyPr/>
          <a:lstStyle/>
          <a:p>
            <a:pPr>
              <a:spcBef>
                <a:spcPct val="50000"/>
              </a:spcBef>
              <a:buClr>
                <a:schemeClr val="tx2"/>
              </a:buClr>
            </a:pPr>
            <a:r>
              <a:rPr lang="zh-CN" altLang="en-US" sz="2000" dirty="0"/>
              <a:t>正式评审过程（参考：</a:t>
            </a:r>
            <a:r>
              <a:rPr lang="en-US" altLang="zh-CN" sz="2000" dirty="0"/>
              <a:t>[IEEE 1028]</a:t>
            </a:r>
            <a:r>
              <a:rPr lang="zh-CN" altLang="en-US" sz="2000" dirty="0"/>
              <a:t>）</a:t>
            </a:r>
            <a:endParaRPr lang="en-US" altLang="zh-CN" sz="2000" dirty="0"/>
          </a:p>
          <a:p>
            <a:pPr lvl="1">
              <a:spcBef>
                <a:spcPct val="50000"/>
              </a:spcBef>
              <a:buClr>
                <a:schemeClr val="tx2"/>
              </a:buClr>
            </a:pPr>
            <a:r>
              <a:rPr lang="zh-CN" altLang="en-US" sz="1600" dirty="0"/>
              <a:t>评审活动分</a:t>
            </a:r>
            <a:r>
              <a:rPr lang="en-US" altLang="zh-CN" sz="1600" dirty="0"/>
              <a:t>6</a:t>
            </a:r>
            <a:r>
              <a:rPr lang="zh-CN" altLang="en-US" sz="1600" dirty="0"/>
              <a:t>个步骤：</a:t>
            </a:r>
            <a:r>
              <a:rPr lang="zh-CN" altLang="en-US" sz="1600" b="1" dirty="0"/>
              <a:t>计划、概述、准备、检查（评审会议）、返工和跟踪。</a:t>
            </a:r>
            <a:endParaRPr lang="en-US" altLang="zh-CN" sz="2000" b="1" dirty="0"/>
          </a:p>
          <a:p>
            <a:pPr>
              <a:spcBef>
                <a:spcPct val="50000"/>
              </a:spcBef>
              <a:buClr>
                <a:schemeClr val="tx2"/>
              </a:buClr>
            </a:pPr>
            <a:r>
              <a:rPr lang="zh-CN" altLang="en-US" sz="2000" dirty="0"/>
              <a:t>计划</a:t>
            </a:r>
            <a:endParaRPr lang="en-US" altLang="zh-CN" sz="2000" dirty="0"/>
          </a:p>
          <a:p>
            <a:pPr lvl="1">
              <a:spcBef>
                <a:spcPct val="50000"/>
              </a:spcBef>
              <a:buClr>
                <a:schemeClr val="tx2"/>
              </a:buClr>
            </a:pPr>
            <a:r>
              <a:rPr lang="zh-CN" altLang="en-US" sz="1600" dirty="0"/>
              <a:t>要评审的文档；评审技术；估算评审工作量；评审检查点；组建评审团队；确保文档处于一个可评审状态；会议的时间和地点（如有的话）等。</a:t>
            </a:r>
            <a:endParaRPr lang="en-US" altLang="zh-CN" sz="1600" dirty="0"/>
          </a:p>
          <a:p>
            <a:pPr>
              <a:spcBef>
                <a:spcPct val="50000"/>
              </a:spcBef>
              <a:buClr>
                <a:schemeClr val="tx2"/>
              </a:buClr>
            </a:pPr>
            <a:r>
              <a:rPr lang="zh-CN" altLang="en-US" sz="2000" dirty="0"/>
              <a:t>概述（开工会）</a:t>
            </a:r>
            <a:endParaRPr lang="en-US" altLang="zh-CN" sz="2000" dirty="0"/>
          </a:p>
          <a:p>
            <a:pPr lvl="1">
              <a:spcBef>
                <a:spcPct val="50000"/>
              </a:spcBef>
              <a:buClr>
                <a:schemeClr val="tx2"/>
              </a:buClr>
            </a:pPr>
            <a:r>
              <a:rPr lang="zh-CN" altLang="en-US" sz="1600" dirty="0"/>
              <a:t>为参加评审的人提供所有必需信息。</a:t>
            </a:r>
            <a:endParaRPr lang="en-US" altLang="zh-CN" sz="1600" dirty="0"/>
          </a:p>
          <a:p>
            <a:pPr>
              <a:spcBef>
                <a:spcPct val="50000"/>
              </a:spcBef>
              <a:buClr>
                <a:schemeClr val="tx2"/>
              </a:buClr>
            </a:pPr>
            <a:r>
              <a:rPr lang="zh-CN" altLang="en-US" sz="2000" dirty="0"/>
              <a:t>准备</a:t>
            </a:r>
            <a:endParaRPr lang="en-US" altLang="zh-CN" sz="2000" dirty="0"/>
          </a:p>
          <a:p>
            <a:pPr lvl="1">
              <a:spcBef>
                <a:spcPct val="50000"/>
              </a:spcBef>
              <a:buClr>
                <a:schemeClr val="tx2"/>
              </a:buClr>
            </a:pPr>
            <a:r>
              <a:rPr lang="zh-CN" altLang="en-US" sz="1600" dirty="0"/>
              <a:t>评审人必须各自为评审会议做准备。</a:t>
            </a:r>
            <a:endParaRPr lang="en-US" altLang="zh-CN" sz="1200" dirty="0"/>
          </a:p>
          <a:p>
            <a:pPr marL="457200" lvl="1" indent="0">
              <a:spcBef>
                <a:spcPct val="50000"/>
              </a:spcBef>
              <a:buClr>
                <a:schemeClr val="tx2"/>
              </a:buClr>
              <a:buNone/>
            </a:pPr>
            <a:endParaRPr lang="en-US" altLang="zh-CN" sz="12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94</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正式评审</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25610756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95536" y="1133971"/>
            <a:ext cx="8208143" cy="3343275"/>
          </a:xfrm>
        </p:spPr>
        <p:txBody>
          <a:bodyPr/>
          <a:lstStyle/>
          <a:p>
            <a:pPr>
              <a:spcBef>
                <a:spcPct val="50000"/>
              </a:spcBef>
              <a:buClr>
                <a:schemeClr val="tx2"/>
              </a:buClr>
            </a:pPr>
            <a:r>
              <a:rPr lang="zh-CN" altLang="en-US" sz="2000" dirty="0"/>
              <a:t>检查（评审会议）</a:t>
            </a:r>
            <a:endParaRPr lang="en-US" altLang="zh-CN" sz="2000" dirty="0"/>
          </a:p>
          <a:p>
            <a:pPr lvl="1">
              <a:spcBef>
                <a:spcPct val="50000"/>
              </a:spcBef>
              <a:buClr>
                <a:schemeClr val="tx2"/>
              </a:buClr>
            </a:pPr>
            <a:r>
              <a:rPr lang="zh-CN" altLang="en-US" sz="1600" dirty="0"/>
              <a:t>会议应有主持人。</a:t>
            </a:r>
            <a:endParaRPr lang="en-US" altLang="zh-CN" sz="1600" dirty="0"/>
          </a:p>
          <a:p>
            <a:pPr lvl="1">
              <a:spcBef>
                <a:spcPct val="50000"/>
              </a:spcBef>
              <a:buClr>
                <a:schemeClr val="tx2"/>
              </a:buClr>
            </a:pPr>
            <a:r>
              <a:rPr lang="zh-CN" altLang="en-US" sz="1600" dirty="0"/>
              <a:t>目的除了发现缺陷外，还包括判断评审对象是否满足需求以及是否符合标准。</a:t>
            </a:r>
            <a:endParaRPr lang="en-US" altLang="zh-CN" sz="1600" dirty="0"/>
          </a:p>
          <a:p>
            <a:pPr lvl="1">
              <a:spcBef>
                <a:spcPct val="50000"/>
              </a:spcBef>
              <a:buClr>
                <a:schemeClr val="tx2"/>
              </a:buClr>
            </a:pPr>
            <a:r>
              <a:rPr lang="zh-CN" altLang="en-US" sz="1600" dirty="0"/>
              <a:t>评审会议的一些通用准则：</a:t>
            </a:r>
          </a:p>
          <a:p>
            <a:pPr lvl="2">
              <a:spcBef>
                <a:spcPct val="50000"/>
              </a:spcBef>
              <a:buClr>
                <a:schemeClr val="tx2"/>
              </a:buClr>
            </a:pPr>
            <a:r>
              <a:rPr lang="zh-CN" altLang="en-US" sz="1600" dirty="0">
                <a:solidFill>
                  <a:srgbClr val="00B0F0"/>
                </a:solidFill>
              </a:rPr>
              <a:t>评审会议的时间限制在</a:t>
            </a:r>
            <a:r>
              <a:rPr lang="en-US" altLang="zh-CN" sz="1600" dirty="0">
                <a:solidFill>
                  <a:srgbClr val="00B0F0"/>
                </a:solidFill>
              </a:rPr>
              <a:t>2</a:t>
            </a:r>
            <a:r>
              <a:rPr lang="zh-CN" altLang="en-US" sz="1600" dirty="0">
                <a:solidFill>
                  <a:srgbClr val="00B0F0"/>
                </a:solidFill>
              </a:rPr>
              <a:t>小时内；</a:t>
            </a:r>
          </a:p>
          <a:p>
            <a:pPr lvl="2">
              <a:spcBef>
                <a:spcPct val="50000"/>
              </a:spcBef>
              <a:buClr>
                <a:schemeClr val="tx2"/>
              </a:buClr>
            </a:pPr>
            <a:r>
              <a:rPr lang="zh-CN" altLang="en-US" sz="1600" dirty="0">
                <a:solidFill>
                  <a:srgbClr val="00B0F0"/>
                </a:solidFill>
              </a:rPr>
              <a:t>如有评审人缺席或准备不充分，主持人有权取消或中止会议；</a:t>
            </a:r>
          </a:p>
          <a:p>
            <a:pPr lvl="2">
              <a:spcBef>
                <a:spcPct val="50000"/>
              </a:spcBef>
              <a:buClr>
                <a:schemeClr val="tx2"/>
              </a:buClr>
            </a:pPr>
            <a:r>
              <a:rPr lang="zh-CN" altLang="en-US" sz="1600" dirty="0">
                <a:solidFill>
                  <a:srgbClr val="00B0F0"/>
                </a:solidFill>
              </a:rPr>
              <a:t>检查对象是被提交的文档，而非作者（评审人必须注意他们的言语及表达方式，作者不应为自己或文档辩护）</a:t>
            </a:r>
          </a:p>
          <a:p>
            <a:pPr lvl="2">
              <a:spcBef>
                <a:spcPct val="50000"/>
              </a:spcBef>
              <a:buClr>
                <a:schemeClr val="tx2"/>
              </a:buClr>
            </a:pPr>
            <a:r>
              <a:rPr lang="zh-CN" altLang="en-US" sz="1600" dirty="0">
                <a:solidFill>
                  <a:srgbClr val="00B0F0"/>
                </a:solidFill>
              </a:rPr>
              <a:t>主持人不应同时作为评审人；</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不讨论常见的风格问题（方针之外的问题）；</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开发方案和对应的讨论不是评审团队的任务；</a:t>
            </a:r>
            <a:endParaRPr lang="en-US" altLang="zh-CN" sz="1600" dirty="0">
              <a:solidFill>
                <a:srgbClr val="00B0F0"/>
              </a:solidFill>
            </a:endParaRPr>
          </a:p>
          <a:p>
            <a:pPr lvl="2">
              <a:spcBef>
                <a:spcPct val="50000"/>
              </a:spcBef>
              <a:buClr>
                <a:schemeClr val="tx2"/>
              </a:buClr>
            </a:pPr>
            <a:endParaRPr lang="zh-CN" altLang="en-US" sz="16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95</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正式评审</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23111376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95536" y="1133971"/>
            <a:ext cx="8208143" cy="3343275"/>
          </a:xfrm>
        </p:spPr>
        <p:txBody>
          <a:bodyPr/>
          <a:lstStyle/>
          <a:p>
            <a:pPr lvl="2">
              <a:spcBef>
                <a:spcPct val="50000"/>
              </a:spcBef>
              <a:buClr>
                <a:schemeClr val="tx2"/>
              </a:buClr>
            </a:pPr>
            <a:r>
              <a:rPr lang="zh-CN" altLang="en-US" sz="1600" dirty="0">
                <a:solidFill>
                  <a:srgbClr val="00B0F0"/>
                </a:solidFill>
              </a:rPr>
              <a:t>每个评审人员必须有机会充分表达他们的论点；</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会议纪要必须完整表达评审人的意见；</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问题不应以命令的形式写给作者；</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问题必须划分为不同的权重：严重缺陷、重要缺陷、一般缺陷、好的；</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评审团队应对评审对象给出最后意见：接受（无需修改）有条件接受（需修改，但不需进一步评审）不接受（需进一步评审或其他的检查）</a:t>
            </a:r>
            <a:endParaRPr lang="en-US" altLang="zh-CN" sz="1600" dirty="0">
              <a:solidFill>
                <a:srgbClr val="00B0F0"/>
              </a:solidFill>
            </a:endParaRPr>
          </a:p>
          <a:p>
            <a:pPr lvl="2">
              <a:spcBef>
                <a:spcPct val="50000"/>
              </a:spcBef>
              <a:buClr>
                <a:schemeClr val="tx2"/>
              </a:buClr>
            </a:pPr>
            <a:r>
              <a:rPr lang="zh-CN" altLang="en-US" sz="1600" dirty="0">
                <a:solidFill>
                  <a:srgbClr val="00B0F0"/>
                </a:solidFill>
              </a:rPr>
              <a:t>要有会议纪要及总结（包括会议中讨论的问题或发现问题的列表，评审总结报告等。）</a:t>
            </a:r>
            <a:endParaRPr lang="en-US" altLang="zh-CN" sz="1600" dirty="0">
              <a:solidFill>
                <a:srgbClr val="00B0F0"/>
              </a:solidFill>
            </a:endParaRPr>
          </a:p>
          <a:p>
            <a:pPr>
              <a:spcBef>
                <a:spcPct val="50000"/>
              </a:spcBef>
              <a:buClr>
                <a:schemeClr val="tx2"/>
              </a:buClr>
            </a:pPr>
            <a:r>
              <a:rPr lang="zh-CN" altLang="en-US" sz="2000" dirty="0"/>
              <a:t>返工（经理决定接受评审团队意见修正缺陷，或选择另外的方法（经理必须对此全权负责））</a:t>
            </a:r>
            <a:endParaRPr lang="en-US" altLang="zh-CN" sz="2000" dirty="0"/>
          </a:p>
          <a:p>
            <a:pPr>
              <a:spcBef>
                <a:spcPct val="50000"/>
              </a:spcBef>
              <a:buClr>
                <a:schemeClr val="tx2"/>
              </a:buClr>
            </a:pPr>
            <a:r>
              <a:rPr lang="zh-CN" altLang="en-US" sz="2000" dirty="0"/>
              <a:t>跟踪（专人跟踪缺陷的修改。）</a:t>
            </a:r>
            <a:endParaRPr lang="en-US" altLang="zh-CN" sz="2000" dirty="0"/>
          </a:p>
          <a:p>
            <a:pPr lvl="1">
              <a:spcBef>
                <a:spcPct val="50000"/>
              </a:spcBef>
              <a:buClr>
                <a:schemeClr val="tx2"/>
              </a:buClr>
            </a:pPr>
            <a:endParaRPr lang="en-US" altLang="zh-CN" sz="1200" dirty="0"/>
          </a:p>
          <a:p>
            <a:pPr marL="457200" lvl="1" indent="0">
              <a:spcBef>
                <a:spcPct val="50000"/>
              </a:spcBef>
              <a:buClr>
                <a:schemeClr val="tx2"/>
              </a:buClr>
              <a:buNone/>
            </a:pPr>
            <a:endParaRPr lang="en-US" altLang="zh-CN" sz="12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96</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正式评审</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17897780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107504" y="1133971"/>
            <a:ext cx="9073008" cy="3343275"/>
          </a:xfrm>
        </p:spPr>
        <p:txBody>
          <a:bodyPr/>
          <a:lstStyle/>
          <a:p>
            <a:pPr>
              <a:spcBef>
                <a:spcPct val="50000"/>
              </a:spcBef>
              <a:buClr>
                <a:schemeClr val="tx2"/>
              </a:buClr>
            </a:pPr>
            <a:r>
              <a:rPr lang="zh-CN" altLang="en-US" sz="2400" dirty="0"/>
              <a:t>正式评审角色和职责</a:t>
            </a:r>
            <a:endParaRPr lang="en-US" altLang="zh-CN" sz="2400" dirty="0"/>
          </a:p>
          <a:p>
            <a:pPr lvl="1">
              <a:spcBef>
                <a:spcPct val="50000"/>
              </a:spcBef>
              <a:buClr>
                <a:schemeClr val="tx2"/>
              </a:buClr>
            </a:pPr>
            <a:r>
              <a:rPr lang="zh-CN" altLang="en-US" sz="2000" dirty="0"/>
              <a:t>经理</a:t>
            </a:r>
            <a:endParaRPr lang="en-US" altLang="zh-CN" sz="2000" dirty="0"/>
          </a:p>
          <a:p>
            <a:pPr lvl="2">
              <a:spcBef>
                <a:spcPct val="50000"/>
              </a:spcBef>
              <a:buClr>
                <a:schemeClr val="tx2"/>
              </a:buClr>
            </a:pPr>
            <a:r>
              <a:rPr lang="zh-CN" altLang="en-US" sz="1600" dirty="0"/>
              <a:t>确保文档、必需的资源可用，同时选择评审人；</a:t>
            </a:r>
          </a:p>
          <a:p>
            <a:pPr lvl="2">
              <a:spcBef>
                <a:spcPct val="50000"/>
              </a:spcBef>
              <a:buClr>
                <a:schemeClr val="tx2"/>
              </a:buClr>
            </a:pPr>
            <a:r>
              <a:rPr lang="zh-CN" altLang="en-US" sz="1600" dirty="0"/>
              <a:t>经理不一定得是管理层人员（导致大家“人心恍惚”）</a:t>
            </a:r>
            <a:endParaRPr lang="en-US" altLang="zh-CN" sz="1600" dirty="0"/>
          </a:p>
          <a:p>
            <a:pPr lvl="1">
              <a:spcBef>
                <a:spcPct val="50000"/>
              </a:spcBef>
              <a:buClr>
                <a:schemeClr val="tx2"/>
              </a:buClr>
            </a:pPr>
            <a:r>
              <a:rPr lang="zh-CN" altLang="en-US" sz="2000" dirty="0"/>
              <a:t>主持人</a:t>
            </a:r>
            <a:endParaRPr lang="en-US" altLang="zh-CN" sz="2000" dirty="0"/>
          </a:p>
          <a:p>
            <a:pPr lvl="2">
              <a:spcBef>
                <a:spcPct val="50000"/>
              </a:spcBef>
              <a:buClr>
                <a:schemeClr val="tx2"/>
              </a:buClr>
            </a:pPr>
            <a:r>
              <a:rPr lang="zh-CN" altLang="en-US" sz="1600" dirty="0"/>
              <a:t>管理评审有关的工作：计划、准备并保证评审有序进行且满足它的目标，收集评审数据、发布评审报告等。</a:t>
            </a:r>
            <a:endParaRPr lang="en-US" altLang="zh-CN" sz="1600" dirty="0"/>
          </a:p>
          <a:p>
            <a:pPr lvl="1">
              <a:spcBef>
                <a:spcPct val="50000"/>
              </a:spcBef>
              <a:buClr>
                <a:schemeClr val="tx2"/>
              </a:buClr>
            </a:pPr>
            <a:r>
              <a:rPr lang="zh-CN" altLang="en-US" sz="2000" dirty="0"/>
              <a:t>作者</a:t>
            </a:r>
            <a:endParaRPr lang="en-US" altLang="zh-CN" sz="2000" dirty="0"/>
          </a:p>
          <a:p>
            <a:pPr lvl="2">
              <a:spcBef>
                <a:spcPct val="50000"/>
              </a:spcBef>
              <a:buClr>
                <a:schemeClr val="tx2"/>
              </a:buClr>
            </a:pPr>
            <a:r>
              <a:rPr lang="zh-CN" altLang="en-US" sz="1600" dirty="0"/>
              <a:t>文档的创建者，如为多人，应是主要负责人。</a:t>
            </a:r>
          </a:p>
          <a:p>
            <a:pPr lvl="2">
              <a:spcBef>
                <a:spcPct val="50000"/>
              </a:spcBef>
              <a:buClr>
                <a:schemeClr val="tx2"/>
              </a:buClr>
            </a:pPr>
            <a:r>
              <a:rPr lang="zh-CN" altLang="en-US" sz="1600" dirty="0"/>
              <a:t>不要把针对文档的问题看作是对其人的批评，作者必须明白评审只是用来帮助改进产品</a:t>
            </a:r>
            <a:endParaRPr lang="en-US" altLang="zh-CN" sz="1400" dirty="0"/>
          </a:p>
          <a:p>
            <a:pPr lvl="2">
              <a:spcBef>
                <a:spcPct val="50000"/>
              </a:spcBef>
              <a:buClr>
                <a:schemeClr val="tx2"/>
              </a:buClr>
            </a:pPr>
            <a:endParaRPr lang="zh-CN" altLang="en-US" sz="16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97</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正式评审</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28353820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95536" y="1133971"/>
            <a:ext cx="8208143" cy="3343275"/>
          </a:xfrm>
        </p:spPr>
        <p:txBody>
          <a:bodyPr/>
          <a:lstStyle/>
          <a:p>
            <a:pPr>
              <a:spcBef>
                <a:spcPct val="50000"/>
              </a:spcBef>
              <a:buClr>
                <a:schemeClr val="tx2"/>
              </a:buClr>
            </a:pPr>
            <a:r>
              <a:rPr lang="zh-CN" altLang="en-US" sz="2400" dirty="0"/>
              <a:t>评审角色和职责</a:t>
            </a:r>
            <a:endParaRPr lang="en-US" altLang="zh-CN" sz="2400" dirty="0"/>
          </a:p>
          <a:p>
            <a:pPr lvl="1">
              <a:spcBef>
                <a:spcPct val="50000"/>
              </a:spcBef>
              <a:buClr>
                <a:schemeClr val="tx2"/>
              </a:buClr>
            </a:pPr>
            <a:r>
              <a:rPr lang="zh-CN" altLang="en-US" sz="2000" dirty="0"/>
              <a:t>评审人</a:t>
            </a:r>
            <a:endParaRPr lang="en-US" altLang="zh-CN" sz="2000" dirty="0"/>
          </a:p>
          <a:p>
            <a:pPr lvl="2">
              <a:spcBef>
                <a:spcPct val="50000"/>
              </a:spcBef>
              <a:buClr>
                <a:schemeClr val="tx2"/>
              </a:buClr>
            </a:pPr>
            <a:r>
              <a:rPr lang="zh-CN" altLang="en-US" sz="1600" dirty="0"/>
              <a:t>通常最多</a:t>
            </a:r>
            <a:r>
              <a:rPr lang="en-US" altLang="zh-CN" sz="1600" dirty="0"/>
              <a:t>5</a:t>
            </a:r>
            <a:r>
              <a:rPr lang="zh-CN" altLang="en-US" sz="1600" dirty="0"/>
              <a:t>个。他们应能识别并描述评审对象中存在的问题。为保证有效的覆盖率，可给评审人分配制定的评审主题。</a:t>
            </a:r>
            <a:endParaRPr lang="en-US" altLang="zh-CN" sz="1600" dirty="0"/>
          </a:p>
          <a:p>
            <a:pPr lvl="1">
              <a:spcBef>
                <a:spcPct val="50000"/>
              </a:spcBef>
              <a:buClr>
                <a:schemeClr val="tx2"/>
              </a:buClr>
            </a:pPr>
            <a:r>
              <a:rPr lang="zh-CN" altLang="en-US" sz="2400" dirty="0"/>
              <a:t>记录员</a:t>
            </a:r>
            <a:endParaRPr lang="en-US" altLang="zh-CN" sz="1600" dirty="0"/>
          </a:p>
          <a:p>
            <a:pPr lvl="2">
              <a:spcBef>
                <a:spcPct val="50000"/>
              </a:spcBef>
              <a:buClr>
                <a:schemeClr val="tx2"/>
              </a:buClr>
            </a:pPr>
            <a:r>
              <a:rPr lang="zh-CN" altLang="en-US" sz="1600" dirty="0"/>
              <a:t>记录所有的发现：问题、采取的措施、决定和建议等。文字应简短和准确。</a:t>
            </a:r>
          </a:p>
          <a:p>
            <a:pPr lvl="2">
              <a:spcBef>
                <a:spcPct val="50000"/>
              </a:spcBef>
              <a:buClr>
                <a:schemeClr val="tx2"/>
              </a:buClr>
            </a:pPr>
            <a:r>
              <a:rPr lang="zh-CN" altLang="en-US" sz="1600" dirty="0"/>
              <a:t>最好由文档作者来担当。</a:t>
            </a:r>
            <a:endParaRPr lang="en-US" altLang="zh-CN" sz="1600" dirty="0"/>
          </a:p>
          <a:p>
            <a:pPr lvl="2">
              <a:spcBef>
                <a:spcPct val="50000"/>
              </a:spcBef>
              <a:buClr>
                <a:schemeClr val="tx2"/>
              </a:buClr>
            </a:pPr>
            <a:endParaRPr lang="zh-CN" altLang="en-US" sz="16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98</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正式评审</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16922553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95536" y="1133971"/>
            <a:ext cx="8208143" cy="3343275"/>
          </a:xfrm>
        </p:spPr>
        <p:txBody>
          <a:bodyPr/>
          <a:lstStyle/>
          <a:p>
            <a:pPr>
              <a:spcBef>
                <a:spcPct val="50000"/>
              </a:spcBef>
              <a:buClr>
                <a:schemeClr val="tx2"/>
              </a:buClr>
            </a:pPr>
            <a:r>
              <a:rPr lang="zh-CN" altLang="en-US" sz="2400" dirty="0"/>
              <a:t>评审失败的可能原因</a:t>
            </a:r>
            <a:endParaRPr lang="en-US" altLang="zh-CN" sz="2400" dirty="0"/>
          </a:p>
          <a:p>
            <a:pPr lvl="1">
              <a:spcBef>
                <a:spcPct val="50000"/>
              </a:spcBef>
              <a:buClr>
                <a:schemeClr val="tx2"/>
              </a:buClr>
            </a:pPr>
            <a:r>
              <a:rPr lang="zh-CN" altLang="en-US" sz="1800" dirty="0"/>
              <a:t>需要的人没空或不具备必须的资格和技术技能。</a:t>
            </a:r>
            <a:endParaRPr lang="en-US" altLang="zh-CN" sz="1800" dirty="0"/>
          </a:p>
          <a:p>
            <a:pPr lvl="1">
              <a:spcBef>
                <a:spcPct val="50000"/>
              </a:spcBef>
              <a:buClr>
                <a:schemeClr val="tx2"/>
              </a:buClr>
            </a:pPr>
            <a:r>
              <a:rPr lang="zh-CN" altLang="en-US" sz="1800" dirty="0"/>
              <a:t>管理层在资源计划时不准确的估计</a:t>
            </a:r>
            <a:endParaRPr lang="en-US" altLang="zh-CN" sz="1800" dirty="0"/>
          </a:p>
          <a:p>
            <a:pPr lvl="1">
              <a:spcBef>
                <a:spcPct val="50000"/>
              </a:spcBef>
              <a:buClr>
                <a:schemeClr val="tx2"/>
              </a:buClr>
            </a:pPr>
            <a:r>
              <a:rPr lang="zh-CN" altLang="en-US" sz="1800" dirty="0"/>
              <a:t>准备不足。</a:t>
            </a:r>
            <a:endParaRPr lang="en-US" altLang="zh-CN" sz="1800" dirty="0"/>
          </a:p>
          <a:p>
            <a:pPr lvl="1">
              <a:spcBef>
                <a:spcPct val="50000"/>
              </a:spcBef>
              <a:buClr>
                <a:schemeClr val="tx2"/>
              </a:buClr>
            </a:pPr>
            <a:r>
              <a:rPr lang="zh-CN" altLang="en-US" sz="1800" dirty="0"/>
              <a:t>文档不足</a:t>
            </a:r>
          </a:p>
          <a:p>
            <a:pPr lvl="1">
              <a:spcBef>
                <a:spcPct val="50000"/>
              </a:spcBef>
              <a:buClr>
                <a:schemeClr val="tx2"/>
              </a:buClr>
            </a:pPr>
            <a:r>
              <a:rPr lang="zh-CN" altLang="en-US" sz="1800" dirty="0"/>
              <a:t>缺少管理层支持</a:t>
            </a:r>
            <a:endParaRPr lang="en-US" altLang="zh-CN" sz="1800" dirty="0"/>
          </a:p>
          <a:p>
            <a:pPr lvl="1">
              <a:spcBef>
                <a:spcPct val="50000"/>
              </a:spcBef>
              <a:buClr>
                <a:schemeClr val="tx2"/>
              </a:buClr>
            </a:pPr>
            <a:endParaRPr lang="en-US" altLang="zh-CN" sz="1000" dirty="0"/>
          </a:p>
          <a:p>
            <a:pPr lvl="2">
              <a:spcBef>
                <a:spcPct val="50000"/>
              </a:spcBef>
              <a:buClr>
                <a:schemeClr val="tx2"/>
              </a:buClr>
            </a:pPr>
            <a:endParaRPr lang="zh-CN" altLang="en-US" sz="16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99</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静态测试－方法</a:t>
            </a:r>
            <a:r>
              <a:rPr lang="en-US" altLang="zh-CN" dirty="0"/>
              <a:t>-</a:t>
            </a:r>
            <a:r>
              <a:rPr lang="zh-CN" altLang="en-US" dirty="0"/>
              <a:t>评审</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40962561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95536" y="1133971"/>
            <a:ext cx="8208143" cy="3343275"/>
          </a:xfrm>
        </p:spPr>
        <p:txBody>
          <a:bodyPr/>
          <a:lstStyle/>
          <a:p>
            <a:pPr>
              <a:spcBef>
                <a:spcPct val="50000"/>
              </a:spcBef>
              <a:buClr>
                <a:schemeClr val="tx2"/>
              </a:buClr>
            </a:pPr>
            <a:r>
              <a:rPr lang="zh-CN" altLang="en-US" sz="2400" dirty="0"/>
              <a:t>代码检查</a:t>
            </a:r>
            <a:endParaRPr lang="en-US" altLang="zh-CN" sz="2400" dirty="0"/>
          </a:p>
          <a:p>
            <a:pPr lvl="1">
              <a:spcBef>
                <a:spcPct val="50000"/>
              </a:spcBef>
              <a:buClr>
                <a:schemeClr val="tx2"/>
              </a:buClr>
            </a:pPr>
            <a:r>
              <a:rPr lang="zh-CN" altLang="en-US" sz="1800" dirty="0"/>
              <a:t>主要检查代码和设计的一致性，代码对标准的遵循、可读性，代码的逻辑表达的正确性，代码结构的合理性等方面；以期发现违背编程标准或编程风格问题，程序中不安全、不明确和模糊部分，程序中不可移植部分等。</a:t>
            </a:r>
            <a:endParaRPr lang="en-US" altLang="zh-CN" sz="1800" dirty="0"/>
          </a:p>
          <a:p>
            <a:pPr lvl="1">
              <a:spcBef>
                <a:spcPct val="50000"/>
              </a:spcBef>
              <a:buClr>
                <a:schemeClr val="tx2"/>
              </a:buClr>
            </a:pPr>
            <a:r>
              <a:rPr lang="zh-CN" altLang="en-US" sz="1800" dirty="0"/>
              <a:t>代码检查在编译和动态测试前进行，在检查前，应准备好</a:t>
            </a:r>
            <a:r>
              <a:rPr lang="zh-CN" altLang="en-US" sz="1800" dirty="0">
                <a:solidFill>
                  <a:srgbClr val="FF0000"/>
                </a:solidFill>
              </a:rPr>
              <a:t>需求描述文档、程序设计文档、程序的源代码清单、代码编码标准和代码缺陷检查表等。</a:t>
            </a:r>
            <a:endParaRPr lang="en-US" altLang="zh-CN" sz="1800" dirty="0">
              <a:solidFill>
                <a:srgbClr val="FF0000"/>
              </a:solidFill>
            </a:endParaRPr>
          </a:p>
          <a:p>
            <a:pPr lvl="1">
              <a:spcBef>
                <a:spcPct val="50000"/>
              </a:spcBef>
              <a:buClr>
                <a:schemeClr val="tx2"/>
              </a:buClr>
            </a:pPr>
            <a:r>
              <a:rPr lang="zh-CN" altLang="en-US" sz="1800" dirty="0">
                <a:solidFill>
                  <a:srgbClr val="FF0000"/>
                </a:solidFill>
              </a:rPr>
              <a:t>方法包括：</a:t>
            </a:r>
            <a:endParaRPr lang="en-US" altLang="zh-CN" sz="1800" dirty="0">
              <a:solidFill>
                <a:srgbClr val="FF0000"/>
              </a:solidFill>
            </a:endParaRPr>
          </a:p>
          <a:p>
            <a:pPr lvl="2">
              <a:spcBef>
                <a:spcPct val="50000"/>
              </a:spcBef>
              <a:buClr>
                <a:schemeClr val="tx2"/>
              </a:buClr>
            </a:pPr>
            <a:r>
              <a:rPr lang="zh-CN" altLang="en-US" b="1" dirty="0"/>
              <a:t>桌面检查、代码审查、代码走查</a:t>
            </a:r>
            <a:r>
              <a:rPr lang="zh-CN" altLang="en-US" dirty="0"/>
              <a:t>等</a:t>
            </a:r>
            <a:endParaRPr lang="en-US" altLang="zh-CN" dirty="0"/>
          </a:p>
          <a:p>
            <a:pPr lvl="2">
              <a:spcBef>
                <a:spcPct val="50000"/>
              </a:spcBef>
              <a:buClr>
                <a:schemeClr val="tx2"/>
              </a:buClr>
            </a:pPr>
            <a:endParaRPr lang="zh-CN" altLang="en-US" sz="16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100</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3128248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5496" y="917947"/>
            <a:ext cx="9108504" cy="3343275"/>
          </a:xfrm>
        </p:spPr>
        <p:txBody>
          <a:bodyPr/>
          <a:lstStyle/>
          <a:p>
            <a:pPr>
              <a:spcBef>
                <a:spcPct val="50000"/>
              </a:spcBef>
              <a:buClr>
                <a:schemeClr val="tx2"/>
              </a:buClr>
            </a:pPr>
            <a:r>
              <a:rPr lang="zh-CN" altLang="en-US" sz="2400" dirty="0"/>
              <a:t>桌面检查（</a:t>
            </a:r>
            <a:r>
              <a:rPr lang="en-US" altLang="zh-CN" sz="2400" dirty="0"/>
              <a:t>Desk Checking</a:t>
            </a:r>
            <a:r>
              <a:rPr lang="zh-CN" altLang="en-US" sz="2400" dirty="0"/>
              <a:t>）</a:t>
            </a:r>
            <a:endParaRPr lang="en-US" altLang="zh-CN" sz="2400" dirty="0"/>
          </a:p>
          <a:p>
            <a:pPr lvl="1">
              <a:spcBef>
                <a:spcPct val="50000"/>
              </a:spcBef>
              <a:buClr>
                <a:schemeClr val="tx2"/>
              </a:buClr>
            </a:pPr>
            <a:r>
              <a:rPr lang="zh-CN" altLang="en-US" sz="1800" dirty="0"/>
              <a:t>由程序员自查。程序员在程序通过编译之后，进行单元测试设计之前，对源程序代码进行分析，检验，并补充相关文档。检查项目有：</a:t>
            </a:r>
          </a:p>
          <a:p>
            <a:pPr lvl="2">
              <a:spcBef>
                <a:spcPct val="50000"/>
              </a:spcBef>
              <a:buClr>
                <a:schemeClr val="tx2"/>
              </a:buClr>
            </a:pPr>
            <a:r>
              <a:rPr lang="zh-CN" altLang="en-US" sz="1600" dirty="0"/>
              <a:t>变量的问题（类型，引用，临时变量，局部、全局变量）</a:t>
            </a:r>
            <a:endParaRPr lang="en-US" altLang="zh-CN" sz="1600" dirty="0"/>
          </a:p>
          <a:p>
            <a:pPr lvl="2">
              <a:spcBef>
                <a:spcPct val="50000"/>
              </a:spcBef>
              <a:buClr>
                <a:schemeClr val="tx2"/>
              </a:buClr>
            </a:pPr>
            <a:r>
              <a:rPr lang="zh-CN" altLang="en-US" sz="1600" dirty="0"/>
              <a:t>标号的问题</a:t>
            </a:r>
            <a:endParaRPr lang="en-US" altLang="zh-CN" sz="1600" dirty="0"/>
          </a:p>
          <a:p>
            <a:pPr lvl="2">
              <a:spcBef>
                <a:spcPct val="50000"/>
              </a:spcBef>
              <a:buClr>
                <a:schemeClr val="tx2"/>
              </a:buClr>
            </a:pPr>
            <a:r>
              <a:rPr lang="zh-CN" altLang="en-US" sz="1600" dirty="0"/>
              <a:t>子程序，宏，函数的问题</a:t>
            </a:r>
            <a:endParaRPr lang="en-US" altLang="zh-CN" sz="1600" dirty="0"/>
          </a:p>
          <a:p>
            <a:pPr lvl="2">
              <a:spcBef>
                <a:spcPct val="50000"/>
              </a:spcBef>
              <a:buClr>
                <a:schemeClr val="tx2"/>
              </a:buClr>
            </a:pPr>
            <a:r>
              <a:rPr lang="zh-CN" altLang="en-US" sz="1600" dirty="0"/>
              <a:t>等值性检查</a:t>
            </a:r>
            <a:endParaRPr lang="en-US" altLang="zh-CN" sz="1600" dirty="0"/>
          </a:p>
          <a:p>
            <a:pPr lvl="2">
              <a:spcBef>
                <a:spcPct val="50000"/>
              </a:spcBef>
              <a:buClr>
                <a:schemeClr val="tx2"/>
              </a:buClr>
            </a:pPr>
            <a:r>
              <a:rPr lang="zh-CN" altLang="en-US" sz="1600" dirty="0"/>
              <a:t>常量</a:t>
            </a:r>
            <a:endParaRPr lang="en-US" altLang="zh-CN" sz="1600" dirty="0"/>
          </a:p>
          <a:p>
            <a:pPr lvl="2">
              <a:spcBef>
                <a:spcPct val="50000"/>
              </a:spcBef>
              <a:buClr>
                <a:schemeClr val="tx2"/>
              </a:buClr>
            </a:pPr>
            <a:r>
              <a:rPr lang="zh-CN" altLang="en-US" sz="1600" dirty="0"/>
              <a:t>标准，控制流，规格说明，风格，补充文档等</a:t>
            </a:r>
            <a:endParaRPr lang="en-US" altLang="zh-CN" sz="1600" dirty="0"/>
          </a:p>
          <a:p>
            <a:pPr>
              <a:spcBef>
                <a:spcPct val="50000"/>
              </a:spcBef>
              <a:buClr>
                <a:schemeClr val="tx2"/>
              </a:buClr>
            </a:pPr>
            <a:r>
              <a:rPr lang="zh-CN" altLang="en-US" sz="2400" dirty="0"/>
              <a:t>这种桌前检查，由于程序员熟悉自己的程序和自身的程序设计风格，可以节省很多的检查时间，但应避免主观片面性。</a:t>
            </a:r>
            <a:endParaRPr lang="en-US" altLang="zh-CN" sz="2400" dirty="0"/>
          </a:p>
          <a:p>
            <a:pPr lvl="2">
              <a:spcBef>
                <a:spcPct val="50000"/>
              </a:spcBef>
              <a:buClr>
                <a:schemeClr val="tx2"/>
              </a:buClr>
            </a:pPr>
            <a:endParaRPr lang="zh-CN" altLang="en-US" sz="16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101</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36734571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5496" y="917947"/>
            <a:ext cx="9108504" cy="3343275"/>
          </a:xfrm>
        </p:spPr>
        <p:txBody>
          <a:bodyPr/>
          <a:lstStyle/>
          <a:p>
            <a:pPr>
              <a:spcBef>
                <a:spcPct val="50000"/>
              </a:spcBef>
              <a:buClr>
                <a:schemeClr val="tx2"/>
              </a:buClr>
            </a:pPr>
            <a:r>
              <a:rPr lang="zh-CN" altLang="en-US" sz="2400" dirty="0"/>
              <a:t>代码审查（</a:t>
            </a:r>
            <a:r>
              <a:rPr lang="en-US" altLang="zh-CN" sz="2400" dirty="0"/>
              <a:t>Code Reading Review</a:t>
            </a:r>
            <a:r>
              <a:rPr lang="zh-CN" altLang="en-US" sz="2400" dirty="0"/>
              <a:t>）</a:t>
            </a:r>
            <a:endParaRPr lang="en-US" altLang="zh-CN" sz="2400" dirty="0"/>
          </a:p>
          <a:p>
            <a:pPr lvl="1">
              <a:spcBef>
                <a:spcPct val="50000"/>
              </a:spcBef>
              <a:buClr>
                <a:schemeClr val="tx2"/>
              </a:buClr>
            </a:pPr>
            <a:r>
              <a:rPr lang="zh-CN" altLang="en-US" sz="1800" dirty="0"/>
              <a:t>代码审查是由若干程序员和测试员组成一个会审小组，通过阅读、讨论和争议，对程序进行静态分析的过程。 代码审查分两步：</a:t>
            </a:r>
            <a:endParaRPr lang="en-US" altLang="zh-CN" sz="1800" dirty="0"/>
          </a:p>
          <a:p>
            <a:pPr lvl="1">
              <a:spcBef>
                <a:spcPct val="50000"/>
              </a:spcBef>
              <a:buClr>
                <a:schemeClr val="tx2"/>
              </a:buClr>
            </a:pPr>
            <a:r>
              <a:rPr lang="zh-CN" altLang="en-US" sz="1800" dirty="0"/>
              <a:t>第一步，小组负责人提前把设计规格说明书、控制流程图、程序文本及有关要求、规范等分发给小组成员，作为评审的依据。小组成员在充分阅读这些材料之后，进入审查的第二步。</a:t>
            </a:r>
            <a:endParaRPr lang="en-US" altLang="zh-CN" sz="1800" dirty="0"/>
          </a:p>
          <a:p>
            <a:pPr lvl="1">
              <a:spcBef>
                <a:spcPct val="50000"/>
              </a:spcBef>
              <a:buClr>
                <a:schemeClr val="tx2"/>
              </a:buClr>
            </a:pPr>
            <a:r>
              <a:rPr lang="zh-CN" altLang="en-US" sz="1800" dirty="0"/>
              <a:t>第二步：召开程序审查会。在会上，首先由程序员逐句讲解程序的逻辑。在此过程中，程序员或其他小组成员可以提出问题，展开讨论，审查错误是否存在。实践表明，程序员在讲解过程中能发现许多原来自己没有发现的错误，而讨论和争议则促进了问题的暴露。</a:t>
            </a:r>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102</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812497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5496" y="917947"/>
            <a:ext cx="9108504" cy="3343275"/>
          </a:xfrm>
        </p:spPr>
        <p:txBody>
          <a:bodyPr/>
          <a:lstStyle/>
          <a:p>
            <a:pPr>
              <a:spcBef>
                <a:spcPct val="50000"/>
              </a:spcBef>
              <a:buClr>
                <a:schemeClr val="tx2"/>
              </a:buClr>
            </a:pPr>
            <a:r>
              <a:rPr lang="zh-CN" altLang="en-US" sz="2400" dirty="0"/>
              <a:t>代码审查（</a:t>
            </a:r>
            <a:r>
              <a:rPr lang="en-US" altLang="zh-CN" sz="2400" dirty="0"/>
              <a:t>Code Reading Review</a:t>
            </a:r>
            <a:r>
              <a:rPr lang="zh-CN" altLang="en-US" sz="2400" dirty="0"/>
              <a:t>）</a:t>
            </a:r>
            <a:endParaRPr lang="en-US" altLang="zh-CN" sz="2400" dirty="0"/>
          </a:p>
          <a:p>
            <a:pPr lvl="1">
              <a:spcBef>
                <a:spcPct val="50000"/>
              </a:spcBef>
              <a:buClr>
                <a:schemeClr val="tx2"/>
              </a:buClr>
            </a:pPr>
            <a:endParaRPr lang="zh-CN" altLang="en-US" sz="1800" dirty="0"/>
          </a:p>
          <a:p>
            <a:pPr lvl="1">
              <a:spcBef>
                <a:spcPct val="50000"/>
              </a:spcBef>
              <a:buClr>
                <a:schemeClr val="tx2"/>
              </a:buClr>
            </a:pP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103</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endParaRPr lang="zh-CN" altLang="en-US" dirty="0">
              <a:latin typeface="楷体_GB2312"/>
              <a:ea typeface="楷体_GB2312"/>
              <a:cs typeface="楷体_GB2312"/>
            </a:endParaRPr>
          </a:p>
        </p:txBody>
      </p:sp>
      <p:pic>
        <p:nvPicPr>
          <p:cNvPr id="6164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1638027"/>
            <a:ext cx="4968552" cy="3440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86765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35496" y="917947"/>
            <a:ext cx="9108504" cy="3343275"/>
          </a:xfrm>
        </p:spPr>
        <p:txBody>
          <a:bodyPr/>
          <a:lstStyle/>
          <a:p>
            <a:pPr>
              <a:spcBef>
                <a:spcPct val="50000"/>
              </a:spcBef>
              <a:buClr>
                <a:schemeClr val="tx2"/>
              </a:buClr>
            </a:pPr>
            <a:r>
              <a:rPr lang="zh-CN" altLang="en-US" sz="2400" dirty="0"/>
              <a:t>代码走查（</a:t>
            </a:r>
            <a:r>
              <a:rPr lang="en-US" altLang="zh-CN" sz="2400" dirty="0"/>
              <a:t>Walkthroughs</a:t>
            </a:r>
            <a:r>
              <a:rPr lang="zh-CN" altLang="en-US" sz="2400" dirty="0"/>
              <a:t>）</a:t>
            </a:r>
            <a:endParaRPr lang="zh-CN" altLang="en-US" sz="1800" dirty="0"/>
          </a:p>
          <a:p>
            <a:pPr lvl="1">
              <a:spcBef>
                <a:spcPct val="50000"/>
              </a:spcBef>
              <a:buClr>
                <a:schemeClr val="tx2"/>
              </a:buClr>
            </a:pPr>
            <a:r>
              <a:rPr lang="zh-CN" altLang="en-US" sz="1800" dirty="0"/>
              <a:t>走查与代码会审基本相同，其过程分为两步。</a:t>
            </a:r>
            <a:endParaRPr lang="en-US" altLang="zh-CN" sz="1800" dirty="0"/>
          </a:p>
          <a:p>
            <a:pPr lvl="2">
              <a:spcBef>
                <a:spcPct val="50000"/>
              </a:spcBef>
              <a:buClr>
                <a:schemeClr val="tx2"/>
              </a:buClr>
            </a:pPr>
            <a:r>
              <a:rPr lang="zh-CN" altLang="en-US" sz="1600" dirty="0"/>
              <a:t>第一步也把材料先发给走查小组每个成员，让他们认真研究程序，然后再开会。开会的程序与代码会审不同，不是简单地读程序和对照错误检查表进行检查，而是让与会者“充当”计算机。即首先由测试组成员为被测程序准备一批有代表性的测试用例，提交给走查小组。走查小组开会，集体扮演计算机角色，让测试用例沿程序的逻辑运行一遍，随时记录程序的踪迹，供分析和讨论用。</a:t>
            </a:r>
          </a:p>
          <a:p>
            <a:pPr lvl="2">
              <a:spcBef>
                <a:spcPct val="50000"/>
              </a:spcBef>
              <a:buClr>
                <a:schemeClr val="tx2"/>
              </a:buClr>
            </a:pPr>
            <a:r>
              <a:rPr lang="zh-CN" altLang="en-US" sz="1600" dirty="0"/>
              <a:t>第二步 人们借助于测试用例的媒介作用，对程序的逻辑和功能提出各种疑问，结合问题开展热烈的讨论和争议，能够发现更多的问题。</a:t>
            </a:r>
            <a:endParaRPr lang="en-US" altLang="zh-CN"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104</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endParaRPr lang="zh-CN" altLang="en-US" dirty="0">
              <a:latin typeface="楷体_GB2312"/>
              <a:ea typeface="楷体_GB2312"/>
              <a:cs typeface="楷体_GB2312"/>
            </a:endParaRPr>
          </a:p>
        </p:txBody>
      </p:sp>
    </p:spTree>
    <p:extLst>
      <p:ext uri="{BB962C8B-B14F-4D97-AF65-F5344CB8AC3E}">
        <p14:creationId xmlns:p14="http://schemas.microsoft.com/office/powerpoint/2010/main" val="27655284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107504" y="989955"/>
            <a:ext cx="3312368" cy="3343275"/>
          </a:xfrm>
        </p:spPr>
        <p:txBody>
          <a:bodyPr/>
          <a:lstStyle/>
          <a:p>
            <a:pPr marL="0" indent="0">
              <a:lnSpc>
                <a:spcPts val="1200"/>
              </a:lnSpc>
              <a:spcBef>
                <a:spcPct val="50000"/>
              </a:spcBef>
              <a:buClr>
                <a:schemeClr val="tx2"/>
              </a:buClr>
              <a:buNone/>
            </a:pPr>
            <a:r>
              <a:rPr lang="en-US" altLang="zh-CN" sz="1600" dirty="0"/>
              <a:t>#include &lt;</a:t>
            </a:r>
            <a:r>
              <a:rPr lang="en-US" altLang="zh-CN" sz="1600" dirty="0" err="1"/>
              <a:t>stdio.h</a:t>
            </a:r>
            <a:r>
              <a:rPr lang="en-US" altLang="zh-CN" sz="1600" dirty="0"/>
              <a:t>&gt;</a:t>
            </a:r>
          </a:p>
          <a:p>
            <a:pPr marL="0" indent="0">
              <a:lnSpc>
                <a:spcPts val="1200"/>
              </a:lnSpc>
              <a:spcBef>
                <a:spcPct val="50000"/>
              </a:spcBef>
              <a:buClr>
                <a:schemeClr val="tx2"/>
              </a:buClr>
              <a:buNone/>
            </a:pPr>
            <a:r>
              <a:rPr lang="en-US" altLang="zh-CN" sz="1600" dirty="0"/>
              <a:t>Max(float x, float y)</a:t>
            </a:r>
          </a:p>
          <a:p>
            <a:pPr marL="0" indent="0">
              <a:lnSpc>
                <a:spcPts val="1200"/>
              </a:lnSpc>
              <a:spcBef>
                <a:spcPct val="50000"/>
              </a:spcBef>
              <a:buClr>
                <a:schemeClr val="tx2"/>
              </a:buClr>
              <a:buNone/>
            </a:pPr>
            <a:r>
              <a:rPr lang="en-US" altLang="zh-CN" sz="1600" dirty="0"/>
              <a:t>{</a:t>
            </a:r>
          </a:p>
          <a:p>
            <a:pPr marL="0" indent="0">
              <a:lnSpc>
                <a:spcPts val="1200"/>
              </a:lnSpc>
              <a:spcBef>
                <a:spcPct val="50000"/>
              </a:spcBef>
              <a:buClr>
                <a:schemeClr val="tx2"/>
              </a:buClr>
              <a:buNone/>
            </a:pPr>
            <a:r>
              <a:rPr lang="en-US" altLang="zh-CN" sz="1600" dirty="0"/>
              <a:t>    float z;</a:t>
            </a:r>
          </a:p>
          <a:p>
            <a:pPr marL="0" indent="0">
              <a:lnSpc>
                <a:spcPts val="1200"/>
              </a:lnSpc>
              <a:spcBef>
                <a:spcPct val="50000"/>
              </a:spcBef>
              <a:buClr>
                <a:schemeClr val="tx2"/>
              </a:buClr>
              <a:buNone/>
            </a:pPr>
            <a:r>
              <a:rPr lang="en-US" altLang="zh-CN" sz="1600" dirty="0"/>
              <a:t>    z=x&gt;</a:t>
            </a:r>
            <a:r>
              <a:rPr lang="en-US" altLang="zh-CN" sz="1600" dirty="0" err="1"/>
              <a:t>y?x:y</a:t>
            </a:r>
            <a:r>
              <a:rPr lang="en-US" altLang="zh-CN" sz="1600" dirty="0"/>
              <a:t>;</a:t>
            </a:r>
          </a:p>
          <a:p>
            <a:pPr marL="0" indent="0">
              <a:lnSpc>
                <a:spcPts val="1200"/>
              </a:lnSpc>
              <a:spcBef>
                <a:spcPct val="50000"/>
              </a:spcBef>
              <a:buClr>
                <a:schemeClr val="tx2"/>
              </a:buClr>
              <a:buNone/>
            </a:pPr>
            <a:r>
              <a:rPr lang="en-US" altLang="zh-CN" sz="1600" dirty="0"/>
              <a:t>    return(z);</a:t>
            </a:r>
          </a:p>
          <a:p>
            <a:pPr marL="0" indent="0">
              <a:lnSpc>
                <a:spcPts val="1200"/>
              </a:lnSpc>
              <a:spcBef>
                <a:spcPct val="50000"/>
              </a:spcBef>
              <a:buClr>
                <a:schemeClr val="tx2"/>
              </a:buClr>
              <a:buNone/>
            </a:pPr>
            <a:r>
              <a:rPr lang="en-US" altLang="zh-CN" sz="1600" dirty="0"/>
              <a:t>}</a:t>
            </a:r>
          </a:p>
          <a:p>
            <a:pPr marL="0" indent="0">
              <a:lnSpc>
                <a:spcPts val="1200"/>
              </a:lnSpc>
              <a:spcBef>
                <a:spcPct val="50000"/>
              </a:spcBef>
              <a:buClr>
                <a:schemeClr val="tx2"/>
              </a:buClr>
              <a:buNone/>
            </a:pPr>
            <a:r>
              <a:rPr lang="en-US" altLang="zh-CN" sz="1600" dirty="0"/>
              <a:t>Main()</a:t>
            </a:r>
          </a:p>
          <a:p>
            <a:pPr marL="0" indent="0">
              <a:lnSpc>
                <a:spcPts val="1200"/>
              </a:lnSpc>
              <a:spcBef>
                <a:spcPct val="50000"/>
              </a:spcBef>
              <a:buClr>
                <a:schemeClr val="tx2"/>
              </a:buClr>
              <a:buNone/>
            </a:pPr>
            <a:r>
              <a:rPr lang="en-US" altLang="zh-CN" sz="1600" dirty="0"/>
              <a:t>{</a:t>
            </a:r>
          </a:p>
          <a:p>
            <a:pPr marL="0" indent="0">
              <a:lnSpc>
                <a:spcPts val="1200"/>
              </a:lnSpc>
              <a:spcBef>
                <a:spcPct val="50000"/>
              </a:spcBef>
              <a:buClr>
                <a:schemeClr val="tx2"/>
              </a:buClr>
              <a:buNone/>
            </a:pPr>
            <a:r>
              <a:rPr lang="en-US" altLang="zh-CN" sz="1600" dirty="0"/>
              <a:t>    float a, b;</a:t>
            </a:r>
          </a:p>
          <a:p>
            <a:pPr marL="0" indent="0">
              <a:lnSpc>
                <a:spcPts val="1200"/>
              </a:lnSpc>
              <a:spcBef>
                <a:spcPct val="50000"/>
              </a:spcBef>
              <a:buClr>
                <a:schemeClr val="tx2"/>
              </a:buClr>
              <a:buNone/>
            </a:pPr>
            <a:r>
              <a:rPr lang="en-US" altLang="zh-CN" sz="1600" dirty="0"/>
              <a:t>    </a:t>
            </a:r>
            <a:r>
              <a:rPr lang="en-US" altLang="zh-CN" sz="1600" dirty="0" err="1"/>
              <a:t>int</a:t>
            </a:r>
            <a:r>
              <a:rPr lang="en-US" altLang="zh-CN" sz="1600" dirty="0"/>
              <a:t> c;</a:t>
            </a:r>
          </a:p>
          <a:p>
            <a:pPr marL="0" indent="0">
              <a:lnSpc>
                <a:spcPts val="1200"/>
              </a:lnSpc>
              <a:spcBef>
                <a:spcPct val="50000"/>
              </a:spcBef>
              <a:buClr>
                <a:schemeClr val="tx2"/>
              </a:buClr>
              <a:buNone/>
            </a:pPr>
            <a:r>
              <a:rPr lang="en-US" altLang="zh-CN" sz="1600" dirty="0"/>
              <a:t>    </a:t>
            </a:r>
            <a:r>
              <a:rPr lang="en-US" altLang="zh-CN" sz="1600" dirty="0" err="1"/>
              <a:t>scanf</a:t>
            </a:r>
            <a:r>
              <a:rPr lang="en-US" altLang="zh-CN" sz="1600" dirty="0"/>
              <a:t>(“%f, %</a:t>
            </a:r>
            <a:r>
              <a:rPr lang="en-US" altLang="zh-CN" sz="1600" dirty="0" err="1"/>
              <a:t>f”&amp;a,&amp;b</a:t>
            </a:r>
            <a:r>
              <a:rPr lang="en-US" altLang="zh-CN" sz="1600" dirty="0"/>
              <a:t>);</a:t>
            </a:r>
          </a:p>
          <a:p>
            <a:pPr marL="0" indent="0">
              <a:lnSpc>
                <a:spcPts val="1200"/>
              </a:lnSpc>
              <a:spcBef>
                <a:spcPct val="50000"/>
              </a:spcBef>
              <a:buClr>
                <a:schemeClr val="tx2"/>
              </a:buClr>
              <a:buNone/>
            </a:pPr>
            <a:r>
              <a:rPr lang="en-US" altLang="zh-CN" sz="1600" dirty="0"/>
              <a:t>    c=max(</a:t>
            </a:r>
            <a:r>
              <a:rPr lang="en-US" altLang="zh-CN" sz="1600" dirty="0" err="1"/>
              <a:t>a,b</a:t>
            </a:r>
            <a:r>
              <a:rPr lang="en-US" altLang="zh-CN" sz="1600" dirty="0"/>
              <a:t>);</a:t>
            </a:r>
          </a:p>
          <a:p>
            <a:pPr marL="0" indent="0">
              <a:lnSpc>
                <a:spcPts val="1200"/>
              </a:lnSpc>
              <a:spcBef>
                <a:spcPct val="50000"/>
              </a:spcBef>
              <a:buClr>
                <a:schemeClr val="tx2"/>
              </a:buClr>
              <a:buNone/>
            </a:pPr>
            <a:r>
              <a:rPr lang="en-US" altLang="zh-CN" sz="1600" dirty="0"/>
              <a:t>    </a:t>
            </a:r>
            <a:r>
              <a:rPr lang="en-US" altLang="zh-CN" sz="1600" dirty="0" err="1"/>
              <a:t>printf</a:t>
            </a:r>
            <a:r>
              <a:rPr lang="en-US" altLang="zh-CN" sz="1600" dirty="0"/>
              <a:t>(“Max is %d\n”, c);</a:t>
            </a:r>
          </a:p>
          <a:p>
            <a:pPr marL="0" indent="0">
              <a:lnSpc>
                <a:spcPts val="1200"/>
              </a:lnSpc>
              <a:spcBef>
                <a:spcPct val="50000"/>
              </a:spcBef>
              <a:buClr>
                <a:schemeClr val="tx2"/>
              </a:buClr>
              <a:buNone/>
            </a:pPr>
            <a:r>
              <a:rPr lang="en-US" altLang="zh-CN" sz="1600" dirty="0"/>
              <a:t>}</a:t>
            </a:r>
            <a:endParaRPr lang="zh-CN" altLang="en-US"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105</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r>
              <a:rPr lang="en-US" altLang="zh-CN" dirty="0"/>
              <a:t>-</a:t>
            </a:r>
            <a:r>
              <a:rPr lang="zh-CN" altLang="en-US" dirty="0"/>
              <a:t>实例</a:t>
            </a:r>
            <a:endParaRPr lang="zh-CN" altLang="en-US" dirty="0">
              <a:latin typeface="楷体_GB2312"/>
              <a:ea typeface="楷体_GB2312"/>
              <a:cs typeface="楷体_GB2312"/>
            </a:endParaRPr>
          </a:p>
        </p:txBody>
      </p:sp>
      <p:sp>
        <p:nvSpPr>
          <p:cNvPr id="2" name="矩形 1"/>
          <p:cNvSpPr/>
          <p:nvPr/>
        </p:nvSpPr>
        <p:spPr>
          <a:xfrm>
            <a:off x="2843808" y="917947"/>
            <a:ext cx="6192688" cy="3970318"/>
          </a:xfrm>
          <a:prstGeom prst="rect">
            <a:avLst/>
          </a:prstGeom>
        </p:spPr>
        <p:txBody>
          <a:bodyPr wrap="square">
            <a:spAutoFit/>
          </a:bodyPr>
          <a:lstStyle/>
          <a:p>
            <a:r>
              <a:rPr lang="zh-CN" altLang="en-US" dirty="0"/>
              <a:t>必须修改的问题：</a:t>
            </a:r>
          </a:p>
          <a:p>
            <a:pPr marL="342900" indent="-342900">
              <a:buAutoNum type="arabicPeriod"/>
            </a:pPr>
            <a:r>
              <a:rPr lang="zh-CN" altLang="en-US" b="1" dirty="0"/>
              <a:t>程序没有注释。</a:t>
            </a:r>
            <a:r>
              <a:rPr lang="zh-CN" altLang="en-US" dirty="0"/>
              <a:t>注释是程序中非常重要的组成部分，一般占到总行书的</a:t>
            </a:r>
            <a:r>
              <a:rPr lang="en-US" altLang="zh-CN" dirty="0"/>
              <a:t>1/4</a:t>
            </a:r>
            <a:r>
              <a:rPr lang="zh-CN" altLang="en-US" dirty="0"/>
              <a:t>左右。程序开发出来不仅是给程序员看得，其他程序员和测试人员也要看得。有了注释，别人就能很快地了解程序实现的功能。</a:t>
            </a:r>
            <a:r>
              <a:rPr lang="zh-CN" altLang="en-US" b="1" dirty="0"/>
              <a:t>注释应该包含作者，版本号、创建日期等，以及主要功能模块的含义</a:t>
            </a:r>
            <a:r>
              <a:rPr lang="zh-CN" altLang="en-US" dirty="0"/>
              <a:t>。</a:t>
            </a:r>
            <a:endParaRPr lang="en-US" altLang="zh-CN" dirty="0"/>
          </a:p>
          <a:p>
            <a:pPr marL="342900" indent="-342900">
              <a:buAutoNum type="arabicPeriod"/>
            </a:pPr>
            <a:r>
              <a:rPr lang="zh-CN" altLang="en-US" b="1" dirty="0"/>
              <a:t>子函数</a:t>
            </a:r>
            <a:r>
              <a:rPr lang="en-US" altLang="zh-CN" b="1" dirty="0"/>
              <a:t>max</a:t>
            </a:r>
            <a:r>
              <a:rPr lang="zh-CN" altLang="en-US" b="1" dirty="0"/>
              <a:t>没有返回值的类型。</a:t>
            </a:r>
            <a:r>
              <a:rPr lang="zh-CN" altLang="en-US" dirty="0"/>
              <a:t>由于类型为单精度，我们可以在</a:t>
            </a:r>
            <a:r>
              <a:rPr lang="en-US" altLang="zh-CN" dirty="0"/>
              <a:t>max()</a:t>
            </a:r>
            <a:r>
              <a:rPr lang="zh-CN" altLang="en-US" dirty="0"/>
              <a:t>前面加一个</a:t>
            </a:r>
            <a:r>
              <a:rPr lang="en-US" altLang="zh-CN" dirty="0"/>
              <a:t>float</a:t>
            </a:r>
            <a:r>
              <a:rPr lang="zh-CN" altLang="en-US" dirty="0"/>
              <a:t>类型声明。</a:t>
            </a:r>
            <a:endParaRPr lang="en-US" altLang="zh-CN" dirty="0"/>
          </a:p>
          <a:p>
            <a:pPr marL="342900" indent="-342900">
              <a:buAutoNum type="arabicPeriod"/>
            </a:pPr>
            <a:r>
              <a:rPr lang="zh-CN" altLang="en-US" b="1" dirty="0"/>
              <a:t>精度丢失问题。</a:t>
            </a:r>
            <a:r>
              <a:rPr lang="zh-CN" altLang="en-US" dirty="0"/>
              <a:t>注意“</a:t>
            </a:r>
            <a:r>
              <a:rPr lang="en-US" altLang="zh-CN" dirty="0"/>
              <a:t>c=max(</a:t>
            </a:r>
            <a:r>
              <a:rPr lang="en-US" altLang="zh-CN" dirty="0" err="1"/>
              <a:t>a,b</a:t>
            </a:r>
            <a:r>
              <a:rPr lang="en-US" altLang="zh-CN" dirty="0"/>
              <a:t>)”</a:t>
            </a:r>
            <a:r>
              <a:rPr lang="zh-CN" altLang="en-US" dirty="0"/>
              <a:t>语句，我们知道</a:t>
            </a:r>
            <a:r>
              <a:rPr lang="en-US" altLang="zh-CN" dirty="0"/>
              <a:t>c</a:t>
            </a:r>
            <a:r>
              <a:rPr lang="zh-CN" altLang="en-US" dirty="0"/>
              <a:t>的类型为整型</a:t>
            </a:r>
            <a:r>
              <a:rPr lang="en-US" altLang="zh-CN" dirty="0" err="1"/>
              <a:t>int</a:t>
            </a:r>
            <a:r>
              <a:rPr lang="en-US" altLang="zh-CN" dirty="0"/>
              <a:t> </a:t>
            </a:r>
            <a:r>
              <a:rPr lang="zh-CN" altLang="en-US" dirty="0"/>
              <a:t>，而</a:t>
            </a:r>
            <a:r>
              <a:rPr lang="en-US" altLang="zh-CN" dirty="0"/>
              <a:t>max(</a:t>
            </a:r>
            <a:r>
              <a:rPr lang="en-US" altLang="zh-CN" dirty="0" err="1"/>
              <a:t>a,b</a:t>
            </a:r>
            <a:r>
              <a:rPr lang="en-US" altLang="zh-CN" dirty="0"/>
              <a:t>)</a:t>
            </a:r>
            <a:r>
              <a:rPr lang="zh-CN" altLang="en-US" dirty="0"/>
              <a:t>的返回值</a:t>
            </a:r>
            <a:r>
              <a:rPr lang="en-US" altLang="zh-CN" dirty="0"/>
              <a:t>z</a:t>
            </a:r>
            <a:r>
              <a:rPr lang="zh-CN" altLang="en-US" dirty="0"/>
              <a:t>为单精度</a:t>
            </a:r>
            <a:r>
              <a:rPr lang="en-US" altLang="zh-CN" dirty="0"/>
              <a:t>float</a:t>
            </a:r>
            <a:r>
              <a:rPr lang="zh-CN" altLang="en-US" dirty="0"/>
              <a:t>， 将单精度的数赋值给一个整型的数，</a:t>
            </a:r>
            <a:r>
              <a:rPr lang="en-US" altLang="zh-CN" dirty="0"/>
              <a:t>c</a:t>
            </a:r>
            <a:r>
              <a:rPr lang="zh-CN" altLang="en-US" dirty="0"/>
              <a:t>语言的编译器会自动地进行类型转换，将小数部分去掉，比如</a:t>
            </a:r>
            <a:r>
              <a:rPr lang="en-US" altLang="zh-CN" dirty="0"/>
              <a:t>z=2.5</a:t>
            </a:r>
            <a:r>
              <a:rPr lang="zh-CN" altLang="en-US" dirty="0"/>
              <a:t>，赋给</a:t>
            </a:r>
            <a:r>
              <a:rPr lang="en-US" altLang="zh-CN" dirty="0"/>
              <a:t>c</a:t>
            </a:r>
            <a:r>
              <a:rPr lang="zh-CN" altLang="en-US" dirty="0"/>
              <a:t>则为</a:t>
            </a:r>
            <a:r>
              <a:rPr lang="en-US" altLang="zh-CN" dirty="0"/>
              <a:t>2</a:t>
            </a:r>
            <a:r>
              <a:rPr lang="zh-CN" altLang="en-US" dirty="0"/>
              <a:t>，最后输出的结果就不是</a:t>
            </a:r>
            <a:r>
              <a:rPr lang="en-US" altLang="zh-CN" dirty="0"/>
              <a:t>a</a:t>
            </a:r>
            <a:r>
              <a:rPr lang="zh-CN" altLang="en-US" dirty="0"/>
              <a:t>和</a:t>
            </a:r>
            <a:r>
              <a:rPr lang="en-US" altLang="zh-CN" dirty="0"/>
              <a:t>b </a:t>
            </a:r>
            <a:r>
              <a:rPr lang="zh-CN" altLang="en-US" dirty="0"/>
              <a:t>中的大数，而是大数的整数部分。</a:t>
            </a:r>
          </a:p>
        </p:txBody>
      </p:sp>
    </p:spTree>
    <p:extLst>
      <p:ext uri="{BB962C8B-B14F-4D97-AF65-F5344CB8AC3E}">
        <p14:creationId xmlns:p14="http://schemas.microsoft.com/office/powerpoint/2010/main" val="18206058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type="body" idx="1"/>
          </p:nvPr>
        </p:nvSpPr>
        <p:spPr>
          <a:xfrm>
            <a:off x="107504" y="989955"/>
            <a:ext cx="3312368" cy="3343275"/>
          </a:xfrm>
        </p:spPr>
        <p:txBody>
          <a:bodyPr/>
          <a:lstStyle/>
          <a:p>
            <a:pPr marL="0" indent="0">
              <a:lnSpc>
                <a:spcPts val="1200"/>
              </a:lnSpc>
              <a:spcBef>
                <a:spcPct val="50000"/>
              </a:spcBef>
              <a:buClr>
                <a:schemeClr val="tx2"/>
              </a:buClr>
              <a:buNone/>
            </a:pPr>
            <a:r>
              <a:rPr lang="en-US" altLang="zh-CN" sz="1600" dirty="0"/>
              <a:t>#include &lt;</a:t>
            </a:r>
            <a:r>
              <a:rPr lang="en-US" altLang="zh-CN" sz="1600" dirty="0" err="1"/>
              <a:t>stdio.h</a:t>
            </a:r>
            <a:r>
              <a:rPr lang="en-US" altLang="zh-CN" sz="1600" dirty="0"/>
              <a:t>&gt;</a:t>
            </a:r>
          </a:p>
          <a:p>
            <a:pPr marL="0" indent="0">
              <a:lnSpc>
                <a:spcPts val="1200"/>
              </a:lnSpc>
              <a:spcBef>
                <a:spcPct val="50000"/>
              </a:spcBef>
              <a:buClr>
                <a:schemeClr val="tx2"/>
              </a:buClr>
              <a:buNone/>
            </a:pPr>
            <a:r>
              <a:rPr lang="en-US" altLang="zh-CN" sz="1600" dirty="0"/>
              <a:t>Max(float x, float y)</a:t>
            </a:r>
          </a:p>
          <a:p>
            <a:pPr marL="0" indent="0">
              <a:lnSpc>
                <a:spcPts val="1200"/>
              </a:lnSpc>
              <a:spcBef>
                <a:spcPct val="50000"/>
              </a:spcBef>
              <a:buClr>
                <a:schemeClr val="tx2"/>
              </a:buClr>
              <a:buNone/>
            </a:pPr>
            <a:r>
              <a:rPr lang="en-US" altLang="zh-CN" sz="1600" dirty="0"/>
              <a:t>{</a:t>
            </a:r>
          </a:p>
          <a:p>
            <a:pPr marL="0" indent="0">
              <a:lnSpc>
                <a:spcPts val="1200"/>
              </a:lnSpc>
              <a:spcBef>
                <a:spcPct val="50000"/>
              </a:spcBef>
              <a:buClr>
                <a:schemeClr val="tx2"/>
              </a:buClr>
              <a:buNone/>
            </a:pPr>
            <a:r>
              <a:rPr lang="en-US" altLang="zh-CN" sz="1600" dirty="0"/>
              <a:t>    float z;</a:t>
            </a:r>
          </a:p>
          <a:p>
            <a:pPr marL="0" indent="0">
              <a:lnSpc>
                <a:spcPts val="1200"/>
              </a:lnSpc>
              <a:spcBef>
                <a:spcPct val="50000"/>
              </a:spcBef>
              <a:buClr>
                <a:schemeClr val="tx2"/>
              </a:buClr>
              <a:buNone/>
            </a:pPr>
            <a:r>
              <a:rPr lang="en-US" altLang="zh-CN" sz="1600" dirty="0"/>
              <a:t>    z=x&gt;</a:t>
            </a:r>
            <a:r>
              <a:rPr lang="en-US" altLang="zh-CN" sz="1600" dirty="0" err="1"/>
              <a:t>y?x:y</a:t>
            </a:r>
            <a:r>
              <a:rPr lang="en-US" altLang="zh-CN" sz="1600" dirty="0"/>
              <a:t>;</a:t>
            </a:r>
          </a:p>
          <a:p>
            <a:pPr marL="0" indent="0">
              <a:lnSpc>
                <a:spcPts val="1200"/>
              </a:lnSpc>
              <a:spcBef>
                <a:spcPct val="50000"/>
              </a:spcBef>
              <a:buClr>
                <a:schemeClr val="tx2"/>
              </a:buClr>
              <a:buNone/>
            </a:pPr>
            <a:r>
              <a:rPr lang="en-US" altLang="zh-CN" sz="1600" dirty="0"/>
              <a:t>    return(z);</a:t>
            </a:r>
          </a:p>
          <a:p>
            <a:pPr marL="0" indent="0">
              <a:lnSpc>
                <a:spcPts val="1200"/>
              </a:lnSpc>
              <a:spcBef>
                <a:spcPct val="50000"/>
              </a:spcBef>
              <a:buClr>
                <a:schemeClr val="tx2"/>
              </a:buClr>
              <a:buNone/>
            </a:pPr>
            <a:r>
              <a:rPr lang="en-US" altLang="zh-CN" sz="1600" dirty="0"/>
              <a:t>}</a:t>
            </a:r>
          </a:p>
          <a:p>
            <a:pPr marL="0" indent="0">
              <a:lnSpc>
                <a:spcPts val="1200"/>
              </a:lnSpc>
              <a:spcBef>
                <a:spcPct val="50000"/>
              </a:spcBef>
              <a:buClr>
                <a:schemeClr val="tx2"/>
              </a:buClr>
              <a:buNone/>
            </a:pPr>
            <a:r>
              <a:rPr lang="en-US" altLang="zh-CN" sz="1600" dirty="0"/>
              <a:t>Main()</a:t>
            </a:r>
          </a:p>
          <a:p>
            <a:pPr marL="0" indent="0">
              <a:lnSpc>
                <a:spcPts val="1200"/>
              </a:lnSpc>
              <a:spcBef>
                <a:spcPct val="50000"/>
              </a:spcBef>
              <a:buClr>
                <a:schemeClr val="tx2"/>
              </a:buClr>
              <a:buNone/>
            </a:pPr>
            <a:r>
              <a:rPr lang="en-US" altLang="zh-CN" sz="1600" dirty="0"/>
              <a:t>{</a:t>
            </a:r>
          </a:p>
          <a:p>
            <a:pPr marL="0" indent="0">
              <a:lnSpc>
                <a:spcPts val="1200"/>
              </a:lnSpc>
              <a:spcBef>
                <a:spcPct val="50000"/>
              </a:spcBef>
              <a:buClr>
                <a:schemeClr val="tx2"/>
              </a:buClr>
              <a:buNone/>
            </a:pPr>
            <a:r>
              <a:rPr lang="en-US" altLang="zh-CN" sz="1600" dirty="0"/>
              <a:t>    float a, b;</a:t>
            </a:r>
          </a:p>
          <a:p>
            <a:pPr marL="0" indent="0">
              <a:lnSpc>
                <a:spcPts val="1200"/>
              </a:lnSpc>
              <a:spcBef>
                <a:spcPct val="50000"/>
              </a:spcBef>
              <a:buClr>
                <a:schemeClr val="tx2"/>
              </a:buClr>
              <a:buNone/>
            </a:pPr>
            <a:r>
              <a:rPr lang="en-US" altLang="zh-CN" sz="1600" dirty="0"/>
              <a:t>    </a:t>
            </a:r>
            <a:r>
              <a:rPr lang="en-US" altLang="zh-CN" sz="1600" dirty="0" err="1"/>
              <a:t>int</a:t>
            </a:r>
            <a:r>
              <a:rPr lang="en-US" altLang="zh-CN" sz="1600" dirty="0"/>
              <a:t> c;</a:t>
            </a:r>
          </a:p>
          <a:p>
            <a:pPr marL="0" indent="0">
              <a:lnSpc>
                <a:spcPts val="1200"/>
              </a:lnSpc>
              <a:spcBef>
                <a:spcPct val="50000"/>
              </a:spcBef>
              <a:buClr>
                <a:schemeClr val="tx2"/>
              </a:buClr>
              <a:buNone/>
            </a:pPr>
            <a:r>
              <a:rPr lang="en-US" altLang="zh-CN" sz="1600" dirty="0"/>
              <a:t>    </a:t>
            </a:r>
            <a:r>
              <a:rPr lang="en-US" altLang="zh-CN" sz="1600" dirty="0" err="1"/>
              <a:t>scanf</a:t>
            </a:r>
            <a:r>
              <a:rPr lang="en-US" altLang="zh-CN" sz="1600" dirty="0"/>
              <a:t>(“%f, %</a:t>
            </a:r>
            <a:r>
              <a:rPr lang="en-US" altLang="zh-CN" sz="1600" dirty="0" err="1"/>
              <a:t>f”&amp;a,&amp;b</a:t>
            </a:r>
            <a:r>
              <a:rPr lang="en-US" altLang="zh-CN" sz="1600" dirty="0"/>
              <a:t>);</a:t>
            </a:r>
          </a:p>
          <a:p>
            <a:pPr marL="0" indent="0">
              <a:lnSpc>
                <a:spcPts val="1200"/>
              </a:lnSpc>
              <a:spcBef>
                <a:spcPct val="50000"/>
              </a:spcBef>
              <a:buClr>
                <a:schemeClr val="tx2"/>
              </a:buClr>
              <a:buNone/>
            </a:pPr>
            <a:r>
              <a:rPr lang="en-US" altLang="zh-CN" sz="1600" dirty="0"/>
              <a:t>    c=max(</a:t>
            </a:r>
            <a:r>
              <a:rPr lang="en-US" altLang="zh-CN" sz="1600" dirty="0" err="1"/>
              <a:t>a,b</a:t>
            </a:r>
            <a:r>
              <a:rPr lang="en-US" altLang="zh-CN" sz="1600" dirty="0"/>
              <a:t>);</a:t>
            </a:r>
          </a:p>
          <a:p>
            <a:pPr marL="0" indent="0">
              <a:lnSpc>
                <a:spcPts val="1200"/>
              </a:lnSpc>
              <a:spcBef>
                <a:spcPct val="50000"/>
              </a:spcBef>
              <a:buClr>
                <a:schemeClr val="tx2"/>
              </a:buClr>
              <a:buNone/>
            </a:pPr>
            <a:r>
              <a:rPr lang="en-US" altLang="zh-CN" sz="1600" dirty="0"/>
              <a:t>    </a:t>
            </a:r>
            <a:r>
              <a:rPr lang="en-US" altLang="zh-CN" sz="1600" dirty="0" err="1"/>
              <a:t>printf</a:t>
            </a:r>
            <a:r>
              <a:rPr lang="en-US" altLang="zh-CN" sz="1600" dirty="0"/>
              <a:t>(“Max is %d\n”, c);</a:t>
            </a:r>
          </a:p>
          <a:p>
            <a:pPr marL="0" indent="0">
              <a:lnSpc>
                <a:spcPts val="1200"/>
              </a:lnSpc>
              <a:spcBef>
                <a:spcPct val="50000"/>
              </a:spcBef>
              <a:buClr>
                <a:schemeClr val="tx2"/>
              </a:buClr>
              <a:buNone/>
            </a:pPr>
            <a:r>
              <a:rPr lang="en-US" altLang="zh-CN" sz="1600" dirty="0"/>
              <a:t>}</a:t>
            </a:r>
            <a:endParaRPr lang="zh-CN" altLang="en-US" sz="1600" dirty="0"/>
          </a:p>
        </p:txBody>
      </p:sp>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106</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代码检查</a:t>
            </a:r>
            <a:r>
              <a:rPr lang="en-US" altLang="zh-CN" dirty="0"/>
              <a:t>-</a:t>
            </a:r>
            <a:r>
              <a:rPr lang="zh-CN" altLang="en-US" dirty="0"/>
              <a:t>实例</a:t>
            </a:r>
            <a:endParaRPr lang="zh-CN" altLang="en-US" dirty="0">
              <a:latin typeface="楷体_GB2312"/>
              <a:ea typeface="楷体_GB2312"/>
              <a:cs typeface="楷体_GB2312"/>
            </a:endParaRPr>
          </a:p>
        </p:txBody>
      </p:sp>
      <p:sp>
        <p:nvSpPr>
          <p:cNvPr id="2" name="矩形 1"/>
          <p:cNvSpPr/>
          <p:nvPr/>
        </p:nvSpPr>
        <p:spPr>
          <a:xfrm>
            <a:off x="2843808" y="917947"/>
            <a:ext cx="6192688" cy="2585323"/>
          </a:xfrm>
          <a:prstGeom prst="rect">
            <a:avLst/>
          </a:prstGeom>
        </p:spPr>
        <p:txBody>
          <a:bodyPr wrap="square">
            <a:spAutoFit/>
          </a:bodyPr>
          <a:lstStyle/>
          <a:p>
            <a:r>
              <a:rPr lang="zh-CN" altLang="en-US" dirty="0"/>
              <a:t>建议修改的问题：</a:t>
            </a:r>
          </a:p>
          <a:p>
            <a:pPr marL="342900" indent="-342900">
              <a:buAutoNum type="arabicPeriod"/>
            </a:pPr>
            <a:r>
              <a:rPr lang="en-US" altLang="zh-CN" dirty="0"/>
              <a:t>Main</a:t>
            </a:r>
            <a:r>
              <a:rPr lang="zh-CN" altLang="en-US" dirty="0"/>
              <a:t>函数没有返回值类型和参数列表。虽然</a:t>
            </a:r>
            <a:r>
              <a:rPr lang="en-US" altLang="zh-CN" dirty="0"/>
              <a:t>main</a:t>
            </a:r>
            <a:r>
              <a:rPr lang="zh-CN" altLang="en-US" dirty="0"/>
              <a:t>函数没有返回值和参数，但是我们组后将其改为</a:t>
            </a:r>
            <a:r>
              <a:rPr lang="en-US" altLang="zh-CN" dirty="0"/>
              <a:t>void main(void)</a:t>
            </a:r>
            <a:r>
              <a:rPr lang="zh-CN" altLang="en-US" dirty="0"/>
              <a:t>，来表明</a:t>
            </a:r>
            <a:r>
              <a:rPr lang="en-US" altLang="zh-CN" dirty="0"/>
              <a:t>main</a:t>
            </a:r>
            <a:r>
              <a:rPr lang="zh-CN" altLang="en-US" dirty="0"/>
              <a:t>函数的返回值和参数都为空，因为在有的白盒测试工具的编码规范中，如果不写</a:t>
            </a:r>
            <a:r>
              <a:rPr lang="en-US" altLang="zh-CN" dirty="0"/>
              <a:t>void</a:t>
            </a:r>
            <a:r>
              <a:rPr lang="zh-CN" altLang="en-US" dirty="0"/>
              <a:t>会认为是个错误。</a:t>
            </a:r>
            <a:endParaRPr lang="en-US" altLang="zh-CN" dirty="0"/>
          </a:p>
          <a:p>
            <a:pPr marL="342900" indent="-342900">
              <a:buAutoNum type="arabicPeriod"/>
            </a:pPr>
            <a:r>
              <a:rPr lang="zh-CN" altLang="en-US" dirty="0"/>
              <a:t>一行代码只定义一个变量。</a:t>
            </a:r>
            <a:endParaRPr lang="en-US" altLang="zh-CN" dirty="0"/>
          </a:p>
          <a:p>
            <a:pPr marL="342900" indent="-342900">
              <a:buAutoNum type="arabicPeriod"/>
            </a:pPr>
            <a:r>
              <a:rPr lang="zh-CN" altLang="en-US" dirty="0"/>
              <a:t>程序适当加些空行。空行不占内存，会使程序看起来更清晰。</a:t>
            </a:r>
          </a:p>
        </p:txBody>
      </p:sp>
    </p:spTree>
    <p:extLst>
      <p:ext uri="{BB962C8B-B14F-4D97-AF65-F5344CB8AC3E}">
        <p14:creationId xmlns:p14="http://schemas.microsoft.com/office/powerpoint/2010/main" val="2475339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C9645190-E519-44ED-8890-B46A3AE18A40}" type="slidenum">
              <a:rPr lang="en-US" altLang="zh-CN" sz="1800" b="0" smtClean="0">
                <a:latin typeface="Times New Roman" pitchFamily="18" charset="0"/>
                <a:ea typeface="微软雅黑" pitchFamily="34" charset="-122"/>
              </a:rPr>
              <a:pPr algn="l" eaLnBrk="0" hangingPunct="0">
                <a:spcBef>
                  <a:spcPct val="0"/>
                </a:spcBef>
                <a:buFontTx/>
                <a:buNone/>
              </a:pPr>
              <a:t>107</a:t>
            </a:fld>
            <a:endParaRPr lang="en-US" altLang="zh-CN" sz="1800" b="0">
              <a:latin typeface="Times New Roman" pitchFamily="18" charset="0"/>
              <a:ea typeface="微软雅黑" pitchFamily="34" charset="-122"/>
            </a:endParaRPr>
          </a:p>
        </p:txBody>
      </p:sp>
      <p:sp>
        <p:nvSpPr>
          <p:cNvPr id="64515" name="Rectangle 2" descr="Large confetti"/>
          <p:cNvSpPr>
            <a:spLocks noGrp="1" noChangeArrowheads="1"/>
          </p:cNvSpPr>
          <p:nvPr>
            <p:ph type="title"/>
          </p:nvPr>
        </p:nvSpPr>
        <p:spPr>
          <a:xfrm>
            <a:off x="468313" y="269875"/>
            <a:ext cx="8229600" cy="647700"/>
          </a:xfrm>
        </p:spPr>
        <p:txBody>
          <a:bodyPr/>
          <a:lstStyle/>
          <a:p>
            <a:r>
              <a:rPr lang="zh-CN" altLang="en-US" dirty="0"/>
              <a:t>静态测试</a:t>
            </a:r>
            <a:r>
              <a:rPr lang="en-US" altLang="zh-CN" dirty="0"/>
              <a:t>-</a:t>
            </a:r>
            <a:r>
              <a:rPr lang="zh-CN" altLang="en-US" dirty="0"/>
              <a:t>总结与讨论</a:t>
            </a:r>
            <a:endParaRPr lang="zh-CN" altLang="en-US" dirty="0">
              <a:latin typeface="楷体_GB2312"/>
              <a:ea typeface="楷体_GB2312"/>
              <a:cs typeface="楷体_GB2312"/>
            </a:endParaRPr>
          </a:p>
        </p:txBody>
      </p:sp>
      <p:pic>
        <p:nvPicPr>
          <p:cNvPr id="618498" name="Picture 2" descr="“问号”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989955"/>
            <a:ext cx="2767807"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3151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73E0B0E3-4B7A-4BE4-BCB9-BEBB44A1F223}" type="slidenum">
              <a:rPr lang="en-US" altLang="zh-CN" sz="1800" b="0" smtClean="0">
                <a:latin typeface="Times New Roman" pitchFamily="18" charset="0"/>
                <a:ea typeface="微软雅黑" pitchFamily="34" charset="-122"/>
              </a:rPr>
              <a:pPr algn="l" eaLnBrk="0" hangingPunct="0">
                <a:spcBef>
                  <a:spcPct val="0"/>
                </a:spcBef>
                <a:buFontTx/>
                <a:buNone/>
              </a:pPr>
              <a:t>108</a:t>
            </a:fld>
            <a:endParaRPr lang="en-US" altLang="zh-CN" sz="1800" b="0">
              <a:latin typeface="Times New Roman" pitchFamily="18" charset="0"/>
              <a:ea typeface="微软雅黑" pitchFamily="34" charset="-122"/>
            </a:endParaRPr>
          </a:p>
        </p:txBody>
      </p:sp>
      <p:sp>
        <p:nvSpPr>
          <p:cNvPr id="94211" name="Rectangle 2" descr="Large confetti"/>
          <p:cNvSpPr>
            <a:spLocks noGrp="1" noChangeArrowheads="1"/>
          </p:cNvSpPr>
          <p:nvPr>
            <p:ph type="title"/>
          </p:nvPr>
        </p:nvSpPr>
        <p:spPr>
          <a:xfrm>
            <a:off x="467544" y="269875"/>
            <a:ext cx="8229600" cy="647700"/>
          </a:xfrm>
        </p:spPr>
        <p:txBody>
          <a:bodyPr/>
          <a:lstStyle/>
          <a:p>
            <a:r>
              <a:rPr lang="zh-CN" altLang="en-US" dirty="0"/>
              <a:t>动态测试－</a:t>
            </a:r>
            <a:r>
              <a:rPr lang="zh-CN" altLang="en-US" dirty="0">
                <a:latin typeface="楷体_GB2312"/>
              </a:rPr>
              <a:t>定义</a:t>
            </a:r>
            <a:endParaRPr lang="zh-CN" altLang="en-US" dirty="0">
              <a:latin typeface="楷体_GB2312"/>
              <a:ea typeface="楷体_GB2312"/>
              <a:cs typeface="楷体_GB2312"/>
            </a:endParaRPr>
          </a:p>
        </p:txBody>
      </p:sp>
      <p:sp>
        <p:nvSpPr>
          <p:cNvPr id="94212" name="Rectangle 3"/>
          <p:cNvSpPr>
            <a:spLocks noGrp="1" noChangeArrowheads="1"/>
          </p:cNvSpPr>
          <p:nvPr>
            <p:ph type="body" idx="1"/>
          </p:nvPr>
        </p:nvSpPr>
        <p:spPr>
          <a:xfrm>
            <a:off x="468313" y="990600"/>
            <a:ext cx="8229600" cy="3397250"/>
          </a:xfrm>
        </p:spPr>
        <p:txBody>
          <a:bodyPr/>
          <a:lstStyle/>
          <a:p>
            <a:r>
              <a:rPr lang="zh-CN" altLang="en-US" sz="2400" dirty="0"/>
              <a:t>动态测试是通过观察代码运行时的动作，来提供执行跟踪、时间分析，以及测试覆盖度方面的信息。动态测试通过真正运行程序发现错误。通过有效的测试用例，对应的输入输出关系来分析被测程序的运行情况。</a:t>
            </a:r>
            <a:endParaRPr lang="en-US" altLang="zh-CN" sz="2400" dirty="0"/>
          </a:p>
          <a:p>
            <a:r>
              <a:rPr lang="zh-CN" altLang="en-US" sz="2400" dirty="0"/>
              <a:t>所以判断一个测试属于动态测试还是静态的，</a:t>
            </a:r>
            <a:r>
              <a:rPr lang="zh-CN" altLang="en-US" sz="2400" dirty="0">
                <a:solidFill>
                  <a:srgbClr val="FF0000"/>
                </a:solidFill>
              </a:rPr>
              <a:t>唯一的标准就是看是否运行程序。</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73E0B0E3-4B7A-4BE4-BCB9-BEBB44A1F223}" type="slidenum">
              <a:rPr lang="en-US" altLang="zh-CN" sz="1800" b="0" smtClean="0">
                <a:latin typeface="Times New Roman" pitchFamily="18" charset="0"/>
                <a:ea typeface="微软雅黑" pitchFamily="34" charset="-122"/>
              </a:rPr>
              <a:pPr algn="l" eaLnBrk="0" hangingPunct="0">
                <a:spcBef>
                  <a:spcPct val="0"/>
                </a:spcBef>
                <a:buFontTx/>
                <a:buNone/>
              </a:pPr>
              <a:t>109</a:t>
            </a:fld>
            <a:endParaRPr lang="en-US" altLang="zh-CN" sz="1800" b="0">
              <a:latin typeface="Times New Roman" pitchFamily="18" charset="0"/>
              <a:ea typeface="微软雅黑" pitchFamily="34" charset="-122"/>
            </a:endParaRPr>
          </a:p>
        </p:txBody>
      </p:sp>
      <p:sp>
        <p:nvSpPr>
          <p:cNvPr id="94211" name="Rectangle 2" descr="Large confetti"/>
          <p:cNvSpPr>
            <a:spLocks noGrp="1" noChangeArrowheads="1"/>
          </p:cNvSpPr>
          <p:nvPr>
            <p:ph type="title"/>
          </p:nvPr>
        </p:nvSpPr>
        <p:spPr>
          <a:xfrm>
            <a:off x="467544" y="269875"/>
            <a:ext cx="8229600" cy="647700"/>
          </a:xfrm>
        </p:spPr>
        <p:txBody>
          <a:bodyPr/>
          <a:lstStyle/>
          <a:p>
            <a:r>
              <a:rPr lang="zh-CN" altLang="en-US" dirty="0"/>
              <a:t>动态、静态、黑盒、白盒的关系</a:t>
            </a:r>
            <a:endParaRPr lang="zh-CN" altLang="en-US" dirty="0">
              <a:latin typeface="楷体_GB2312"/>
              <a:ea typeface="楷体_GB2312"/>
              <a:cs typeface="楷体_GB2312"/>
            </a:endParaRPr>
          </a:p>
        </p:txBody>
      </p:sp>
      <p:sp>
        <p:nvSpPr>
          <p:cNvPr id="94212" name="Rectangle 3"/>
          <p:cNvSpPr>
            <a:spLocks noGrp="1" noChangeArrowheads="1"/>
          </p:cNvSpPr>
          <p:nvPr>
            <p:ph type="body" idx="1"/>
          </p:nvPr>
        </p:nvSpPr>
        <p:spPr>
          <a:xfrm>
            <a:off x="467544" y="989955"/>
            <a:ext cx="8229600" cy="3397250"/>
          </a:xfrm>
        </p:spPr>
        <p:txBody>
          <a:bodyPr/>
          <a:lstStyle/>
          <a:p>
            <a:r>
              <a:rPr lang="zh-CN" altLang="en-US" sz="2400" dirty="0"/>
              <a:t>黑盒测试有可能是动态测试（运行程序，只看输入和输出），也有可能是静态测试（不运行程序，只是查看界面）</a:t>
            </a:r>
            <a:endParaRPr lang="en-US" altLang="zh-CN" sz="2400" dirty="0"/>
          </a:p>
          <a:p>
            <a:r>
              <a:rPr lang="zh-CN" altLang="en-US" sz="2400" dirty="0"/>
              <a:t>白盒测试有可能是动态测试（运行程序，并分析代码结构），也有可能是静态测试（不运行程序，只是静态查看代码）</a:t>
            </a:r>
            <a:endParaRPr lang="en-US" altLang="zh-CN" sz="2400" dirty="0"/>
          </a:p>
          <a:p>
            <a:r>
              <a:rPr lang="zh-CN" altLang="en-US" sz="2400" dirty="0"/>
              <a:t>动态测试有可能是黑盒测试（运行程序，只看输入和输出），也有可能是白盒测试（运行程序，并分析代码结构）</a:t>
            </a:r>
            <a:endParaRPr lang="en-US" altLang="zh-CN" sz="2400" dirty="0"/>
          </a:p>
          <a:p>
            <a:r>
              <a:rPr lang="zh-CN" altLang="en-US" sz="2400" dirty="0"/>
              <a:t>静态测试有可能是黑盒测试（不运行程序，只是查看界面），也有可能是白盒测试（不运行程序，只是静态查看代码）</a:t>
            </a:r>
            <a:endParaRPr lang="en-US" altLang="zh-CN" sz="2400" dirty="0"/>
          </a:p>
        </p:txBody>
      </p:sp>
    </p:spTree>
    <p:extLst>
      <p:ext uri="{BB962C8B-B14F-4D97-AF65-F5344CB8AC3E}">
        <p14:creationId xmlns:p14="http://schemas.microsoft.com/office/powerpoint/2010/main" val="26462994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61E067CE-C911-4A3E-A03E-4ADD6BD9BBB4}" type="slidenum">
              <a:rPr lang="en-US" altLang="zh-CN" sz="1800" b="0" smtClean="0">
                <a:latin typeface="Times New Roman" pitchFamily="18" charset="0"/>
                <a:ea typeface="微软雅黑" pitchFamily="34" charset="-122"/>
              </a:rPr>
              <a:pPr algn="l" eaLnBrk="0" hangingPunct="0">
                <a:spcBef>
                  <a:spcPct val="0"/>
                </a:spcBef>
                <a:buFontTx/>
                <a:buNone/>
              </a:pPr>
              <a:t>110</a:t>
            </a:fld>
            <a:endParaRPr lang="en-US" altLang="zh-CN" sz="1800" b="0">
              <a:latin typeface="Times New Roman" pitchFamily="18" charset="0"/>
              <a:ea typeface="微软雅黑" pitchFamily="34" charset="-122"/>
            </a:endParaRPr>
          </a:p>
        </p:txBody>
      </p:sp>
      <p:sp>
        <p:nvSpPr>
          <p:cNvPr id="95235" name="Rectangle 2050" descr="Large confetti"/>
          <p:cNvSpPr>
            <a:spLocks noGrp="1" noChangeArrowheads="1"/>
          </p:cNvSpPr>
          <p:nvPr>
            <p:ph type="title"/>
          </p:nvPr>
        </p:nvSpPr>
        <p:spPr>
          <a:xfrm>
            <a:off x="468313" y="269875"/>
            <a:ext cx="8229600" cy="647700"/>
          </a:xfrm>
        </p:spPr>
        <p:txBody>
          <a:bodyPr/>
          <a:lstStyle/>
          <a:p>
            <a:r>
              <a:rPr lang="zh-CN" altLang="en-US" dirty="0"/>
              <a:t>动态测试和静态测试区别</a:t>
            </a:r>
            <a:endParaRPr lang="zh-CN" altLang="en-US" dirty="0">
              <a:latin typeface="楷体_GB2312"/>
              <a:ea typeface="楷体_GB2312"/>
              <a:cs typeface="楷体_GB2312"/>
            </a:endParaRPr>
          </a:p>
        </p:txBody>
      </p:sp>
      <p:graphicFrame>
        <p:nvGraphicFramePr>
          <p:cNvPr id="3" name="表格 2"/>
          <p:cNvGraphicFramePr>
            <a:graphicFrameLocks noGrp="1"/>
          </p:cNvGraphicFramePr>
          <p:nvPr>
            <p:extLst>
              <p:ext uri="{D42A27DB-BD31-4B8C-83A1-F6EECF244321}">
                <p14:modId xmlns:p14="http://schemas.microsoft.com/office/powerpoint/2010/main" val="155747991"/>
              </p:ext>
            </p:extLst>
          </p:nvPr>
        </p:nvGraphicFramePr>
        <p:xfrm>
          <a:off x="1547664" y="1133971"/>
          <a:ext cx="6096000" cy="33324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149736">
                <a:tc>
                  <a:txBody>
                    <a:bodyPr/>
                    <a:lstStyle/>
                    <a:p>
                      <a:r>
                        <a:rPr lang="zh-CN" altLang="en-US" dirty="0"/>
                        <a:t>静态测试</a:t>
                      </a:r>
                    </a:p>
                  </a:txBody>
                  <a:tcPr/>
                </a:tc>
                <a:tc>
                  <a:txBody>
                    <a:bodyPr/>
                    <a:lstStyle/>
                    <a:p>
                      <a:r>
                        <a:rPr lang="zh-CN" altLang="en-US" dirty="0"/>
                        <a:t>动态测试</a:t>
                      </a:r>
                    </a:p>
                  </a:txBody>
                  <a:tcPr/>
                </a:tc>
                <a:extLst>
                  <a:ext uri="{0D108BD9-81ED-4DB2-BD59-A6C34878D82A}">
                    <a16:rowId xmlns:a16="http://schemas.microsoft.com/office/drawing/2014/main" val="10000"/>
                  </a:ext>
                </a:extLst>
              </a:tr>
              <a:tr h="370840">
                <a:tc>
                  <a:txBody>
                    <a:bodyPr/>
                    <a:lstStyle/>
                    <a:p>
                      <a:r>
                        <a:rPr lang="zh-CN" altLang="en-US" dirty="0"/>
                        <a:t>不运行程序</a:t>
                      </a:r>
                    </a:p>
                  </a:txBody>
                  <a:tcPr/>
                </a:tc>
                <a:tc>
                  <a:txBody>
                    <a:bodyPr/>
                    <a:lstStyle/>
                    <a:p>
                      <a:r>
                        <a:rPr lang="zh-CN" altLang="en-US" dirty="0"/>
                        <a:t>运行程序</a:t>
                      </a:r>
                    </a:p>
                  </a:txBody>
                  <a:tcPr/>
                </a:tc>
                <a:extLst>
                  <a:ext uri="{0D108BD9-81ED-4DB2-BD59-A6C34878D82A}">
                    <a16:rowId xmlns:a16="http://schemas.microsoft.com/office/drawing/2014/main" val="10001"/>
                  </a:ext>
                </a:extLst>
              </a:tr>
              <a:tr h="370840">
                <a:tc>
                  <a:txBody>
                    <a:bodyPr/>
                    <a:lstStyle/>
                    <a:p>
                      <a:r>
                        <a:rPr lang="zh-CN" altLang="en-US" dirty="0"/>
                        <a:t>确认</a:t>
                      </a:r>
                    </a:p>
                  </a:txBody>
                  <a:tcPr/>
                </a:tc>
                <a:tc>
                  <a:txBody>
                    <a:bodyPr/>
                    <a:lstStyle/>
                    <a:p>
                      <a:r>
                        <a:rPr lang="zh-CN" altLang="en-US" dirty="0"/>
                        <a:t>验证</a:t>
                      </a:r>
                    </a:p>
                  </a:txBody>
                  <a:tcPr/>
                </a:tc>
                <a:extLst>
                  <a:ext uri="{0D108BD9-81ED-4DB2-BD59-A6C34878D82A}">
                    <a16:rowId xmlns:a16="http://schemas.microsoft.com/office/drawing/2014/main" val="10002"/>
                  </a:ext>
                </a:extLst>
              </a:tr>
              <a:tr h="370840">
                <a:tc>
                  <a:txBody>
                    <a:bodyPr/>
                    <a:lstStyle/>
                    <a:p>
                      <a:r>
                        <a:rPr lang="zh-CN" altLang="en-US" dirty="0"/>
                        <a:t>防止缺陷</a:t>
                      </a:r>
                    </a:p>
                  </a:txBody>
                  <a:tcPr/>
                </a:tc>
                <a:tc>
                  <a:txBody>
                    <a:bodyPr/>
                    <a:lstStyle/>
                    <a:p>
                      <a:r>
                        <a:rPr lang="zh-CN" altLang="en-US" dirty="0"/>
                        <a:t>找到和修复缺陷</a:t>
                      </a:r>
                    </a:p>
                  </a:txBody>
                  <a:tcPr/>
                </a:tc>
                <a:extLst>
                  <a:ext uri="{0D108BD9-81ED-4DB2-BD59-A6C34878D82A}">
                    <a16:rowId xmlns:a16="http://schemas.microsoft.com/office/drawing/2014/main" val="10003"/>
                  </a:ext>
                </a:extLst>
              </a:tr>
              <a:tr h="370840">
                <a:tc>
                  <a:txBody>
                    <a:bodyPr/>
                    <a:lstStyle/>
                    <a:p>
                      <a:r>
                        <a:rPr lang="zh-CN" altLang="en-US" dirty="0"/>
                        <a:t>给出代码和文档的评估</a:t>
                      </a:r>
                    </a:p>
                  </a:txBody>
                  <a:tcPr/>
                </a:tc>
                <a:tc>
                  <a:txBody>
                    <a:bodyPr/>
                    <a:lstStyle/>
                    <a:p>
                      <a:r>
                        <a:rPr lang="zh-CN" altLang="en-US" dirty="0"/>
                        <a:t>给出系统的</a:t>
                      </a:r>
                      <a:r>
                        <a:rPr lang="en-US" altLang="zh-CN" dirty="0"/>
                        <a:t>bug</a:t>
                      </a:r>
                      <a:r>
                        <a:rPr lang="zh-CN" altLang="en-US" dirty="0"/>
                        <a:t>和瓶颈</a:t>
                      </a:r>
                    </a:p>
                  </a:txBody>
                  <a:tcPr/>
                </a:tc>
                <a:extLst>
                  <a:ext uri="{0D108BD9-81ED-4DB2-BD59-A6C34878D82A}">
                    <a16:rowId xmlns:a16="http://schemas.microsoft.com/office/drawing/2014/main" val="10004"/>
                  </a:ext>
                </a:extLst>
              </a:tr>
              <a:tr h="370840">
                <a:tc>
                  <a:txBody>
                    <a:bodyPr/>
                    <a:lstStyle/>
                    <a:p>
                      <a:r>
                        <a:rPr lang="zh-CN" altLang="en-US" dirty="0"/>
                        <a:t>检查列表</a:t>
                      </a:r>
                    </a:p>
                  </a:txBody>
                  <a:tcPr/>
                </a:tc>
                <a:tc>
                  <a:txBody>
                    <a:bodyPr/>
                    <a:lstStyle/>
                    <a:p>
                      <a:r>
                        <a:rPr lang="zh-CN" altLang="en-US" dirty="0"/>
                        <a:t>测试用例</a:t>
                      </a:r>
                    </a:p>
                  </a:txBody>
                  <a:tcPr/>
                </a:tc>
                <a:extLst>
                  <a:ext uri="{0D108BD9-81ED-4DB2-BD59-A6C34878D82A}">
                    <a16:rowId xmlns:a16="http://schemas.microsoft.com/office/drawing/2014/main" val="10005"/>
                  </a:ext>
                </a:extLst>
              </a:tr>
              <a:tr h="370840">
                <a:tc>
                  <a:txBody>
                    <a:bodyPr/>
                    <a:lstStyle/>
                    <a:p>
                      <a:r>
                        <a:rPr lang="zh-CN" altLang="en-US" dirty="0"/>
                        <a:t>找到缺陷的花费小</a:t>
                      </a:r>
                    </a:p>
                  </a:txBody>
                  <a:tcPr/>
                </a:tc>
                <a:tc>
                  <a:txBody>
                    <a:bodyPr/>
                    <a:lstStyle/>
                    <a:p>
                      <a:r>
                        <a:rPr lang="zh-CN" altLang="en-US" dirty="0"/>
                        <a:t>找到和修复缺陷的花费大</a:t>
                      </a:r>
                    </a:p>
                  </a:txBody>
                  <a:tcPr/>
                </a:tc>
                <a:extLst>
                  <a:ext uri="{0D108BD9-81ED-4DB2-BD59-A6C34878D82A}">
                    <a16:rowId xmlns:a16="http://schemas.microsoft.com/office/drawing/2014/main" val="10006"/>
                  </a:ext>
                </a:extLst>
              </a:tr>
              <a:tr h="370840">
                <a:tc>
                  <a:txBody>
                    <a:bodyPr/>
                    <a:lstStyle/>
                    <a:p>
                      <a:r>
                        <a:rPr lang="zh-CN" altLang="en-US" dirty="0"/>
                        <a:t>在软件工程早期执行</a:t>
                      </a:r>
                    </a:p>
                  </a:txBody>
                  <a:tcPr/>
                </a:tc>
                <a:tc>
                  <a:txBody>
                    <a:bodyPr/>
                    <a:lstStyle/>
                    <a:p>
                      <a:r>
                        <a:rPr lang="zh-CN" altLang="en-US" dirty="0"/>
                        <a:t>在软件开发后执行</a:t>
                      </a:r>
                    </a:p>
                  </a:txBody>
                  <a:tcPr/>
                </a:tc>
                <a:extLst>
                  <a:ext uri="{0D108BD9-81ED-4DB2-BD59-A6C34878D82A}">
                    <a16:rowId xmlns:a16="http://schemas.microsoft.com/office/drawing/2014/main" val="10007"/>
                  </a:ext>
                </a:extLst>
              </a:tr>
              <a:tr h="370840">
                <a:tc>
                  <a:txBody>
                    <a:bodyPr/>
                    <a:lstStyle/>
                    <a:p>
                      <a:r>
                        <a:rPr lang="zh-CN" altLang="en-US" dirty="0"/>
                        <a:t>需要开会</a:t>
                      </a:r>
                    </a:p>
                  </a:txBody>
                  <a:tcPr/>
                </a:tc>
                <a:tc>
                  <a:txBody>
                    <a:bodyPr/>
                    <a:lstStyle/>
                    <a:p>
                      <a:r>
                        <a:rPr lang="zh-CN" altLang="en-US" dirty="0"/>
                        <a:t>少量开会</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F3E2D705-D10B-4D83-86F0-790BAD0A28B1}" type="slidenum">
              <a:rPr lang="en-US" altLang="zh-CN" sz="1800" b="0" smtClean="0">
                <a:latin typeface="Times New Roman" pitchFamily="18" charset="0"/>
                <a:ea typeface="微软雅黑" pitchFamily="34" charset="-122"/>
              </a:rPr>
              <a:pPr algn="l" eaLnBrk="0" hangingPunct="0">
                <a:spcBef>
                  <a:spcPct val="0"/>
                </a:spcBef>
                <a:buFontTx/>
                <a:buNone/>
              </a:pPr>
              <a:t>111</a:t>
            </a:fld>
            <a:endParaRPr lang="en-US" altLang="zh-CN" sz="1800" b="0">
              <a:latin typeface="Times New Roman" pitchFamily="18" charset="0"/>
              <a:ea typeface="微软雅黑" pitchFamily="34" charset="-122"/>
            </a:endParaRPr>
          </a:p>
        </p:txBody>
      </p:sp>
      <p:sp>
        <p:nvSpPr>
          <p:cNvPr id="822274" name="Rectangle 2" descr="Large confetti"/>
          <p:cNvSpPr>
            <a:spLocks noGrp="1" noChangeArrowheads="1"/>
          </p:cNvSpPr>
          <p:nvPr>
            <p:ph type="title"/>
          </p:nvPr>
        </p:nvSpPr>
        <p:spPr>
          <a:xfrm>
            <a:off x="468313" y="269875"/>
            <a:ext cx="8229600" cy="647700"/>
          </a:xfrm>
        </p:spPr>
        <p:txBody>
          <a:bodyPr/>
          <a:lstStyle/>
          <a:p>
            <a:pPr>
              <a:defRPr/>
            </a:pPr>
            <a:r>
              <a:rPr lang="zh-CN" altLang="en-US" sz="3003"/>
              <a:t>动态测试</a:t>
            </a:r>
            <a:r>
              <a:rPr lang="zh-CN" altLang="en-US"/>
              <a:t>－</a:t>
            </a:r>
            <a:r>
              <a:rPr lang="zh-CN" altLang="en-US" sz="3003">
                <a:ea typeface="楷体_GB2312"/>
                <a:cs typeface="楷体_GB2312"/>
              </a:rPr>
              <a:t>平衡动态与静态测试</a:t>
            </a:r>
          </a:p>
        </p:txBody>
      </p:sp>
      <p:sp>
        <p:nvSpPr>
          <p:cNvPr id="178180" name="Oval 4"/>
          <p:cNvSpPr>
            <a:spLocks noChangeArrowheads="1"/>
          </p:cNvSpPr>
          <p:nvPr/>
        </p:nvSpPr>
        <p:spPr bwMode="auto">
          <a:xfrm>
            <a:off x="3160713" y="1735138"/>
            <a:ext cx="1849437" cy="179228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78181" name="Oval 5"/>
          <p:cNvSpPr>
            <a:spLocks noChangeArrowheads="1"/>
          </p:cNvSpPr>
          <p:nvPr/>
        </p:nvSpPr>
        <p:spPr bwMode="auto">
          <a:xfrm>
            <a:off x="4019550" y="1735138"/>
            <a:ext cx="1849438" cy="1792287"/>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178182" name="Rectangle 6"/>
          <p:cNvSpPr>
            <a:spLocks noChangeArrowheads="1"/>
          </p:cNvSpPr>
          <p:nvPr/>
        </p:nvSpPr>
        <p:spPr bwMode="auto">
          <a:xfrm>
            <a:off x="3532188" y="23114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3" name="Rectangle 7"/>
          <p:cNvSpPr>
            <a:spLocks noChangeArrowheads="1"/>
          </p:cNvSpPr>
          <p:nvPr/>
        </p:nvSpPr>
        <p:spPr bwMode="auto">
          <a:xfrm>
            <a:off x="3760788" y="23114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4" name="Rectangle 8"/>
          <p:cNvSpPr>
            <a:spLocks noChangeArrowheads="1"/>
          </p:cNvSpPr>
          <p:nvPr/>
        </p:nvSpPr>
        <p:spPr bwMode="auto">
          <a:xfrm>
            <a:off x="4046538" y="2598738"/>
            <a:ext cx="24447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5" name="Rectangle 9"/>
          <p:cNvSpPr>
            <a:spLocks noChangeArrowheads="1"/>
          </p:cNvSpPr>
          <p:nvPr/>
        </p:nvSpPr>
        <p:spPr bwMode="auto">
          <a:xfrm>
            <a:off x="3817938" y="311308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6" name="Rectangle 10"/>
          <p:cNvSpPr>
            <a:spLocks noChangeArrowheads="1"/>
          </p:cNvSpPr>
          <p:nvPr/>
        </p:nvSpPr>
        <p:spPr bwMode="auto">
          <a:xfrm>
            <a:off x="3589338" y="294163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7" name="Rectangle 11"/>
          <p:cNvSpPr>
            <a:spLocks noChangeArrowheads="1"/>
          </p:cNvSpPr>
          <p:nvPr/>
        </p:nvSpPr>
        <p:spPr bwMode="auto">
          <a:xfrm>
            <a:off x="4275138" y="21971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8" name="Rectangle 12"/>
          <p:cNvSpPr>
            <a:spLocks noChangeArrowheads="1"/>
          </p:cNvSpPr>
          <p:nvPr/>
        </p:nvSpPr>
        <p:spPr bwMode="auto">
          <a:xfrm>
            <a:off x="3427413" y="2574925"/>
            <a:ext cx="244475" cy="29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89" name="Rectangle 13"/>
          <p:cNvSpPr>
            <a:spLocks noChangeArrowheads="1"/>
          </p:cNvSpPr>
          <p:nvPr/>
        </p:nvSpPr>
        <p:spPr bwMode="auto">
          <a:xfrm>
            <a:off x="3303588" y="225425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0" name="Rectangle 14"/>
          <p:cNvSpPr>
            <a:spLocks noChangeArrowheads="1"/>
          </p:cNvSpPr>
          <p:nvPr/>
        </p:nvSpPr>
        <p:spPr bwMode="auto">
          <a:xfrm>
            <a:off x="3703638" y="191135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1" name="Rectangle 15"/>
          <p:cNvSpPr>
            <a:spLocks noChangeArrowheads="1"/>
          </p:cNvSpPr>
          <p:nvPr/>
        </p:nvSpPr>
        <p:spPr bwMode="auto">
          <a:xfrm>
            <a:off x="4389438" y="19685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2" name="Rectangle 16"/>
          <p:cNvSpPr>
            <a:spLocks noChangeArrowheads="1"/>
          </p:cNvSpPr>
          <p:nvPr/>
        </p:nvSpPr>
        <p:spPr bwMode="auto">
          <a:xfrm>
            <a:off x="3313113" y="2746375"/>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3" name="Rectangle 17"/>
          <p:cNvSpPr>
            <a:spLocks noChangeArrowheads="1"/>
          </p:cNvSpPr>
          <p:nvPr/>
        </p:nvSpPr>
        <p:spPr bwMode="auto">
          <a:xfrm>
            <a:off x="3703638" y="2655888"/>
            <a:ext cx="24447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4" name="Rectangle 18"/>
          <p:cNvSpPr>
            <a:spLocks noChangeArrowheads="1"/>
          </p:cNvSpPr>
          <p:nvPr/>
        </p:nvSpPr>
        <p:spPr bwMode="auto">
          <a:xfrm>
            <a:off x="4046538" y="305593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5" name="Rectangle 19"/>
          <p:cNvSpPr>
            <a:spLocks noChangeArrowheads="1"/>
          </p:cNvSpPr>
          <p:nvPr/>
        </p:nvSpPr>
        <p:spPr bwMode="auto">
          <a:xfrm>
            <a:off x="4389438" y="271303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196" name="Rectangle 20"/>
          <p:cNvSpPr>
            <a:spLocks noChangeArrowheads="1"/>
          </p:cNvSpPr>
          <p:nvPr/>
        </p:nvSpPr>
        <p:spPr bwMode="auto">
          <a:xfrm>
            <a:off x="4618038" y="2139950"/>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197" name="Rectangle 21"/>
          <p:cNvSpPr>
            <a:spLocks noChangeArrowheads="1"/>
          </p:cNvSpPr>
          <p:nvPr/>
        </p:nvSpPr>
        <p:spPr bwMode="auto">
          <a:xfrm>
            <a:off x="4618038" y="2425700"/>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198" name="Rectangle 22"/>
          <p:cNvSpPr>
            <a:spLocks noChangeArrowheads="1"/>
          </p:cNvSpPr>
          <p:nvPr/>
        </p:nvSpPr>
        <p:spPr bwMode="auto">
          <a:xfrm>
            <a:off x="4503738" y="288448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199" name="Rectangle 23"/>
          <p:cNvSpPr>
            <a:spLocks noChangeArrowheads="1"/>
          </p:cNvSpPr>
          <p:nvPr/>
        </p:nvSpPr>
        <p:spPr bwMode="auto">
          <a:xfrm>
            <a:off x="4903788" y="3055938"/>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0" name="Rectangle 24"/>
          <p:cNvSpPr>
            <a:spLocks noChangeArrowheads="1"/>
          </p:cNvSpPr>
          <p:nvPr/>
        </p:nvSpPr>
        <p:spPr bwMode="auto">
          <a:xfrm>
            <a:off x="4732338" y="3170238"/>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1" name="Rectangle 25"/>
          <p:cNvSpPr>
            <a:spLocks noChangeArrowheads="1"/>
          </p:cNvSpPr>
          <p:nvPr/>
        </p:nvSpPr>
        <p:spPr bwMode="auto">
          <a:xfrm>
            <a:off x="5133975" y="311308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2" name="Rectangle 26"/>
          <p:cNvSpPr>
            <a:spLocks noChangeArrowheads="1"/>
          </p:cNvSpPr>
          <p:nvPr/>
        </p:nvSpPr>
        <p:spPr bwMode="auto">
          <a:xfrm>
            <a:off x="5305425" y="271303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3" name="Rectangle 27"/>
          <p:cNvSpPr>
            <a:spLocks noChangeArrowheads="1"/>
          </p:cNvSpPr>
          <p:nvPr/>
        </p:nvSpPr>
        <p:spPr bwMode="auto">
          <a:xfrm>
            <a:off x="5248275" y="231140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4" name="Rectangle 28"/>
          <p:cNvSpPr>
            <a:spLocks noChangeArrowheads="1"/>
          </p:cNvSpPr>
          <p:nvPr/>
        </p:nvSpPr>
        <p:spPr bwMode="auto">
          <a:xfrm>
            <a:off x="5076825" y="202565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5" name="Rectangle 29"/>
          <p:cNvSpPr>
            <a:spLocks noChangeArrowheads="1"/>
          </p:cNvSpPr>
          <p:nvPr/>
        </p:nvSpPr>
        <p:spPr bwMode="auto">
          <a:xfrm>
            <a:off x="4846638" y="1854200"/>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6" name="Rectangle 30"/>
          <p:cNvSpPr>
            <a:spLocks noChangeArrowheads="1"/>
          </p:cNvSpPr>
          <p:nvPr/>
        </p:nvSpPr>
        <p:spPr bwMode="auto">
          <a:xfrm>
            <a:off x="4103688" y="24257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07" name="Rectangle 31"/>
          <p:cNvSpPr>
            <a:spLocks noChangeArrowheads="1"/>
          </p:cNvSpPr>
          <p:nvPr/>
        </p:nvSpPr>
        <p:spPr bwMode="auto">
          <a:xfrm>
            <a:off x="4217988" y="282733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08" name="Rectangle 32"/>
          <p:cNvSpPr>
            <a:spLocks noChangeArrowheads="1"/>
          </p:cNvSpPr>
          <p:nvPr/>
        </p:nvSpPr>
        <p:spPr bwMode="auto">
          <a:xfrm>
            <a:off x="4732338" y="2540000"/>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09" name="Rectangle 33"/>
          <p:cNvSpPr>
            <a:spLocks noChangeArrowheads="1"/>
          </p:cNvSpPr>
          <p:nvPr/>
        </p:nvSpPr>
        <p:spPr bwMode="auto">
          <a:xfrm>
            <a:off x="4675188" y="2713038"/>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0" name="Rectangle 34"/>
          <p:cNvSpPr>
            <a:spLocks noChangeArrowheads="1"/>
          </p:cNvSpPr>
          <p:nvPr/>
        </p:nvSpPr>
        <p:spPr bwMode="auto">
          <a:xfrm>
            <a:off x="5019675" y="282733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1" name="Rectangle 35"/>
          <p:cNvSpPr>
            <a:spLocks noChangeArrowheads="1"/>
          </p:cNvSpPr>
          <p:nvPr/>
        </p:nvSpPr>
        <p:spPr bwMode="auto">
          <a:xfrm>
            <a:off x="5076825" y="2598738"/>
            <a:ext cx="27622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2" name="Rectangle 36"/>
          <p:cNvSpPr>
            <a:spLocks noChangeArrowheads="1"/>
          </p:cNvSpPr>
          <p:nvPr/>
        </p:nvSpPr>
        <p:spPr bwMode="auto">
          <a:xfrm>
            <a:off x="4332288" y="242570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3" name="Rectangle 37"/>
          <p:cNvSpPr>
            <a:spLocks noChangeArrowheads="1"/>
          </p:cNvSpPr>
          <p:nvPr/>
        </p:nvSpPr>
        <p:spPr bwMode="auto">
          <a:xfrm>
            <a:off x="4446588" y="254000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4" name="Rectangle 38"/>
          <p:cNvSpPr>
            <a:spLocks noChangeArrowheads="1"/>
          </p:cNvSpPr>
          <p:nvPr/>
        </p:nvSpPr>
        <p:spPr bwMode="auto">
          <a:xfrm>
            <a:off x="4114800" y="273685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5" name="Rectangle 39"/>
          <p:cNvSpPr>
            <a:spLocks noChangeArrowheads="1"/>
          </p:cNvSpPr>
          <p:nvPr/>
        </p:nvSpPr>
        <p:spPr bwMode="auto">
          <a:xfrm>
            <a:off x="4103688" y="219710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6" name="Rectangle 40"/>
          <p:cNvSpPr>
            <a:spLocks noChangeArrowheads="1"/>
          </p:cNvSpPr>
          <p:nvPr/>
        </p:nvSpPr>
        <p:spPr bwMode="auto">
          <a:xfrm>
            <a:off x="4446588" y="311308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7" name="Rectangle 41"/>
          <p:cNvSpPr>
            <a:spLocks noChangeArrowheads="1"/>
          </p:cNvSpPr>
          <p:nvPr/>
        </p:nvSpPr>
        <p:spPr bwMode="auto">
          <a:xfrm>
            <a:off x="4446588" y="213995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8" name="Rectangle 42"/>
          <p:cNvSpPr>
            <a:spLocks noChangeArrowheads="1"/>
          </p:cNvSpPr>
          <p:nvPr/>
        </p:nvSpPr>
        <p:spPr bwMode="auto">
          <a:xfrm>
            <a:off x="5419725" y="294163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19" name="Rectangle 43"/>
          <p:cNvSpPr>
            <a:spLocks noChangeArrowheads="1"/>
          </p:cNvSpPr>
          <p:nvPr/>
        </p:nvSpPr>
        <p:spPr bwMode="auto">
          <a:xfrm>
            <a:off x="5534025" y="236855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0" name="Rectangle 44"/>
          <p:cNvSpPr>
            <a:spLocks noChangeArrowheads="1"/>
          </p:cNvSpPr>
          <p:nvPr/>
        </p:nvSpPr>
        <p:spPr bwMode="auto">
          <a:xfrm>
            <a:off x="4275138" y="2998788"/>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1" name="Rectangle 45"/>
          <p:cNvSpPr>
            <a:spLocks noChangeArrowheads="1"/>
          </p:cNvSpPr>
          <p:nvPr/>
        </p:nvSpPr>
        <p:spPr bwMode="auto">
          <a:xfrm>
            <a:off x="5362575" y="242570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2" name="Rectangle 46"/>
          <p:cNvSpPr>
            <a:spLocks noChangeArrowheads="1"/>
          </p:cNvSpPr>
          <p:nvPr/>
        </p:nvSpPr>
        <p:spPr bwMode="auto">
          <a:xfrm>
            <a:off x="5476875" y="254000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3" name="Rectangle 47"/>
          <p:cNvSpPr>
            <a:spLocks noChangeArrowheads="1"/>
          </p:cNvSpPr>
          <p:nvPr/>
        </p:nvSpPr>
        <p:spPr bwMode="auto">
          <a:xfrm>
            <a:off x="5591175" y="2655888"/>
            <a:ext cx="276225" cy="29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4" name="Rectangle 48"/>
          <p:cNvSpPr>
            <a:spLocks noChangeArrowheads="1"/>
          </p:cNvSpPr>
          <p:nvPr/>
        </p:nvSpPr>
        <p:spPr bwMode="auto">
          <a:xfrm>
            <a:off x="5076825" y="179705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5" name="Rectangle 49"/>
          <p:cNvSpPr>
            <a:spLocks noChangeArrowheads="1"/>
          </p:cNvSpPr>
          <p:nvPr/>
        </p:nvSpPr>
        <p:spPr bwMode="auto">
          <a:xfrm>
            <a:off x="4960938" y="2197100"/>
            <a:ext cx="277812"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6" name="Rectangle 50"/>
          <p:cNvSpPr>
            <a:spLocks noChangeArrowheads="1"/>
          </p:cNvSpPr>
          <p:nvPr/>
        </p:nvSpPr>
        <p:spPr bwMode="auto">
          <a:xfrm>
            <a:off x="5305425" y="2025650"/>
            <a:ext cx="276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B50069"/>
                </a:solidFill>
                <a:latin typeface="Times New Roman" pitchFamily="18" charset="0"/>
                <a:ea typeface="微软雅黑" pitchFamily="34" charset="-122"/>
              </a:rPr>
              <a:t>D</a:t>
            </a:r>
          </a:p>
        </p:txBody>
      </p:sp>
      <p:sp>
        <p:nvSpPr>
          <p:cNvPr id="178227" name="Rectangle 51"/>
          <p:cNvSpPr>
            <a:spLocks noChangeArrowheads="1"/>
          </p:cNvSpPr>
          <p:nvPr/>
        </p:nvSpPr>
        <p:spPr bwMode="auto">
          <a:xfrm>
            <a:off x="3817938" y="202565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28" name="Rectangle 52"/>
          <p:cNvSpPr>
            <a:spLocks noChangeArrowheads="1"/>
          </p:cNvSpPr>
          <p:nvPr/>
        </p:nvSpPr>
        <p:spPr bwMode="auto">
          <a:xfrm>
            <a:off x="3943350" y="211613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29" name="Rectangle 53"/>
          <p:cNvSpPr>
            <a:spLocks noChangeArrowheads="1"/>
          </p:cNvSpPr>
          <p:nvPr/>
        </p:nvSpPr>
        <p:spPr bwMode="auto">
          <a:xfrm>
            <a:off x="4743450" y="2344738"/>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30" name="Rectangle 54"/>
          <p:cNvSpPr>
            <a:spLocks noChangeArrowheads="1"/>
          </p:cNvSpPr>
          <p:nvPr/>
        </p:nvSpPr>
        <p:spPr bwMode="auto">
          <a:xfrm>
            <a:off x="3989388" y="18542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31" name="Rectangle 55"/>
          <p:cNvSpPr>
            <a:spLocks noChangeArrowheads="1"/>
          </p:cNvSpPr>
          <p:nvPr/>
        </p:nvSpPr>
        <p:spPr bwMode="auto">
          <a:xfrm>
            <a:off x="3475038" y="1968500"/>
            <a:ext cx="24447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solidFill>
                  <a:srgbClr val="3333FF"/>
                </a:solidFill>
                <a:latin typeface="Times New Roman" pitchFamily="18" charset="0"/>
                <a:ea typeface="微软雅黑" pitchFamily="34" charset="-122"/>
              </a:rPr>
              <a:t>S</a:t>
            </a:r>
          </a:p>
        </p:txBody>
      </p:sp>
      <p:sp>
        <p:nvSpPr>
          <p:cNvPr id="178232" name="Rectangle 56"/>
          <p:cNvSpPr>
            <a:spLocks noChangeArrowheads="1"/>
          </p:cNvSpPr>
          <p:nvPr/>
        </p:nvSpPr>
        <p:spPr bwMode="auto">
          <a:xfrm>
            <a:off x="2730500" y="3789363"/>
            <a:ext cx="401478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929" tIns="33368" rIns="67929" bIns="33368">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zh-CN" altLang="en-US" sz="1800" b="1" i="1">
                <a:solidFill>
                  <a:srgbClr val="B50069"/>
                </a:solidFill>
                <a:latin typeface="Times New Roman" pitchFamily="18" charset="0"/>
                <a:ea typeface="微软雅黑" pitchFamily="34" charset="-122"/>
              </a:rPr>
              <a:t>许多动态测试通常会遗留下来的缺陷</a:t>
            </a:r>
          </a:p>
          <a:p>
            <a:pPr>
              <a:spcBef>
                <a:spcPct val="0"/>
              </a:spcBef>
              <a:buFontTx/>
              <a:buNone/>
            </a:pPr>
            <a:r>
              <a:rPr lang="zh-CN" altLang="en-US" sz="1800" b="1" i="1">
                <a:solidFill>
                  <a:srgbClr val="B50069"/>
                </a:solidFill>
                <a:latin typeface="Times New Roman" pitchFamily="18" charset="0"/>
                <a:ea typeface="微软雅黑" pitchFamily="34" charset="-122"/>
              </a:rPr>
              <a:t>可以通过早期的静态测试发现</a:t>
            </a:r>
          </a:p>
        </p:txBody>
      </p:sp>
      <p:sp>
        <p:nvSpPr>
          <p:cNvPr id="822336" name="AutoShape 64"/>
          <p:cNvSpPr>
            <a:spLocks/>
          </p:cNvSpPr>
          <p:nvPr/>
        </p:nvSpPr>
        <p:spPr bwMode="auto">
          <a:xfrm>
            <a:off x="6459538" y="1430338"/>
            <a:ext cx="1030287" cy="628650"/>
          </a:xfrm>
          <a:prstGeom prst="borderCallout2">
            <a:avLst>
              <a:gd name="adj1" fmla="val 13634"/>
              <a:gd name="adj2" fmla="val -5556"/>
              <a:gd name="adj3" fmla="val 13634"/>
              <a:gd name="adj4" fmla="val -37963"/>
              <a:gd name="adj5" fmla="val 157384"/>
              <a:gd name="adj6" fmla="val -72917"/>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defRPr/>
            </a:pPr>
            <a:r>
              <a:rPr lang="zh-CN" altLang="en-US" sz="1351" b="1">
                <a:solidFill>
                  <a:schemeClr val="tx2"/>
                </a:solidFill>
              </a:rPr>
              <a:t>动态测试时发现的缺陷</a:t>
            </a:r>
          </a:p>
        </p:txBody>
      </p:sp>
      <p:sp>
        <p:nvSpPr>
          <p:cNvPr id="822337" name="AutoShape 65"/>
          <p:cNvSpPr>
            <a:spLocks/>
          </p:cNvSpPr>
          <p:nvPr/>
        </p:nvSpPr>
        <p:spPr bwMode="auto">
          <a:xfrm>
            <a:off x="1711325" y="1544638"/>
            <a:ext cx="1030288" cy="571500"/>
          </a:xfrm>
          <a:prstGeom prst="borderCallout2">
            <a:avLst>
              <a:gd name="adj1" fmla="val 15000"/>
              <a:gd name="adj2" fmla="val 105556"/>
              <a:gd name="adj3" fmla="val 15000"/>
              <a:gd name="adj4" fmla="val 142130"/>
              <a:gd name="adj5" fmla="val 142500"/>
              <a:gd name="adj6" fmla="val 180324"/>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zh-CN" altLang="en-US" sz="1351" b="1">
                <a:solidFill>
                  <a:schemeClr val="tx2"/>
                </a:solidFill>
              </a:rPr>
              <a:t>静态测试时发现的缺陷</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按方法（手段）分类</a:t>
            </a:r>
          </a:p>
        </p:txBody>
      </p:sp>
      <p:graphicFrame>
        <p:nvGraphicFramePr>
          <p:cNvPr id="4" name="图示 3"/>
          <p:cNvGraphicFramePr/>
          <p:nvPr>
            <p:extLst>
              <p:ext uri="{D42A27DB-BD31-4B8C-83A1-F6EECF244321}">
                <p14:modId xmlns:p14="http://schemas.microsoft.com/office/powerpoint/2010/main" val="543769781"/>
              </p:ext>
            </p:extLst>
          </p:nvPr>
        </p:nvGraphicFramePr>
        <p:xfrm>
          <a:off x="971600" y="98995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73267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61E067CE-C911-4A3E-A03E-4ADD6BD9BBB4}" type="slidenum">
              <a:rPr lang="en-US" altLang="zh-CN" sz="1800" b="0" smtClean="0">
                <a:latin typeface="Times New Roman" pitchFamily="18" charset="0"/>
                <a:ea typeface="微软雅黑" pitchFamily="34" charset="-122"/>
              </a:rPr>
              <a:pPr algn="l" eaLnBrk="0" hangingPunct="0">
                <a:spcBef>
                  <a:spcPct val="0"/>
                </a:spcBef>
                <a:buFontTx/>
                <a:buNone/>
              </a:pPr>
              <a:t>113</a:t>
            </a:fld>
            <a:endParaRPr lang="en-US" altLang="zh-CN" sz="1800" b="0">
              <a:latin typeface="Times New Roman" pitchFamily="18" charset="0"/>
              <a:ea typeface="微软雅黑" pitchFamily="34" charset="-122"/>
            </a:endParaRPr>
          </a:p>
        </p:txBody>
      </p:sp>
      <p:sp>
        <p:nvSpPr>
          <p:cNvPr id="95235" name="Rectangle 2050" descr="Large confetti"/>
          <p:cNvSpPr>
            <a:spLocks noGrp="1" noChangeArrowheads="1"/>
          </p:cNvSpPr>
          <p:nvPr>
            <p:ph type="title"/>
          </p:nvPr>
        </p:nvSpPr>
        <p:spPr>
          <a:xfrm>
            <a:off x="468313" y="269875"/>
            <a:ext cx="8229600" cy="647700"/>
          </a:xfrm>
        </p:spPr>
        <p:txBody>
          <a:bodyPr/>
          <a:lstStyle/>
          <a:p>
            <a:r>
              <a:rPr lang="zh-CN" altLang="en-US" dirty="0"/>
              <a:t>手工测试</a:t>
            </a:r>
            <a:r>
              <a:rPr lang="en-US" altLang="zh-CN" dirty="0"/>
              <a:t>-</a:t>
            </a:r>
            <a:r>
              <a:rPr lang="zh-CN" altLang="en-US" dirty="0"/>
              <a:t>定义</a:t>
            </a:r>
            <a:endParaRPr lang="zh-CN" altLang="en-US" dirty="0">
              <a:latin typeface="楷体_GB2312"/>
              <a:ea typeface="楷体_GB2312"/>
              <a:cs typeface="楷体_GB2312"/>
            </a:endParaRPr>
          </a:p>
        </p:txBody>
      </p:sp>
      <p:sp>
        <p:nvSpPr>
          <p:cNvPr id="2" name="TextBox 1"/>
          <p:cNvSpPr txBox="1"/>
          <p:nvPr/>
        </p:nvSpPr>
        <p:spPr>
          <a:xfrm>
            <a:off x="467544" y="1277987"/>
            <a:ext cx="7704856" cy="1754326"/>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t>手工测试就是由人去一个一个的输入用例，然后观察结果，和机器测试相对应，属于比较原始但是必须的一个步骤。</a:t>
            </a:r>
            <a:r>
              <a:rPr lang="en-US" altLang="zh-CN" dirty="0"/>
              <a:t>	</a:t>
            </a:r>
          </a:p>
          <a:p>
            <a:endParaRPr lang="en-US" altLang="zh-CN" dirty="0"/>
          </a:p>
          <a:p>
            <a:endParaRPr lang="zh-CN" altLang="en-US" dirty="0"/>
          </a:p>
        </p:txBody>
      </p:sp>
    </p:spTree>
    <p:extLst>
      <p:ext uri="{BB962C8B-B14F-4D97-AF65-F5344CB8AC3E}">
        <p14:creationId xmlns:p14="http://schemas.microsoft.com/office/powerpoint/2010/main" val="32625172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61E067CE-C911-4A3E-A03E-4ADD6BD9BBB4}" type="slidenum">
              <a:rPr lang="en-US" altLang="zh-CN" sz="1800" b="0" smtClean="0">
                <a:latin typeface="Times New Roman" pitchFamily="18" charset="0"/>
                <a:ea typeface="微软雅黑" pitchFamily="34" charset="-122"/>
              </a:rPr>
              <a:pPr algn="l" eaLnBrk="0" hangingPunct="0">
                <a:spcBef>
                  <a:spcPct val="0"/>
                </a:spcBef>
                <a:buFontTx/>
                <a:buNone/>
              </a:pPr>
              <a:t>114</a:t>
            </a:fld>
            <a:endParaRPr lang="en-US" altLang="zh-CN" sz="1800" b="0">
              <a:latin typeface="Times New Roman" pitchFamily="18" charset="0"/>
              <a:ea typeface="微软雅黑" pitchFamily="34" charset="-122"/>
            </a:endParaRPr>
          </a:p>
        </p:txBody>
      </p:sp>
      <p:sp>
        <p:nvSpPr>
          <p:cNvPr id="95235" name="Rectangle 2050" descr="Large confetti"/>
          <p:cNvSpPr>
            <a:spLocks noGrp="1" noChangeArrowheads="1"/>
          </p:cNvSpPr>
          <p:nvPr>
            <p:ph type="title"/>
          </p:nvPr>
        </p:nvSpPr>
        <p:spPr>
          <a:xfrm>
            <a:off x="468313" y="269875"/>
            <a:ext cx="8229600" cy="647700"/>
          </a:xfrm>
        </p:spPr>
        <p:txBody>
          <a:bodyPr/>
          <a:lstStyle/>
          <a:p>
            <a:r>
              <a:rPr lang="zh-CN" altLang="en-US" dirty="0"/>
              <a:t>手工测试</a:t>
            </a:r>
            <a:r>
              <a:rPr lang="en-US" altLang="zh-CN" dirty="0"/>
              <a:t>-</a:t>
            </a:r>
            <a:r>
              <a:rPr lang="zh-CN" altLang="en-US" dirty="0"/>
              <a:t>四种情形</a:t>
            </a:r>
            <a:endParaRPr lang="zh-CN" altLang="en-US" dirty="0">
              <a:latin typeface="楷体_GB2312"/>
              <a:ea typeface="楷体_GB2312"/>
              <a:cs typeface="楷体_GB2312"/>
            </a:endParaRPr>
          </a:p>
        </p:txBody>
      </p:sp>
      <p:sp>
        <p:nvSpPr>
          <p:cNvPr id="2" name="TextBox 1"/>
          <p:cNvSpPr txBox="1"/>
          <p:nvPr/>
        </p:nvSpPr>
        <p:spPr>
          <a:xfrm>
            <a:off x="467544" y="1277987"/>
            <a:ext cx="7704856" cy="3077766"/>
          </a:xfrm>
          <a:prstGeom prst="rect">
            <a:avLst/>
          </a:prstGeom>
          <a:noFill/>
        </p:spPr>
        <p:txBody>
          <a:bodyPr wrap="square" rtlCol="0">
            <a:spAutoFit/>
          </a:bodyPr>
          <a:lstStyle/>
          <a:p>
            <a:pPr marL="285750" indent="-285750">
              <a:buFont typeface="Arial" panose="020B0604020202020204" pitchFamily="34" charset="0"/>
              <a:buChar char="•"/>
            </a:pPr>
            <a:r>
              <a:rPr lang="zh-CN" altLang="en-US" sz="1600" b="1" dirty="0"/>
              <a:t>如果某项测试工作难以采用自动测试完成</a:t>
            </a:r>
            <a:r>
              <a:rPr lang="en-US" altLang="zh-CN" sz="1600" b="1" dirty="0"/>
              <a:t>(</a:t>
            </a:r>
            <a:r>
              <a:rPr lang="zh-CN" altLang="en-US" sz="1600" b="1" dirty="0"/>
              <a:t>甚至根本无法采用自动测试完成</a:t>
            </a:r>
            <a:r>
              <a:rPr lang="en-US" altLang="zh-CN" sz="1600" b="1" dirty="0"/>
              <a:t>)</a:t>
            </a:r>
            <a:r>
              <a:rPr lang="zh-CN" altLang="en-US" sz="1600" dirty="0"/>
              <a:t>，例如：在程序执行的关键时刻，我们需要从物理上断开一个网络连接，其目的在于验证程序处理错误条件的能力，此时我们就可以采用手工测试。</a:t>
            </a:r>
            <a:endParaRPr lang="en-US" altLang="zh-CN" sz="1600" dirty="0"/>
          </a:p>
          <a:p>
            <a:pPr marL="285750" indent="-285750">
              <a:buFont typeface="Arial" panose="020B0604020202020204" pitchFamily="34" charset="0"/>
              <a:buChar char="•"/>
            </a:pPr>
            <a:r>
              <a:rPr lang="zh-CN" altLang="en-US" sz="1600" b="1" dirty="0"/>
              <a:t>对于某些测试，如果我们采用自动测试，可能导致投资回报率</a:t>
            </a:r>
            <a:r>
              <a:rPr lang="en-US" altLang="zh-CN" sz="1600" b="1" dirty="0"/>
              <a:t>(return on investment</a:t>
            </a:r>
            <a:r>
              <a:rPr lang="zh-CN" altLang="en-US" sz="1600" b="1" dirty="0"/>
              <a:t>，</a:t>
            </a:r>
            <a:r>
              <a:rPr lang="en-US" altLang="zh-CN" sz="1600" b="1" dirty="0"/>
              <a:t>ROI)</a:t>
            </a:r>
            <a:r>
              <a:rPr lang="zh-CN" altLang="en-US" sz="1600" b="1" dirty="0"/>
              <a:t>过低。</a:t>
            </a:r>
            <a:r>
              <a:rPr lang="zh-CN" altLang="en-US" sz="1600" dirty="0"/>
              <a:t>例如，如果我们需要验证一个图形用户界面组件确实能够应用于某个软件产品中的某项功能的开发，而这项功能又将被其他功能替换。此时，假设使用手工测试方法只需要花费</a:t>
            </a:r>
            <a:r>
              <a:rPr lang="en-US" altLang="zh-CN" sz="1600" dirty="0"/>
              <a:t>10</a:t>
            </a:r>
            <a:r>
              <a:rPr lang="zh-CN" altLang="en-US" sz="1600" dirty="0"/>
              <a:t>秒时间，但是，如果使用自动测试，却需要花费几个小时甚至几天的时间编写测试，并且还要维护测试，那么在这种情况下，我们显然应该使用手工测试来解决问题。</a:t>
            </a:r>
            <a:endParaRPr lang="en-US" altLang="zh-CN" sz="1600" dirty="0"/>
          </a:p>
          <a:p>
            <a:pPr marL="285750" indent="-285750">
              <a:buFont typeface="Arial" panose="020B0604020202020204" pitchFamily="34" charset="0"/>
              <a:buChar char="•"/>
            </a:pPr>
            <a:r>
              <a:rPr lang="zh-CN" altLang="en-US" sz="1600" b="1" dirty="0"/>
              <a:t>需要使用自动测试，但是时间不允许进行自动测试的场合。</a:t>
            </a:r>
            <a:endParaRPr lang="en-US" altLang="zh-CN" sz="1600" b="1" dirty="0"/>
          </a:p>
          <a:p>
            <a:pPr marL="285750" indent="-285750">
              <a:buFont typeface="Arial" panose="020B0604020202020204" pitchFamily="34" charset="0"/>
              <a:buChar char="•"/>
            </a:pPr>
            <a:r>
              <a:rPr lang="zh-CN" altLang="en-US" sz="1600" b="1" dirty="0"/>
              <a:t>需要使用自动测试，但是开发团队当前技术水平尚不足以支持自动测试的场合。</a:t>
            </a:r>
            <a:endParaRPr lang="en-US" altLang="zh-CN" sz="1600" b="1" dirty="0"/>
          </a:p>
          <a:p>
            <a:endParaRPr lang="zh-CN" altLang="en-US" dirty="0"/>
          </a:p>
        </p:txBody>
      </p:sp>
    </p:spTree>
    <p:extLst>
      <p:ext uri="{BB962C8B-B14F-4D97-AF65-F5344CB8AC3E}">
        <p14:creationId xmlns:p14="http://schemas.microsoft.com/office/powerpoint/2010/main" val="931576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61E067CE-C911-4A3E-A03E-4ADD6BD9BBB4}" type="slidenum">
              <a:rPr lang="en-US" altLang="zh-CN" sz="1800" b="0" smtClean="0">
                <a:latin typeface="Times New Roman" pitchFamily="18" charset="0"/>
                <a:ea typeface="微软雅黑" pitchFamily="34" charset="-122"/>
              </a:rPr>
              <a:pPr algn="l" eaLnBrk="0" hangingPunct="0">
                <a:spcBef>
                  <a:spcPct val="0"/>
                </a:spcBef>
                <a:buFontTx/>
                <a:buNone/>
              </a:pPr>
              <a:t>115</a:t>
            </a:fld>
            <a:endParaRPr lang="en-US" altLang="zh-CN" sz="1800" b="0">
              <a:latin typeface="Times New Roman" pitchFamily="18" charset="0"/>
              <a:ea typeface="微软雅黑" pitchFamily="34" charset="-122"/>
            </a:endParaRPr>
          </a:p>
        </p:txBody>
      </p:sp>
      <p:sp>
        <p:nvSpPr>
          <p:cNvPr id="95235" name="Rectangle 2050" descr="Large confetti"/>
          <p:cNvSpPr>
            <a:spLocks noGrp="1" noChangeArrowheads="1"/>
          </p:cNvSpPr>
          <p:nvPr>
            <p:ph type="title"/>
          </p:nvPr>
        </p:nvSpPr>
        <p:spPr>
          <a:xfrm>
            <a:off x="468313" y="269875"/>
            <a:ext cx="8229600" cy="647700"/>
          </a:xfrm>
        </p:spPr>
        <p:txBody>
          <a:bodyPr/>
          <a:lstStyle/>
          <a:p>
            <a:r>
              <a:rPr lang="zh-CN" altLang="en-US" dirty="0"/>
              <a:t>自动化测试</a:t>
            </a:r>
            <a:r>
              <a:rPr lang="en-US" altLang="zh-CN" dirty="0"/>
              <a:t>-</a:t>
            </a:r>
            <a:r>
              <a:rPr lang="zh-CN" altLang="en-US" dirty="0"/>
              <a:t>定义</a:t>
            </a:r>
            <a:endParaRPr lang="zh-CN" altLang="en-US" dirty="0">
              <a:latin typeface="楷体_GB2312"/>
              <a:ea typeface="楷体_GB2312"/>
              <a:cs typeface="楷体_GB2312"/>
            </a:endParaRPr>
          </a:p>
        </p:txBody>
      </p:sp>
      <p:sp>
        <p:nvSpPr>
          <p:cNvPr id="2" name="TextBox 1"/>
          <p:cNvSpPr txBox="1"/>
          <p:nvPr/>
        </p:nvSpPr>
        <p:spPr>
          <a:xfrm>
            <a:off x="467544" y="1277987"/>
            <a:ext cx="7704856" cy="2954655"/>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t>自动化测试就是通过测试工具或其他手段，按照测试工程师的预定计划对软件产品进行自动的测试。</a:t>
            </a:r>
            <a:endParaRPr lang="en-US" altLang="zh-CN" sz="2400" dirty="0"/>
          </a:p>
          <a:p>
            <a:pPr marL="285750" indent="-285750">
              <a:buFont typeface="Arial" panose="020B0604020202020204" pitchFamily="34" charset="0"/>
              <a:buChar char="•"/>
            </a:pPr>
            <a:r>
              <a:rPr lang="zh-CN" altLang="en-US" sz="2400" dirty="0"/>
              <a:t>它是软件测试的一个重要的组成部分，它能够完成许多手工无法完成或者难以实现的一些测试工作。</a:t>
            </a:r>
            <a:endParaRPr lang="en-US" altLang="zh-CN" sz="2400" dirty="0"/>
          </a:p>
          <a:p>
            <a:pPr marL="285750" indent="-285750">
              <a:buFont typeface="Arial" panose="020B0604020202020204" pitchFamily="34" charset="0"/>
              <a:buChar char="•"/>
            </a:pPr>
            <a:r>
              <a:rPr lang="zh-CN" altLang="en-US" sz="2400" dirty="0"/>
              <a:t>正确、合理地实施自动化测试，能够快速、全面地对软件进行测试，从而提高软件质量，节省经费，缩短产品发布周期。</a:t>
            </a:r>
            <a:endParaRPr lang="en-US" altLang="zh-CN" dirty="0"/>
          </a:p>
          <a:p>
            <a:endParaRPr lang="zh-CN" altLang="en-US" dirty="0"/>
          </a:p>
        </p:txBody>
      </p:sp>
    </p:spTree>
    <p:extLst>
      <p:ext uri="{BB962C8B-B14F-4D97-AF65-F5344CB8AC3E}">
        <p14:creationId xmlns:p14="http://schemas.microsoft.com/office/powerpoint/2010/main" val="39562936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1BA7D26E-66AC-4DAD-A205-437D2AF5825E}" type="slidenum">
              <a:rPr lang="en-US" altLang="zh-CN" sz="1800" b="0" smtClean="0">
                <a:latin typeface="Times New Roman" pitchFamily="18" charset="0"/>
                <a:ea typeface="微软雅黑" pitchFamily="34" charset="-122"/>
              </a:rPr>
              <a:pPr algn="l" eaLnBrk="0" hangingPunct="0">
                <a:spcBef>
                  <a:spcPct val="0"/>
                </a:spcBef>
                <a:buFontTx/>
                <a:buNone/>
              </a:pPr>
              <a:t>116</a:t>
            </a:fld>
            <a:endParaRPr lang="en-US" altLang="zh-CN" sz="1800" b="0">
              <a:latin typeface="Times New Roman" pitchFamily="18" charset="0"/>
              <a:ea typeface="微软雅黑" pitchFamily="34" charset="-122"/>
            </a:endParaRPr>
          </a:p>
        </p:txBody>
      </p:sp>
      <p:sp>
        <p:nvSpPr>
          <p:cNvPr id="747522" name="Rectangle 2" descr="Large confetti"/>
          <p:cNvSpPr>
            <a:spLocks noGrp="1" noChangeArrowheads="1"/>
          </p:cNvSpPr>
          <p:nvPr>
            <p:ph type="title"/>
          </p:nvPr>
        </p:nvSpPr>
        <p:spPr>
          <a:xfrm>
            <a:off x="468313" y="269875"/>
            <a:ext cx="8229600" cy="647700"/>
          </a:xfrm>
        </p:spPr>
        <p:txBody>
          <a:bodyPr/>
          <a:lstStyle/>
          <a:p>
            <a:pPr>
              <a:defRPr/>
            </a:pPr>
            <a:r>
              <a:rPr lang="zh-CN" altLang="en-US" sz="3603" dirty="0"/>
              <a:t>软件测试方法</a:t>
            </a:r>
            <a:r>
              <a:rPr lang="zh-CN" altLang="en-US" sz="3603" dirty="0">
                <a:latin typeface="宋体" panose="02010600030101010101" pitchFamily="2" charset="-122"/>
              </a:rPr>
              <a:t>－总结与讨论</a:t>
            </a:r>
            <a:endParaRPr lang="zh-CN" altLang="en-US" dirty="0">
              <a:latin typeface="楷体_GB2312"/>
              <a:ea typeface="楷体_GB2312"/>
              <a:cs typeface="楷体_GB2312"/>
            </a:endParaRPr>
          </a:p>
        </p:txBody>
      </p:sp>
      <p:pic>
        <p:nvPicPr>
          <p:cNvPr id="180228" name="Picture 4" descr="Cdi51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3063" y="1716088"/>
            <a:ext cx="3489325" cy="217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Slide Number Placeholder 3"/>
          <p:cNvSpPr txBox="1">
            <a:spLocks noGrp="1" noChangeArrowheads="1"/>
          </p:cNvSpPr>
          <p:nvPr/>
        </p:nvSpPr>
        <p:spPr bwMode="auto">
          <a:xfrm>
            <a:off x="8027988" y="5051425"/>
            <a:ext cx="946150" cy="9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r" eaLnBrk="1" hangingPunct="1">
              <a:spcBef>
                <a:spcPct val="0"/>
              </a:spcBef>
              <a:buFont typeface="Arial" pitchFamily="34" charset="0"/>
              <a:buNone/>
            </a:pPr>
            <a:fld id="{CD816330-585A-4DBD-BCA9-E4ACAB4A35AD}" type="slidenum">
              <a:rPr lang="zh-CN" altLang="zh-CN" sz="600" b="1">
                <a:solidFill>
                  <a:schemeClr val="bg1"/>
                </a:solidFill>
                <a:latin typeface="微软雅黑" pitchFamily="34" charset="-122"/>
                <a:ea typeface="微软雅黑" pitchFamily="34" charset="-122"/>
              </a:rPr>
              <a:pPr algn="r" eaLnBrk="1" hangingPunct="1">
                <a:spcBef>
                  <a:spcPct val="0"/>
                </a:spcBef>
                <a:buFont typeface="Arial" pitchFamily="34" charset="0"/>
                <a:buNone/>
              </a:pPr>
              <a:t>117</a:t>
            </a:fld>
            <a:endParaRPr lang="zh-CN" altLang="zh-CN" sz="600" b="1">
              <a:solidFill>
                <a:schemeClr val="bg1"/>
              </a:solidFill>
              <a:latin typeface="微软雅黑" pitchFamily="34" charset="-122"/>
              <a:ea typeface="微软雅黑" pitchFamily="34" charset="-122"/>
            </a:endParaRPr>
          </a:p>
        </p:txBody>
      </p:sp>
      <p:sp>
        <p:nvSpPr>
          <p:cNvPr id="408579" name="TextBox 7"/>
          <p:cNvSpPr txBox="1">
            <a:spLocks noChangeArrowheads="1"/>
          </p:cNvSpPr>
          <p:nvPr/>
        </p:nvSpPr>
        <p:spPr bwMode="auto">
          <a:xfrm>
            <a:off x="1979613" y="760413"/>
            <a:ext cx="3671887"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lnSpc>
                <a:spcPct val="120000"/>
              </a:lnSpc>
              <a:spcBef>
                <a:spcPct val="0"/>
              </a:spcBef>
              <a:buFont typeface="Arial" pitchFamily="34" charset="0"/>
              <a:buNone/>
            </a:pPr>
            <a:r>
              <a:rPr lang="zh-CN" altLang="zh-CN" sz="7200">
                <a:solidFill>
                  <a:srgbClr val="002060"/>
                </a:solidFill>
                <a:latin typeface="微软雅黑" pitchFamily="34" charset="-122"/>
                <a:ea typeface="微软雅黑" pitchFamily="34" charset="-122"/>
              </a:rPr>
              <a:t>谢  谢！</a:t>
            </a:r>
          </a:p>
        </p:txBody>
      </p:sp>
      <p:sp>
        <p:nvSpPr>
          <p:cNvPr id="408580" name="Rectangle 3"/>
          <p:cNvSpPr>
            <a:spLocks noChangeArrowheads="1"/>
          </p:cNvSpPr>
          <p:nvPr/>
        </p:nvSpPr>
        <p:spPr bwMode="auto">
          <a:xfrm>
            <a:off x="7308850" y="0"/>
            <a:ext cx="1800225" cy="28733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grpSp>
        <p:nvGrpSpPr>
          <p:cNvPr id="408581" name="Group 4"/>
          <p:cNvGrpSpPr>
            <a:grpSpLocks/>
          </p:cNvGrpSpPr>
          <p:nvPr/>
        </p:nvGrpSpPr>
        <p:grpSpPr bwMode="auto">
          <a:xfrm>
            <a:off x="3175" y="-12700"/>
            <a:ext cx="9153525" cy="5165725"/>
            <a:chOff x="0" y="0"/>
            <a:chExt cx="14414" cy="8135"/>
          </a:xfrm>
        </p:grpSpPr>
        <p:sp>
          <p:nvSpPr>
            <p:cNvPr id="408583" name="AutoShape 5"/>
            <p:cNvSpPr>
              <a:spLocks noChangeArrowheads="1"/>
            </p:cNvSpPr>
            <p:nvPr/>
          </p:nvSpPr>
          <p:spPr bwMode="auto">
            <a:xfrm flipV="1">
              <a:off x="18" y="40"/>
              <a:ext cx="13642" cy="1653"/>
            </a:xfrm>
            <a:prstGeom prst="rtTriangle">
              <a:avLst/>
            </a:prstGeom>
            <a:solidFill>
              <a:srgbClr val="FF33CC"/>
            </a:solidFill>
            <a:ln w="38100">
              <a:solidFill>
                <a:srgbClr val="FF33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sp>
          <p:nvSpPr>
            <p:cNvPr id="408584" name="AutoShape 6"/>
            <p:cNvSpPr>
              <a:spLocks noChangeArrowheads="1"/>
            </p:cNvSpPr>
            <p:nvPr/>
          </p:nvSpPr>
          <p:spPr bwMode="auto">
            <a:xfrm rot="-5400000">
              <a:off x="7566" y="1291"/>
              <a:ext cx="7885" cy="5723"/>
            </a:xfrm>
            <a:prstGeom prst="rtTriangle">
              <a:avLst/>
            </a:prstGeom>
            <a:solidFill>
              <a:srgbClr val="0070C0"/>
            </a:solidFill>
            <a:ln w="381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sp>
          <p:nvSpPr>
            <p:cNvPr id="408585" name="AutoShape 7"/>
            <p:cNvSpPr>
              <a:spLocks noChangeArrowheads="1"/>
            </p:cNvSpPr>
            <p:nvPr/>
          </p:nvSpPr>
          <p:spPr bwMode="auto">
            <a:xfrm>
              <a:off x="0" y="5465"/>
              <a:ext cx="14140" cy="2670"/>
            </a:xfrm>
            <a:prstGeom prst="rtTriangle">
              <a:avLst/>
            </a:prstGeom>
            <a:solidFill>
              <a:schemeClr val="tx1">
                <a:alpha val="79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sp>
          <p:nvSpPr>
            <p:cNvPr id="408586" name="AutoShape 8"/>
            <p:cNvSpPr>
              <a:spLocks noChangeArrowheads="1"/>
            </p:cNvSpPr>
            <p:nvPr/>
          </p:nvSpPr>
          <p:spPr bwMode="auto">
            <a:xfrm rot="16200000" flipH="1">
              <a:off x="10461" y="1469"/>
              <a:ext cx="5415" cy="2477"/>
            </a:xfrm>
            <a:prstGeom prst="rtTriangle">
              <a:avLst/>
            </a:prstGeom>
            <a:solidFill>
              <a:srgbClr val="33CC33">
                <a:alpha val="7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grpSp>
      <p:sp>
        <p:nvSpPr>
          <p:cNvPr id="408582" name="TextBox 4"/>
          <p:cNvSpPr>
            <a:spLocks noChangeArrowheads="1"/>
          </p:cNvSpPr>
          <p:nvPr/>
        </p:nvSpPr>
        <p:spPr bwMode="auto">
          <a:xfrm>
            <a:off x="3924300" y="2646363"/>
            <a:ext cx="3311996"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 typeface="Arial" pitchFamily="34" charset="0"/>
              <a:buNone/>
            </a:pPr>
            <a:r>
              <a:rPr lang="zh-CN" altLang="en-US" sz="1200" b="1" dirty="0">
                <a:solidFill>
                  <a:srgbClr val="000000"/>
                </a:solidFill>
                <a:latin typeface="微软雅黑" pitchFamily="34" charset="-122"/>
                <a:ea typeface="微软雅黑" pitchFamily="34" charset="-122"/>
                <a:sym typeface="微软雅黑" pitchFamily="34" charset="-122"/>
              </a:rPr>
              <a:t>华南理工大学 计算机科学与工程学院</a:t>
            </a:r>
          </a:p>
          <a:p>
            <a:pPr>
              <a:spcBef>
                <a:spcPct val="0"/>
              </a:spcBef>
              <a:buFont typeface="Arial" pitchFamily="34" charset="0"/>
              <a:buNone/>
            </a:pPr>
            <a:endParaRPr lang="zh-CN" altLang="en-US" sz="1200" b="1" dirty="0">
              <a:solidFill>
                <a:srgbClr val="000000"/>
              </a:solidFill>
              <a:latin typeface="微软雅黑" pitchFamily="34" charset="-122"/>
              <a:ea typeface="微软雅黑" pitchFamily="34" charset="-122"/>
              <a:sym typeface="微软雅黑" pitchFamily="34" charset="-122"/>
            </a:endParaRPr>
          </a:p>
          <a:p>
            <a:pPr>
              <a:spcBef>
                <a:spcPct val="0"/>
              </a:spcBef>
              <a:buFont typeface="Arial" pitchFamily="34" charset="0"/>
              <a:buNone/>
            </a:pPr>
            <a:r>
              <a:rPr lang="zh-CN" altLang="en-US" sz="1200" dirty="0">
                <a:solidFill>
                  <a:srgbClr val="777777"/>
                </a:solidFill>
                <a:latin typeface="微软雅黑" pitchFamily="34" charset="-122"/>
                <a:ea typeface="微软雅黑" pitchFamily="34" charset="-122"/>
                <a:sym typeface="微软雅黑" pitchFamily="34" charset="-122"/>
              </a:rPr>
              <a:t>广州市番禺区大学城华南理工大学</a:t>
            </a:r>
          </a:p>
          <a:p>
            <a:pPr>
              <a:spcBef>
                <a:spcPct val="0"/>
              </a:spcBef>
              <a:buFont typeface="Arial" pitchFamily="34" charset="0"/>
              <a:buNone/>
            </a:pPr>
            <a:r>
              <a:rPr lang="zh-CN" altLang="en-US" sz="1200" dirty="0">
                <a:solidFill>
                  <a:srgbClr val="777777"/>
                </a:solidFill>
                <a:latin typeface="微软雅黑" pitchFamily="34" charset="-122"/>
                <a:ea typeface="微软雅黑" pitchFamily="34" charset="-122"/>
                <a:sym typeface="微软雅黑" pitchFamily="34" charset="-122"/>
              </a:rPr>
              <a:t>邮编：510006</a:t>
            </a:r>
          </a:p>
          <a:p>
            <a:pPr>
              <a:spcBef>
                <a:spcPct val="0"/>
              </a:spcBef>
              <a:buFont typeface="Arial" pitchFamily="34" charset="0"/>
              <a:buNone/>
            </a:pPr>
            <a:r>
              <a:rPr lang="zh-CN" altLang="en-US" sz="1200" dirty="0">
                <a:solidFill>
                  <a:srgbClr val="777777"/>
                </a:solidFill>
                <a:latin typeface="微软雅黑" pitchFamily="34" charset="-122"/>
                <a:ea typeface="微软雅黑" pitchFamily="34" charset="-122"/>
                <a:sym typeface="微软雅黑" pitchFamily="34" charset="-122"/>
              </a:rPr>
              <a:t>电子邮件：</a:t>
            </a:r>
            <a:r>
              <a:rPr lang="en-US" altLang="zh-CN" sz="1200" dirty="0" err="1">
                <a:solidFill>
                  <a:srgbClr val="777777"/>
                </a:solidFill>
                <a:latin typeface="微软雅黑" pitchFamily="34" charset="-122"/>
                <a:ea typeface="微软雅黑" pitchFamily="34" charset="-122"/>
                <a:sym typeface="微软雅黑" pitchFamily="34" charset="-122"/>
              </a:rPr>
              <a:t>nieyongwei</a:t>
            </a:r>
            <a:r>
              <a:rPr lang="zh-CN" altLang="en-US" sz="1200" dirty="0">
                <a:solidFill>
                  <a:srgbClr val="777777"/>
                </a:solidFill>
                <a:latin typeface="微软雅黑" pitchFamily="34" charset="-122"/>
                <a:ea typeface="微软雅黑" pitchFamily="34" charset="-122"/>
                <a:sym typeface="微软雅黑" pitchFamily="34" charset="-122"/>
              </a:rPr>
              <a:t>@scut.edu.cn</a:t>
            </a:r>
          </a:p>
        </p:txBody>
      </p:sp>
    </p:spTree>
  </p:cSld>
  <p:clrMapOvr>
    <a:masterClrMapping/>
  </p:clrMapOvr>
</p:sld>
</file>

<file path=ppt/theme/theme1.xml><?xml version="1.0" encoding="utf-8"?>
<a:theme xmlns:a="http://schemas.openxmlformats.org/drawingml/2006/main" name="Office 主题">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defRPr>
        </a:defPPr>
      </a:lstStyle>
      <a:style>
        <a:lnRef idx="0">
          <a:schemeClr val="dk1"/>
        </a:lnRef>
        <a:fillRef idx="3">
          <a:schemeClr val="dk1"/>
        </a:fillRef>
        <a:effectRef idx="3">
          <a:schemeClr val="dk1"/>
        </a:effectRef>
        <a:fontRef idx="minor">
          <a:schemeClr val="lt1"/>
        </a:fontRef>
      </a:style>
    </a:spDef>
    <a:lnDef>
      <a:spPr bwMode="auto">
        <a:xfrm>
          <a:off x="0" y="0"/>
          <a:ext cx="1" cy="1"/>
        </a:xfrm>
        <a:custGeom>
          <a:avLst/>
          <a:gdLst/>
          <a:ahLst/>
          <a:cxnLst/>
          <a:rect l="0" t="0" r="0" b="0"/>
          <a:pathLst/>
        </a:custGeom>
        <a:noFill/>
        <a:ln>
          <a:noFill/>
        </a:ln>
        <a:effectLst>
          <a:outerShdw dist="17961" dir="2700000" algn="ctr" rotWithShape="0">
            <a:schemeClr val="accent1">
              <a:gamma/>
              <a:shade val="60000"/>
              <a:invGamma/>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defRPr>
        </a:defPPr>
      </a:lstStyle>
    </a:lnDef>
  </a:objectDefaults>
  <a:extraClrSchemeLst>
    <a:extraClrScheme>
      <a:clrScheme name="Office 主题 1">
        <a:dk1>
          <a:srgbClr val="000000"/>
        </a:dk1>
        <a:lt1>
          <a:srgbClr val="FFFFFF"/>
        </a:lt1>
        <a:dk2>
          <a:srgbClr val="3E3D2D"/>
        </a:dk2>
        <a:lt2>
          <a:srgbClr val="CAF278"/>
        </a:lt2>
        <a:accent1>
          <a:srgbClr val="94C600"/>
        </a:accent1>
        <a:accent2>
          <a:srgbClr val="71685A"/>
        </a:accent2>
        <a:accent3>
          <a:srgbClr val="FFFFFF"/>
        </a:accent3>
        <a:accent4>
          <a:srgbClr val="000000"/>
        </a:accent4>
        <a:accent5>
          <a:srgbClr val="C8DFAA"/>
        </a:accent5>
        <a:accent6>
          <a:srgbClr val="665E51"/>
        </a:accent6>
        <a:hlink>
          <a:srgbClr val="E68200"/>
        </a:hlink>
        <a:folHlink>
          <a:srgbClr val="FFA94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2220</TotalTime>
  <Pages>0</Pages>
  <Words>9430</Words>
  <Characters>0</Characters>
  <Application>Microsoft Office PowerPoint</Application>
  <DocSecurity>0</DocSecurity>
  <PresentationFormat>自定义</PresentationFormat>
  <Lines>0</Lines>
  <Paragraphs>1128</Paragraphs>
  <Slides>117</Slides>
  <Notes>36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117</vt:i4>
      </vt:variant>
    </vt:vector>
  </HeadingPairs>
  <TitlesOfParts>
    <vt:vector size="133" baseType="lpstr">
      <vt:lpstr>仿宋_GB2312</vt:lpstr>
      <vt:lpstr>黑体</vt:lpstr>
      <vt:lpstr>楷体_GB2312</vt:lpstr>
      <vt:lpstr>宋体</vt:lpstr>
      <vt:lpstr>微软雅黑</vt:lpstr>
      <vt:lpstr>Arial</vt:lpstr>
      <vt:lpstr>Arial Black</vt:lpstr>
      <vt:lpstr>Calibri</vt:lpstr>
      <vt:lpstr>Comic Sans MS</vt:lpstr>
      <vt:lpstr>Courier New</vt:lpstr>
      <vt:lpstr>Helvetica</vt:lpstr>
      <vt:lpstr>Impact</vt:lpstr>
      <vt:lpstr>Tahoma</vt:lpstr>
      <vt:lpstr>Times New Roman</vt:lpstr>
      <vt:lpstr>Wingdings</vt:lpstr>
      <vt:lpstr>Office 主题</vt:lpstr>
      <vt:lpstr>PowerPoint 演示文稿</vt:lpstr>
      <vt:lpstr>课程回顾</vt:lpstr>
      <vt:lpstr>按方法（手段）分类</vt:lpstr>
      <vt:lpstr>按方法（手段）分类</vt:lpstr>
      <vt:lpstr>黑盒测试</vt:lpstr>
      <vt:lpstr>黑盒测试</vt:lpstr>
      <vt:lpstr>输入/状态空间</vt:lpstr>
      <vt:lpstr>黑盒测试不彻底性</vt:lpstr>
      <vt:lpstr>黑盒测试常用方法</vt:lpstr>
      <vt:lpstr>黑盒测试常用方法</vt:lpstr>
      <vt:lpstr>等价类划分法-定义</vt:lpstr>
      <vt:lpstr>等价类划分法-定义</vt:lpstr>
      <vt:lpstr>等价类划分法-标准</vt:lpstr>
      <vt:lpstr>等价类划分法-方法</vt:lpstr>
      <vt:lpstr>等价类划分法-设计测试用例</vt:lpstr>
      <vt:lpstr>等价类划分法-实例分析</vt:lpstr>
      <vt:lpstr>等价类划分法-实例分析</vt:lpstr>
      <vt:lpstr>等价类划分法-实例分析</vt:lpstr>
      <vt:lpstr>黑盒测试常用方法</vt:lpstr>
      <vt:lpstr>边界值分析法-定义</vt:lpstr>
      <vt:lpstr>边界值分析法-方法</vt:lpstr>
      <vt:lpstr>边界值分析法-假设</vt:lpstr>
      <vt:lpstr>边界值分析法-分类</vt:lpstr>
      <vt:lpstr>边界值分析法-一般边界值</vt:lpstr>
      <vt:lpstr>边界值分析法-一般边界值</vt:lpstr>
      <vt:lpstr>边界值分析法-健壮边界值</vt:lpstr>
      <vt:lpstr>边界值分析法-一般最坏情况边界值</vt:lpstr>
      <vt:lpstr>边界值分析法-健壮最坏情况边界值</vt:lpstr>
      <vt:lpstr>边界值分析法-实例分析</vt:lpstr>
      <vt:lpstr>黑盒测试常用方法</vt:lpstr>
      <vt:lpstr>判定表驱动分析方法-定义</vt:lpstr>
      <vt:lpstr>判定表驱动分析方法-例子</vt:lpstr>
      <vt:lpstr>判定表驱动分析方法-例子</vt:lpstr>
      <vt:lpstr>判定表驱动分析方法-建立步骤</vt:lpstr>
      <vt:lpstr>判定表驱动分析方法-实例</vt:lpstr>
      <vt:lpstr>判定表驱动分析方法-实例</vt:lpstr>
      <vt:lpstr>判定表驱动分析方法-实例</vt:lpstr>
      <vt:lpstr>黑盒测试常用方法</vt:lpstr>
      <vt:lpstr>因果图法-定义</vt:lpstr>
      <vt:lpstr>因果图法-关系</vt:lpstr>
      <vt:lpstr>因果图法-关系</vt:lpstr>
      <vt:lpstr>因果图法-约束</vt:lpstr>
      <vt:lpstr>因果图法-约束</vt:lpstr>
      <vt:lpstr>因果图法步骤 </vt:lpstr>
      <vt:lpstr>因果图法-实例 </vt:lpstr>
      <vt:lpstr>因果分析</vt:lpstr>
      <vt:lpstr>因果分析</vt:lpstr>
      <vt:lpstr>由因果图建立的判定表</vt:lpstr>
      <vt:lpstr>从判定表中得到测试用例</vt:lpstr>
      <vt:lpstr>黑盒测试-总结与讨论</vt:lpstr>
      <vt:lpstr>白盒测试</vt:lpstr>
      <vt:lpstr>白盒测试</vt:lpstr>
      <vt:lpstr>白盒测试－逻辑路径的数量</vt:lpstr>
      <vt:lpstr>白盒测试－基本覆盖</vt:lpstr>
      <vt:lpstr>白盒测试－控制流图</vt:lpstr>
      <vt:lpstr>白盒测试－程序实例</vt:lpstr>
      <vt:lpstr>白盒测试－控制流图例</vt:lpstr>
      <vt:lpstr>白盒测试－语句覆盖</vt:lpstr>
      <vt:lpstr>白盒测试－程序实例</vt:lpstr>
      <vt:lpstr>白盒测试－语句覆盖实例</vt:lpstr>
      <vt:lpstr>白盒测试－分支覆盖</vt:lpstr>
      <vt:lpstr>白盒测试－程序实例</vt:lpstr>
      <vt:lpstr>白盒测试－分支覆盖实例</vt:lpstr>
      <vt:lpstr>白盒测试－条件覆盖</vt:lpstr>
      <vt:lpstr>白盒测试－条件覆盖实例</vt:lpstr>
      <vt:lpstr>白盒测试－条件组合覆盖</vt:lpstr>
      <vt:lpstr>白盒测试－条件组合覆盖实例</vt:lpstr>
      <vt:lpstr>白盒测试－基本路径覆盖</vt:lpstr>
      <vt:lpstr>白盒测试－基本路径覆盖实例</vt:lpstr>
      <vt:lpstr>白盒测试－循环覆盖</vt:lpstr>
      <vt:lpstr>白盒测试－简单循环的测试</vt:lpstr>
      <vt:lpstr>白盒测试－嵌套循环的测试</vt:lpstr>
      <vt:lpstr>白盒测试－顺序循环的测试</vt:lpstr>
      <vt:lpstr>白盒测试－数据流覆盖（了解）</vt:lpstr>
      <vt:lpstr>白盒测试－变元覆盖（了解）</vt:lpstr>
      <vt:lpstr>白盒测试－变元覆盖实例</vt:lpstr>
      <vt:lpstr>白盒测试－变元覆盖实例</vt:lpstr>
      <vt:lpstr>白盒测试－覆盖分析器</vt:lpstr>
      <vt:lpstr>白盒测试－覆盖率的作用</vt:lpstr>
      <vt:lpstr>白盒测试－覆盖率与缺陷查找</vt:lpstr>
      <vt:lpstr>白盒测试－总结与讨论</vt:lpstr>
      <vt:lpstr>比较黑盒测试与白盒测试</vt:lpstr>
      <vt:lpstr>比较黑盒测试与白盒测试</vt:lpstr>
      <vt:lpstr>平衡黑盒与白盒测试</vt:lpstr>
      <vt:lpstr>按方法（手段）分类</vt:lpstr>
      <vt:lpstr>静态测试－定义</vt:lpstr>
      <vt:lpstr>静态测试－特征</vt:lpstr>
      <vt:lpstr>静态测试－内容</vt:lpstr>
      <vt:lpstr>静态测试－方法</vt:lpstr>
      <vt:lpstr>静态测试－方法-评审</vt:lpstr>
      <vt:lpstr>静态测试－方法-评审</vt:lpstr>
      <vt:lpstr>静态测试－方法-评审</vt:lpstr>
      <vt:lpstr>静态测试－方法-评审</vt:lpstr>
      <vt:lpstr>静态测试－方法-正式评审</vt:lpstr>
      <vt:lpstr>静态测试－方法-正式评审</vt:lpstr>
      <vt:lpstr>静态测试－方法-正式评审</vt:lpstr>
      <vt:lpstr>静态测试－方法-正式评审</vt:lpstr>
      <vt:lpstr>静态测试－方法-正式评审</vt:lpstr>
      <vt:lpstr>静态测试－方法-评审</vt:lpstr>
      <vt:lpstr>静态测试-代码检查</vt:lpstr>
      <vt:lpstr>静态测试-代码检查</vt:lpstr>
      <vt:lpstr>静态测试-代码检查</vt:lpstr>
      <vt:lpstr>静态测试-代码检查</vt:lpstr>
      <vt:lpstr>静态测试-代码检查</vt:lpstr>
      <vt:lpstr>静态测试-代码检查-实例</vt:lpstr>
      <vt:lpstr>静态测试-代码检查-实例</vt:lpstr>
      <vt:lpstr>静态测试-总结与讨论</vt:lpstr>
      <vt:lpstr>动态测试－定义</vt:lpstr>
      <vt:lpstr>动态、静态、黑盒、白盒的关系</vt:lpstr>
      <vt:lpstr>动态测试和静态测试区别</vt:lpstr>
      <vt:lpstr>动态测试－平衡动态与静态测试</vt:lpstr>
      <vt:lpstr>按方法（手段）分类</vt:lpstr>
      <vt:lpstr>手工测试-定义</vt:lpstr>
      <vt:lpstr>手工测试-四种情形</vt:lpstr>
      <vt:lpstr>自动化测试-定义</vt:lpstr>
      <vt:lpstr>软件测试方法－总结与讨论</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 eelu</dc:creator>
  <cp:lastModifiedBy>nieyongwei@gmail.com</cp:lastModifiedBy>
  <cp:revision>205</cp:revision>
  <dcterms:created xsi:type="dcterms:W3CDTF">2015-04-05T11:50:22Z</dcterms:created>
  <dcterms:modified xsi:type="dcterms:W3CDTF">2024-05-31T07:35:34Z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2052-9.1.0.5184</vt:lpwstr>
  </property>
</Properties>
</file>