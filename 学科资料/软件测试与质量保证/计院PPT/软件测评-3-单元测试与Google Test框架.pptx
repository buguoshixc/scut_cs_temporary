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06" r:id="rId2"/>
    <p:sldId id="854" r:id="rId3"/>
    <p:sldId id="459" r:id="rId4"/>
    <p:sldId id="498" r:id="rId5"/>
    <p:sldId id="696" r:id="rId6"/>
    <p:sldId id="499" r:id="rId7"/>
    <p:sldId id="697" r:id="rId8"/>
    <p:sldId id="700" r:id="rId9"/>
    <p:sldId id="701" r:id="rId10"/>
    <p:sldId id="702" r:id="rId11"/>
    <p:sldId id="703" r:id="rId12"/>
    <p:sldId id="704" r:id="rId13"/>
    <p:sldId id="705" r:id="rId14"/>
    <p:sldId id="706" r:id="rId15"/>
    <p:sldId id="707" r:id="rId16"/>
    <p:sldId id="708" r:id="rId17"/>
    <p:sldId id="709" r:id="rId18"/>
    <p:sldId id="710" r:id="rId19"/>
    <p:sldId id="711" r:id="rId20"/>
    <p:sldId id="712" r:id="rId21"/>
    <p:sldId id="713" r:id="rId22"/>
    <p:sldId id="714" r:id="rId23"/>
    <p:sldId id="715" r:id="rId24"/>
    <p:sldId id="716" r:id="rId25"/>
    <p:sldId id="717" r:id="rId26"/>
    <p:sldId id="718" r:id="rId27"/>
    <p:sldId id="719" r:id="rId28"/>
    <p:sldId id="729" r:id="rId29"/>
    <p:sldId id="720" r:id="rId30"/>
    <p:sldId id="722" r:id="rId31"/>
    <p:sldId id="723" r:id="rId32"/>
    <p:sldId id="858" r:id="rId33"/>
    <p:sldId id="859" r:id="rId34"/>
    <p:sldId id="724" r:id="rId35"/>
    <p:sldId id="726" r:id="rId36"/>
    <p:sldId id="860" r:id="rId37"/>
    <p:sldId id="861" r:id="rId38"/>
    <p:sldId id="862" r:id="rId39"/>
    <p:sldId id="872" r:id="rId40"/>
    <p:sldId id="773" r:id="rId41"/>
    <p:sldId id="856" r:id="rId42"/>
    <p:sldId id="855" r:id="rId43"/>
    <p:sldId id="857" r:id="rId44"/>
    <p:sldId id="863" r:id="rId45"/>
    <p:sldId id="864" r:id="rId46"/>
    <p:sldId id="865" r:id="rId47"/>
    <p:sldId id="866" r:id="rId48"/>
    <p:sldId id="867" r:id="rId49"/>
    <p:sldId id="869" r:id="rId50"/>
    <p:sldId id="868" r:id="rId51"/>
    <p:sldId id="871" r:id="rId52"/>
    <p:sldId id="873" r:id="rId53"/>
    <p:sldId id="874" r:id="rId54"/>
    <p:sldId id="894" r:id="rId55"/>
    <p:sldId id="882" r:id="rId56"/>
    <p:sldId id="875" r:id="rId57"/>
    <p:sldId id="884" r:id="rId58"/>
    <p:sldId id="879" r:id="rId59"/>
    <p:sldId id="883" r:id="rId60"/>
    <p:sldId id="885" r:id="rId61"/>
    <p:sldId id="886" r:id="rId62"/>
    <p:sldId id="887" r:id="rId63"/>
    <p:sldId id="888" r:id="rId64"/>
    <p:sldId id="889" r:id="rId65"/>
    <p:sldId id="890" r:id="rId66"/>
    <p:sldId id="891" r:id="rId67"/>
    <p:sldId id="893" r:id="rId68"/>
    <p:sldId id="892" r:id="rId69"/>
    <p:sldId id="896" r:id="rId70"/>
    <p:sldId id="898" r:id="rId71"/>
    <p:sldId id="899" r:id="rId72"/>
    <p:sldId id="900" r:id="rId73"/>
    <p:sldId id="901" r:id="rId74"/>
    <p:sldId id="902" r:id="rId75"/>
    <p:sldId id="903" r:id="rId76"/>
    <p:sldId id="904" r:id="rId77"/>
    <p:sldId id="905" r:id="rId78"/>
    <p:sldId id="906" r:id="rId79"/>
    <p:sldId id="907" r:id="rId80"/>
    <p:sldId id="908" r:id="rId81"/>
    <p:sldId id="909" r:id="rId82"/>
    <p:sldId id="910" r:id="rId83"/>
    <p:sldId id="897" r:id="rId84"/>
    <p:sldId id="312" r:id="rId85"/>
  </p:sldIdLst>
  <p:sldSz cx="9144000" cy="514826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微软雅黑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0">
          <p15:clr>
            <a:srgbClr val="A4A3A4"/>
          </p15:clr>
        </p15:guide>
        <p15:guide id="2" pos="292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0A13C0"/>
    <a:srgbClr val="FFFF00"/>
    <a:srgbClr val="A41C73"/>
    <a:srgbClr val="33CCFF"/>
    <a:srgbClr val="FFCC99"/>
    <a:srgbClr val="FFCC66"/>
    <a:srgbClr val="0C1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4240" autoAdjust="0"/>
  </p:normalViewPr>
  <p:slideViewPr>
    <p:cSldViewPr>
      <p:cViewPr varScale="1">
        <p:scale>
          <a:sx n="105" d="100"/>
          <a:sy n="105" d="100"/>
        </p:scale>
        <p:origin x="384" y="45"/>
      </p:cViewPr>
      <p:guideLst>
        <p:guide orient="horz" pos="1670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3247E435-CBE6-4D6A-AECB-C4DBE6D7193E}" type="datetimeFigureOut">
              <a:rPr lang="zh-CN" altLang="en-US"/>
              <a:pPr>
                <a:defRPr/>
              </a:pPr>
              <a:t>2020/3/25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smtClean="0"/>
            </a:lvl1pPr>
          </a:lstStyle>
          <a:p>
            <a:pPr>
              <a:defRPr/>
            </a:pPr>
            <a:fld id="{0DB5C625-03EE-400B-827B-2D08C0C1C6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767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031A58E-DBB3-4977-9207-BAD645D5544A}" type="datetime1">
              <a:rPr lang="zh-CN" altLang="en-US"/>
              <a:pPr>
                <a:defRPr/>
              </a:pPr>
              <a:t>2020/3/25</a:t>
            </a:fld>
            <a:endParaRPr lang="zh-CN" altLang="en-US"/>
          </a:p>
        </p:txBody>
      </p:sp>
      <p:sp>
        <p:nvSpPr>
          <p:cNvPr id="409604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4175" y="685800"/>
            <a:ext cx="608965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smtClean="0">
                <a:latin typeface="Calibri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407F287E-D2A7-486F-A569-D659CD39CC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8830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72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863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F287E-D2A7-486F-A569-D659CD39CCE1}" type="slidenum">
              <a:rPr lang="zh-CN" altLang="en-US" smtClean="0"/>
              <a:pPr>
                <a:defRPr/>
              </a:pPr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53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1463" y="341883"/>
            <a:ext cx="8229600" cy="857250"/>
          </a:xfrm>
        </p:spPr>
        <p:txBody>
          <a:bodyPr/>
          <a:lstStyle>
            <a:lvl1pPr algn="l"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7DC96-A79C-491B-B0AC-DAAE323B98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67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269875"/>
            <a:ext cx="8229600" cy="64807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989955"/>
            <a:ext cx="8229600" cy="33972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5932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412750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22400"/>
            <a:ext cx="82296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0" name="Rectangle 6"/>
          <p:cNvSpPr>
            <a:spLocks noChangeArrowheads="1"/>
          </p:cNvSpPr>
          <p:nvPr userDrawn="1"/>
        </p:nvSpPr>
        <p:spPr bwMode="auto">
          <a:xfrm>
            <a:off x="3175" y="0"/>
            <a:ext cx="9144000" cy="2603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6661150" y="0"/>
            <a:ext cx="2489200" cy="342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5646738" y="5045075"/>
            <a:ext cx="3506787" cy="1079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/>
          </a:p>
        </p:txBody>
      </p:sp>
      <p:sp>
        <p:nvSpPr>
          <p:cNvPr id="1035" name="AutoShape 11"/>
          <p:cNvSpPr>
            <a:spLocks noChangeArrowheads="1"/>
          </p:cNvSpPr>
          <p:nvPr userDrawn="1"/>
        </p:nvSpPr>
        <p:spPr bwMode="auto">
          <a:xfrm rot="5400000">
            <a:off x="6684963" y="-30163"/>
            <a:ext cx="266700" cy="327025"/>
          </a:xfrm>
          <a:prstGeom prst="rtTriangle">
            <a:avLst/>
          </a:prstGeom>
          <a:solidFill>
            <a:srgbClr val="007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/>
          </a:p>
        </p:txBody>
      </p:sp>
      <p:sp>
        <p:nvSpPr>
          <p:cNvPr id="1036" name="AutoShape 12"/>
          <p:cNvSpPr>
            <a:spLocks noChangeArrowheads="1"/>
          </p:cNvSpPr>
          <p:nvPr userDrawn="1"/>
        </p:nvSpPr>
        <p:spPr bwMode="auto">
          <a:xfrm rot="16260000">
            <a:off x="5522913" y="5026025"/>
            <a:ext cx="111125" cy="142875"/>
          </a:xfrm>
          <a:prstGeom prst="rtTriangle">
            <a:avLst/>
          </a:prstGeom>
          <a:solidFill>
            <a:srgbClr val="007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zh-CN"/>
          </a:p>
        </p:txBody>
      </p:sp>
      <p:sp>
        <p:nvSpPr>
          <p:cNvPr id="103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27988" y="5051425"/>
            <a:ext cx="946150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600" b="1" smtClean="0">
                <a:solidFill>
                  <a:schemeClr val="bg1"/>
                </a:solidFill>
                <a:latin typeface="黑体" pitchFamily="49" charset="-122"/>
              </a:defRPr>
            </a:lvl1pPr>
          </a:lstStyle>
          <a:p>
            <a:pPr>
              <a:defRPr/>
            </a:pPr>
            <a:fld id="{6319BCF2-3DE0-423A-A5B2-2FDF4680C2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4" name="Picture 9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013" y="14288"/>
            <a:ext cx="252412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0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825" y="19050"/>
            <a:ext cx="10985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Impact" panose="020B080603090205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ogle/googletest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 txBox="1">
            <a:spLocks noGrp="1" noChangeArrowheads="1"/>
          </p:cNvSpPr>
          <p:nvPr/>
        </p:nvSpPr>
        <p:spPr bwMode="auto">
          <a:xfrm>
            <a:off x="8027988" y="5051425"/>
            <a:ext cx="946150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itchFamily="34" charset="0"/>
              <a:buNone/>
            </a:pPr>
            <a:fld id="{F86BA5A7-CD89-40DA-9A44-2957C83F0070}" type="slidenum">
              <a:rPr lang="zh-CN" altLang="zh-CN" sz="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r" eaLnBrk="1" hangingPunct="1">
                <a:spcBef>
                  <a:spcPct val="0"/>
                </a:spcBef>
                <a:buFont typeface="Arial" pitchFamily="34" charset="0"/>
                <a:buNone/>
              </a:pPr>
              <a:t>1</a:t>
            </a:fld>
            <a:endParaRPr lang="zh-CN" altLang="zh-CN" sz="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5" name="矩形 6"/>
          <p:cNvSpPr>
            <a:spLocks noChangeArrowheads="1"/>
          </p:cNvSpPr>
          <p:nvPr/>
        </p:nvSpPr>
        <p:spPr bwMode="auto">
          <a:xfrm>
            <a:off x="539750" y="846138"/>
            <a:ext cx="8143875" cy="389096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dist="38100" dir="2700000" algn="ctr" rotWithShape="0">
              <a:srgbClr val="000000">
                <a:alpha val="2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itchFamily="34" charset="0"/>
              <a:buNone/>
            </a:pPr>
            <a:r>
              <a:rPr lang="en-US" altLang="zh-CN" sz="18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2010</a:t>
            </a:r>
            <a:r>
              <a:rPr lang="zh-CN" altLang="en-US" sz="18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年度广州市电子商务发展专项资金</a:t>
            </a:r>
          </a:p>
          <a:p>
            <a:pPr eaLnBrk="1" hangingPunct="1"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8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扶持项目</a:t>
            </a:r>
          </a:p>
        </p:txBody>
      </p:sp>
      <p:sp>
        <p:nvSpPr>
          <p:cNvPr id="8196" name="TextBox 6"/>
          <p:cNvSpPr txBox="1">
            <a:spLocks noChangeArrowheads="1"/>
          </p:cNvSpPr>
          <p:nvPr/>
        </p:nvSpPr>
        <p:spPr bwMode="auto">
          <a:xfrm>
            <a:off x="468313" y="1114425"/>
            <a:ext cx="8215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软件测试与质量保障</a:t>
            </a:r>
            <a:endParaRPr lang="en-US" altLang="zh-CN" sz="2800" b="1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7" name="TextBox 10"/>
          <p:cNvSpPr txBox="1">
            <a:spLocks noChangeArrowheads="1"/>
          </p:cNvSpPr>
          <p:nvPr/>
        </p:nvSpPr>
        <p:spPr bwMode="auto">
          <a:xfrm>
            <a:off x="1403350" y="3654425"/>
            <a:ext cx="6769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华南理工大学计算机科学与工程学院</a:t>
            </a:r>
            <a:endParaRPr lang="en-US" altLang="zh-CN" sz="20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20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聂勇伟 副教授           </a:t>
            </a:r>
            <a:endParaRPr lang="en-US" altLang="zh-CN" sz="20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altLang="zh-CN" sz="20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nieyongwei@scut.edu.cn</a:t>
            </a:r>
            <a:endParaRPr lang="zh-CN" altLang="en-US" sz="20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8" name="矩形 8"/>
          <p:cNvSpPr>
            <a:spLocks noChangeArrowheads="1"/>
          </p:cNvSpPr>
          <p:nvPr/>
        </p:nvSpPr>
        <p:spPr bwMode="auto">
          <a:xfrm>
            <a:off x="539750" y="1998663"/>
            <a:ext cx="8143875" cy="1368425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FFFF"/>
                </a:solidFill>
                <a:ea typeface="微软雅黑" pitchFamily="34" charset="-122"/>
              </a:rPr>
              <a:t>第三章 </a:t>
            </a:r>
            <a:r>
              <a:rPr lang="en-US" altLang="zh-CN" b="1" dirty="0">
                <a:solidFill>
                  <a:srgbClr val="FFFFFF"/>
                </a:solidFill>
                <a:ea typeface="微软雅黑" pitchFamily="34" charset="-122"/>
              </a:rPr>
              <a:t>– </a:t>
            </a:r>
            <a:r>
              <a:rPr lang="zh-CN" altLang="en-US" b="1" dirty="0">
                <a:solidFill>
                  <a:srgbClr val="FFFFFF"/>
                </a:solidFill>
                <a:ea typeface="微软雅黑" pitchFamily="34" charset="-122"/>
              </a:rPr>
              <a:t>单元测试与</a:t>
            </a:r>
            <a:r>
              <a:rPr lang="en-US" altLang="zh-CN" b="1" dirty="0">
                <a:solidFill>
                  <a:srgbClr val="FFFFFF"/>
                </a:solidFill>
                <a:ea typeface="微软雅黑" pitchFamily="34" charset="-122"/>
              </a:rPr>
              <a:t>Google Test</a:t>
            </a:r>
            <a:r>
              <a:rPr lang="zh-CN" altLang="en-US" b="1" dirty="0">
                <a:solidFill>
                  <a:srgbClr val="FFFFFF"/>
                </a:solidFill>
                <a:ea typeface="微软雅黑" pitchFamily="34" charset="-122"/>
              </a:rPr>
              <a:t>框架</a:t>
            </a:r>
            <a:endParaRPr lang="en-US" altLang="zh-CN" b="1" dirty="0">
              <a:solidFill>
                <a:srgbClr val="FFFFFF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课程回顾</a:t>
            </a:r>
          </a:p>
        </p:txBody>
      </p:sp>
      <p:sp>
        <p:nvSpPr>
          <p:cNvPr id="5" name="左大括号 4"/>
          <p:cNvSpPr/>
          <p:nvPr/>
        </p:nvSpPr>
        <p:spPr bwMode="auto">
          <a:xfrm>
            <a:off x="971600" y="1268694"/>
            <a:ext cx="432048" cy="3105636"/>
          </a:xfrm>
          <a:prstGeom prst="leftBrace">
            <a:avLst/>
          </a:prstGeom>
          <a:ln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2313681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软件测试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7319" y="113970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基本概念：重要意义，法则</a:t>
            </a:r>
            <a:endParaRPr lang="en-US" altLang="zh-CN" dirty="0"/>
          </a:p>
        </p:txBody>
      </p:sp>
      <p:sp>
        <p:nvSpPr>
          <p:cNvPr id="10" name="TextBox 9"/>
          <p:cNvSpPr txBox="1"/>
          <p:nvPr/>
        </p:nvSpPr>
        <p:spPr>
          <a:xfrm>
            <a:off x="1687319" y="1876354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方法（手段）：静态、动态、黑盒、白盒 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687319" y="2613002"/>
            <a:ext cx="5288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级别（阶段）：</a:t>
            </a:r>
            <a:r>
              <a:rPr lang="zh-CN" altLang="en-US" sz="2800" b="1" dirty="0">
                <a:solidFill>
                  <a:srgbClr val="FF9900"/>
                </a:solidFill>
              </a:rPr>
              <a:t>单元</a:t>
            </a:r>
            <a:r>
              <a:rPr lang="zh-CN" altLang="en-US" dirty="0"/>
              <a:t>、集成、确认、系统、验收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7319" y="334965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过程：计划、设计、执行、评估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7319" y="40862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自动化</a:t>
            </a:r>
          </a:p>
        </p:txBody>
      </p:sp>
      <p:sp>
        <p:nvSpPr>
          <p:cNvPr id="14" name="左箭头 13"/>
          <p:cNvSpPr/>
          <p:nvPr/>
        </p:nvSpPr>
        <p:spPr bwMode="auto">
          <a:xfrm>
            <a:off x="7105466" y="2689946"/>
            <a:ext cx="1008112" cy="369332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accent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714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050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071688"/>
            <a:ext cx="8229600" cy="647700"/>
          </a:xfrm>
        </p:spPr>
        <p:txBody>
          <a:bodyPr/>
          <a:lstStyle/>
          <a:p>
            <a:pPr algn="ctr"/>
            <a:r>
              <a:rPr lang="zh-CN" altLang="en-US" sz="6000" dirty="0">
                <a:solidFill>
                  <a:srgbClr val="FF9900"/>
                </a:solidFill>
                <a:latin typeface="Times New Roman" pitchFamily="18" charset="0"/>
              </a:rPr>
              <a:t>回顾</a:t>
            </a:r>
            <a:r>
              <a:rPr lang="zh-CN" altLang="en-US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— </a:t>
            </a:r>
            <a:r>
              <a:rPr lang="zh-CN" altLang="en-US" dirty="0">
                <a:latin typeface="Times New Roman" pitchFamily="18" charset="0"/>
              </a:rPr>
              <a:t>软件测评技术 </a:t>
            </a:r>
            <a:r>
              <a:rPr lang="en-US" altLang="zh-CN" dirty="0">
                <a:latin typeface="Times New Roman" pitchFamily="18" charset="0"/>
              </a:rPr>
              <a:t>— </a:t>
            </a:r>
            <a:r>
              <a:rPr lang="zh-CN" altLang="en-US" dirty="0">
                <a:latin typeface="Times New Roman" pitchFamily="18" charset="0"/>
              </a:rPr>
              <a:t>级别</a:t>
            </a:r>
            <a:endParaRPr lang="zh-CN" altLang="en-US" dirty="0">
              <a:ea typeface="楷体_GB2312"/>
              <a:cs typeface="楷体_GB231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 bwMode="auto">
          <a:xfrm>
            <a:off x="1365399" y="1566019"/>
            <a:ext cx="1277640" cy="7303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0178" name="灯片编号占位符 3"/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DEE3920B-9F6E-42CC-ACBE-BEBE36E07B42}" type="slidenum">
              <a:rPr lang="en-US" altLang="zh-CN" sz="1800" b="0">
                <a:latin typeface="Times New Roman" pitchFamily="18" charset="0"/>
                <a:ea typeface="微软雅黑" pitchFamily="34" charset="-122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800" b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50179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>
                <a:solidFill>
                  <a:srgbClr val="FF9900"/>
                </a:solidFill>
              </a:rPr>
              <a:t>回顾</a:t>
            </a:r>
            <a:r>
              <a:rPr lang="zh-CN" altLang="en-US" dirty="0"/>
              <a:t>－</a:t>
            </a:r>
            <a:r>
              <a:rPr lang="zh-CN" altLang="en-US" dirty="0">
                <a:ea typeface="楷体_GB2312"/>
                <a:cs typeface="楷体_GB2312"/>
              </a:rPr>
              <a:t>过程</a:t>
            </a:r>
          </a:p>
        </p:txBody>
      </p:sp>
      <p:sp>
        <p:nvSpPr>
          <p:cNvPr id="877572" name="Rectangle 4"/>
          <p:cNvSpPr>
            <a:spLocks noChangeArrowheads="1"/>
          </p:cNvSpPr>
          <p:nvPr/>
        </p:nvSpPr>
        <p:spPr bwMode="auto">
          <a:xfrm>
            <a:off x="3275013" y="844550"/>
            <a:ext cx="1912937" cy="3794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102" b="1" dirty="0">
                <a:ea typeface="仿宋_GB2312"/>
                <a:cs typeface="仿宋_GB2312"/>
              </a:rPr>
              <a:t>软件项目测试</a:t>
            </a: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1544638" y="1746250"/>
            <a:ext cx="919162" cy="3778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单元测试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2913063" y="2482850"/>
            <a:ext cx="685800" cy="3444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计划</a:t>
            </a: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3870325" y="2482850"/>
            <a:ext cx="739775" cy="3444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设计</a:t>
            </a: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5886450" y="2501900"/>
            <a:ext cx="685800" cy="3444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评估</a:t>
            </a:r>
          </a:p>
        </p:txBody>
      </p:sp>
      <p:sp>
        <p:nvSpPr>
          <p:cNvPr id="50185" name="Rectangle 9"/>
          <p:cNvSpPr>
            <a:spLocks noChangeArrowheads="1"/>
          </p:cNvSpPr>
          <p:nvPr/>
        </p:nvSpPr>
        <p:spPr bwMode="auto">
          <a:xfrm>
            <a:off x="2625725" y="3186113"/>
            <a:ext cx="973138" cy="3444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需求分析</a:t>
            </a:r>
          </a:p>
        </p:txBody>
      </p:sp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3814763" y="3186113"/>
            <a:ext cx="865187" cy="3444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用例设计</a:t>
            </a:r>
          </a:p>
        </p:txBody>
      </p:sp>
      <p:sp>
        <p:nvSpPr>
          <p:cNvPr id="50187" name="Rectangle 11"/>
          <p:cNvSpPr>
            <a:spLocks noChangeArrowheads="1"/>
          </p:cNvSpPr>
          <p:nvPr/>
        </p:nvSpPr>
        <p:spPr bwMode="auto">
          <a:xfrm>
            <a:off x="4895850" y="3186113"/>
            <a:ext cx="985838" cy="3444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脚本开发</a:t>
            </a:r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2897188" y="3889375"/>
            <a:ext cx="820737" cy="342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任务</a:t>
            </a: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1</a:t>
            </a:r>
          </a:p>
        </p:txBody>
      </p:sp>
      <p:sp>
        <p:nvSpPr>
          <p:cNvPr id="50189" name="Rectangle 13"/>
          <p:cNvSpPr>
            <a:spLocks noChangeArrowheads="1"/>
          </p:cNvSpPr>
          <p:nvPr/>
        </p:nvSpPr>
        <p:spPr bwMode="auto">
          <a:xfrm>
            <a:off x="3816350" y="3889375"/>
            <a:ext cx="863600" cy="342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任务</a:t>
            </a: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2</a:t>
            </a:r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7221538" y="1746250"/>
            <a:ext cx="71278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itchFamily="18" charset="0"/>
                <a:ea typeface="仿宋_GB2312"/>
                <a:cs typeface="仿宋_GB2312"/>
              </a:rPr>
              <a:t>级别</a:t>
            </a:r>
          </a:p>
        </p:txBody>
      </p:sp>
      <p:sp>
        <p:nvSpPr>
          <p:cNvPr id="50191" name="Text Box 15"/>
          <p:cNvSpPr txBox="1">
            <a:spLocks noChangeArrowheads="1"/>
          </p:cNvSpPr>
          <p:nvPr/>
        </p:nvSpPr>
        <p:spPr bwMode="auto">
          <a:xfrm>
            <a:off x="7267575" y="2501900"/>
            <a:ext cx="6016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itchFamily="18" charset="0"/>
                <a:ea typeface="仿宋_GB2312"/>
                <a:cs typeface="仿宋_GB2312"/>
              </a:rPr>
              <a:t>阶段</a:t>
            </a:r>
          </a:p>
        </p:txBody>
      </p:sp>
      <p:sp>
        <p:nvSpPr>
          <p:cNvPr id="50192" name="Text Box 16"/>
          <p:cNvSpPr txBox="1">
            <a:spLocks noChangeArrowheads="1"/>
          </p:cNvSpPr>
          <p:nvPr/>
        </p:nvSpPr>
        <p:spPr bwMode="auto">
          <a:xfrm>
            <a:off x="7275513" y="3186113"/>
            <a:ext cx="64293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itchFamily="18" charset="0"/>
                <a:ea typeface="仿宋_GB2312"/>
                <a:cs typeface="仿宋_GB2312"/>
              </a:rPr>
              <a:t>活动</a:t>
            </a:r>
          </a:p>
        </p:txBody>
      </p:sp>
      <p:sp>
        <p:nvSpPr>
          <p:cNvPr id="50193" name="Text Box 17"/>
          <p:cNvSpPr txBox="1">
            <a:spLocks noChangeArrowheads="1"/>
          </p:cNvSpPr>
          <p:nvPr/>
        </p:nvSpPr>
        <p:spPr bwMode="auto">
          <a:xfrm>
            <a:off x="7280275" y="3908425"/>
            <a:ext cx="6445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itchFamily="18" charset="0"/>
                <a:ea typeface="仿宋_GB2312"/>
                <a:cs typeface="仿宋_GB2312"/>
              </a:rPr>
              <a:t>任务</a:t>
            </a:r>
          </a:p>
        </p:txBody>
      </p:sp>
      <p:sp>
        <p:nvSpPr>
          <p:cNvPr id="50194" name="Line 18"/>
          <p:cNvSpPr>
            <a:spLocks noChangeShapeType="1"/>
          </p:cNvSpPr>
          <p:nvPr/>
        </p:nvSpPr>
        <p:spPr bwMode="auto">
          <a:xfrm>
            <a:off x="4248150" y="1223963"/>
            <a:ext cx="0" cy="522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95" name="Line 19"/>
          <p:cNvSpPr>
            <a:spLocks noChangeShapeType="1"/>
          </p:cNvSpPr>
          <p:nvPr/>
        </p:nvSpPr>
        <p:spPr bwMode="auto">
          <a:xfrm flipH="1">
            <a:off x="2085975" y="1223963"/>
            <a:ext cx="1782763" cy="522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96" name="Line 20"/>
          <p:cNvSpPr>
            <a:spLocks noChangeShapeType="1"/>
          </p:cNvSpPr>
          <p:nvPr/>
        </p:nvSpPr>
        <p:spPr bwMode="auto">
          <a:xfrm>
            <a:off x="4679950" y="1223963"/>
            <a:ext cx="1838325" cy="522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97" name="Line 23"/>
          <p:cNvSpPr>
            <a:spLocks noChangeShapeType="1"/>
          </p:cNvSpPr>
          <p:nvPr/>
        </p:nvSpPr>
        <p:spPr bwMode="auto">
          <a:xfrm>
            <a:off x="4248150" y="2124075"/>
            <a:ext cx="0" cy="344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98" name="Line 24"/>
          <p:cNvSpPr>
            <a:spLocks noChangeShapeType="1"/>
          </p:cNvSpPr>
          <p:nvPr/>
        </p:nvSpPr>
        <p:spPr bwMode="auto">
          <a:xfrm flipH="1">
            <a:off x="3328988" y="2124075"/>
            <a:ext cx="703262" cy="377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199" name="Line 25"/>
          <p:cNvSpPr>
            <a:spLocks noChangeShapeType="1"/>
          </p:cNvSpPr>
          <p:nvPr/>
        </p:nvSpPr>
        <p:spPr bwMode="auto">
          <a:xfrm>
            <a:off x="4451350" y="2124075"/>
            <a:ext cx="1795463" cy="377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0" name="Text Box 26"/>
          <p:cNvSpPr txBox="1">
            <a:spLocks noChangeArrowheads="1"/>
          </p:cNvSpPr>
          <p:nvPr/>
        </p:nvSpPr>
        <p:spPr bwMode="auto">
          <a:xfrm>
            <a:off x="1924050" y="2449513"/>
            <a:ext cx="4159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itchFamily="18" charset="0"/>
                <a:ea typeface="微软雅黑" pitchFamily="34" charset="-122"/>
              </a:rPr>
              <a:t>…</a:t>
            </a:r>
          </a:p>
        </p:txBody>
      </p:sp>
      <p:sp>
        <p:nvSpPr>
          <p:cNvPr id="50201" name="Text Box 27"/>
          <p:cNvSpPr txBox="1">
            <a:spLocks noChangeArrowheads="1"/>
          </p:cNvSpPr>
          <p:nvPr/>
        </p:nvSpPr>
        <p:spPr bwMode="auto">
          <a:xfrm>
            <a:off x="6680200" y="2449513"/>
            <a:ext cx="4159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itchFamily="18" charset="0"/>
                <a:ea typeface="微软雅黑" pitchFamily="34" charset="-122"/>
              </a:rPr>
              <a:t>…</a:t>
            </a:r>
          </a:p>
        </p:txBody>
      </p:sp>
      <p:sp>
        <p:nvSpPr>
          <p:cNvPr id="50202" name="Line 28"/>
          <p:cNvSpPr>
            <a:spLocks noChangeShapeType="1"/>
          </p:cNvSpPr>
          <p:nvPr/>
        </p:nvSpPr>
        <p:spPr bwMode="auto">
          <a:xfrm>
            <a:off x="4248150" y="2827338"/>
            <a:ext cx="0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3" name="Line 29"/>
          <p:cNvSpPr>
            <a:spLocks noChangeShapeType="1"/>
          </p:cNvSpPr>
          <p:nvPr/>
        </p:nvSpPr>
        <p:spPr bwMode="auto">
          <a:xfrm flipH="1">
            <a:off x="3113088" y="2827338"/>
            <a:ext cx="1087437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4" name="Line 30"/>
          <p:cNvSpPr>
            <a:spLocks noChangeShapeType="1"/>
          </p:cNvSpPr>
          <p:nvPr/>
        </p:nvSpPr>
        <p:spPr bwMode="auto">
          <a:xfrm>
            <a:off x="4302125" y="2827338"/>
            <a:ext cx="1085850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5" name="Line 31"/>
          <p:cNvSpPr>
            <a:spLocks noChangeShapeType="1"/>
          </p:cNvSpPr>
          <p:nvPr/>
        </p:nvSpPr>
        <p:spPr bwMode="auto">
          <a:xfrm flipH="1">
            <a:off x="3328988" y="3530600"/>
            <a:ext cx="858837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6" name="Line 32"/>
          <p:cNvSpPr>
            <a:spLocks noChangeShapeType="1"/>
          </p:cNvSpPr>
          <p:nvPr/>
        </p:nvSpPr>
        <p:spPr bwMode="auto">
          <a:xfrm>
            <a:off x="4248150" y="3530600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7" name="Rectangle 33"/>
          <p:cNvSpPr>
            <a:spLocks noChangeArrowheads="1"/>
          </p:cNvSpPr>
          <p:nvPr/>
        </p:nvSpPr>
        <p:spPr bwMode="auto">
          <a:xfrm>
            <a:off x="5326063" y="3889375"/>
            <a:ext cx="758825" cy="342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任务</a:t>
            </a: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n</a:t>
            </a:r>
          </a:p>
        </p:txBody>
      </p:sp>
      <p:sp>
        <p:nvSpPr>
          <p:cNvPr id="50208" name="Line 34"/>
          <p:cNvSpPr>
            <a:spLocks noChangeShapeType="1"/>
          </p:cNvSpPr>
          <p:nvPr/>
        </p:nvSpPr>
        <p:spPr bwMode="auto">
          <a:xfrm>
            <a:off x="4572000" y="3530600"/>
            <a:ext cx="1189038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9" name="Rectangle 35"/>
          <p:cNvSpPr>
            <a:spLocks noChangeArrowheads="1"/>
          </p:cNvSpPr>
          <p:nvPr/>
        </p:nvSpPr>
        <p:spPr bwMode="auto">
          <a:xfrm>
            <a:off x="2681288" y="1746250"/>
            <a:ext cx="865187" cy="3778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集成测试</a:t>
            </a:r>
          </a:p>
        </p:txBody>
      </p:sp>
      <p:sp>
        <p:nvSpPr>
          <p:cNvPr id="50210" name="Rectangle 36"/>
          <p:cNvSpPr>
            <a:spLocks noChangeArrowheads="1"/>
          </p:cNvSpPr>
          <p:nvPr/>
        </p:nvSpPr>
        <p:spPr bwMode="auto">
          <a:xfrm>
            <a:off x="3762375" y="1746250"/>
            <a:ext cx="917575" cy="3778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确认测试</a:t>
            </a:r>
          </a:p>
        </p:txBody>
      </p:sp>
      <p:sp>
        <p:nvSpPr>
          <p:cNvPr id="50211" name="Rectangle 37"/>
          <p:cNvSpPr>
            <a:spLocks noChangeArrowheads="1"/>
          </p:cNvSpPr>
          <p:nvPr/>
        </p:nvSpPr>
        <p:spPr bwMode="auto">
          <a:xfrm>
            <a:off x="4895850" y="1746250"/>
            <a:ext cx="920750" cy="3778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系统测试</a:t>
            </a:r>
          </a:p>
        </p:txBody>
      </p:sp>
      <p:sp>
        <p:nvSpPr>
          <p:cNvPr id="50212" name="Rectangle 38"/>
          <p:cNvSpPr>
            <a:spLocks noChangeArrowheads="1"/>
          </p:cNvSpPr>
          <p:nvPr/>
        </p:nvSpPr>
        <p:spPr bwMode="auto">
          <a:xfrm>
            <a:off x="6030913" y="1746250"/>
            <a:ext cx="919162" cy="3778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验收测试</a:t>
            </a:r>
          </a:p>
        </p:txBody>
      </p:sp>
      <p:sp>
        <p:nvSpPr>
          <p:cNvPr id="50213" name="Line 39"/>
          <p:cNvSpPr>
            <a:spLocks noChangeShapeType="1"/>
          </p:cNvSpPr>
          <p:nvPr/>
        </p:nvSpPr>
        <p:spPr bwMode="auto">
          <a:xfrm flipH="1">
            <a:off x="3113088" y="1223963"/>
            <a:ext cx="1025525" cy="522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14" name="Line 40"/>
          <p:cNvSpPr>
            <a:spLocks noChangeShapeType="1"/>
          </p:cNvSpPr>
          <p:nvPr/>
        </p:nvSpPr>
        <p:spPr bwMode="auto">
          <a:xfrm>
            <a:off x="4410075" y="1223963"/>
            <a:ext cx="973138" cy="522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15" name="Rectangle 41"/>
          <p:cNvSpPr>
            <a:spLocks noChangeArrowheads="1"/>
          </p:cNvSpPr>
          <p:nvPr/>
        </p:nvSpPr>
        <p:spPr bwMode="auto">
          <a:xfrm>
            <a:off x="4895850" y="2482850"/>
            <a:ext cx="739775" cy="3444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微软雅黑" pitchFamily="34" charset="-122"/>
              </a:rPr>
              <a:t>执行</a:t>
            </a:r>
          </a:p>
        </p:txBody>
      </p:sp>
      <p:sp>
        <p:nvSpPr>
          <p:cNvPr id="50216" name="Line 42"/>
          <p:cNvSpPr>
            <a:spLocks noChangeShapeType="1"/>
          </p:cNvSpPr>
          <p:nvPr/>
        </p:nvSpPr>
        <p:spPr bwMode="auto">
          <a:xfrm>
            <a:off x="4356100" y="2124075"/>
            <a:ext cx="919163" cy="377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17" name="Text Box 43"/>
          <p:cNvSpPr txBox="1">
            <a:spLocks noChangeArrowheads="1"/>
          </p:cNvSpPr>
          <p:nvPr/>
        </p:nvSpPr>
        <p:spPr bwMode="auto">
          <a:xfrm>
            <a:off x="1868488" y="3205163"/>
            <a:ext cx="368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itchFamily="18" charset="0"/>
                <a:ea typeface="微软雅黑" pitchFamily="34" charset="-122"/>
              </a:rPr>
              <a:t>…</a:t>
            </a:r>
          </a:p>
        </p:txBody>
      </p:sp>
      <p:sp>
        <p:nvSpPr>
          <p:cNvPr id="50218" name="Text Box 44"/>
          <p:cNvSpPr txBox="1">
            <a:spLocks noChangeArrowheads="1"/>
          </p:cNvSpPr>
          <p:nvPr/>
        </p:nvSpPr>
        <p:spPr bwMode="auto">
          <a:xfrm>
            <a:off x="6084888" y="3152775"/>
            <a:ext cx="4159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itchFamily="18" charset="0"/>
                <a:ea typeface="微软雅黑" pitchFamily="34" charset="-122"/>
              </a:rPr>
              <a:t>…</a:t>
            </a:r>
          </a:p>
        </p:txBody>
      </p:sp>
      <p:sp>
        <p:nvSpPr>
          <p:cNvPr id="50219" name="Text Box 45"/>
          <p:cNvSpPr txBox="1">
            <a:spLocks noChangeArrowheads="1"/>
          </p:cNvSpPr>
          <p:nvPr/>
        </p:nvSpPr>
        <p:spPr bwMode="auto">
          <a:xfrm>
            <a:off x="2301875" y="3908425"/>
            <a:ext cx="4159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itchFamily="18" charset="0"/>
                <a:ea typeface="微软雅黑" pitchFamily="34" charset="-122"/>
              </a:rPr>
              <a:t>…</a:t>
            </a:r>
          </a:p>
        </p:txBody>
      </p:sp>
      <p:sp>
        <p:nvSpPr>
          <p:cNvPr id="50220" name="Text Box 46"/>
          <p:cNvSpPr txBox="1">
            <a:spLocks noChangeArrowheads="1"/>
          </p:cNvSpPr>
          <p:nvPr/>
        </p:nvSpPr>
        <p:spPr bwMode="auto">
          <a:xfrm>
            <a:off x="6151563" y="3908425"/>
            <a:ext cx="4143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itchFamily="18" charset="0"/>
                <a:ea typeface="微软雅黑" pitchFamily="34" charset="-122"/>
              </a:rPr>
              <a:t>…</a:t>
            </a:r>
          </a:p>
        </p:txBody>
      </p:sp>
      <p:sp>
        <p:nvSpPr>
          <p:cNvPr id="50221" name="Text Box 47"/>
          <p:cNvSpPr txBox="1">
            <a:spLocks noChangeArrowheads="1"/>
          </p:cNvSpPr>
          <p:nvPr/>
        </p:nvSpPr>
        <p:spPr bwMode="auto">
          <a:xfrm>
            <a:off x="4789488" y="3908425"/>
            <a:ext cx="4143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itchFamily="18" charset="0"/>
                <a:ea typeface="微软雅黑" pitchFamily="34" charset="-122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>
                <a:solidFill>
                  <a:srgbClr val="FF9900"/>
                </a:solidFill>
              </a:rPr>
              <a:t>回顾</a:t>
            </a:r>
            <a:r>
              <a:rPr lang="zh-CN" altLang="en-US" dirty="0"/>
              <a:t>－</a:t>
            </a:r>
            <a:r>
              <a:rPr lang="zh-CN" altLang="en-US" dirty="0">
                <a:ea typeface="楷体_GB2312"/>
                <a:cs typeface="楷体_GB2312"/>
              </a:rPr>
              <a:t>测试级别</a:t>
            </a:r>
          </a:p>
        </p:txBody>
      </p:sp>
      <p:sp>
        <p:nvSpPr>
          <p:cNvPr id="328708" name="Oval 4"/>
          <p:cNvSpPr>
            <a:spLocks noChangeArrowheads="1"/>
          </p:cNvSpPr>
          <p:nvPr/>
        </p:nvSpPr>
        <p:spPr bwMode="auto">
          <a:xfrm>
            <a:off x="3084513" y="1400175"/>
            <a:ext cx="2974975" cy="2860675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8709" name="Oval 5"/>
          <p:cNvSpPr>
            <a:spLocks noChangeArrowheads="1"/>
          </p:cNvSpPr>
          <p:nvPr/>
        </p:nvSpPr>
        <p:spPr bwMode="auto">
          <a:xfrm>
            <a:off x="3427413" y="1743075"/>
            <a:ext cx="2289175" cy="2174875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8710" name="Oval 6"/>
          <p:cNvSpPr>
            <a:spLocks noChangeArrowheads="1"/>
          </p:cNvSpPr>
          <p:nvPr/>
        </p:nvSpPr>
        <p:spPr bwMode="auto">
          <a:xfrm>
            <a:off x="3771900" y="2085975"/>
            <a:ext cx="1600200" cy="1487488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8711" name="Oval 7"/>
          <p:cNvSpPr>
            <a:spLocks noChangeArrowheads="1"/>
          </p:cNvSpPr>
          <p:nvPr/>
        </p:nvSpPr>
        <p:spPr bwMode="auto">
          <a:xfrm>
            <a:off x="4171950" y="2430463"/>
            <a:ext cx="857250" cy="800100"/>
          </a:xfrm>
          <a:prstGeom prst="ellipse">
            <a:avLst/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8712" name="Text Box 8"/>
          <p:cNvSpPr txBox="1">
            <a:spLocks noChangeArrowheads="1"/>
          </p:cNvSpPr>
          <p:nvPr/>
        </p:nvSpPr>
        <p:spPr bwMode="auto">
          <a:xfrm>
            <a:off x="4457700" y="1331913"/>
            <a:ext cx="4572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S</a:t>
            </a: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R</a:t>
            </a: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D</a:t>
            </a: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C</a:t>
            </a: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U</a:t>
            </a: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 I</a:t>
            </a: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V</a:t>
            </a: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>
                <a:latin typeface="Times New Roman" pitchFamily="18" charset="0"/>
                <a:ea typeface="微软雅黑" pitchFamily="34" charset="-122"/>
              </a:rPr>
              <a:t>ST</a:t>
            </a:r>
          </a:p>
        </p:txBody>
      </p:sp>
      <p:sp>
        <p:nvSpPr>
          <p:cNvPr id="328713" name="Line 9"/>
          <p:cNvSpPr>
            <a:spLocks noChangeShapeType="1"/>
          </p:cNvSpPr>
          <p:nvPr/>
        </p:nvSpPr>
        <p:spPr bwMode="auto">
          <a:xfrm>
            <a:off x="4171950" y="2830513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14" name="Text Box 10"/>
          <p:cNvSpPr txBox="1">
            <a:spLocks noChangeArrowheads="1"/>
          </p:cNvSpPr>
          <p:nvPr/>
        </p:nvSpPr>
        <p:spPr bwMode="auto">
          <a:xfrm>
            <a:off x="391643" y="1400175"/>
            <a:ext cx="26420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System Engineering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系统工程</a:t>
            </a:r>
            <a:endParaRPr lang="en-US" altLang="zh-CN" sz="1500" b="1" dirty="0">
              <a:latin typeface="Times New Roman" pitchFamily="18" charset="0"/>
              <a:ea typeface="微软雅黑" pitchFamily="34" charset="-122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Requirements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需求</a:t>
            </a:r>
            <a:endParaRPr lang="en-US" altLang="zh-CN" sz="1500" b="1" dirty="0">
              <a:latin typeface="Times New Roman" pitchFamily="18" charset="0"/>
              <a:ea typeface="微软雅黑" pitchFamily="34" charset="-122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Design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设计</a:t>
            </a:r>
            <a:endParaRPr lang="en-US" altLang="zh-CN" sz="1500" b="1" dirty="0">
              <a:latin typeface="Times New Roman" pitchFamily="18" charset="0"/>
              <a:ea typeface="微软雅黑" pitchFamily="34" charset="-122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Code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编码</a:t>
            </a:r>
            <a:endParaRPr lang="en-US" altLang="zh-CN" sz="1500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8715" name="Line 11"/>
          <p:cNvSpPr>
            <a:spLocks noChangeShapeType="1"/>
          </p:cNvSpPr>
          <p:nvPr/>
        </p:nvSpPr>
        <p:spPr bwMode="auto">
          <a:xfrm>
            <a:off x="3027363" y="2659063"/>
            <a:ext cx="1373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16" name="Line 12"/>
          <p:cNvSpPr>
            <a:spLocks noChangeShapeType="1"/>
          </p:cNvSpPr>
          <p:nvPr/>
        </p:nvSpPr>
        <p:spPr bwMode="auto">
          <a:xfrm>
            <a:off x="3027363" y="2316163"/>
            <a:ext cx="1430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17" name="Line 13"/>
          <p:cNvSpPr>
            <a:spLocks noChangeShapeType="1"/>
          </p:cNvSpPr>
          <p:nvPr/>
        </p:nvSpPr>
        <p:spPr bwMode="auto">
          <a:xfrm>
            <a:off x="3084513" y="1971675"/>
            <a:ext cx="1373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18" name="Line 14"/>
          <p:cNvSpPr>
            <a:spLocks noChangeShapeType="1"/>
          </p:cNvSpPr>
          <p:nvPr/>
        </p:nvSpPr>
        <p:spPr bwMode="auto">
          <a:xfrm>
            <a:off x="3084513" y="1628775"/>
            <a:ext cx="1258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19" name="Text Box 15"/>
          <p:cNvSpPr txBox="1">
            <a:spLocks noChangeArrowheads="1"/>
          </p:cNvSpPr>
          <p:nvPr/>
        </p:nvSpPr>
        <p:spPr bwMode="auto">
          <a:xfrm>
            <a:off x="6148388" y="2773363"/>
            <a:ext cx="231159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Unit Test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单元测试</a:t>
            </a:r>
            <a:endParaRPr lang="en-US" altLang="zh-CN" sz="1500" b="1" dirty="0">
              <a:latin typeface="Times New Roman" pitchFamily="18" charset="0"/>
              <a:ea typeface="微软雅黑" pitchFamily="34" charset="-122"/>
            </a:endParaRP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Integration Test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集成测试</a:t>
            </a:r>
            <a:endParaRPr lang="en-US" altLang="zh-CN" sz="1500" b="1" dirty="0">
              <a:latin typeface="Times New Roman" pitchFamily="18" charset="0"/>
              <a:ea typeface="微软雅黑" pitchFamily="34" charset="-122"/>
            </a:endParaRP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Validation Test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确认测试</a:t>
            </a:r>
            <a:endParaRPr lang="en-US" altLang="zh-CN" sz="1500" b="1" dirty="0">
              <a:latin typeface="Times New Roman" pitchFamily="18" charset="0"/>
              <a:ea typeface="微软雅黑" pitchFamily="34" charset="-122"/>
            </a:endParaRPr>
          </a:p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zh-CN" sz="1500" b="1" dirty="0">
                <a:latin typeface="Times New Roman" pitchFamily="18" charset="0"/>
                <a:ea typeface="微软雅黑" pitchFamily="34" charset="-122"/>
              </a:rPr>
              <a:t>System Test </a:t>
            </a:r>
            <a:r>
              <a:rPr lang="zh-CN" altLang="en-US" sz="1500" b="1" dirty="0">
                <a:latin typeface="Times New Roman" pitchFamily="18" charset="0"/>
                <a:ea typeface="微软雅黑" pitchFamily="34" charset="-122"/>
              </a:rPr>
              <a:t>系统测试</a:t>
            </a:r>
            <a:endParaRPr lang="en-US" altLang="zh-CN" sz="1500" b="1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8720" name="Line 16"/>
          <p:cNvSpPr>
            <a:spLocks noChangeShapeType="1"/>
          </p:cNvSpPr>
          <p:nvPr/>
        </p:nvSpPr>
        <p:spPr bwMode="auto">
          <a:xfrm flipH="1">
            <a:off x="4800600" y="4146550"/>
            <a:ext cx="13160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21" name="Line 17"/>
          <p:cNvSpPr>
            <a:spLocks noChangeShapeType="1"/>
          </p:cNvSpPr>
          <p:nvPr/>
        </p:nvSpPr>
        <p:spPr bwMode="auto">
          <a:xfrm flipH="1">
            <a:off x="4743450" y="3802063"/>
            <a:ext cx="1430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22" name="Line 18"/>
          <p:cNvSpPr>
            <a:spLocks noChangeShapeType="1"/>
          </p:cNvSpPr>
          <p:nvPr/>
        </p:nvSpPr>
        <p:spPr bwMode="auto">
          <a:xfrm flipH="1">
            <a:off x="4743450" y="3459163"/>
            <a:ext cx="13731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723" name="Line 19"/>
          <p:cNvSpPr>
            <a:spLocks noChangeShapeType="1"/>
          </p:cNvSpPr>
          <p:nvPr/>
        </p:nvSpPr>
        <p:spPr bwMode="auto">
          <a:xfrm flipH="1" flipV="1">
            <a:off x="4686300" y="3059113"/>
            <a:ext cx="14874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>
            <a:spLocks noGrp="1"/>
          </p:cNvSpPr>
          <p:nvPr>
            <p:ph type="sldNum" sz="quarter" idx="4294967295"/>
          </p:nvPr>
        </p:nvSpPr>
        <p:spPr>
          <a:noFill/>
        </p:spPr>
        <p:txBody>
          <a:bodyPr anchor="t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l" eaLnBrk="0" hangingPunct="0">
              <a:spcBef>
                <a:spcPct val="0"/>
              </a:spcBef>
              <a:buFontTx/>
              <a:buNone/>
            </a:pPr>
            <a:fld id="{157BF836-63A0-471A-8CFB-77AB42E075FC}" type="slidenum">
              <a:rPr lang="en-US" altLang="zh-CN" sz="1800" b="0">
                <a:latin typeface="Times New Roman" pitchFamily="18" charset="0"/>
                <a:ea typeface="微软雅黑" pitchFamily="34" charset="-122"/>
              </a:rPr>
              <a:pPr algn="l" eaLnBrk="0" hangingPunct="0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800" b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51203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>
                <a:solidFill>
                  <a:srgbClr val="FF9900"/>
                </a:solidFill>
              </a:rPr>
              <a:t>回顾</a:t>
            </a:r>
            <a:r>
              <a:rPr lang="zh-CN" altLang="en-US" dirty="0"/>
              <a:t>－</a:t>
            </a:r>
            <a:r>
              <a:rPr lang="zh-CN" altLang="en-US" dirty="0">
                <a:ea typeface="楷体_GB2312"/>
                <a:cs typeface="楷体_GB2312"/>
              </a:rPr>
              <a:t>组织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1944688" y="4060825"/>
            <a:ext cx="1143000" cy="56673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43233" bIns="143233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单元测试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2562225" y="3375025"/>
            <a:ext cx="1114425" cy="56673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43233" bIns="143233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集成测试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3144838" y="2689225"/>
            <a:ext cx="1114425" cy="5651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43233" bIns="143233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确认测试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3738563" y="2001838"/>
            <a:ext cx="1114425" cy="56673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43233" bIns="143233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系统测试</a:t>
            </a: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4232275" y="1316038"/>
            <a:ext cx="1114425" cy="5651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43233" bIns="143233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验收测试</a:t>
            </a:r>
          </a:p>
        </p:txBody>
      </p:sp>
      <p:sp>
        <p:nvSpPr>
          <p:cNvPr id="878601" name="Text Box 9"/>
          <p:cNvSpPr txBox="1">
            <a:spLocks noChangeArrowheads="1"/>
          </p:cNvSpPr>
          <p:nvPr/>
        </p:nvSpPr>
        <p:spPr bwMode="auto">
          <a:xfrm>
            <a:off x="6318250" y="4132263"/>
            <a:ext cx="1222375" cy="333375"/>
          </a:xfrm>
          <a:prstGeom prst="rect">
            <a:avLst/>
          </a:prstGeom>
          <a:noFill/>
          <a:ln w="25400">
            <a:solidFill>
              <a:srgbClr val="339966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62158" bIns="62158">
            <a:spAutoFit/>
          </a:bodyPr>
          <a:lstStyle/>
          <a:p>
            <a:pPr>
              <a:defRPr/>
            </a:pPr>
            <a:r>
              <a:rPr lang="zh-CN" altLang="en-US" sz="1351" b="1">
                <a:solidFill>
                  <a:srgbClr val="000000"/>
                </a:solidFill>
                <a:latin typeface="Comic Sans MS" panose="030F0702030302020204" pitchFamily="66" charset="0"/>
              </a:rPr>
              <a:t>内部测试人员</a:t>
            </a:r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 flipH="1">
            <a:off x="3087688" y="4405313"/>
            <a:ext cx="3203575" cy="0"/>
          </a:xfrm>
          <a:prstGeom prst="line">
            <a:avLst/>
          </a:prstGeom>
          <a:noFill/>
          <a:ln w="25400">
            <a:solidFill>
              <a:srgbClr val="339966"/>
            </a:solidFill>
            <a:prstDash val="sysDot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8603" name="Text Box 11"/>
          <p:cNvSpPr txBox="1">
            <a:spLocks noChangeArrowheads="1"/>
          </p:cNvSpPr>
          <p:nvPr/>
        </p:nvSpPr>
        <p:spPr bwMode="auto">
          <a:xfrm>
            <a:off x="6234113" y="2917825"/>
            <a:ext cx="1223962" cy="441325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16208" bIns="116208">
            <a:spAutoFit/>
          </a:bodyPr>
          <a:lstStyle/>
          <a:p>
            <a:pPr>
              <a:defRPr/>
            </a:pPr>
            <a:r>
              <a:rPr lang="zh-CN" altLang="en-US" sz="1351" b="1"/>
              <a:t>独立测试小组</a:t>
            </a:r>
          </a:p>
        </p:txBody>
      </p:sp>
      <p:sp>
        <p:nvSpPr>
          <p:cNvPr id="878604" name="Text Box 12"/>
          <p:cNvSpPr txBox="1">
            <a:spLocks noChangeArrowheads="1"/>
          </p:cNvSpPr>
          <p:nvPr/>
        </p:nvSpPr>
        <p:spPr bwMode="auto">
          <a:xfrm>
            <a:off x="6234113" y="1658938"/>
            <a:ext cx="1230312" cy="481012"/>
          </a:xfrm>
          <a:prstGeom prst="rect">
            <a:avLst/>
          </a:prstGeom>
          <a:noFill/>
          <a:ln w="25400">
            <a:solidFill>
              <a:srgbClr val="33CCCC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4588" tIns="135125" rIns="94588" bIns="135125">
            <a:spAutoFit/>
          </a:bodyPr>
          <a:lstStyle/>
          <a:p>
            <a:pPr>
              <a:defRPr/>
            </a:pPr>
            <a:r>
              <a:rPr lang="zh-CN" altLang="en-US" sz="1351" b="1">
                <a:solidFill>
                  <a:srgbClr val="000000"/>
                </a:solidFill>
                <a:latin typeface="Comic Sans MS" panose="030F0702030302020204" pitchFamily="66" charset="0"/>
              </a:rPr>
              <a:t>独立测试机构</a:t>
            </a:r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 flipH="1">
            <a:off x="4803775" y="2459038"/>
            <a:ext cx="515938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 flipH="1">
            <a:off x="4232275" y="3146425"/>
            <a:ext cx="1944688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 flipH="1">
            <a:off x="3660775" y="3660775"/>
            <a:ext cx="1658938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>
            <a:off x="5329238" y="2459038"/>
            <a:ext cx="0" cy="12017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 flipH="1">
            <a:off x="4803775" y="2287588"/>
            <a:ext cx="1087438" cy="0"/>
          </a:xfrm>
          <a:prstGeom prst="line">
            <a:avLst/>
          </a:prstGeom>
          <a:noFill/>
          <a:ln w="25400">
            <a:solidFill>
              <a:srgbClr val="33CCCC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 flipH="1">
            <a:off x="4232275" y="2974975"/>
            <a:ext cx="1716088" cy="0"/>
          </a:xfrm>
          <a:prstGeom prst="line">
            <a:avLst/>
          </a:prstGeom>
          <a:noFill/>
          <a:ln w="25400">
            <a:solidFill>
              <a:srgbClr val="33CCCC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 flipH="1">
            <a:off x="5319713" y="1544638"/>
            <a:ext cx="628650" cy="0"/>
          </a:xfrm>
          <a:prstGeom prst="line">
            <a:avLst/>
          </a:prstGeom>
          <a:noFill/>
          <a:ln w="25400">
            <a:solidFill>
              <a:srgbClr val="33CCCC"/>
            </a:solidFill>
            <a:prstDash val="lg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20" name="Line 20"/>
          <p:cNvSpPr>
            <a:spLocks noChangeShapeType="1"/>
          </p:cNvSpPr>
          <p:nvPr/>
        </p:nvSpPr>
        <p:spPr bwMode="auto">
          <a:xfrm flipH="1">
            <a:off x="5922963" y="1544638"/>
            <a:ext cx="25400" cy="1408112"/>
          </a:xfrm>
          <a:prstGeom prst="line">
            <a:avLst/>
          </a:prstGeom>
          <a:noFill/>
          <a:ln w="25400">
            <a:solidFill>
              <a:srgbClr val="33CCCC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21" name="Line 21"/>
          <p:cNvSpPr>
            <a:spLocks noChangeShapeType="1"/>
          </p:cNvSpPr>
          <p:nvPr/>
        </p:nvSpPr>
        <p:spPr bwMode="auto">
          <a:xfrm>
            <a:off x="5948363" y="1887538"/>
            <a:ext cx="285750" cy="0"/>
          </a:xfrm>
          <a:prstGeom prst="line">
            <a:avLst/>
          </a:prstGeom>
          <a:noFill/>
          <a:ln w="25400">
            <a:solidFill>
              <a:srgbClr val="33CCCC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22" name="AutoShape 22"/>
          <p:cNvSpPr>
            <a:spLocks noChangeArrowheads="1"/>
          </p:cNvSpPr>
          <p:nvPr/>
        </p:nvSpPr>
        <p:spPr bwMode="auto">
          <a:xfrm>
            <a:off x="3087688" y="3946525"/>
            <a:ext cx="515937" cy="2857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3" name="AutoShape 23"/>
          <p:cNvSpPr>
            <a:spLocks noChangeArrowheads="1"/>
          </p:cNvSpPr>
          <p:nvPr/>
        </p:nvSpPr>
        <p:spPr bwMode="auto">
          <a:xfrm>
            <a:off x="3660775" y="3260725"/>
            <a:ext cx="514350" cy="2857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4" name="AutoShape 24"/>
          <p:cNvSpPr>
            <a:spLocks noChangeArrowheads="1"/>
          </p:cNvSpPr>
          <p:nvPr/>
        </p:nvSpPr>
        <p:spPr bwMode="auto">
          <a:xfrm>
            <a:off x="4232275" y="2573338"/>
            <a:ext cx="514350" cy="287337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5" name="AutoShape 25"/>
          <p:cNvSpPr>
            <a:spLocks noChangeArrowheads="1"/>
          </p:cNvSpPr>
          <p:nvPr/>
        </p:nvSpPr>
        <p:spPr bwMode="auto">
          <a:xfrm>
            <a:off x="4803775" y="1887538"/>
            <a:ext cx="515938" cy="2857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rgbClr val="99CCFF"/>
          </a:solidFill>
          <a:ln w="9525">
            <a:solidFill>
              <a:srgbClr val="99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6" name="Oval 26"/>
          <p:cNvSpPr>
            <a:spLocks noChangeArrowheads="1"/>
          </p:cNvSpPr>
          <p:nvPr/>
        </p:nvSpPr>
        <p:spPr bwMode="auto">
          <a:xfrm>
            <a:off x="1654175" y="1335088"/>
            <a:ext cx="1433513" cy="1123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itchFamily="18" charset="0"/>
                <a:ea typeface="微软雅黑" pitchFamily="34" charset="-122"/>
              </a:rPr>
              <a:t>SQA</a:t>
            </a:r>
          </a:p>
        </p:txBody>
      </p:sp>
      <p:sp>
        <p:nvSpPr>
          <p:cNvPr id="51227" name="Line 27"/>
          <p:cNvSpPr>
            <a:spLocks noChangeShapeType="1"/>
          </p:cNvSpPr>
          <p:nvPr/>
        </p:nvSpPr>
        <p:spPr bwMode="auto">
          <a:xfrm>
            <a:off x="2573338" y="2516188"/>
            <a:ext cx="228600" cy="801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diamond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28" name="Line 28"/>
          <p:cNvSpPr>
            <a:spLocks noChangeShapeType="1"/>
          </p:cNvSpPr>
          <p:nvPr/>
        </p:nvSpPr>
        <p:spPr bwMode="auto">
          <a:xfrm>
            <a:off x="2916238" y="2401888"/>
            <a:ext cx="401637" cy="230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diamond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>
            <a:off x="3087688" y="2116138"/>
            <a:ext cx="573087" cy="171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diamond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30" name="Line 30"/>
          <p:cNvSpPr>
            <a:spLocks noChangeShapeType="1"/>
          </p:cNvSpPr>
          <p:nvPr/>
        </p:nvSpPr>
        <p:spPr bwMode="auto">
          <a:xfrm flipV="1">
            <a:off x="3087688" y="1658938"/>
            <a:ext cx="1087437" cy="171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diamond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31" name="Line 31"/>
          <p:cNvSpPr>
            <a:spLocks noChangeShapeType="1"/>
          </p:cNvSpPr>
          <p:nvPr/>
        </p:nvSpPr>
        <p:spPr bwMode="auto">
          <a:xfrm>
            <a:off x="2287588" y="2516188"/>
            <a:ext cx="0" cy="1487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diamond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51232" name="Picture 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1773238"/>
            <a:ext cx="136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3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88" y="1773238"/>
            <a:ext cx="138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4" name="Picture 3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38" y="1544638"/>
            <a:ext cx="1365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5" name="Picture 35" descr="BD07501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013" y="3489325"/>
            <a:ext cx="630237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8628" name="Picture 36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63" y="2230438"/>
            <a:ext cx="1087437" cy="74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7" name="Line 37"/>
          <p:cNvSpPr>
            <a:spLocks noChangeShapeType="1"/>
          </p:cNvSpPr>
          <p:nvPr/>
        </p:nvSpPr>
        <p:spPr bwMode="auto">
          <a:xfrm flipH="1">
            <a:off x="3603625" y="3832225"/>
            <a:ext cx="971550" cy="0"/>
          </a:xfrm>
          <a:prstGeom prst="line">
            <a:avLst/>
          </a:prstGeom>
          <a:noFill/>
          <a:ln w="25400">
            <a:solidFill>
              <a:srgbClr val="339966"/>
            </a:solidFill>
            <a:prstDash val="sysDot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38" name="Line 38"/>
          <p:cNvSpPr>
            <a:spLocks noChangeShapeType="1"/>
          </p:cNvSpPr>
          <p:nvPr/>
        </p:nvSpPr>
        <p:spPr bwMode="auto">
          <a:xfrm>
            <a:off x="4575175" y="3832225"/>
            <a:ext cx="0" cy="573088"/>
          </a:xfrm>
          <a:prstGeom prst="line">
            <a:avLst/>
          </a:prstGeom>
          <a:noFill/>
          <a:ln w="25400">
            <a:solidFill>
              <a:srgbClr val="3399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78631" name="AutoShape 39"/>
          <p:cNvSpPr>
            <a:spLocks noChangeArrowheads="1"/>
          </p:cNvSpPr>
          <p:nvPr/>
        </p:nvSpPr>
        <p:spPr bwMode="auto">
          <a:xfrm>
            <a:off x="3382963" y="574675"/>
            <a:ext cx="1998662" cy="757238"/>
          </a:xfrm>
          <a:prstGeom prst="cloudCallout">
            <a:avLst>
              <a:gd name="adj1" fmla="val -86708"/>
              <a:gd name="adj2" fmla="val 91731"/>
            </a:avLst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zh-CN" altLang="en-US" sz="1351" b="1">
                <a:ea typeface="仿宋_GB2312"/>
                <a:cs typeface="仿宋_GB2312"/>
              </a:rPr>
              <a:t>定义测试标准和质量控制过程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>
                <a:solidFill>
                  <a:srgbClr val="FF9900"/>
                </a:solidFill>
              </a:rPr>
              <a:t>回顾</a:t>
            </a:r>
            <a:r>
              <a:rPr lang="zh-CN" altLang="en-US" dirty="0"/>
              <a:t>－</a:t>
            </a:r>
            <a:r>
              <a:rPr lang="zh-CN" altLang="en-US" dirty="0">
                <a:ea typeface="楷体_GB2312"/>
                <a:cs typeface="楷体_GB2312"/>
              </a:rPr>
              <a:t>软件开发与测试过程</a:t>
            </a:r>
          </a:p>
        </p:txBody>
      </p:sp>
      <p:pic>
        <p:nvPicPr>
          <p:cNvPr id="329732" name="Picture 4" descr="tp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5" y="1258888"/>
            <a:ext cx="5949950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>
                <a:solidFill>
                  <a:srgbClr val="FF9900"/>
                </a:solidFill>
              </a:rPr>
              <a:t>重点</a:t>
            </a:r>
            <a:r>
              <a:rPr lang="zh-CN" altLang="en-US" dirty="0"/>
              <a:t>－单元测试</a:t>
            </a:r>
            <a:endParaRPr lang="zh-CN" altLang="en-US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r>
              <a:rPr lang="zh-CN" altLang="en-US" dirty="0">
                <a:latin typeface="宋体" pitchFamily="2" charset="-122"/>
              </a:rPr>
              <a:t>对象－</a:t>
            </a:r>
            <a:r>
              <a:rPr lang="zh-CN" altLang="en-US" dirty="0">
                <a:ea typeface="楷体_GB2312"/>
                <a:cs typeface="楷体_GB2312"/>
              </a:rPr>
              <a:t>模块</a:t>
            </a:r>
          </a:p>
          <a:p>
            <a:r>
              <a:rPr lang="zh-CN" altLang="en-US" dirty="0">
                <a:latin typeface="宋体" pitchFamily="2" charset="-122"/>
              </a:rPr>
              <a:t>依据－</a:t>
            </a:r>
            <a:r>
              <a:rPr lang="zh-CN" altLang="en-US" dirty="0">
                <a:ea typeface="楷体_GB2312"/>
                <a:cs typeface="楷体_GB2312"/>
              </a:rPr>
              <a:t>软件设计规格说明</a:t>
            </a:r>
            <a:endParaRPr lang="en-US" altLang="zh-CN" dirty="0">
              <a:ea typeface="楷体_GB2312"/>
              <a:cs typeface="楷体_GB2312"/>
            </a:endParaRPr>
          </a:p>
          <a:p>
            <a:r>
              <a:rPr lang="zh-CN" altLang="en-US" dirty="0">
                <a:latin typeface="宋体" pitchFamily="2" charset="-122"/>
              </a:rPr>
              <a:t>方法－</a:t>
            </a:r>
            <a:r>
              <a:rPr lang="zh-CN" altLang="en-US" dirty="0">
                <a:ea typeface="楷体_GB2312"/>
                <a:cs typeface="楷体_GB2312"/>
              </a:rPr>
              <a:t>白盒为主</a:t>
            </a:r>
          </a:p>
        </p:txBody>
      </p:sp>
      <p:pic>
        <p:nvPicPr>
          <p:cNvPr id="332804" name="Picture 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75" y="2627313"/>
            <a:ext cx="104775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2805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538" y="2917825"/>
            <a:ext cx="1028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2806" name="Picture 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3660775"/>
            <a:ext cx="685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2807" name="Rectangle 8"/>
          <p:cNvSpPr>
            <a:spLocks noChangeArrowheads="1"/>
          </p:cNvSpPr>
          <p:nvPr/>
        </p:nvSpPr>
        <p:spPr bwMode="auto">
          <a:xfrm>
            <a:off x="5287963" y="2689225"/>
            <a:ext cx="1136650" cy="6826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latin typeface="Times New Roman" pitchFamily="18" charset="0"/>
                <a:ea typeface="仿宋_GB2312"/>
                <a:cs typeface="仿宋_GB2312"/>
              </a:rPr>
              <a:t>被测模块</a:t>
            </a:r>
          </a:p>
        </p:txBody>
      </p:sp>
      <p:sp>
        <p:nvSpPr>
          <p:cNvPr id="332808" name="Rectangle 9"/>
          <p:cNvSpPr>
            <a:spLocks noChangeArrowheads="1"/>
          </p:cNvSpPr>
          <p:nvPr/>
        </p:nvSpPr>
        <p:spPr bwMode="auto">
          <a:xfrm>
            <a:off x="6324600" y="3946525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332809" name="AutoShape 10"/>
          <p:cNvSpPr>
            <a:spLocks noChangeArrowheads="1"/>
          </p:cNvSpPr>
          <p:nvPr/>
        </p:nvSpPr>
        <p:spPr bwMode="auto">
          <a:xfrm>
            <a:off x="4976813" y="2862263"/>
            <a:ext cx="204787" cy="227012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32810" name="AutoShape 11"/>
          <p:cNvSpPr>
            <a:spLocks noChangeArrowheads="1"/>
          </p:cNvSpPr>
          <p:nvPr/>
        </p:nvSpPr>
        <p:spPr bwMode="auto">
          <a:xfrm>
            <a:off x="6553200" y="2974975"/>
            <a:ext cx="171450" cy="187325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32811" name="Rectangle 12"/>
          <p:cNvSpPr>
            <a:spLocks noChangeArrowheads="1"/>
          </p:cNvSpPr>
          <p:nvPr/>
        </p:nvSpPr>
        <p:spPr bwMode="auto">
          <a:xfrm>
            <a:off x="7016750" y="2627313"/>
            <a:ext cx="52387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结果</a:t>
            </a:r>
          </a:p>
        </p:txBody>
      </p:sp>
      <p:sp>
        <p:nvSpPr>
          <p:cNvPr id="332812" name="AutoShape 13"/>
          <p:cNvSpPr>
            <a:spLocks noChangeArrowheads="1"/>
          </p:cNvSpPr>
          <p:nvPr/>
        </p:nvSpPr>
        <p:spPr bwMode="auto">
          <a:xfrm rot="-5400000">
            <a:off x="5838825" y="3460750"/>
            <a:ext cx="114300" cy="17145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32813" name="Rectangle 14"/>
          <p:cNvSpPr>
            <a:spLocks noChangeArrowheads="1"/>
          </p:cNvSpPr>
          <p:nvPr/>
        </p:nvSpPr>
        <p:spPr bwMode="auto">
          <a:xfrm>
            <a:off x="3829050" y="4033838"/>
            <a:ext cx="1108075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宋体" pitchFamily="2" charset="-122"/>
                <a:ea typeface="仿宋_GB2312"/>
                <a:cs typeface="仿宋_GB2312"/>
              </a:rPr>
              <a:t>测试工程师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ea typeface="楷体_GB2312"/>
                <a:cs typeface="楷体_GB2312"/>
              </a:rPr>
              <a:t>测试准备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spcAft>
                <a:spcPct val="20000"/>
              </a:spcAft>
            </a:pPr>
            <a:r>
              <a:rPr lang="zh-CN" altLang="en-US" dirty="0"/>
              <a:t>要求的文档</a:t>
            </a:r>
            <a:r>
              <a:rPr lang="en-US" altLang="zh-CN" dirty="0"/>
              <a:t>(</a:t>
            </a:r>
            <a:r>
              <a:rPr lang="zh-CN" altLang="en-US" dirty="0"/>
              <a:t>软件设计规格说明</a:t>
            </a:r>
            <a:r>
              <a:rPr lang="en-US" altLang="zh-CN" dirty="0"/>
              <a:t>)</a:t>
            </a:r>
            <a:r>
              <a:rPr lang="zh-CN" altLang="en-US" dirty="0"/>
              <a:t>可提交</a:t>
            </a:r>
          </a:p>
          <a:p>
            <a:pPr>
              <a:spcAft>
                <a:spcPct val="20000"/>
              </a:spcAft>
            </a:pPr>
            <a:r>
              <a:rPr lang="zh-CN" altLang="en-US" dirty="0"/>
              <a:t>软件单元源程序符合规格要求并已无错误地通过编译或汇编</a:t>
            </a:r>
          </a:p>
          <a:p>
            <a:pPr>
              <a:spcAft>
                <a:spcPct val="20000"/>
              </a:spcAft>
            </a:pPr>
            <a:r>
              <a:rPr lang="zh-CN" altLang="en-US" dirty="0"/>
              <a:t>被测试软件单元已纳入配置管理中</a:t>
            </a:r>
          </a:p>
          <a:p>
            <a:pPr>
              <a:spcAft>
                <a:spcPct val="20000"/>
              </a:spcAft>
            </a:pPr>
            <a:r>
              <a:rPr lang="zh-CN" altLang="en-US" dirty="0"/>
              <a:t>具备了规定的单元测试环境和测试工具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ea typeface="楷体_GB2312"/>
                <a:cs typeface="楷体_GB2312"/>
              </a:rPr>
              <a:t>通过准则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命名符合规则</a:t>
            </a:r>
          </a:p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控制流程正确</a:t>
            </a:r>
          </a:p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变量使用无差错</a:t>
            </a:r>
          </a:p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达到质量度量指标</a:t>
            </a:r>
          </a:p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功能与设计说明一致</a:t>
            </a:r>
          </a:p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性能达到软件设计指标</a:t>
            </a:r>
          </a:p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覆盖测试达到规定的覆盖率</a:t>
            </a:r>
          </a:p>
          <a:p>
            <a:pPr marL="400050" indent="-400050" algn="just">
              <a:buSzPct val="85000"/>
              <a:buFont typeface="Wingdings" pitchFamily="2" charset="2"/>
              <a:buAutoNum type="arabicParenR"/>
            </a:pPr>
            <a:r>
              <a:rPr lang="zh-CN" altLang="en-US" sz="2400"/>
              <a:t>对发现的问题已进行修改并通过回归测试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ea typeface="楷体_GB2312"/>
                <a:cs typeface="楷体_GB2312"/>
              </a:rPr>
              <a:t>测试方法</a:t>
            </a:r>
          </a:p>
        </p:txBody>
      </p:sp>
      <p:sp>
        <p:nvSpPr>
          <p:cNvPr id="85197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zh-CN" altLang="en-US" sz="1802"/>
              <a:t>静态测试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人工执行：读源程序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走查</a:t>
            </a:r>
            <a:r>
              <a:rPr lang="en-US" altLang="zh-CN" sz="1802" b="1">
                <a:solidFill>
                  <a:srgbClr val="000000"/>
                </a:solidFill>
              </a:rPr>
              <a:t>(</a:t>
            </a:r>
            <a:r>
              <a:rPr lang="zh-CN" altLang="en-US" sz="1802" b="1">
                <a:solidFill>
                  <a:srgbClr val="000000"/>
                </a:solidFill>
              </a:rPr>
              <a:t>非正式</a:t>
            </a:r>
            <a:r>
              <a:rPr lang="en-US" altLang="zh-CN" sz="1802" b="1">
                <a:solidFill>
                  <a:srgbClr val="000000"/>
                </a:solidFill>
              </a:rPr>
              <a:t>)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代码检查</a:t>
            </a:r>
            <a:r>
              <a:rPr lang="en-US" altLang="zh-CN" sz="1802" b="1">
                <a:solidFill>
                  <a:srgbClr val="000000"/>
                </a:solidFill>
              </a:rPr>
              <a:t>(</a:t>
            </a:r>
            <a:r>
              <a:rPr lang="zh-CN" altLang="en-US" sz="1802" b="1">
                <a:solidFill>
                  <a:srgbClr val="000000"/>
                </a:solidFill>
              </a:rPr>
              <a:t>正式</a:t>
            </a:r>
            <a:r>
              <a:rPr lang="en-US" altLang="zh-CN" sz="1802" b="1">
                <a:solidFill>
                  <a:srgbClr val="000000"/>
                </a:solidFill>
              </a:rPr>
              <a:t>)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自动工具检查</a:t>
            </a:r>
          </a:p>
          <a:p>
            <a:pPr lvl="2">
              <a:lnSpc>
                <a:spcPct val="80000"/>
              </a:lnSpc>
              <a:defRPr/>
            </a:pPr>
            <a:r>
              <a:rPr lang="zh-CN" altLang="en-US" sz="1501"/>
              <a:t>语法及语义错误</a:t>
            </a:r>
          </a:p>
          <a:p>
            <a:pPr lvl="2">
              <a:lnSpc>
                <a:spcPct val="80000"/>
              </a:lnSpc>
              <a:defRPr/>
            </a:pPr>
            <a:r>
              <a:rPr lang="zh-CN" altLang="en-US" sz="1501"/>
              <a:t>背离编码标准</a:t>
            </a:r>
          </a:p>
          <a:p>
            <a:pPr lvl="2">
              <a:lnSpc>
                <a:spcPct val="80000"/>
              </a:lnSpc>
              <a:defRPr/>
            </a:pPr>
            <a:r>
              <a:rPr lang="en-US" altLang="zh-CN" sz="1501"/>
              <a:t>Runtime</a:t>
            </a:r>
            <a:r>
              <a:rPr lang="zh-CN" altLang="en-US" sz="1501"/>
              <a:t>错误</a:t>
            </a:r>
          </a:p>
          <a:p>
            <a:pPr>
              <a:lnSpc>
                <a:spcPct val="80000"/>
              </a:lnSpc>
              <a:defRPr/>
            </a:pPr>
            <a:r>
              <a:rPr lang="zh-CN" altLang="en-US" sz="1802"/>
              <a:t>动态测试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黑盒测试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白盒测试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基于数据结构的测试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单元测试焦点</a:t>
            </a:r>
          </a:p>
        </p:txBody>
      </p:sp>
      <p:sp>
        <p:nvSpPr>
          <p:cNvPr id="336900" name="Rectangle 5"/>
          <p:cNvSpPr>
            <a:spLocks noChangeArrowheads="1"/>
          </p:cNvSpPr>
          <p:nvPr/>
        </p:nvSpPr>
        <p:spPr bwMode="auto">
          <a:xfrm>
            <a:off x="2733675" y="1201738"/>
            <a:ext cx="1404938" cy="781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336901" name="Rectangle 6"/>
          <p:cNvSpPr>
            <a:spLocks noChangeArrowheads="1"/>
          </p:cNvSpPr>
          <p:nvPr/>
        </p:nvSpPr>
        <p:spPr bwMode="auto">
          <a:xfrm>
            <a:off x="4356100" y="1884363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336902" name="Rectangle 7"/>
          <p:cNvSpPr>
            <a:spLocks noChangeArrowheads="1"/>
          </p:cNvSpPr>
          <p:nvPr/>
        </p:nvSpPr>
        <p:spPr bwMode="auto">
          <a:xfrm>
            <a:off x="4356100" y="2179638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336903" name="Rectangle 9"/>
          <p:cNvSpPr>
            <a:spLocks noChangeArrowheads="1"/>
          </p:cNvSpPr>
          <p:nvPr/>
        </p:nvSpPr>
        <p:spPr bwMode="auto">
          <a:xfrm>
            <a:off x="4356100" y="2493963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336904" name="Rectangle 11"/>
          <p:cNvSpPr>
            <a:spLocks noChangeArrowheads="1"/>
          </p:cNvSpPr>
          <p:nvPr/>
        </p:nvSpPr>
        <p:spPr bwMode="auto">
          <a:xfrm>
            <a:off x="4356100" y="2779713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336905" name="Rectangle 13"/>
          <p:cNvSpPr>
            <a:spLocks noChangeArrowheads="1"/>
          </p:cNvSpPr>
          <p:nvPr/>
        </p:nvSpPr>
        <p:spPr bwMode="auto">
          <a:xfrm>
            <a:off x="4356100" y="3057525"/>
            <a:ext cx="1495425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pic>
        <p:nvPicPr>
          <p:cNvPr id="336906" name="Picture 1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3063875"/>
            <a:ext cx="914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6907" name="Rectangle 16"/>
          <p:cNvSpPr>
            <a:spLocks noChangeArrowheads="1"/>
          </p:cNvSpPr>
          <p:nvPr/>
        </p:nvSpPr>
        <p:spPr bwMode="auto">
          <a:xfrm>
            <a:off x="3965575" y="3932238"/>
            <a:ext cx="1066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336908" name="AutoShape 17"/>
          <p:cNvSpPr>
            <a:spLocks noChangeArrowheads="1"/>
          </p:cNvSpPr>
          <p:nvPr/>
        </p:nvSpPr>
        <p:spPr bwMode="auto">
          <a:xfrm rot="-5400000">
            <a:off x="3026569" y="2402682"/>
            <a:ext cx="858837" cy="285750"/>
          </a:xfrm>
          <a:prstGeom prst="rightArrow">
            <a:avLst>
              <a:gd name="adj1" fmla="val 50000"/>
              <a:gd name="adj2" fmla="val 150292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36909" name="Line 18"/>
          <p:cNvSpPr>
            <a:spLocks noChangeShapeType="1"/>
          </p:cNvSpPr>
          <p:nvPr/>
        </p:nvSpPr>
        <p:spPr bwMode="auto">
          <a:xfrm flipV="1">
            <a:off x="3498850" y="2063750"/>
            <a:ext cx="830263" cy="6588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910" name="Line 19"/>
          <p:cNvSpPr>
            <a:spLocks noChangeShapeType="1"/>
          </p:cNvSpPr>
          <p:nvPr/>
        </p:nvSpPr>
        <p:spPr bwMode="auto">
          <a:xfrm flipV="1">
            <a:off x="3527425" y="2349500"/>
            <a:ext cx="792163" cy="3730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911" name="Line 20"/>
          <p:cNvSpPr>
            <a:spLocks noChangeShapeType="1"/>
          </p:cNvSpPr>
          <p:nvPr/>
        </p:nvSpPr>
        <p:spPr bwMode="auto">
          <a:xfrm flipV="1">
            <a:off x="3536950" y="2627313"/>
            <a:ext cx="773113" cy="1047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912" name="Line 21"/>
          <p:cNvSpPr>
            <a:spLocks noChangeShapeType="1"/>
          </p:cNvSpPr>
          <p:nvPr/>
        </p:nvSpPr>
        <p:spPr bwMode="auto">
          <a:xfrm>
            <a:off x="3546475" y="2760663"/>
            <a:ext cx="811213" cy="1619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913" name="Line 22"/>
          <p:cNvSpPr>
            <a:spLocks noChangeShapeType="1"/>
          </p:cNvSpPr>
          <p:nvPr/>
        </p:nvSpPr>
        <p:spPr bwMode="auto">
          <a:xfrm>
            <a:off x="3536950" y="2732088"/>
            <a:ext cx="820738" cy="4667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3503612" y="2760663"/>
            <a:ext cx="924372" cy="677564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4427984" y="3354388"/>
            <a:ext cx="329543" cy="298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…</a:t>
            </a:r>
            <a:endParaRPr lang="zh-CN" altLang="en-US" sz="1500" b="1" dirty="0">
              <a:solidFill>
                <a:srgbClr val="000000"/>
              </a:solidFill>
              <a:latin typeface="仿宋_GB2312"/>
              <a:ea typeface="仿宋_GB2312"/>
              <a:cs typeface="仿宋_GB231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模块接口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5327823" cy="3397250"/>
          </a:xfrm>
        </p:spPr>
        <p:txBody>
          <a:bodyPr/>
          <a:lstStyle/>
          <a:p>
            <a:r>
              <a:rPr lang="zh-CN" altLang="en-US" sz="2400" dirty="0"/>
              <a:t>模块的实际输入与定义的输入一致</a:t>
            </a:r>
          </a:p>
          <a:p>
            <a:pPr lvl="1"/>
            <a:r>
              <a:rPr lang="zh-CN" altLang="en-US" sz="2000" b="1" dirty="0">
                <a:solidFill>
                  <a:srgbClr val="000000"/>
                </a:solidFill>
              </a:rPr>
              <a:t>个数、类型、顺序</a:t>
            </a:r>
          </a:p>
          <a:p>
            <a:r>
              <a:rPr lang="zh-CN" altLang="en-US" sz="2400" dirty="0"/>
              <a:t>模块中对于非内部</a:t>
            </a:r>
            <a:r>
              <a:rPr lang="en-US" altLang="zh-CN" sz="2400" dirty="0"/>
              <a:t>/</a:t>
            </a:r>
            <a:r>
              <a:rPr lang="zh-CN" altLang="en-US" sz="2400" dirty="0"/>
              <a:t>局部变量使用合理</a:t>
            </a:r>
          </a:p>
          <a:p>
            <a:r>
              <a:rPr lang="zh-CN" altLang="en-US" sz="2400" dirty="0"/>
              <a:t>调用其他模块时，检查其可用性和处理结果</a:t>
            </a:r>
          </a:p>
          <a:p>
            <a:r>
              <a:rPr lang="zh-CN" altLang="en-US" sz="2400" dirty="0"/>
              <a:t>使用外部资源时，检查其可用性并及时释放资源</a:t>
            </a:r>
          </a:p>
          <a:p>
            <a:pPr lvl="1"/>
            <a:r>
              <a:rPr lang="zh-CN" altLang="en-US" sz="2000" b="1" dirty="0">
                <a:solidFill>
                  <a:srgbClr val="000000"/>
                </a:solidFill>
              </a:rPr>
              <a:t>内存、文件、硬盘、端口等</a:t>
            </a:r>
          </a:p>
          <a:p>
            <a:r>
              <a:rPr lang="zh-CN" altLang="en-US" sz="2400" dirty="0"/>
              <a:t>其他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012160" y="1638027"/>
            <a:ext cx="1404938" cy="781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34585" y="2320652"/>
            <a:ext cx="912813" cy="29845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634585" y="2615927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634585" y="29302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7634585" y="3216002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634585" y="3493814"/>
            <a:ext cx="1495425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pic>
        <p:nvPicPr>
          <p:cNvPr id="10" name="Picture 1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60" y="3500164"/>
            <a:ext cx="914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7244060" y="4368527"/>
            <a:ext cx="1066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12" name="AutoShape 17"/>
          <p:cNvSpPr>
            <a:spLocks noChangeArrowheads="1"/>
          </p:cNvSpPr>
          <p:nvPr/>
        </p:nvSpPr>
        <p:spPr bwMode="auto">
          <a:xfrm rot="-5400000">
            <a:off x="6305054" y="2838971"/>
            <a:ext cx="858837" cy="285750"/>
          </a:xfrm>
          <a:prstGeom prst="rightArrow">
            <a:avLst>
              <a:gd name="adj1" fmla="val 50000"/>
              <a:gd name="adj2" fmla="val 150292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V="1">
            <a:off x="6777335" y="2500039"/>
            <a:ext cx="830263" cy="6588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6805910" y="2785789"/>
            <a:ext cx="792163" cy="3730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flipV="1">
            <a:off x="6815435" y="3063602"/>
            <a:ext cx="773113" cy="1047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6824960" y="3196952"/>
            <a:ext cx="811213" cy="1619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6815435" y="3168377"/>
            <a:ext cx="820738" cy="4667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局部数据结构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r>
              <a:rPr lang="zh-CN" altLang="en-US" sz="2400"/>
              <a:t>变量从来没有被使用</a:t>
            </a:r>
          </a:p>
          <a:p>
            <a:pPr lvl="1"/>
            <a:r>
              <a:rPr lang="zh-CN" altLang="en-US" sz="1600" b="1">
                <a:solidFill>
                  <a:srgbClr val="000000"/>
                </a:solidFill>
              </a:rPr>
              <a:t>可能使用了错误的变量名</a:t>
            </a:r>
          </a:p>
          <a:p>
            <a:r>
              <a:rPr lang="zh-CN" altLang="en-US" sz="2400"/>
              <a:t>变量没有初始化</a:t>
            </a:r>
          </a:p>
          <a:p>
            <a:r>
              <a:rPr lang="zh-CN" altLang="en-US" sz="2400"/>
              <a:t>错误的类型转换</a:t>
            </a:r>
          </a:p>
          <a:p>
            <a:r>
              <a:rPr lang="zh-CN" altLang="en-US" sz="2400"/>
              <a:t>数组越界</a:t>
            </a:r>
          </a:p>
          <a:p>
            <a:r>
              <a:rPr lang="zh-CN" altLang="en-US" sz="2400"/>
              <a:t>非法指针</a:t>
            </a:r>
          </a:p>
          <a:p>
            <a:r>
              <a:rPr lang="zh-CN" altLang="en-US" sz="2400"/>
              <a:t>变量或函数名称拼写错误</a:t>
            </a:r>
          </a:p>
          <a:p>
            <a:pPr lvl="1"/>
            <a:r>
              <a:rPr lang="zh-CN" altLang="en-US" sz="1600" b="1">
                <a:solidFill>
                  <a:srgbClr val="000000"/>
                </a:solidFill>
              </a:rPr>
              <a:t>使用了外部变量或函数</a:t>
            </a:r>
          </a:p>
          <a:p>
            <a:r>
              <a:rPr lang="zh-CN" altLang="en-US" sz="2400"/>
              <a:t>其他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012160" y="1638027"/>
            <a:ext cx="1404938" cy="781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34585" y="23206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634585" y="2615927"/>
            <a:ext cx="1301750" cy="29845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634585" y="29302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7634585" y="3216002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634585" y="3493814"/>
            <a:ext cx="1495425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pic>
        <p:nvPicPr>
          <p:cNvPr id="10" name="Picture 1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60" y="3500164"/>
            <a:ext cx="914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7244060" y="4368527"/>
            <a:ext cx="1066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12" name="AutoShape 17"/>
          <p:cNvSpPr>
            <a:spLocks noChangeArrowheads="1"/>
          </p:cNvSpPr>
          <p:nvPr/>
        </p:nvSpPr>
        <p:spPr bwMode="auto">
          <a:xfrm rot="-5400000">
            <a:off x="6305054" y="2838971"/>
            <a:ext cx="858837" cy="285750"/>
          </a:xfrm>
          <a:prstGeom prst="rightArrow">
            <a:avLst>
              <a:gd name="adj1" fmla="val 50000"/>
              <a:gd name="adj2" fmla="val 150292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V="1">
            <a:off x="6777335" y="2500039"/>
            <a:ext cx="830263" cy="6588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6805910" y="2785789"/>
            <a:ext cx="792163" cy="3730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flipV="1">
            <a:off x="6815435" y="3063602"/>
            <a:ext cx="773113" cy="1047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6824960" y="3196952"/>
            <a:ext cx="811213" cy="1619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6815435" y="3168377"/>
            <a:ext cx="820738" cy="4667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边界条件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r>
              <a:rPr lang="zh-CN" altLang="en-US"/>
              <a:t>正确处理合法数据</a:t>
            </a:r>
          </a:p>
          <a:p>
            <a:r>
              <a:rPr lang="zh-CN" altLang="en-US"/>
              <a:t>正确处理非法数据</a:t>
            </a:r>
          </a:p>
          <a:p>
            <a:r>
              <a:rPr lang="zh-CN" altLang="en-US"/>
              <a:t>正确处理边界的内点</a:t>
            </a:r>
          </a:p>
          <a:p>
            <a:r>
              <a:rPr lang="zh-CN" altLang="en-US"/>
              <a:t>正确处理边界的外点</a:t>
            </a:r>
          </a:p>
          <a:p>
            <a:r>
              <a:rPr lang="zh-CN" altLang="en-US"/>
              <a:t>其他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012160" y="1638027"/>
            <a:ext cx="1404938" cy="781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34585" y="23206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634585" y="2615927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634585" y="2930252"/>
            <a:ext cx="912813" cy="29845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7634585" y="3216002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634585" y="3493814"/>
            <a:ext cx="1495425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pic>
        <p:nvPicPr>
          <p:cNvPr id="10" name="Picture 1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60" y="3500164"/>
            <a:ext cx="914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7244060" y="4368527"/>
            <a:ext cx="1066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12" name="AutoShape 17"/>
          <p:cNvSpPr>
            <a:spLocks noChangeArrowheads="1"/>
          </p:cNvSpPr>
          <p:nvPr/>
        </p:nvSpPr>
        <p:spPr bwMode="auto">
          <a:xfrm rot="-5400000">
            <a:off x="6305054" y="2838971"/>
            <a:ext cx="858837" cy="285750"/>
          </a:xfrm>
          <a:prstGeom prst="rightArrow">
            <a:avLst>
              <a:gd name="adj1" fmla="val 50000"/>
              <a:gd name="adj2" fmla="val 150292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V="1">
            <a:off x="6777335" y="2500039"/>
            <a:ext cx="830263" cy="6588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6805910" y="2785789"/>
            <a:ext cx="792163" cy="3730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flipV="1">
            <a:off x="6815435" y="3063602"/>
            <a:ext cx="773113" cy="1047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6824960" y="3196952"/>
            <a:ext cx="811213" cy="1619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6815435" y="3168377"/>
            <a:ext cx="820738" cy="4667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独立执行路径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/>
              <a:t>不可达或冗余代码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计算优先级错误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精度错误</a:t>
            </a:r>
          </a:p>
          <a:p>
            <a:pPr lvl="1">
              <a:lnSpc>
                <a:spcPct val="90000"/>
              </a:lnSpc>
            </a:pPr>
            <a:r>
              <a:rPr lang="zh-CN" altLang="en-US" sz="1600" b="1">
                <a:solidFill>
                  <a:srgbClr val="000000"/>
                </a:solidFill>
              </a:rPr>
              <a:t>比较运算错误</a:t>
            </a:r>
          </a:p>
          <a:p>
            <a:pPr lvl="1">
              <a:lnSpc>
                <a:spcPct val="90000"/>
              </a:lnSpc>
            </a:pPr>
            <a:r>
              <a:rPr lang="zh-CN" altLang="en-US" sz="1600" b="1">
                <a:solidFill>
                  <a:srgbClr val="000000"/>
                </a:solidFill>
              </a:rPr>
              <a:t>赋值错误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表达式的不正确符号</a:t>
            </a:r>
          </a:p>
          <a:p>
            <a:pPr lvl="1">
              <a:lnSpc>
                <a:spcPct val="90000"/>
              </a:lnSpc>
            </a:pPr>
            <a:r>
              <a:rPr lang="en-US" altLang="zh-CN" sz="1600"/>
              <a:t>&gt;</a:t>
            </a:r>
            <a:r>
              <a:rPr lang="zh-CN" altLang="en-US" sz="1600"/>
              <a:t>、</a:t>
            </a:r>
            <a:r>
              <a:rPr lang="en-US" altLang="zh-CN" sz="1600"/>
              <a:t>&gt;=</a:t>
            </a:r>
            <a:r>
              <a:rPr lang="zh-CN" altLang="en-US" sz="1600"/>
              <a:t>；</a:t>
            </a:r>
            <a:r>
              <a:rPr lang="en-US" altLang="zh-CN" sz="1600"/>
              <a:t>=</a:t>
            </a:r>
            <a:r>
              <a:rPr lang="zh-CN" altLang="en-US" sz="1600"/>
              <a:t>、</a:t>
            </a:r>
            <a:r>
              <a:rPr lang="en-US" altLang="zh-CN" sz="1600"/>
              <a:t>==</a:t>
            </a:r>
            <a:r>
              <a:rPr lang="zh-CN" altLang="en-US" sz="1600"/>
              <a:t>、</a:t>
            </a:r>
            <a:r>
              <a:rPr lang="en-US" altLang="zh-CN" sz="1600"/>
              <a:t>!=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循环变量的使用错误</a:t>
            </a:r>
          </a:p>
          <a:p>
            <a:pPr lvl="1">
              <a:lnSpc>
                <a:spcPct val="90000"/>
              </a:lnSpc>
            </a:pPr>
            <a:r>
              <a:rPr lang="zh-CN" altLang="en-US" sz="1600" b="1">
                <a:solidFill>
                  <a:srgbClr val="000000"/>
                </a:solidFill>
              </a:rPr>
              <a:t>错误赋值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其他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012160" y="1638027"/>
            <a:ext cx="1404938" cy="781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34585" y="23206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634585" y="2615927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634585" y="29302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7634585" y="3216002"/>
            <a:ext cx="1301750" cy="29845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634585" y="3493814"/>
            <a:ext cx="1495425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pic>
        <p:nvPicPr>
          <p:cNvPr id="10" name="Picture 1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60" y="3500164"/>
            <a:ext cx="914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7244060" y="4368527"/>
            <a:ext cx="1066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12" name="AutoShape 17"/>
          <p:cNvSpPr>
            <a:spLocks noChangeArrowheads="1"/>
          </p:cNvSpPr>
          <p:nvPr/>
        </p:nvSpPr>
        <p:spPr bwMode="auto">
          <a:xfrm rot="-5400000">
            <a:off x="6305054" y="2838971"/>
            <a:ext cx="858837" cy="285750"/>
          </a:xfrm>
          <a:prstGeom prst="rightArrow">
            <a:avLst>
              <a:gd name="adj1" fmla="val 50000"/>
              <a:gd name="adj2" fmla="val 150292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V="1">
            <a:off x="6777335" y="2500039"/>
            <a:ext cx="830263" cy="6588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6805910" y="2785789"/>
            <a:ext cx="792163" cy="3730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flipV="1">
            <a:off x="6815435" y="3063602"/>
            <a:ext cx="773113" cy="1047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6824960" y="3196952"/>
            <a:ext cx="811213" cy="1619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6815435" y="3168377"/>
            <a:ext cx="820738" cy="4667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错误处理的路径</a:t>
            </a:r>
          </a:p>
        </p:txBody>
      </p:sp>
      <p:sp>
        <p:nvSpPr>
          <p:cNvPr id="88985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zh-CN" altLang="en-US"/>
              <a:t>错误自动检测机制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资源使用前后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其他模块使用前后</a:t>
            </a:r>
          </a:p>
          <a:p>
            <a:pPr>
              <a:lnSpc>
                <a:spcPct val="80000"/>
              </a:lnSpc>
              <a:defRPr/>
            </a:pPr>
            <a:r>
              <a:rPr lang="zh-CN" altLang="en-US"/>
              <a:t>错误处理策略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抛出错误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通知用户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进行记录</a:t>
            </a:r>
          </a:p>
          <a:p>
            <a:pPr>
              <a:lnSpc>
                <a:spcPct val="80000"/>
              </a:lnSpc>
              <a:defRPr/>
            </a:pPr>
            <a:r>
              <a:rPr lang="zh-CN" altLang="en-US"/>
              <a:t>错误处理的有效性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在系统干预前处理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报告和记录的错误真实详细</a:t>
            </a:r>
          </a:p>
          <a:p>
            <a:pPr>
              <a:lnSpc>
                <a:spcPct val="80000"/>
              </a:lnSpc>
              <a:defRPr/>
            </a:pPr>
            <a:r>
              <a:rPr lang="zh-CN" altLang="en-US"/>
              <a:t>其他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012160" y="1638027"/>
            <a:ext cx="1404938" cy="781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634585" y="23206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634585" y="2615927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634585" y="2930252"/>
            <a:ext cx="912813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7634585" y="3216002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634585" y="3493814"/>
            <a:ext cx="1495425" cy="29686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67928" tIns="33368" rIns="67928" bIns="33368">
            <a:spAutoFit/>
          </a:bodyPr>
          <a:lstStyle/>
          <a:p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pic>
        <p:nvPicPr>
          <p:cNvPr id="10" name="Picture 1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60" y="3500164"/>
            <a:ext cx="914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7244060" y="4368527"/>
            <a:ext cx="1066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12" name="AutoShape 17"/>
          <p:cNvSpPr>
            <a:spLocks noChangeArrowheads="1"/>
          </p:cNvSpPr>
          <p:nvPr/>
        </p:nvSpPr>
        <p:spPr bwMode="auto">
          <a:xfrm rot="-5400000">
            <a:off x="6305054" y="2838971"/>
            <a:ext cx="858837" cy="285750"/>
          </a:xfrm>
          <a:prstGeom prst="rightArrow">
            <a:avLst>
              <a:gd name="adj1" fmla="val 50000"/>
              <a:gd name="adj2" fmla="val 150292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V="1">
            <a:off x="6777335" y="2500039"/>
            <a:ext cx="830263" cy="65881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V="1">
            <a:off x="6805910" y="2785789"/>
            <a:ext cx="792163" cy="3730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 flipV="1">
            <a:off x="6815435" y="3063602"/>
            <a:ext cx="773113" cy="1047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6824960" y="3196952"/>
            <a:ext cx="811213" cy="1619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6815435" y="3168377"/>
            <a:ext cx="820738" cy="4667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动态测试环境</a:t>
            </a:r>
          </a:p>
        </p:txBody>
      </p:sp>
      <p:sp>
        <p:nvSpPr>
          <p:cNvPr id="343044" name="Rectangle 4"/>
          <p:cNvSpPr>
            <a:spLocks noChangeArrowheads="1"/>
          </p:cNvSpPr>
          <p:nvPr/>
        </p:nvSpPr>
        <p:spPr bwMode="auto">
          <a:xfrm>
            <a:off x="2193925" y="2173288"/>
            <a:ext cx="1243013" cy="630237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343045" name="Rectangle 8"/>
          <p:cNvSpPr>
            <a:spLocks noChangeArrowheads="1"/>
          </p:cNvSpPr>
          <p:nvPr/>
        </p:nvSpPr>
        <p:spPr bwMode="auto">
          <a:xfrm>
            <a:off x="3396432" y="1134343"/>
            <a:ext cx="2327696" cy="6477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驱动模块</a:t>
            </a:r>
            <a:endParaRPr lang="en-US" altLang="zh-CN" sz="1800" b="1" dirty="0">
              <a:solidFill>
                <a:srgbClr val="000000"/>
              </a:solidFill>
              <a:latin typeface="Comic Sans MS" pitchFamily="66" charset="0"/>
              <a:ea typeface="仿宋_GB2312"/>
              <a:cs typeface="仿宋_GB231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(</a:t>
            </a:r>
            <a:r>
              <a:rPr lang="en-US" altLang="zh-CN" sz="1800" b="1" dirty="0" err="1">
                <a:solidFill>
                  <a:srgbClr val="FFFF00"/>
                </a:solidFill>
                <a:latin typeface="Comic Sans MS" pitchFamily="66" charset="0"/>
                <a:ea typeface="仿宋_GB2312"/>
                <a:cs typeface="仿宋_GB2312"/>
              </a:rPr>
              <a:t>googletest</a:t>
            </a:r>
            <a:r>
              <a:rPr lang="en-US" altLang="zh-CN" sz="1800" b="1" dirty="0" err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Junit</a:t>
            </a:r>
            <a:r>
              <a:rPr lang="en-US" altLang="zh-CN" sz="1800" b="1" dirty="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 …)</a:t>
            </a:r>
            <a:endParaRPr lang="zh-CN" altLang="en-US" sz="1800" b="1" dirty="0">
              <a:solidFill>
                <a:srgbClr val="000000"/>
              </a:solidFill>
              <a:latin typeface="Comic Sans MS" pitchFamily="66" charset="0"/>
              <a:ea typeface="仿宋_GB2312"/>
              <a:cs typeface="仿宋_GB2312"/>
            </a:endParaRPr>
          </a:p>
        </p:txBody>
      </p:sp>
      <p:sp>
        <p:nvSpPr>
          <p:cNvPr id="343046" name="Line 9"/>
          <p:cNvSpPr>
            <a:spLocks noChangeShapeType="1"/>
          </p:cNvSpPr>
          <p:nvPr/>
        </p:nvSpPr>
        <p:spPr bwMode="auto">
          <a:xfrm flipH="1">
            <a:off x="2855913" y="1863725"/>
            <a:ext cx="1458912" cy="309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47" name="Line 10"/>
          <p:cNvSpPr>
            <a:spLocks noChangeShapeType="1"/>
          </p:cNvSpPr>
          <p:nvPr/>
        </p:nvSpPr>
        <p:spPr bwMode="auto">
          <a:xfrm flipH="1">
            <a:off x="1768475" y="2860675"/>
            <a:ext cx="773113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48" name="Line 11"/>
          <p:cNvSpPr>
            <a:spLocks noChangeShapeType="1"/>
          </p:cNvSpPr>
          <p:nvPr/>
        </p:nvSpPr>
        <p:spPr bwMode="auto">
          <a:xfrm>
            <a:off x="3198813" y="2860675"/>
            <a:ext cx="630237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49" name="Rectangle 15"/>
          <p:cNvSpPr>
            <a:spLocks noChangeArrowheads="1"/>
          </p:cNvSpPr>
          <p:nvPr/>
        </p:nvSpPr>
        <p:spPr bwMode="auto">
          <a:xfrm>
            <a:off x="4171950" y="4116388"/>
            <a:ext cx="685800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928" tIns="33368" rIns="67928" bIns="33368" anchor="ctr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结果</a:t>
            </a:r>
          </a:p>
        </p:txBody>
      </p:sp>
      <p:sp>
        <p:nvSpPr>
          <p:cNvPr id="678930" name="Rectangle 18"/>
          <p:cNvSpPr>
            <a:spLocks noChangeArrowheads="1"/>
          </p:cNvSpPr>
          <p:nvPr/>
        </p:nvSpPr>
        <p:spPr bwMode="auto">
          <a:xfrm>
            <a:off x="6067425" y="1674813"/>
            <a:ext cx="1381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78932" name="Rectangle 20"/>
          <p:cNvSpPr>
            <a:spLocks noChangeArrowheads="1"/>
          </p:cNvSpPr>
          <p:nvPr/>
        </p:nvSpPr>
        <p:spPr bwMode="auto">
          <a:xfrm>
            <a:off x="6067425" y="2151063"/>
            <a:ext cx="1381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78934" name="Rectangle 22"/>
          <p:cNvSpPr>
            <a:spLocks noChangeArrowheads="1"/>
          </p:cNvSpPr>
          <p:nvPr/>
        </p:nvSpPr>
        <p:spPr bwMode="auto">
          <a:xfrm>
            <a:off x="6067425" y="2779713"/>
            <a:ext cx="138113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</p:txBody>
      </p:sp>
      <p:pic>
        <p:nvPicPr>
          <p:cNvPr id="343053" name="Picture 2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2822575"/>
            <a:ext cx="914400" cy="124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3054" name="Rectangle 25"/>
          <p:cNvSpPr>
            <a:spLocks noChangeArrowheads="1"/>
          </p:cNvSpPr>
          <p:nvPr/>
        </p:nvSpPr>
        <p:spPr bwMode="auto">
          <a:xfrm>
            <a:off x="5676900" y="3689350"/>
            <a:ext cx="1066800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343055" name="AutoShape 26"/>
          <p:cNvSpPr>
            <a:spLocks noChangeArrowheads="1"/>
          </p:cNvSpPr>
          <p:nvPr/>
        </p:nvSpPr>
        <p:spPr bwMode="auto">
          <a:xfrm rot="-5400000">
            <a:off x="4757738" y="2170113"/>
            <a:ext cx="857250" cy="285750"/>
          </a:xfrm>
          <a:prstGeom prst="rightArrow">
            <a:avLst>
              <a:gd name="adj1" fmla="val 50000"/>
              <a:gd name="adj2" fmla="val 150014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43056" name="Line 27"/>
          <p:cNvSpPr>
            <a:spLocks noChangeShapeType="1"/>
          </p:cNvSpPr>
          <p:nvPr/>
        </p:nvSpPr>
        <p:spPr bwMode="auto">
          <a:xfrm flipV="1">
            <a:off x="5210175" y="1822449"/>
            <a:ext cx="1306041" cy="6572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57" name="Line 28"/>
          <p:cNvSpPr>
            <a:spLocks noChangeShapeType="1"/>
          </p:cNvSpPr>
          <p:nvPr/>
        </p:nvSpPr>
        <p:spPr bwMode="auto">
          <a:xfrm flipV="1">
            <a:off x="5238750" y="2118437"/>
            <a:ext cx="1263083" cy="361237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58" name="Line 29"/>
          <p:cNvSpPr>
            <a:spLocks noChangeShapeType="1"/>
          </p:cNvSpPr>
          <p:nvPr/>
        </p:nvSpPr>
        <p:spPr bwMode="auto">
          <a:xfrm flipV="1">
            <a:off x="5248275" y="2420580"/>
            <a:ext cx="1267941" cy="68619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59" name="Line 30"/>
          <p:cNvSpPr>
            <a:spLocks noChangeShapeType="1"/>
          </p:cNvSpPr>
          <p:nvPr/>
        </p:nvSpPr>
        <p:spPr bwMode="auto">
          <a:xfrm>
            <a:off x="5257800" y="2517775"/>
            <a:ext cx="1244033" cy="223838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60" name="Line 31"/>
          <p:cNvSpPr>
            <a:spLocks noChangeShapeType="1"/>
          </p:cNvSpPr>
          <p:nvPr/>
        </p:nvSpPr>
        <p:spPr bwMode="auto">
          <a:xfrm>
            <a:off x="5248274" y="2489200"/>
            <a:ext cx="1267941" cy="535668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61" name="Line 32"/>
          <p:cNvSpPr>
            <a:spLocks noChangeShapeType="1"/>
          </p:cNvSpPr>
          <p:nvPr/>
        </p:nvSpPr>
        <p:spPr bwMode="auto">
          <a:xfrm>
            <a:off x="4514850" y="1879600"/>
            <a:ext cx="0" cy="2192338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62" name="Rectangle 33"/>
          <p:cNvSpPr>
            <a:spLocks noChangeArrowheads="1"/>
          </p:cNvSpPr>
          <p:nvPr/>
        </p:nvSpPr>
        <p:spPr bwMode="auto">
          <a:xfrm>
            <a:off x="6501833" y="1715180"/>
            <a:ext cx="9144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343063" name="Rectangle 34"/>
          <p:cNvSpPr>
            <a:spLocks noChangeArrowheads="1"/>
          </p:cNvSpPr>
          <p:nvPr/>
        </p:nvSpPr>
        <p:spPr bwMode="auto">
          <a:xfrm>
            <a:off x="6501833" y="2017323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343064" name="Rectangle 35"/>
          <p:cNvSpPr>
            <a:spLocks noChangeArrowheads="1"/>
          </p:cNvSpPr>
          <p:nvPr/>
        </p:nvSpPr>
        <p:spPr bwMode="auto">
          <a:xfrm>
            <a:off x="6075363" y="1601788"/>
            <a:ext cx="138112" cy="62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</p:txBody>
      </p:sp>
      <p:sp>
        <p:nvSpPr>
          <p:cNvPr id="343065" name="Rectangle 36"/>
          <p:cNvSpPr>
            <a:spLocks noChangeArrowheads="1"/>
          </p:cNvSpPr>
          <p:nvPr/>
        </p:nvSpPr>
        <p:spPr bwMode="auto">
          <a:xfrm>
            <a:off x="6501833" y="2319466"/>
            <a:ext cx="9144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343066" name="Rectangle 37"/>
          <p:cNvSpPr>
            <a:spLocks noChangeArrowheads="1"/>
          </p:cNvSpPr>
          <p:nvPr/>
        </p:nvSpPr>
        <p:spPr bwMode="auto">
          <a:xfrm>
            <a:off x="6075363" y="2078038"/>
            <a:ext cx="138112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</p:txBody>
      </p:sp>
      <p:sp>
        <p:nvSpPr>
          <p:cNvPr id="343067" name="Rectangle 38"/>
          <p:cNvSpPr>
            <a:spLocks noChangeArrowheads="1"/>
          </p:cNvSpPr>
          <p:nvPr/>
        </p:nvSpPr>
        <p:spPr bwMode="auto">
          <a:xfrm>
            <a:off x="6501833" y="2621609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343068" name="Rectangle 39"/>
          <p:cNvSpPr>
            <a:spLocks noChangeArrowheads="1"/>
          </p:cNvSpPr>
          <p:nvPr/>
        </p:nvSpPr>
        <p:spPr bwMode="auto">
          <a:xfrm>
            <a:off x="6501833" y="2923753"/>
            <a:ext cx="149542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sp>
        <p:nvSpPr>
          <p:cNvPr id="343069" name="AutoShape 40"/>
          <p:cNvSpPr>
            <a:spLocks noChangeArrowheads="1"/>
          </p:cNvSpPr>
          <p:nvPr/>
        </p:nvSpPr>
        <p:spPr bwMode="auto">
          <a:xfrm>
            <a:off x="1482725" y="3375025"/>
            <a:ext cx="744538" cy="514350"/>
          </a:xfrm>
          <a:prstGeom prst="octagon">
            <a:avLst>
              <a:gd name="adj" fmla="val 29287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桩</a:t>
            </a:r>
            <a:r>
              <a:rPr lang="en-US" altLang="zh-CN" sz="180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1</a:t>
            </a:r>
          </a:p>
        </p:txBody>
      </p:sp>
      <p:sp>
        <p:nvSpPr>
          <p:cNvPr id="343070" name="AutoShape 41"/>
          <p:cNvSpPr>
            <a:spLocks noChangeArrowheads="1"/>
          </p:cNvSpPr>
          <p:nvPr/>
        </p:nvSpPr>
        <p:spPr bwMode="auto">
          <a:xfrm>
            <a:off x="2513013" y="3375025"/>
            <a:ext cx="742950" cy="514350"/>
          </a:xfrm>
          <a:prstGeom prst="octagon">
            <a:avLst>
              <a:gd name="adj" fmla="val 29287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桩</a:t>
            </a:r>
            <a:r>
              <a:rPr lang="en-US" altLang="zh-CN" sz="180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2</a:t>
            </a:r>
          </a:p>
        </p:txBody>
      </p:sp>
      <p:sp>
        <p:nvSpPr>
          <p:cNvPr id="343071" name="AutoShape 42"/>
          <p:cNvSpPr>
            <a:spLocks noChangeArrowheads="1"/>
          </p:cNvSpPr>
          <p:nvPr/>
        </p:nvSpPr>
        <p:spPr bwMode="auto">
          <a:xfrm>
            <a:off x="3598863" y="3375025"/>
            <a:ext cx="744537" cy="514350"/>
          </a:xfrm>
          <a:prstGeom prst="octagon">
            <a:avLst>
              <a:gd name="adj" fmla="val 29287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桩</a:t>
            </a:r>
            <a:r>
              <a:rPr lang="en-US" altLang="zh-CN" sz="180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n</a:t>
            </a:r>
          </a:p>
        </p:txBody>
      </p:sp>
      <p:sp>
        <p:nvSpPr>
          <p:cNvPr id="343072" name="Line 43"/>
          <p:cNvSpPr>
            <a:spLocks noChangeShapeType="1"/>
          </p:cNvSpPr>
          <p:nvPr/>
        </p:nvSpPr>
        <p:spPr bwMode="auto">
          <a:xfrm>
            <a:off x="2855913" y="2860675"/>
            <a:ext cx="0" cy="514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测试步骤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r>
              <a:rPr lang="zh-CN" altLang="en-US" sz="2800" dirty="0"/>
              <a:t>步骤</a:t>
            </a:r>
            <a:r>
              <a:rPr lang="en-US" altLang="zh-CN" sz="2800" dirty="0"/>
              <a:t>1</a:t>
            </a:r>
            <a:r>
              <a:rPr lang="zh-CN" altLang="en-US" sz="2800" dirty="0"/>
              <a:t>－冒烟测试</a:t>
            </a:r>
          </a:p>
          <a:p>
            <a:r>
              <a:rPr lang="zh-CN" altLang="en-US" sz="2800" dirty="0"/>
              <a:t>步骤</a:t>
            </a:r>
            <a:r>
              <a:rPr lang="en-US" altLang="zh-CN" sz="2800" dirty="0"/>
              <a:t>2</a:t>
            </a:r>
            <a:r>
              <a:rPr lang="zh-CN" altLang="en-US" sz="2800" dirty="0"/>
              <a:t>－肯定测试</a:t>
            </a:r>
            <a:r>
              <a:rPr lang="en-US" altLang="zh-CN" sz="2400" dirty="0">
                <a:solidFill>
                  <a:srgbClr val="FF9900"/>
                </a:solidFill>
                <a:ea typeface="宋体" pitchFamily="2" charset="-122"/>
                <a:cs typeface="Arial" pitchFamily="34" charset="0"/>
              </a:rPr>
              <a:t>(Positive testing) </a:t>
            </a:r>
            <a:r>
              <a:rPr lang="zh-CN" altLang="en-US" sz="2400" dirty="0">
                <a:solidFill>
                  <a:srgbClr val="FF9900"/>
                </a:solidFill>
                <a:ea typeface="宋体" pitchFamily="2" charset="-122"/>
                <a:cs typeface="Arial" pitchFamily="34" charset="0"/>
              </a:rPr>
              <a:t>采用有效输入</a:t>
            </a:r>
            <a:endParaRPr lang="en-US" altLang="zh-CN" sz="2400" dirty="0">
              <a:solidFill>
                <a:srgbClr val="FF9900"/>
              </a:solidFill>
              <a:ea typeface="宋体" pitchFamily="2" charset="-122"/>
              <a:cs typeface="Arial" pitchFamily="34" charset="0"/>
            </a:endParaRPr>
          </a:p>
          <a:p>
            <a:r>
              <a:rPr lang="zh-CN" altLang="en-US" sz="2800" dirty="0"/>
              <a:t>步骤</a:t>
            </a:r>
            <a:r>
              <a:rPr lang="en-US" altLang="zh-CN" sz="2800" dirty="0"/>
              <a:t>3</a:t>
            </a:r>
            <a:r>
              <a:rPr lang="zh-CN" altLang="en-US" sz="2800" dirty="0"/>
              <a:t>－否定测试</a:t>
            </a:r>
            <a:r>
              <a:rPr lang="en-US" altLang="zh-CN" sz="2400" dirty="0">
                <a:solidFill>
                  <a:srgbClr val="FF9900"/>
                </a:solidFill>
                <a:ea typeface="宋体" pitchFamily="2" charset="-122"/>
              </a:rPr>
              <a:t>(Negative testing) </a:t>
            </a:r>
            <a:r>
              <a:rPr lang="zh-CN" altLang="en-US" sz="2400" dirty="0">
                <a:solidFill>
                  <a:srgbClr val="FF9900"/>
                </a:solidFill>
                <a:ea typeface="宋体" pitchFamily="2" charset="-122"/>
              </a:rPr>
              <a:t>采用无效输入</a:t>
            </a:r>
            <a:endParaRPr lang="en-US" altLang="zh-CN" sz="2400" dirty="0">
              <a:solidFill>
                <a:srgbClr val="FF9900"/>
              </a:solidFill>
              <a:ea typeface="宋体" pitchFamily="2" charset="-122"/>
            </a:endParaRPr>
          </a:p>
          <a:p>
            <a:r>
              <a:rPr lang="zh-CN" altLang="en-US" sz="2800" dirty="0"/>
              <a:t>步骤</a:t>
            </a:r>
            <a:r>
              <a:rPr lang="en-US" altLang="zh-CN" sz="2800" dirty="0"/>
              <a:t>4</a:t>
            </a:r>
            <a:r>
              <a:rPr lang="zh-CN" altLang="en-US" sz="2800" dirty="0"/>
              <a:t>－专用测试</a:t>
            </a:r>
            <a:endParaRPr lang="zh-CN" altLang="en-US" sz="2400" dirty="0">
              <a:ea typeface="宋体" pitchFamily="2" charset="-122"/>
            </a:endParaRPr>
          </a:p>
          <a:p>
            <a:r>
              <a:rPr lang="zh-CN" altLang="en-US" sz="2800" dirty="0"/>
              <a:t>步骤</a:t>
            </a:r>
            <a:r>
              <a:rPr lang="en-US" altLang="zh-CN" sz="2800" dirty="0"/>
              <a:t>5</a:t>
            </a:r>
            <a:r>
              <a:rPr lang="zh-CN" altLang="en-US" sz="2800" dirty="0"/>
              <a:t>－覆盖测试</a:t>
            </a:r>
            <a:r>
              <a:rPr lang="en-US" altLang="zh-CN" sz="2400" dirty="0">
                <a:ea typeface="宋体" pitchFamily="2" charset="-122"/>
              </a:rPr>
              <a:t>(</a:t>
            </a:r>
            <a:r>
              <a:rPr lang="en-US" altLang="zh-CN" sz="2800" dirty="0">
                <a:ea typeface="宋体" pitchFamily="2" charset="-122"/>
              </a:rPr>
              <a:t>Coverage</a:t>
            </a:r>
            <a:r>
              <a:rPr lang="en-US" altLang="zh-CN" sz="2400" dirty="0">
                <a:ea typeface="宋体" pitchFamily="2" charset="-122"/>
              </a:rPr>
              <a:t> testing)</a:t>
            </a:r>
          </a:p>
          <a:p>
            <a:r>
              <a:rPr lang="zh-CN" altLang="en-US" sz="2800" dirty="0"/>
              <a:t>步骤</a:t>
            </a:r>
            <a:r>
              <a:rPr lang="en-US" altLang="zh-CN" sz="2800" dirty="0"/>
              <a:t>6</a:t>
            </a:r>
            <a:r>
              <a:rPr lang="zh-CN" altLang="en-US" sz="2800" dirty="0"/>
              <a:t>－覆盖率评估</a:t>
            </a:r>
          </a:p>
          <a:p>
            <a:r>
              <a:rPr lang="zh-CN" altLang="en-US" sz="2800" dirty="0"/>
              <a:t>步骤</a:t>
            </a:r>
            <a:r>
              <a:rPr lang="en-US" altLang="zh-CN" sz="2800" dirty="0"/>
              <a:t>7</a:t>
            </a:r>
            <a:r>
              <a:rPr lang="zh-CN" altLang="en-US" sz="2800" dirty="0"/>
              <a:t>－覆盖率完善与实现</a:t>
            </a:r>
            <a:endParaRPr lang="zh-CN" altLang="en-US" sz="2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冒烟测试</a:t>
            </a:r>
          </a:p>
        </p:txBody>
      </p:sp>
      <p:sp>
        <p:nvSpPr>
          <p:cNvPr id="85401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目标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用最简单的方法执行被测单元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考核最基本的能力</a:t>
            </a:r>
          </a:p>
          <a:p>
            <a:pPr>
              <a:defRPr/>
            </a:pPr>
            <a:r>
              <a:rPr lang="zh-CN" altLang="en-US"/>
              <a:t>方法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基于规格说明的测试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等价类划分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54251"/>
            <a:ext cx="7910513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肯定测试</a:t>
            </a:r>
          </a:p>
        </p:txBody>
      </p:sp>
      <p:sp>
        <p:nvSpPr>
          <p:cNvPr id="85504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目标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走查相关规格说明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每个测试用例测试一或多个设计陈述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覆盖全部设计陈述</a:t>
            </a:r>
          </a:p>
          <a:p>
            <a:pPr>
              <a:defRPr/>
            </a:pPr>
            <a:r>
              <a:rPr lang="zh-CN" altLang="en-US"/>
              <a:t>方法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基于规格说明的测试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等价类划分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否定测试</a:t>
            </a:r>
          </a:p>
        </p:txBody>
      </p:sp>
      <p:sp>
        <p:nvSpPr>
          <p:cNvPr id="85606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目标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确认软件没有做规格说明未指定事情</a:t>
            </a:r>
          </a:p>
          <a:p>
            <a:pPr>
              <a:defRPr/>
            </a:pPr>
            <a:r>
              <a:rPr lang="zh-CN" altLang="en-US" dirty="0"/>
              <a:t>方法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错误猜测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外部边界值分析与测试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专用测试</a:t>
            </a:r>
          </a:p>
        </p:txBody>
      </p:sp>
      <p:sp>
        <p:nvSpPr>
          <p:cNvPr id="8570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目标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验证性能需求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验证安全性需求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验证信息安全需求</a:t>
            </a:r>
          </a:p>
          <a:p>
            <a:pPr>
              <a:defRPr/>
            </a:pPr>
            <a:r>
              <a:rPr lang="zh-CN" altLang="en-US"/>
              <a:t>方法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基于规格说明的测试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覆盖测试</a:t>
            </a:r>
          </a:p>
        </p:txBody>
      </p:sp>
      <p:sp>
        <p:nvSpPr>
          <p:cNvPr id="85811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目标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验证程序控制流的正确性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验证程序数据流的正确性</a:t>
            </a:r>
          </a:p>
          <a:p>
            <a:pPr>
              <a:defRPr/>
            </a:pPr>
            <a:r>
              <a:rPr lang="zh-CN" altLang="en-US"/>
              <a:t>方法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语句覆盖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分支覆盖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条件覆盖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数据流覆盖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覆盖率评估</a:t>
            </a:r>
          </a:p>
        </p:txBody>
      </p:sp>
      <p:sp>
        <p:nvSpPr>
          <p:cNvPr id="85913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目标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测量覆盖率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确定覆盖率目标是否实现</a:t>
            </a:r>
          </a:p>
          <a:p>
            <a:pPr>
              <a:defRPr/>
            </a:pPr>
            <a:r>
              <a:rPr lang="zh-CN" altLang="en-US"/>
              <a:t>方法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覆盖率度量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覆盖率分析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覆盖率完善与实现</a:t>
            </a:r>
          </a:p>
        </p:txBody>
      </p:sp>
      <p:sp>
        <p:nvSpPr>
          <p:cNvPr id="86016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/>
              <a:t>目标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找出无法执行测试的路径或条件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发现不可达或冗余代码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补充测试并达到覆盖率目标</a:t>
            </a:r>
          </a:p>
          <a:p>
            <a:pPr>
              <a:defRPr/>
            </a:pPr>
            <a:r>
              <a:rPr lang="zh-CN" altLang="en-US" sz="1802"/>
              <a:t>方法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覆盖率分析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语句覆盖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分支覆盖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条件覆盖</a:t>
            </a:r>
          </a:p>
          <a:p>
            <a:pPr lvl="1">
              <a:defRPr/>
            </a:pPr>
            <a:r>
              <a:rPr lang="zh-CN" altLang="en-US" sz="1802" b="1">
                <a:solidFill>
                  <a:srgbClr val="000000"/>
                </a:solidFill>
              </a:rPr>
              <a:t>数据流覆盖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实例</a:t>
            </a:r>
          </a:p>
        </p:txBody>
      </p:sp>
      <p:sp>
        <p:nvSpPr>
          <p:cNvPr id="86221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描述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对计算一个实数的平方根的函数进行测试</a:t>
            </a:r>
          </a:p>
          <a:p>
            <a:pPr>
              <a:defRPr/>
            </a:pPr>
            <a:r>
              <a:rPr lang="zh-CN" altLang="en-US" dirty="0"/>
              <a:t>设计规格说明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输入－实数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输出－实数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当输入一个</a:t>
            </a:r>
            <a:r>
              <a:rPr lang="en-US" altLang="zh-CN" sz="1802" dirty="0">
                <a:solidFill>
                  <a:srgbClr val="6633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802" b="1" dirty="0">
                <a:solidFill>
                  <a:srgbClr val="000000"/>
                </a:solidFill>
              </a:rPr>
              <a:t>或大于</a:t>
            </a:r>
            <a:r>
              <a:rPr lang="en-US" altLang="zh-CN" sz="1802" dirty="0">
                <a:solidFill>
                  <a:srgbClr val="6633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802" b="1" dirty="0">
                <a:solidFill>
                  <a:srgbClr val="000000"/>
                </a:solidFill>
              </a:rPr>
              <a:t>的值时，返回输入值的正数平方根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当输入小于</a:t>
            </a:r>
            <a:r>
              <a:rPr lang="en-US" altLang="zh-CN" sz="1802" dirty="0">
                <a:solidFill>
                  <a:srgbClr val="6633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802" b="1" dirty="0">
                <a:solidFill>
                  <a:srgbClr val="000000"/>
                </a:solidFill>
              </a:rPr>
              <a:t>的值时，显示错误信息</a:t>
            </a:r>
            <a:r>
              <a:rPr lang="en-US" altLang="zh-CN" sz="1802" dirty="0">
                <a:solidFill>
                  <a:srgbClr val="6633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"Square root error - negative input"</a:t>
            </a:r>
            <a:r>
              <a:rPr lang="zh-CN" altLang="en-US" sz="1802" b="1" dirty="0">
                <a:solidFill>
                  <a:srgbClr val="000000"/>
                </a:solidFill>
              </a:rPr>
              <a:t>并返回</a:t>
            </a:r>
            <a:r>
              <a:rPr lang="en-US" altLang="zh-CN" sz="1802" dirty="0">
                <a:solidFill>
                  <a:srgbClr val="663300"/>
                </a:solidFill>
                <a:ea typeface="宋体" panose="02010600030101010101" pitchFamily="2" charset="-122"/>
              </a:rPr>
              <a:t>-1</a:t>
            </a:r>
          </a:p>
          <a:p>
            <a:pPr lvl="1"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使用库函数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显示错误信息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实现及原始测试代码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pic>
        <p:nvPicPr>
          <p:cNvPr id="324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66019"/>
            <a:ext cx="6838007" cy="323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96753" y="1097679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Code/</a:t>
            </a:r>
            <a:r>
              <a:rPr lang="en-US" altLang="zh-CN" dirty="0" err="1"/>
              <a:t>UnitTest</a:t>
            </a:r>
            <a:r>
              <a:rPr lang="en-US" altLang="zh-CN" dirty="0"/>
              <a:t>-Primitive/ </a:t>
            </a:r>
            <a:r>
              <a:rPr lang="en-US" altLang="zh-CN" dirty="0" err="1"/>
              <a:t>UnitTest</a:t>
            </a:r>
            <a:r>
              <a:rPr lang="en-US" altLang="zh-CN" dirty="0"/>
              <a:t>-Primitive/primitive.cpp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等价类划分设计</a:t>
            </a:r>
          </a:p>
        </p:txBody>
      </p:sp>
      <p:sp>
        <p:nvSpPr>
          <p:cNvPr id="86323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402" dirty="0"/>
              <a:t>分析</a:t>
            </a:r>
          </a:p>
          <a:p>
            <a:pPr lvl="1">
              <a:defRPr/>
            </a:pPr>
            <a:r>
              <a:rPr lang="en-US" altLang="zh-CN" dirty="0">
                <a:solidFill>
                  <a:srgbClr val="6633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1802" b="1" dirty="0">
                <a:solidFill>
                  <a:srgbClr val="000000"/>
                </a:solidFill>
              </a:rPr>
              <a:t>个陈述</a:t>
            </a:r>
          </a:p>
          <a:p>
            <a:pPr lvl="1">
              <a:defRPr/>
            </a:pPr>
            <a:r>
              <a:rPr lang="en-US" altLang="zh-CN" dirty="0">
                <a:solidFill>
                  <a:srgbClr val="6633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802" b="1" dirty="0">
                <a:solidFill>
                  <a:srgbClr val="000000"/>
                </a:solidFill>
              </a:rPr>
              <a:t>个约束</a:t>
            </a:r>
          </a:p>
          <a:p>
            <a:pPr lvl="1">
              <a:defRPr/>
            </a:pPr>
            <a:r>
              <a:rPr lang="en-US" altLang="zh-CN" dirty="0">
                <a:solidFill>
                  <a:srgbClr val="6633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802" b="1" dirty="0">
                <a:solidFill>
                  <a:srgbClr val="000000"/>
                </a:solidFill>
              </a:rPr>
              <a:t>个用例可实现覆盖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等价类划分设计</a:t>
            </a:r>
          </a:p>
        </p:txBody>
      </p:sp>
      <p:graphicFrame>
        <p:nvGraphicFramePr>
          <p:cNvPr id="864287" name="Group 3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345710"/>
              </p:ext>
            </p:extLst>
          </p:nvPr>
        </p:nvGraphicFramePr>
        <p:xfrm>
          <a:off x="468313" y="990600"/>
          <a:ext cx="8231188" cy="1370013"/>
        </p:xfrm>
        <a:graphic>
          <a:graphicData uri="http://schemas.openxmlformats.org/drawingml/2006/table">
            <a:tbl>
              <a:tblPr/>
              <a:tblGrid>
                <a:gridCol w="2057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481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仿宋_GB2312"/>
                          <a:cs typeface="仿宋_GB2312"/>
                        </a:rPr>
                        <a:t>输入划分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 </a:t>
                      </a:r>
                    </a:p>
                  </a:txBody>
                  <a:tcPr marL="122956" marR="122956" marT="34340" marB="343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仿宋_GB2312"/>
                          <a:cs typeface="仿宋_GB2312"/>
                        </a:rPr>
                        <a:t>输出划分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仿宋_GB2312"/>
                        <a:cs typeface="仿宋_GB2312"/>
                      </a:endParaRPr>
                    </a:p>
                  </a:txBody>
                  <a:tcPr marL="122956" marR="122956" marT="34340" marB="343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86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I </a:t>
                      </a:r>
                    </a:p>
                  </a:txBody>
                  <a:tcPr marL="122956" marR="122956" marT="34340" marB="343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&gt;=0 </a:t>
                      </a:r>
                    </a:p>
                  </a:txBody>
                  <a:tcPr marL="122956" marR="122956" marT="34340" marB="343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a </a:t>
                      </a:r>
                    </a:p>
                  </a:txBody>
                  <a:tcPr marL="122956" marR="122956" marT="34340" marB="343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&gt;=0 </a:t>
                      </a:r>
                    </a:p>
                  </a:txBody>
                  <a:tcPr marL="122956" marR="122956" marT="34340" marB="343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7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II </a:t>
                      </a:r>
                    </a:p>
                  </a:txBody>
                  <a:tcPr marL="122956" marR="122956" marT="34340" marB="343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&lt;0 </a:t>
                      </a:r>
                    </a:p>
                  </a:txBody>
                  <a:tcPr marL="122956" marR="122956" marT="34340" marB="343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b </a:t>
                      </a:r>
                    </a:p>
                  </a:txBody>
                  <a:tcPr marL="122956" marR="122956" marT="34340" marB="343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仿宋_GB2312"/>
                          <a:cs typeface="仿宋_GB231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8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楷体_GB2312"/>
                          <a:cs typeface="楷体_GB2312"/>
                        </a:defRPr>
                      </a:lvl2pPr>
                      <a:lvl3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rgbClr val="3F3B6F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rgbClr val="48447E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  <a:cs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仿宋_GB2312"/>
                          <a:cs typeface="仿宋_GB2312"/>
                        </a:rPr>
                        <a:t>Error </a:t>
                      </a:r>
                    </a:p>
                  </a:txBody>
                  <a:tcPr marL="122956" marR="122956" marT="34340" marB="343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425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3" y="2432050"/>
            <a:ext cx="5676900" cy="17843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分析</a:t>
            </a:r>
          </a:p>
          <a:p>
            <a:pPr lvl="1">
              <a:defRPr/>
            </a:pPr>
            <a:r>
              <a:rPr lang="en-US" altLang="zh-CN" dirty="0"/>
              <a:t>2</a:t>
            </a:r>
            <a:r>
              <a:rPr lang="zh-CN" altLang="en-US" sz="1802" b="1" dirty="0">
                <a:solidFill>
                  <a:srgbClr val="000000"/>
                </a:solidFill>
              </a:rPr>
              <a:t>个输入等价类</a:t>
            </a:r>
          </a:p>
          <a:p>
            <a:pPr lvl="1">
              <a:defRPr/>
            </a:pPr>
            <a:r>
              <a:rPr lang="en-US" altLang="zh-CN" dirty="0"/>
              <a:t>2</a:t>
            </a:r>
            <a:r>
              <a:rPr lang="zh-CN" altLang="en-US" sz="1802" b="1" dirty="0">
                <a:solidFill>
                  <a:srgbClr val="000000"/>
                </a:solidFill>
              </a:rPr>
              <a:t>个输出等价类</a:t>
            </a:r>
          </a:p>
          <a:p>
            <a:pPr lvl="1">
              <a:defRPr/>
            </a:pPr>
            <a:r>
              <a:rPr lang="en-US" altLang="zh-CN" dirty="0"/>
              <a:t>2</a:t>
            </a:r>
            <a:r>
              <a:rPr lang="zh-CN" altLang="en-US" sz="1802" b="1" dirty="0">
                <a:solidFill>
                  <a:srgbClr val="000000"/>
                </a:solidFill>
              </a:rPr>
              <a:t>个用例可实现覆盖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等价类划分设计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dirty="0"/>
              <a:t>设计结果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用例</a:t>
            </a:r>
            <a:r>
              <a:rPr lang="en-US" altLang="zh-CN" dirty="0"/>
              <a:t>1</a:t>
            </a:r>
          </a:p>
          <a:p>
            <a:pPr lvl="2">
              <a:lnSpc>
                <a:spcPct val="90000"/>
              </a:lnSpc>
              <a:defRPr/>
            </a:pPr>
            <a:r>
              <a:rPr lang="zh-CN" altLang="en-US" dirty="0"/>
              <a:t>输入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4</a:t>
            </a:r>
            <a:r>
              <a:rPr lang="en-US" altLang="zh-CN" dirty="0"/>
              <a:t>; </a:t>
            </a:r>
            <a:r>
              <a:rPr lang="zh-CN" altLang="en-US" dirty="0"/>
              <a:t>返回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2</a:t>
            </a:r>
          </a:p>
          <a:p>
            <a:pPr lvl="2">
              <a:lnSpc>
                <a:spcPct val="90000"/>
              </a:lnSpc>
              <a:defRPr/>
            </a:pPr>
            <a:r>
              <a:rPr lang="zh-CN" altLang="en-US" dirty="0"/>
              <a:t>执行了输入等价类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I</a:t>
            </a:r>
            <a:r>
              <a:rPr lang="zh-CN" altLang="en-US" dirty="0"/>
              <a:t>和输出等价类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</a:rPr>
              <a:t>用例</a:t>
            </a:r>
            <a:r>
              <a:rPr lang="en-US" altLang="zh-CN" dirty="0"/>
              <a:t>2</a:t>
            </a:r>
          </a:p>
          <a:p>
            <a:pPr lvl="2">
              <a:lnSpc>
                <a:spcPct val="90000"/>
              </a:lnSpc>
              <a:defRPr/>
            </a:pPr>
            <a:r>
              <a:rPr lang="zh-CN" altLang="en-US" dirty="0"/>
              <a:t>输入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-10</a:t>
            </a:r>
            <a:r>
              <a:rPr lang="en-US" altLang="zh-CN" dirty="0"/>
              <a:t>, </a:t>
            </a:r>
            <a:r>
              <a:rPr lang="zh-CN" altLang="en-US" dirty="0"/>
              <a:t>返回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-1</a:t>
            </a:r>
            <a:r>
              <a:rPr lang="en-US" altLang="zh-CN" dirty="0"/>
              <a:t>, , </a:t>
            </a:r>
            <a:r>
              <a:rPr lang="zh-CN" altLang="en-US" dirty="0"/>
              <a:t>用</a:t>
            </a:r>
            <a:r>
              <a:rPr lang="en-US" altLang="zh-CN" dirty="0" err="1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Print_Line</a:t>
            </a:r>
            <a:r>
              <a:rPr lang="zh-CN" altLang="en-US" dirty="0"/>
              <a:t>输出 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"Square root error - illegal negative input"</a:t>
            </a:r>
          </a:p>
          <a:p>
            <a:pPr lvl="2">
              <a:lnSpc>
                <a:spcPct val="90000"/>
              </a:lnSpc>
              <a:defRPr/>
            </a:pPr>
            <a:r>
              <a:rPr lang="zh-CN" altLang="en-US" dirty="0"/>
              <a:t>执行了输入等价类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II</a:t>
            </a:r>
            <a:r>
              <a:rPr lang="zh-CN" altLang="en-US" dirty="0"/>
              <a:t>和输出等价类</a:t>
            </a:r>
            <a:r>
              <a:rPr lang="en-US" altLang="zh-CN" dirty="0">
                <a:solidFill>
                  <a:srgbClr val="6633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96753" y="1097679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Code/</a:t>
            </a:r>
            <a:r>
              <a:rPr lang="en-US" altLang="zh-CN" dirty="0" err="1"/>
              <a:t>UnitTest</a:t>
            </a:r>
            <a:r>
              <a:rPr lang="en-US" altLang="zh-CN" dirty="0"/>
              <a:t>-Primitive/ </a:t>
            </a:r>
            <a:r>
              <a:rPr lang="en-US" altLang="zh-CN" dirty="0" err="1"/>
              <a:t>UnitTest</a:t>
            </a:r>
            <a:r>
              <a:rPr lang="en-US" altLang="zh-CN" dirty="0"/>
              <a:t>-Primitive/primitive.cpp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等价类划分设计</a:t>
            </a:r>
            <a:endParaRPr lang="zh-CN" altLang="en-US" dirty="0"/>
          </a:p>
        </p:txBody>
      </p:sp>
      <p:pic>
        <p:nvPicPr>
          <p:cNvPr id="325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956" y="20585"/>
            <a:ext cx="5028491" cy="24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5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956" y="2502121"/>
            <a:ext cx="5028491" cy="2480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738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96753" y="1097679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Code/</a:t>
            </a:r>
            <a:r>
              <a:rPr lang="en-US" altLang="zh-CN" dirty="0" err="1"/>
              <a:t>UnitTest</a:t>
            </a:r>
            <a:r>
              <a:rPr lang="en-US" altLang="zh-CN" dirty="0"/>
              <a:t>-Primitive/ </a:t>
            </a:r>
            <a:r>
              <a:rPr lang="en-US" altLang="zh-CN" dirty="0" err="1"/>
              <a:t>UnitTest</a:t>
            </a:r>
            <a:r>
              <a:rPr lang="en-US" altLang="zh-CN" dirty="0"/>
              <a:t>-Primitive/primitive.cpp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等价类划分设计</a:t>
            </a:r>
            <a:endParaRPr lang="zh-CN" altLang="en-US" dirty="0"/>
          </a:p>
        </p:txBody>
      </p:sp>
      <p:pic>
        <p:nvPicPr>
          <p:cNvPr id="326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925" y="2070074"/>
            <a:ext cx="2090737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7387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边界值分析设计</a:t>
            </a:r>
          </a:p>
        </p:txBody>
      </p:sp>
      <p:sp>
        <p:nvSpPr>
          <p:cNvPr id="86630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分析</a:t>
            </a:r>
          </a:p>
          <a:p>
            <a:pPr lvl="1">
              <a:defRPr/>
            </a:pPr>
            <a:r>
              <a:rPr lang="en-US" altLang="zh-CN" sz="1802" dirty="0"/>
              <a:t>5</a:t>
            </a:r>
            <a:r>
              <a:rPr lang="zh-CN" altLang="en-US" sz="1802" b="1" dirty="0">
                <a:solidFill>
                  <a:srgbClr val="000000"/>
                </a:solidFill>
              </a:rPr>
              <a:t>个用例可实现覆盖</a:t>
            </a:r>
            <a:endParaRPr lang="en-US" altLang="zh-CN" sz="1802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zh-CN" altLang="en-US" sz="2400" dirty="0"/>
              <a:t>用例</a:t>
            </a:r>
            <a:r>
              <a:rPr lang="en-US" altLang="zh-CN" sz="2400" dirty="0"/>
              <a:t>1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600" b="1" dirty="0">
                <a:solidFill>
                  <a:srgbClr val="000000"/>
                </a:solidFill>
              </a:rPr>
              <a:t>输入最大的负数</a:t>
            </a:r>
            <a:r>
              <a:rPr lang="en-US" altLang="zh-CN" sz="2000" dirty="0"/>
              <a:t>, </a:t>
            </a:r>
            <a:r>
              <a:rPr lang="zh-CN" altLang="en-US" sz="1600" b="1" dirty="0">
                <a:solidFill>
                  <a:srgbClr val="000000"/>
                </a:solidFill>
              </a:rPr>
              <a:t>返回</a:t>
            </a:r>
            <a:r>
              <a:rPr lang="en-US" altLang="zh-CN" sz="2000" dirty="0">
                <a:solidFill>
                  <a:srgbClr val="6633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000" dirty="0">
                <a:cs typeface="Arial" panose="020B0604020202020204" pitchFamily="34" charset="0"/>
              </a:rPr>
              <a:t>, </a:t>
            </a: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输出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663300"/>
                </a:solidFill>
                <a:ea typeface="宋体" panose="02010600030101010101" pitchFamily="2" charset="-122"/>
              </a:rPr>
              <a:t>"Square root error - illegal negative input“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执行了等价类</a:t>
            </a:r>
            <a:r>
              <a:rPr lang="en-US" altLang="zh-CN" sz="2000" dirty="0">
                <a:solidFill>
                  <a:srgbClr val="663300"/>
                </a:solidFill>
                <a:ea typeface="宋体" panose="02010600030101010101" pitchFamily="2" charset="-122"/>
              </a:rPr>
              <a:t>II</a:t>
            </a: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的下边界</a:t>
            </a:r>
          </a:p>
          <a:p>
            <a:pPr>
              <a:defRPr/>
            </a:pPr>
            <a:r>
              <a:rPr lang="zh-CN" altLang="en-US" sz="2400" dirty="0"/>
              <a:t>用例</a:t>
            </a:r>
            <a:r>
              <a:rPr lang="en-US" altLang="zh-CN" sz="2400" dirty="0"/>
              <a:t>2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输入仅比</a:t>
            </a:r>
            <a:r>
              <a:rPr lang="en-US" altLang="zh-CN" sz="2000" dirty="0">
                <a:solidFill>
                  <a:srgbClr val="6633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小的数</a:t>
            </a:r>
            <a:r>
              <a:rPr lang="en-US" altLang="zh-CN" sz="2000" dirty="0"/>
              <a:t>, </a:t>
            </a: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返回</a:t>
            </a:r>
            <a:r>
              <a:rPr lang="en-US" altLang="zh-CN" sz="2000" dirty="0">
                <a:solidFill>
                  <a:srgbClr val="663300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2000" dirty="0"/>
              <a:t>, </a:t>
            </a: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输出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663300"/>
                </a:solidFill>
                <a:ea typeface="宋体" panose="02010600030101010101" pitchFamily="2" charset="-122"/>
              </a:rPr>
              <a:t>"Square root error - illegal negative input“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执行了等价类</a:t>
            </a:r>
            <a:r>
              <a:rPr lang="en-US" altLang="zh-CN" sz="2000" dirty="0">
                <a:solidFill>
                  <a:srgbClr val="663300"/>
                </a:solidFill>
                <a:ea typeface="宋体" panose="02010600030101010101" pitchFamily="2" charset="-122"/>
              </a:rPr>
              <a:t>II</a:t>
            </a:r>
            <a:r>
              <a:rPr lang="zh-CN" altLang="en-US" sz="1600" b="1" dirty="0">
                <a:solidFill>
                  <a:srgbClr val="000000"/>
                </a:solidFill>
                <a:cs typeface="Arial" panose="020B0604020202020204" pitchFamily="34" charset="0"/>
              </a:rPr>
              <a:t>的上边界</a:t>
            </a:r>
          </a:p>
          <a:p>
            <a:pPr>
              <a:defRPr/>
            </a:pPr>
            <a:endParaRPr lang="zh-CN" altLang="en-US" sz="2202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单元测试－</a:t>
            </a:r>
            <a:r>
              <a:rPr lang="zh-CN" altLang="en-US" dirty="0">
                <a:latin typeface="仿宋_GB2312"/>
                <a:ea typeface="楷体_GB2312"/>
                <a:cs typeface="楷体_GB2312"/>
              </a:rPr>
              <a:t>边界值分析设计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用例</a:t>
            </a:r>
            <a:r>
              <a:rPr lang="en-US" altLang="zh-CN" dirty="0"/>
              <a:t>3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输入</a:t>
            </a:r>
            <a:r>
              <a:rPr lang="en-US" altLang="zh-CN" sz="1802" dirty="0"/>
              <a:t>0, 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返回</a:t>
            </a:r>
            <a:r>
              <a:rPr lang="en-US" altLang="zh-CN" sz="1802" dirty="0"/>
              <a:t>0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执行了等价类</a:t>
            </a:r>
            <a:r>
              <a:rPr lang="en-US" altLang="zh-CN" sz="1802" dirty="0"/>
              <a:t>II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的上边界外点</a:t>
            </a:r>
            <a:r>
              <a:rPr lang="en-US" altLang="zh-CN" sz="1802" dirty="0"/>
              <a:t>,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等价类</a:t>
            </a:r>
            <a:r>
              <a:rPr lang="en-US" altLang="zh-CN" sz="1802" dirty="0"/>
              <a:t>I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的下边界</a:t>
            </a:r>
            <a:r>
              <a:rPr lang="en-US" altLang="zh-CN" sz="1802" dirty="0"/>
              <a:t>,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等价类</a:t>
            </a:r>
            <a:r>
              <a:rPr lang="en-US" altLang="zh-CN" sz="1802" dirty="0"/>
              <a:t>a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的下边界</a:t>
            </a:r>
          </a:p>
          <a:p>
            <a:pPr>
              <a:defRPr/>
            </a:pPr>
            <a:r>
              <a:rPr lang="zh-CN" altLang="en-US" dirty="0"/>
              <a:t>用例</a:t>
            </a:r>
            <a:r>
              <a:rPr lang="en-US" altLang="zh-CN" dirty="0"/>
              <a:t>4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输入仅比</a:t>
            </a:r>
            <a:r>
              <a:rPr lang="en-US" altLang="zh-CN" sz="1802" dirty="0"/>
              <a:t>0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大的数</a:t>
            </a:r>
            <a:r>
              <a:rPr lang="en-US" altLang="zh-CN" sz="1802" dirty="0"/>
              <a:t>, 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返回输入值的正数平方根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执行了等价类</a:t>
            </a:r>
            <a:r>
              <a:rPr lang="en-US" altLang="zh-CN" sz="1802" dirty="0"/>
              <a:t>I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下边界内点</a:t>
            </a:r>
          </a:p>
          <a:p>
            <a:pPr>
              <a:defRPr/>
            </a:pPr>
            <a:r>
              <a:rPr lang="zh-CN" altLang="en-US" dirty="0"/>
              <a:t>用例</a:t>
            </a:r>
            <a:r>
              <a:rPr lang="en-US" altLang="zh-CN" dirty="0"/>
              <a:t>5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输入最大的正数</a:t>
            </a:r>
            <a:r>
              <a:rPr lang="en-US" altLang="zh-CN" sz="1802" b="1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返回输入值的正数平方根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执行了等价类</a:t>
            </a:r>
            <a:r>
              <a:rPr lang="en-US" altLang="zh-CN" sz="1802" dirty="0"/>
              <a:t>I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上边界内点</a:t>
            </a:r>
            <a:r>
              <a:rPr lang="en-US" altLang="zh-CN" sz="1802" dirty="0"/>
              <a:t>,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等价类</a:t>
            </a:r>
            <a:r>
              <a:rPr lang="en-US" altLang="zh-CN" sz="1802" dirty="0"/>
              <a:t>a</a:t>
            </a:r>
            <a:r>
              <a:rPr lang="zh-CN" altLang="en-US" sz="1802" b="1" dirty="0">
                <a:solidFill>
                  <a:srgbClr val="000000"/>
                </a:solidFill>
                <a:cs typeface="Arial" panose="020B0604020202020204" pitchFamily="34" charset="0"/>
              </a:rPr>
              <a:t>的上边界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边界值分析设计</a:t>
            </a:r>
          </a:p>
        </p:txBody>
      </p:sp>
      <p:pic>
        <p:nvPicPr>
          <p:cNvPr id="3276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112" y="2553571"/>
            <a:ext cx="5107143" cy="255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96753" y="1097679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Code/</a:t>
            </a:r>
            <a:r>
              <a:rPr lang="en-US" altLang="zh-CN" dirty="0" err="1"/>
              <a:t>UnitTest</a:t>
            </a:r>
            <a:r>
              <a:rPr lang="en-US" altLang="zh-CN" dirty="0"/>
              <a:t>-Primitive/ </a:t>
            </a:r>
            <a:r>
              <a:rPr lang="en-US" altLang="zh-CN" dirty="0" err="1"/>
              <a:t>UnitTest</a:t>
            </a:r>
            <a:r>
              <a:rPr lang="en-US" altLang="zh-CN" dirty="0"/>
              <a:t>-Primitive/primitive.cpp</a:t>
            </a:r>
            <a:endParaRPr lang="zh-CN" altLang="en-US" dirty="0"/>
          </a:p>
        </p:txBody>
      </p:sp>
      <p:pic>
        <p:nvPicPr>
          <p:cNvPr id="3276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113" y="0"/>
            <a:ext cx="5107143" cy="255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 bwMode="auto">
          <a:xfrm>
            <a:off x="2771800" y="197867"/>
            <a:ext cx="1224136" cy="57606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2792441" y="2790155"/>
            <a:ext cx="1224136" cy="57606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652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边界值分析设计</a:t>
            </a:r>
          </a:p>
        </p:txBody>
      </p:sp>
      <p:pic>
        <p:nvPicPr>
          <p:cNvPr id="3287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267" y="2635989"/>
            <a:ext cx="4980856" cy="251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96753" y="1097679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Code/</a:t>
            </a:r>
            <a:r>
              <a:rPr lang="en-US" altLang="zh-CN" dirty="0" err="1"/>
              <a:t>UnitTest</a:t>
            </a:r>
            <a:r>
              <a:rPr lang="en-US" altLang="zh-CN" dirty="0"/>
              <a:t>-Primitive/ </a:t>
            </a:r>
            <a:r>
              <a:rPr lang="en-US" altLang="zh-CN" dirty="0" err="1"/>
              <a:t>UnitTest</a:t>
            </a:r>
            <a:r>
              <a:rPr lang="en-US" altLang="zh-CN" dirty="0"/>
              <a:t>-Primitive/primitive.cpp</a:t>
            </a:r>
            <a:endParaRPr lang="zh-CN" altLang="en-US" dirty="0"/>
          </a:p>
        </p:txBody>
      </p:sp>
      <p:pic>
        <p:nvPicPr>
          <p:cNvPr id="3287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875" y="12676"/>
            <a:ext cx="5098644" cy="262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/>
          <p:cNvSpPr/>
          <p:nvPr/>
        </p:nvSpPr>
        <p:spPr bwMode="auto">
          <a:xfrm>
            <a:off x="2771800" y="197867"/>
            <a:ext cx="1224136" cy="57606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792441" y="2790155"/>
            <a:ext cx="1224136" cy="57606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283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边界值分析设计</a:t>
            </a:r>
          </a:p>
        </p:txBody>
      </p:sp>
      <p:pic>
        <p:nvPicPr>
          <p:cNvPr id="3297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651" y="2599371"/>
            <a:ext cx="1771531" cy="253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96753" y="1097679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Code/</a:t>
            </a:r>
            <a:r>
              <a:rPr lang="en-US" altLang="zh-CN" dirty="0" err="1"/>
              <a:t>UnitTest</a:t>
            </a:r>
            <a:r>
              <a:rPr lang="en-US" altLang="zh-CN" dirty="0"/>
              <a:t>-Primitive/ </a:t>
            </a:r>
            <a:r>
              <a:rPr lang="en-US" altLang="zh-CN" dirty="0" err="1"/>
              <a:t>UnitTest</a:t>
            </a:r>
            <a:r>
              <a:rPr lang="en-US" altLang="zh-CN" dirty="0"/>
              <a:t>-Primitive/primitive.cpp</a:t>
            </a:r>
            <a:endParaRPr lang="zh-CN" altLang="en-US" dirty="0"/>
          </a:p>
        </p:txBody>
      </p:sp>
      <p:pic>
        <p:nvPicPr>
          <p:cNvPr id="3297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291" y="-22213"/>
            <a:ext cx="5040560" cy="2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/>
          <p:cNvSpPr/>
          <p:nvPr/>
        </p:nvSpPr>
        <p:spPr bwMode="auto">
          <a:xfrm>
            <a:off x="2771800" y="197867"/>
            <a:ext cx="1224136" cy="57606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3843502" y="3510235"/>
            <a:ext cx="1448577" cy="122413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283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/>
              <a:t>单元测试－</a:t>
            </a:r>
            <a:r>
              <a:rPr lang="zh-CN" altLang="en-US">
                <a:latin typeface="仿宋_GB2312"/>
                <a:ea typeface="楷体_GB2312"/>
                <a:cs typeface="楷体_GB2312"/>
              </a:rPr>
              <a:t>边界值分析设计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753" y="1097679"/>
            <a:ext cx="5615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Code/</a:t>
            </a:r>
            <a:r>
              <a:rPr lang="en-US" altLang="zh-CN" dirty="0" err="1"/>
              <a:t>UnitTest</a:t>
            </a:r>
            <a:r>
              <a:rPr lang="en-US" altLang="zh-CN" dirty="0"/>
              <a:t>-Primitive/ </a:t>
            </a:r>
            <a:r>
              <a:rPr lang="en-US" altLang="zh-CN" dirty="0" err="1"/>
              <a:t>UnitTest</a:t>
            </a:r>
            <a:r>
              <a:rPr lang="en-US" altLang="zh-CN" dirty="0"/>
              <a:t>-Primitive/primitive.cpp</a:t>
            </a:r>
            <a:endParaRPr lang="zh-CN" altLang="en-US" dirty="0"/>
          </a:p>
        </p:txBody>
      </p:sp>
      <p:pic>
        <p:nvPicPr>
          <p:cNvPr id="339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782043"/>
            <a:ext cx="32623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1795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>
                <a:latin typeface="宋体" pitchFamily="2" charset="-122"/>
              </a:rPr>
              <a:t>单元测试－</a:t>
            </a:r>
            <a:r>
              <a:rPr lang="zh-CN" altLang="en-US" dirty="0">
                <a:latin typeface="楷体_GB2312"/>
              </a:rPr>
              <a:t>原始测试代码的问题</a:t>
            </a:r>
            <a:endParaRPr lang="zh-CN" altLang="en-US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07555" name="内容占位符 1"/>
          <p:cNvSpPr>
            <a:spLocks noGrp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r>
              <a:rPr lang="zh-CN" altLang="en-US" dirty="0"/>
              <a:t>臃肿</a:t>
            </a:r>
            <a:endParaRPr lang="en-US" altLang="zh-CN" dirty="0"/>
          </a:p>
          <a:p>
            <a:r>
              <a:rPr lang="zh-CN" altLang="en-US" dirty="0"/>
              <a:t>工作量大</a:t>
            </a:r>
            <a:endParaRPr lang="en-US" altLang="zh-CN" dirty="0"/>
          </a:p>
          <a:p>
            <a:r>
              <a:rPr lang="zh-CN" altLang="en-US" dirty="0"/>
              <a:t>测试结果不直观（需要细心优化）</a:t>
            </a:r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zh-CN" altLang="en-US" dirty="0"/>
              <a:t>优秀的单元测试框架</a:t>
            </a:r>
            <a:endParaRPr lang="zh-CN" altLang="en-US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07555" name="内容占位符 1"/>
          <p:cNvSpPr>
            <a:spLocks noGrp="1"/>
          </p:cNvSpPr>
          <p:nvPr>
            <p:ph idx="1"/>
          </p:nvPr>
        </p:nvSpPr>
        <p:spPr>
          <a:xfrm>
            <a:off x="251520" y="989955"/>
            <a:ext cx="8712968" cy="3397250"/>
          </a:xfrm>
        </p:spPr>
        <p:txBody>
          <a:bodyPr/>
          <a:lstStyle/>
          <a:p>
            <a:r>
              <a:rPr lang="en-US" altLang="zh-CN" sz="2800" dirty="0"/>
              <a:t>Java</a:t>
            </a:r>
          </a:p>
          <a:p>
            <a:pPr lvl="1"/>
            <a:r>
              <a:rPr lang="en-US" altLang="zh-CN" sz="2400" dirty="0"/>
              <a:t>JUnit</a:t>
            </a:r>
          </a:p>
          <a:p>
            <a:r>
              <a:rPr lang="en-US" altLang="zh-CN" sz="2800" dirty="0"/>
              <a:t>Python</a:t>
            </a:r>
          </a:p>
          <a:p>
            <a:pPr lvl="1"/>
            <a:r>
              <a:rPr lang="en-US" altLang="zh-CN" sz="2400" dirty="0" err="1"/>
              <a:t>PyUnit</a:t>
            </a:r>
            <a:endParaRPr lang="en-US" altLang="zh-CN" sz="2400" dirty="0"/>
          </a:p>
          <a:p>
            <a:r>
              <a:rPr lang="en-US" altLang="zh-CN" sz="2800" dirty="0"/>
              <a:t>C++</a:t>
            </a:r>
          </a:p>
          <a:p>
            <a:pPr lvl="1"/>
            <a:r>
              <a:rPr lang="en-US" altLang="zh-CN" sz="2400" dirty="0" err="1"/>
              <a:t>CppUnit</a:t>
            </a:r>
            <a:endParaRPr lang="en-US" altLang="zh-CN" sz="2400" dirty="0"/>
          </a:p>
          <a:p>
            <a:pPr lvl="1"/>
            <a:r>
              <a:rPr lang="en-US" altLang="zh-CN" dirty="0"/>
              <a:t>Google C++ Testing Framework </a:t>
            </a:r>
            <a:r>
              <a:rPr lang="zh-CN" altLang="en-US" dirty="0"/>
              <a:t>（</a:t>
            </a:r>
            <a:r>
              <a:rPr lang="en-US" altLang="zh-CN" dirty="0"/>
              <a:t>Google Test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8567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优点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开源 （</a:t>
            </a:r>
            <a:r>
              <a:rPr lang="en-US" altLang="zh-CN" sz="1600" dirty="0">
                <a:latin typeface="Times New Roman" panose="02020603050405020304" pitchFamily="18" charset="0"/>
                <a:hlinkClick r:id="rId2"/>
              </a:rPr>
              <a:t>https://github.com/google/googletest</a:t>
            </a:r>
            <a:r>
              <a:rPr lang="zh-CN" altLang="en-US" sz="1600" dirty="0">
                <a:latin typeface="Times New Roman" panose="02020603050405020304" pitchFamily="18" charset="0"/>
              </a:rPr>
              <a:t>）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跨平台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2">
              <a:defRPr/>
            </a:pPr>
            <a:r>
              <a:rPr lang="en-US" altLang="zh-CN" sz="1200" dirty="0">
                <a:latin typeface="Times New Roman" panose="02020603050405020304" pitchFamily="18" charset="0"/>
              </a:rPr>
              <a:t>Linux, Windows, Mac</a:t>
            </a: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测试之间独立，且测试可重复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测试得到良好的组织，能够反映被测代码的结构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当测试失败时，能提供丰富的信息，以便找到错误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300" dirty="0">
                <a:latin typeface="Times New Roman" panose="02020603050405020304" pitchFamily="18" charset="0"/>
              </a:rPr>
              <a:t>当</a:t>
            </a:r>
            <a:endParaRPr lang="en-US" altLang="zh-CN" sz="300" dirty="0">
              <a:latin typeface="Times New Roman" panose="02020603050405020304" pitchFamily="18" charset="0"/>
            </a:endParaRPr>
          </a:p>
          <a:p>
            <a:pPr lvl="2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当测试失败时，只停止当前的测试；继续执行下一个测试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能让测试人员关注测试内容本身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2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自动管理和运行所有测试，不需要用户穷举执行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测试速度快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2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能重用不同测试之间的资源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</a:rPr>
              <a:t>Junit,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PyUnit</a:t>
            </a:r>
            <a:r>
              <a:rPr lang="zh-CN" altLang="en-US" sz="2000" dirty="0">
                <a:latin typeface="Times New Roman" panose="02020603050405020304" pitchFamily="18" charset="0"/>
              </a:rPr>
              <a:t>一样，基于</a:t>
            </a:r>
            <a:r>
              <a:rPr lang="en-US" altLang="zh-CN" sz="2000" dirty="0" err="1">
                <a:latin typeface="Times New Roman" panose="02020603050405020304" pitchFamily="18" charset="0"/>
              </a:rPr>
              <a:t>xUnit</a:t>
            </a:r>
            <a:r>
              <a:rPr lang="zh-CN" altLang="en-US" sz="2000" dirty="0">
                <a:latin typeface="Times New Roman" panose="02020603050405020304" pitchFamily="18" charset="0"/>
              </a:rPr>
              <a:t>架构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6184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 – </a:t>
            </a:r>
            <a:r>
              <a:rPr lang="zh-CN" altLang="en-US" dirty="0"/>
              <a:t>安装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下载 </a:t>
            </a:r>
            <a:r>
              <a:rPr lang="en-US" altLang="zh-CN" sz="1802" dirty="0">
                <a:latin typeface="Times New Roman" panose="02020603050405020304" pitchFamily="18" charset="0"/>
              </a:rPr>
              <a:t>http://code.google.com/p/googletest/</a:t>
            </a: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安装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以</a:t>
            </a:r>
            <a:r>
              <a:rPr lang="en-US" altLang="zh-CN" sz="1402" dirty="0">
                <a:latin typeface="Times New Roman" panose="02020603050405020304" pitchFamily="18" charset="0"/>
              </a:rPr>
              <a:t>MSVC</a:t>
            </a:r>
            <a:r>
              <a:rPr lang="zh-CN" altLang="en-US" sz="1402" dirty="0">
                <a:latin typeface="Times New Roman" panose="02020603050405020304" pitchFamily="18" charset="0"/>
              </a:rPr>
              <a:t>为例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07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322130"/>
            <a:ext cx="2808312" cy="341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07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9025"/>
            <a:ext cx="10525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右箭头 1"/>
          <p:cNvSpPr/>
          <p:nvPr/>
        </p:nvSpPr>
        <p:spPr bwMode="auto">
          <a:xfrm>
            <a:off x="1187624" y="2759751"/>
            <a:ext cx="648072" cy="288032"/>
          </a:xfrm>
          <a:prstGeom prst="rightArrow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18949" y="2070075"/>
            <a:ext cx="3217547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googletest</a:t>
            </a:r>
            <a:r>
              <a:rPr lang="en-US" altLang="zh-CN" sz="1600" dirty="0"/>
              <a:t>-master\</a:t>
            </a:r>
            <a:r>
              <a:rPr lang="en-US" altLang="zh-CN" sz="1600" dirty="0" err="1"/>
              <a:t>googletest</a:t>
            </a:r>
            <a:r>
              <a:rPr lang="en-US" altLang="zh-CN" sz="1600" dirty="0"/>
              <a:t>\include</a:t>
            </a:r>
            <a:endParaRPr lang="zh-CN" altLang="en-US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 err="1"/>
              <a:t>googletest</a:t>
            </a:r>
            <a:r>
              <a:rPr lang="en-US" altLang="zh-CN" sz="1600" dirty="0"/>
              <a:t>-master\</a:t>
            </a:r>
            <a:r>
              <a:rPr lang="en-US" altLang="zh-CN" sz="1600" dirty="0" err="1"/>
              <a:t>googletest</a:t>
            </a:r>
            <a:r>
              <a:rPr lang="en-US" altLang="zh-CN" sz="1600" dirty="0"/>
              <a:t>\</a:t>
            </a:r>
            <a:r>
              <a:rPr lang="en-US" altLang="zh-CN" sz="1600" dirty="0" err="1"/>
              <a:t>msvc</a:t>
            </a:r>
            <a:endParaRPr lang="en-US" altLang="zh-CN" sz="1600" dirty="0"/>
          </a:p>
          <a:p>
            <a:r>
              <a:rPr lang="en-US" altLang="zh-CN" sz="1600" dirty="0"/>
              <a:t>	\</a:t>
            </a:r>
            <a:r>
              <a:rPr lang="en-US" altLang="zh-CN" sz="1600" dirty="0" err="1"/>
              <a:t>gtest</a:t>
            </a:r>
            <a:r>
              <a:rPr lang="en-US" altLang="zh-CN" sz="1600" dirty="0"/>
              <a:t>\Debug\gtestd.lib</a:t>
            </a:r>
          </a:p>
          <a:p>
            <a:r>
              <a:rPr lang="en-US" altLang="zh-CN" sz="1600" dirty="0" err="1"/>
              <a:t>googletest</a:t>
            </a:r>
            <a:r>
              <a:rPr lang="en-US" altLang="zh-CN" sz="1600" dirty="0"/>
              <a:t>-master\</a:t>
            </a:r>
            <a:r>
              <a:rPr lang="en-US" altLang="zh-CN" sz="1600" dirty="0" err="1"/>
              <a:t>googletest</a:t>
            </a:r>
            <a:r>
              <a:rPr lang="en-US" altLang="zh-CN" sz="1600" dirty="0"/>
              <a:t>\</a:t>
            </a:r>
            <a:r>
              <a:rPr lang="en-US" altLang="zh-CN" sz="1600" dirty="0" err="1"/>
              <a:t>msvc</a:t>
            </a:r>
            <a:endParaRPr lang="en-US" altLang="zh-CN" sz="1600" dirty="0"/>
          </a:p>
          <a:p>
            <a:r>
              <a:rPr lang="en-US" altLang="zh-CN" sz="1600" dirty="0"/>
              <a:t>	\</a:t>
            </a:r>
            <a:r>
              <a:rPr lang="en-US" altLang="zh-CN" sz="1600" dirty="0" err="1"/>
              <a:t>gtest</a:t>
            </a:r>
            <a:r>
              <a:rPr lang="en-US" altLang="zh-CN" sz="1600" dirty="0"/>
              <a:t>\Release\gtest.lib</a:t>
            </a:r>
            <a:endParaRPr lang="zh-CN" altLang="en-US" sz="1600" dirty="0"/>
          </a:p>
        </p:txBody>
      </p:sp>
      <p:sp>
        <p:nvSpPr>
          <p:cNvPr id="5" name="右箭头 4"/>
          <p:cNvSpPr/>
          <p:nvPr/>
        </p:nvSpPr>
        <p:spPr bwMode="auto">
          <a:xfrm>
            <a:off x="4932040" y="2820061"/>
            <a:ext cx="432048" cy="247806"/>
          </a:xfrm>
          <a:prstGeom prst="rightArrow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2" name="左大括号 11"/>
          <p:cNvSpPr/>
          <p:nvPr/>
        </p:nvSpPr>
        <p:spPr bwMode="auto">
          <a:xfrm>
            <a:off x="5458909" y="2080316"/>
            <a:ext cx="432048" cy="1754403"/>
          </a:xfrm>
          <a:prstGeom prst="leftBrace">
            <a:avLst/>
          </a:prstGeom>
          <a:ln>
            <a:prstDash val="solid"/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4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 – </a:t>
            </a:r>
            <a:r>
              <a:rPr lang="zh-CN" altLang="en-US" dirty="0"/>
              <a:t>安装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建立新的测试项目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以</a:t>
            </a:r>
            <a:r>
              <a:rPr lang="en-US" altLang="zh-CN" sz="1402" dirty="0">
                <a:latin typeface="Times New Roman" panose="02020603050405020304" pitchFamily="18" charset="0"/>
              </a:rPr>
              <a:t>MSVC</a:t>
            </a:r>
            <a:r>
              <a:rPr lang="zh-CN" altLang="en-US" sz="1402" dirty="0">
                <a:latin typeface="Times New Roman" panose="02020603050405020304" pitchFamily="18" charset="0"/>
              </a:rPr>
              <a:t>为例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0" dirty="0">
                <a:latin typeface="Times New Roman" panose="02020603050405020304" pitchFamily="18" charset="0"/>
              </a:rPr>
              <a:t>首先建立被测项目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17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5859"/>
            <a:ext cx="6958535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86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建立新的测试项目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以</a:t>
            </a:r>
            <a:r>
              <a:rPr lang="en-US" altLang="zh-CN" sz="1402" dirty="0">
                <a:latin typeface="Times New Roman" panose="02020603050405020304" pitchFamily="18" charset="0"/>
              </a:rPr>
              <a:t>MSVC</a:t>
            </a:r>
            <a:r>
              <a:rPr lang="zh-CN" altLang="en-US" sz="1402" dirty="0">
                <a:latin typeface="Times New Roman" panose="02020603050405020304" pitchFamily="18" charset="0"/>
              </a:rPr>
              <a:t>为例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0" dirty="0">
                <a:latin typeface="Times New Roman" panose="02020603050405020304" pitchFamily="18" charset="0"/>
              </a:rPr>
              <a:t>首先建立被测项目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28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5859"/>
            <a:ext cx="8598335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649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建立新的测试项目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以</a:t>
            </a:r>
            <a:r>
              <a:rPr lang="en-US" altLang="zh-CN" sz="1402" dirty="0">
                <a:latin typeface="Times New Roman" panose="02020603050405020304" pitchFamily="18" charset="0"/>
              </a:rPr>
              <a:t>MSVC</a:t>
            </a:r>
            <a:r>
              <a:rPr lang="zh-CN" altLang="en-US" sz="1402" dirty="0">
                <a:latin typeface="Times New Roman" panose="02020603050405020304" pitchFamily="18" charset="0"/>
              </a:rPr>
              <a:t>为例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首先建立被测项目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添加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环境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</a:t>
            </a:r>
            <a:r>
              <a:rPr lang="en-US" altLang="zh-CN" sz="1402" dirty="0">
                <a:latin typeface="Times New Roman" panose="02020603050405020304" pitchFamily="18" charset="0"/>
              </a:rPr>
              <a:t>include</a:t>
            </a:r>
            <a:r>
              <a:rPr lang="zh-CN" altLang="en-US" sz="1402" dirty="0">
                <a:latin typeface="Times New Roman" panose="02020603050405020304" pitchFamily="18" charset="0"/>
              </a:rPr>
              <a:t>文件夹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38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5859"/>
            <a:ext cx="8478941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19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建立新的测试项目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以</a:t>
            </a:r>
            <a:r>
              <a:rPr lang="en-US" altLang="zh-CN" sz="1402" dirty="0">
                <a:latin typeface="Times New Roman" panose="02020603050405020304" pitchFamily="18" charset="0"/>
              </a:rPr>
              <a:t>MSVC</a:t>
            </a:r>
            <a:r>
              <a:rPr lang="zh-CN" altLang="en-US" sz="1402" dirty="0">
                <a:latin typeface="Times New Roman" panose="02020603050405020304" pitchFamily="18" charset="0"/>
              </a:rPr>
              <a:t>为例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首先建立被测项目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添加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环境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</a:t>
            </a:r>
            <a:r>
              <a:rPr lang="en-US" altLang="zh-CN" sz="1402" dirty="0">
                <a:latin typeface="Times New Roman" panose="02020603050405020304" pitchFamily="18" charset="0"/>
              </a:rPr>
              <a:t>include</a:t>
            </a:r>
            <a:r>
              <a:rPr lang="zh-CN" altLang="en-US" sz="1402" dirty="0">
                <a:latin typeface="Times New Roman" panose="02020603050405020304" pitchFamily="18" charset="0"/>
              </a:rPr>
              <a:t>文件夹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</a:t>
            </a:r>
            <a:r>
              <a:rPr lang="en-US" altLang="zh-CN" sz="1402" dirty="0">
                <a:latin typeface="Times New Roman" panose="02020603050405020304" pitchFamily="18" charset="0"/>
              </a:rPr>
              <a:t>lib</a:t>
            </a:r>
            <a:r>
              <a:rPr lang="zh-CN" altLang="en-US" sz="1402" dirty="0">
                <a:latin typeface="Times New Roman" panose="02020603050405020304" pitchFamily="18" charset="0"/>
              </a:rPr>
              <a:t>文件夹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marL="457200" lvl="1" indent="0">
              <a:buNone/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48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7867"/>
            <a:ext cx="8478941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59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建立新的测试项目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以</a:t>
            </a:r>
            <a:r>
              <a:rPr lang="en-US" altLang="zh-CN" sz="1402" dirty="0">
                <a:latin typeface="Times New Roman" panose="02020603050405020304" pitchFamily="18" charset="0"/>
              </a:rPr>
              <a:t>MSVC</a:t>
            </a:r>
            <a:r>
              <a:rPr lang="zh-CN" altLang="en-US" sz="1402" dirty="0">
                <a:latin typeface="Times New Roman" panose="02020603050405020304" pitchFamily="18" charset="0"/>
              </a:rPr>
              <a:t>为例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首先建立被测项目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添加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环境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</a:t>
            </a:r>
            <a:r>
              <a:rPr lang="en-US" altLang="zh-CN" sz="1402" dirty="0">
                <a:latin typeface="Times New Roman" panose="02020603050405020304" pitchFamily="18" charset="0"/>
              </a:rPr>
              <a:t>include</a:t>
            </a:r>
            <a:r>
              <a:rPr lang="zh-CN" altLang="en-US" sz="1402" dirty="0">
                <a:latin typeface="Times New Roman" panose="02020603050405020304" pitchFamily="18" charset="0"/>
              </a:rPr>
              <a:t>文件夹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</a:t>
            </a:r>
            <a:r>
              <a:rPr lang="en-US" altLang="zh-CN" sz="1402" dirty="0">
                <a:latin typeface="Times New Roman" panose="02020603050405020304" pitchFamily="18" charset="0"/>
              </a:rPr>
              <a:t>lib</a:t>
            </a:r>
            <a:r>
              <a:rPr lang="zh-CN" altLang="en-US" sz="1402" dirty="0">
                <a:latin typeface="Times New Roman" panose="02020603050405020304" pitchFamily="18" charset="0"/>
              </a:rPr>
              <a:t>文件夹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添加附加依赖项（即：</a:t>
            </a:r>
            <a:r>
              <a:rPr lang="en-US" altLang="zh-CN" sz="1402" dirty="0">
                <a:latin typeface="Times New Roman" panose="02020603050405020304" pitchFamily="18" charset="0"/>
              </a:rPr>
              <a:t>gtestd.lib</a:t>
            </a:r>
            <a:r>
              <a:rPr lang="zh-CN" altLang="en-US" sz="1402" dirty="0">
                <a:latin typeface="Times New Roman" panose="02020603050405020304" pitchFamily="18" charset="0"/>
              </a:rPr>
              <a:t>）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marL="457200" lvl="1" indent="0">
              <a:buNone/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58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96" y="197867"/>
            <a:ext cx="8478941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344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建立新的测试项目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以</a:t>
            </a:r>
            <a:r>
              <a:rPr lang="en-US" altLang="zh-CN" sz="1402" dirty="0">
                <a:latin typeface="Times New Roman" panose="02020603050405020304" pitchFamily="18" charset="0"/>
              </a:rPr>
              <a:t>MSVC</a:t>
            </a:r>
            <a:r>
              <a:rPr lang="zh-CN" altLang="en-US" sz="1402" dirty="0">
                <a:latin typeface="Times New Roman" panose="02020603050405020304" pitchFamily="18" charset="0"/>
              </a:rPr>
              <a:t>为例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首先建立被测项目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添加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环境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</a:t>
            </a:r>
            <a:r>
              <a:rPr lang="en-US" altLang="zh-CN" sz="1402" dirty="0">
                <a:latin typeface="Times New Roman" panose="02020603050405020304" pitchFamily="18" charset="0"/>
              </a:rPr>
              <a:t>include</a:t>
            </a:r>
            <a:r>
              <a:rPr lang="zh-CN" altLang="en-US" sz="1402" dirty="0">
                <a:latin typeface="Times New Roman" panose="02020603050405020304" pitchFamily="18" charset="0"/>
              </a:rPr>
              <a:t>文件夹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</a:t>
            </a:r>
            <a:r>
              <a:rPr lang="en-US" altLang="zh-CN" sz="1402" dirty="0">
                <a:latin typeface="Times New Roman" panose="02020603050405020304" pitchFamily="18" charset="0"/>
              </a:rPr>
              <a:t>lib</a:t>
            </a:r>
            <a:r>
              <a:rPr lang="zh-CN" altLang="en-US" sz="1402" dirty="0">
                <a:latin typeface="Times New Roman" panose="02020603050405020304" pitchFamily="18" charset="0"/>
              </a:rPr>
              <a:t>文件夹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添加附加依赖项（即：</a:t>
            </a:r>
            <a:r>
              <a:rPr lang="en-US" altLang="zh-CN" sz="1402" dirty="0">
                <a:latin typeface="Times New Roman" panose="02020603050405020304" pitchFamily="18" charset="0"/>
              </a:rPr>
              <a:t>gtestd.lib</a:t>
            </a:r>
            <a:r>
              <a:rPr lang="zh-CN" altLang="en-US" sz="1402" dirty="0">
                <a:latin typeface="Times New Roman" panose="02020603050405020304" pitchFamily="18" charset="0"/>
              </a:rPr>
              <a:t>）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2" dirty="0">
                <a:latin typeface="Times New Roman" panose="02020603050405020304" pitchFamily="18" charset="0"/>
              </a:rPr>
              <a:t>可能需要设置运行库</a:t>
            </a:r>
            <a:endParaRPr lang="en-US" altLang="zh-CN" sz="1402" dirty="0">
              <a:latin typeface="Times New Roman" panose="02020603050405020304" pitchFamily="18" charset="0"/>
            </a:endParaRPr>
          </a:p>
          <a:p>
            <a:pPr marL="457200" lvl="1" indent="0">
              <a:buNone/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68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131"/>
            <a:ext cx="8478941" cy="48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726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用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进行测试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0" dirty="0">
                <a:latin typeface="Times New Roman" panose="02020603050405020304" pitchFamily="18" charset="0"/>
              </a:rPr>
              <a:t>非常简单和方便！！！</a:t>
            </a:r>
            <a:endParaRPr lang="en-US" altLang="zh-CN" sz="1400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7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027" y="1782043"/>
            <a:ext cx="218598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027" y="3366218"/>
            <a:ext cx="3705225" cy="13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027" y="2214091"/>
            <a:ext cx="346233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952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用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进行测试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0" dirty="0">
                <a:latin typeface="Times New Roman" panose="02020603050405020304" pitchFamily="18" charset="0"/>
              </a:rPr>
              <a:t>非常简单和方便！！！</a:t>
            </a:r>
            <a:endParaRPr lang="en-US" altLang="zh-CN" sz="1400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389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1710035"/>
            <a:ext cx="45053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5133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用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进行测试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0" dirty="0">
                <a:latin typeface="Times New Roman" panose="02020603050405020304" pitchFamily="18" charset="0"/>
              </a:rPr>
              <a:t>非常简单和方便！！！</a:t>
            </a:r>
            <a:endParaRPr lang="en-US" altLang="zh-CN" sz="14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sz="1400" dirty="0">
                <a:latin typeface="Times New Roman" panose="02020603050405020304" pitchFamily="18" charset="0"/>
              </a:rPr>
              <a:t>7</a:t>
            </a:r>
            <a:r>
              <a:rPr lang="zh-CN" altLang="en-US" sz="1400" dirty="0">
                <a:latin typeface="Times New Roman" panose="02020603050405020304" pitchFamily="18" charset="0"/>
              </a:rPr>
              <a:t>个用例</a:t>
            </a:r>
            <a:endParaRPr lang="en-US" altLang="zh-CN" sz="1400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409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54051"/>
            <a:ext cx="3924300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5960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1802" dirty="0">
                <a:latin typeface="Times New Roman" panose="02020603050405020304" pitchFamily="18" charset="0"/>
              </a:rPr>
              <a:t>用</a:t>
            </a:r>
            <a:r>
              <a:rPr lang="en-US" altLang="zh-CN" sz="1802" dirty="0">
                <a:latin typeface="Times New Roman" panose="02020603050405020304" pitchFamily="18" charset="0"/>
              </a:rPr>
              <a:t>Google Test</a:t>
            </a:r>
            <a:r>
              <a:rPr lang="zh-CN" altLang="en-US" sz="1802" dirty="0">
                <a:latin typeface="Times New Roman" panose="02020603050405020304" pitchFamily="18" charset="0"/>
              </a:rPr>
              <a:t>进行测试</a:t>
            </a: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0" dirty="0">
                <a:latin typeface="Times New Roman" panose="02020603050405020304" pitchFamily="18" charset="0"/>
              </a:rPr>
              <a:t>非常简单和方便！！！</a:t>
            </a:r>
            <a:endParaRPr lang="en-US" altLang="zh-CN" sz="14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sz="1400" dirty="0">
                <a:latin typeface="Times New Roman" panose="02020603050405020304" pitchFamily="18" charset="0"/>
              </a:rPr>
              <a:t>7</a:t>
            </a:r>
            <a:r>
              <a:rPr lang="zh-CN" altLang="en-US" sz="1400" dirty="0">
                <a:latin typeface="Times New Roman" panose="02020603050405020304" pitchFamily="18" charset="0"/>
              </a:rPr>
              <a:t>个用例</a:t>
            </a:r>
            <a:endParaRPr lang="en-US" altLang="zh-CN" sz="14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400" dirty="0">
                <a:latin typeface="Times New Roman" panose="02020603050405020304" pitchFamily="18" charset="0"/>
              </a:rPr>
              <a:t>与原始测试代码的比较</a:t>
            </a:r>
            <a:endParaRPr lang="en-US" altLang="zh-CN" sz="1400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802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409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659" y="3006179"/>
            <a:ext cx="3126710" cy="200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011698"/>
              </p:ext>
            </p:extLst>
          </p:nvPr>
        </p:nvGraphicFramePr>
        <p:xfrm>
          <a:off x="1403648" y="2142083"/>
          <a:ext cx="6552728" cy="818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zh-CN" altLang="en-US" dirty="0"/>
                        <a:t>原始测试代码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基于</a:t>
                      </a:r>
                      <a:r>
                        <a:rPr lang="en-US" altLang="zh-CN" dirty="0"/>
                        <a:t>Google Test</a:t>
                      </a:r>
                      <a:r>
                        <a:rPr lang="zh-CN" altLang="en-US" dirty="0"/>
                        <a:t>的测试代码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514">
                <a:tc>
                  <a:txBody>
                    <a:bodyPr/>
                    <a:lstStyle/>
                    <a:p>
                      <a:r>
                        <a:rPr lang="en-US" altLang="zh-CN" dirty="0"/>
                        <a:t>140</a:t>
                      </a:r>
                      <a:r>
                        <a:rPr lang="zh-CN" altLang="en-US" dirty="0"/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r>
                        <a:rPr lang="zh-CN" altLang="en-US" dirty="0"/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006179"/>
            <a:ext cx="32623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72552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39552" y="2214091"/>
            <a:ext cx="8229600" cy="648072"/>
          </a:xfrm>
        </p:spPr>
        <p:txBody>
          <a:bodyPr/>
          <a:lstStyle/>
          <a:p>
            <a:pPr algn="ctr"/>
            <a:r>
              <a:rPr lang="zh-CN" altLang="en-US" dirty="0"/>
              <a:t>学习使用它</a:t>
            </a:r>
            <a:br>
              <a:rPr lang="en-US" altLang="zh-CN" dirty="0"/>
            </a:br>
            <a:r>
              <a:rPr lang="en-US" altLang="zh-CN" dirty="0"/>
              <a:t>Google Test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32909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dirty="0"/>
              <a:t>TEST</a:t>
            </a:r>
            <a:r>
              <a:rPr lang="zh-CN" altLang="en-US" dirty="0"/>
              <a:t>宏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TEST</a:t>
            </a:r>
            <a:r>
              <a:rPr lang="zh-CN" altLang="en-US" sz="2000" dirty="0">
                <a:latin typeface="Times New Roman" panose="02020603050405020304" pitchFamily="18" charset="0"/>
              </a:rPr>
              <a:t>宏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sz="1200" dirty="0"/>
              <a:t>TEST</a:t>
            </a:r>
            <a:r>
              <a:rPr lang="zh-CN" altLang="en-US" sz="1200" dirty="0"/>
              <a:t>宏，有两个参数，官方的对这两个参数的解释为：</a:t>
            </a:r>
            <a:r>
              <a:rPr lang="en-US" altLang="zh-CN" sz="1200" dirty="0"/>
              <a:t>[</a:t>
            </a:r>
            <a:r>
              <a:rPr lang="en-US" altLang="zh-CN" sz="1200" dirty="0" err="1"/>
              <a:t>TestCaseName</a:t>
            </a:r>
            <a:r>
              <a:rPr lang="zh-CN" altLang="en-US" sz="1200" dirty="0"/>
              <a:t>，</a:t>
            </a:r>
            <a:r>
              <a:rPr lang="en-US" altLang="zh-CN" sz="1200" dirty="0" err="1"/>
              <a:t>TestName</a:t>
            </a:r>
            <a:r>
              <a:rPr lang="en-US" altLang="zh-CN" sz="1200" dirty="0"/>
              <a:t>]</a:t>
            </a:r>
          </a:p>
          <a:p>
            <a:pPr lvl="1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针对同一系列的</a:t>
            </a:r>
            <a:r>
              <a:rPr lang="en-US" altLang="zh-CN" sz="1200" dirty="0">
                <a:latin typeface="Times New Roman" panose="02020603050405020304" pitchFamily="18" charset="0"/>
              </a:rPr>
              <a:t>test cases</a:t>
            </a:r>
            <a:r>
              <a:rPr lang="zh-CN" altLang="en-US" sz="1200" dirty="0">
                <a:latin typeface="Times New Roman" panose="02020603050405020304" pitchFamily="18" charset="0"/>
              </a:rPr>
              <a:t>，可以有多个</a:t>
            </a:r>
            <a:r>
              <a:rPr lang="en-US" altLang="zh-CN" sz="1200" dirty="0">
                <a:latin typeface="Times New Roman" panose="02020603050405020304" pitchFamily="18" charset="0"/>
              </a:rPr>
              <a:t>TEST</a:t>
            </a:r>
            <a:r>
              <a:rPr lang="zh-CN" altLang="en-US" sz="1200" dirty="0">
                <a:latin typeface="Times New Roman" panose="02020603050405020304" pitchFamily="18" charset="0"/>
              </a:rPr>
              <a:t>宏，</a:t>
            </a:r>
            <a:r>
              <a:rPr lang="zh-CN" altLang="en-US" sz="1200" b="1" dirty="0">
                <a:latin typeface="Times New Roman" panose="02020603050405020304" pitchFamily="18" charset="0"/>
              </a:rPr>
              <a:t>一个</a:t>
            </a:r>
            <a:r>
              <a:rPr lang="en-US" altLang="zh-CN" sz="1200" b="1" dirty="0">
                <a:latin typeface="Times New Roman" panose="02020603050405020304" pitchFamily="18" charset="0"/>
              </a:rPr>
              <a:t>TEST</a:t>
            </a:r>
            <a:r>
              <a:rPr lang="zh-CN" altLang="en-US" sz="1200" b="1" dirty="0">
                <a:latin typeface="Times New Roman" panose="02020603050405020304" pitchFamily="18" charset="0"/>
              </a:rPr>
              <a:t>宏包含多个断言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196495"/>
            <a:ext cx="3924300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椭圆 4"/>
          <p:cNvSpPr/>
          <p:nvPr/>
        </p:nvSpPr>
        <p:spPr bwMode="auto">
          <a:xfrm>
            <a:off x="2051720" y="2009322"/>
            <a:ext cx="2880320" cy="5760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716" y="629915"/>
            <a:ext cx="6712830" cy="431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83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－断言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>
                <a:latin typeface="Times New Roman" panose="02020603050405020304" pitchFamily="18" charset="0"/>
              </a:rPr>
              <a:t>断言</a:t>
            </a:r>
            <a:r>
              <a:rPr lang="en-US" altLang="zh-CN" sz="2000" b="1" dirty="0">
                <a:latin typeface="Times New Roman" panose="02020603050405020304" pitchFamily="18" charset="0"/>
              </a:rPr>
              <a:t>(assertion)</a:t>
            </a:r>
            <a:r>
              <a:rPr lang="zh-CN" altLang="en-US" sz="2000" dirty="0">
                <a:latin typeface="Times New Roman" panose="02020603050405020304" pitchFamily="18" charset="0"/>
              </a:rPr>
              <a:t>：使用</a:t>
            </a:r>
            <a:r>
              <a:rPr lang="en-US" altLang="zh-CN" sz="2000" dirty="0">
                <a:latin typeface="Times New Roman" panose="02020603050405020304" pitchFamily="18" charset="0"/>
              </a:rPr>
              <a:t>Google Test</a:t>
            </a:r>
            <a:r>
              <a:rPr lang="zh-CN" altLang="en-US" sz="2000" dirty="0">
                <a:latin typeface="Times New Roman" panose="02020603050405020304" pitchFamily="18" charset="0"/>
              </a:rPr>
              <a:t>，其实就是写断言</a:t>
            </a:r>
            <a:r>
              <a:rPr lang="en-US" altLang="zh-CN" sz="2000" dirty="0">
                <a:latin typeface="Times New Roman" panose="02020603050405020304" pitchFamily="18" charset="0"/>
              </a:rPr>
              <a:t>(assertions)</a:t>
            </a:r>
            <a:r>
              <a:rPr lang="zh-CN" altLang="en-US" sz="2000" dirty="0">
                <a:latin typeface="Times New Roman" panose="02020603050405020304" pitchFamily="18" charset="0"/>
              </a:rPr>
              <a:t>，即判断某条件是否为真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采用断言来判断程序的行为是否正确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27784" y="2198118"/>
            <a:ext cx="3924300" cy="2919413"/>
            <a:chOff x="2339752" y="3399134"/>
            <a:chExt cx="3924300" cy="2919413"/>
          </a:xfrm>
        </p:grpSpPr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9752" y="3399134"/>
              <a:ext cx="3924300" cy="2919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椭圆 10"/>
            <p:cNvSpPr/>
            <p:nvPr/>
          </p:nvSpPr>
          <p:spPr bwMode="auto">
            <a:xfrm>
              <a:off x="2555776" y="3726259"/>
              <a:ext cx="3312368" cy="36004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8255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－断言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2" y="990600"/>
            <a:ext cx="8784207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断言返回三种结果：</a:t>
            </a:r>
            <a:r>
              <a:rPr lang="en-US" altLang="zh-CN" sz="2000" dirty="0">
                <a:latin typeface="Times New Roman" panose="02020603050405020304" pitchFamily="18" charset="0"/>
              </a:rPr>
              <a:t>success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nonfatal failure</a:t>
            </a:r>
            <a:r>
              <a:rPr lang="zh-CN" altLang="en-US" sz="2000" dirty="0">
                <a:latin typeface="Times New Roman" panose="02020603050405020304" pitchFamily="18" charset="0"/>
              </a:rPr>
              <a:t>（非致命错误），</a:t>
            </a:r>
            <a:r>
              <a:rPr lang="en-US" altLang="zh-CN" sz="2000" dirty="0">
                <a:latin typeface="Times New Roman" panose="02020603050405020304" pitchFamily="18" charset="0"/>
              </a:rPr>
              <a:t>fatal failure</a:t>
            </a: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两种断言成对出现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EXPECT_* 	       </a:t>
            </a:r>
            <a:r>
              <a:rPr lang="zh-CN" altLang="en-US" sz="1600" dirty="0">
                <a:latin typeface="Times New Roman" panose="02020603050405020304" pitchFamily="18" charset="0"/>
              </a:rPr>
              <a:t>返回</a:t>
            </a:r>
            <a:r>
              <a:rPr lang="en-US" altLang="zh-CN" sz="1600" dirty="0">
                <a:latin typeface="Times New Roman" panose="02020603050405020304" pitchFamily="18" charset="0"/>
              </a:rPr>
              <a:t>success</a:t>
            </a:r>
            <a:r>
              <a:rPr lang="zh-CN" altLang="en-US" sz="1600" dirty="0">
                <a:latin typeface="Times New Roman" panose="02020603050405020304" pitchFamily="18" charset="0"/>
              </a:rPr>
              <a:t>或</a:t>
            </a:r>
            <a:r>
              <a:rPr lang="en-US" altLang="zh-CN" sz="1600" dirty="0">
                <a:latin typeface="Times New Roman" panose="02020603050405020304" pitchFamily="18" charset="0"/>
              </a:rPr>
              <a:t>nonfatal failure</a:t>
            </a:r>
            <a:r>
              <a:rPr lang="zh-CN" altLang="en-US" sz="1600" dirty="0">
                <a:latin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</a:rPr>
              <a:t>TEST</a:t>
            </a:r>
            <a:r>
              <a:rPr lang="zh-CN" altLang="en-US" sz="1600" dirty="0">
                <a:latin typeface="Times New Roman" panose="02020603050405020304" pitchFamily="18" charset="0"/>
              </a:rPr>
              <a:t>宏继续执行）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ASSERT_*          </a:t>
            </a:r>
            <a:r>
              <a:rPr lang="zh-CN" altLang="en-US" sz="1600" dirty="0">
                <a:latin typeface="Times New Roman" panose="02020603050405020304" pitchFamily="18" charset="0"/>
              </a:rPr>
              <a:t>返回</a:t>
            </a:r>
            <a:r>
              <a:rPr lang="en-US" altLang="zh-CN" sz="1600" dirty="0">
                <a:latin typeface="Times New Roman" panose="02020603050405020304" pitchFamily="18" charset="0"/>
              </a:rPr>
              <a:t>success</a:t>
            </a:r>
            <a:r>
              <a:rPr lang="zh-CN" altLang="en-US" sz="1600" dirty="0">
                <a:latin typeface="Times New Roman" panose="02020603050405020304" pitchFamily="18" charset="0"/>
              </a:rPr>
              <a:t>或</a:t>
            </a:r>
            <a:r>
              <a:rPr lang="en-US" altLang="zh-CN" sz="1600" dirty="0">
                <a:latin typeface="Times New Roman" panose="02020603050405020304" pitchFamily="18" charset="0"/>
              </a:rPr>
              <a:t>fatal failure</a:t>
            </a:r>
            <a:r>
              <a:rPr lang="zh-CN" altLang="en-US" sz="1600" dirty="0">
                <a:latin typeface="Times New Roman" panose="02020603050405020304" pitchFamily="18" charset="0"/>
              </a:rPr>
              <a:t>（立刻退出</a:t>
            </a:r>
            <a:r>
              <a:rPr lang="en-US" altLang="zh-CN" sz="1600" dirty="0">
                <a:latin typeface="Times New Roman" panose="02020603050405020304" pitchFamily="18" charset="0"/>
              </a:rPr>
              <a:t>TEST</a:t>
            </a:r>
            <a:r>
              <a:rPr lang="zh-CN" altLang="en-US" sz="1600" dirty="0">
                <a:latin typeface="Times New Roman" panose="02020603050405020304" pitchFamily="18" charset="0"/>
              </a:rPr>
              <a:t>宏（可能导致内存泄漏））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Basic Assertions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804" y="2934171"/>
            <a:ext cx="56007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18135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－断言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Binary Comparison</a:t>
            </a: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450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64699"/>
            <a:ext cx="6120681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7140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－断言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String Comparison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39" y="1854051"/>
            <a:ext cx="860107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/>
          <p:cNvSpPr/>
          <p:nvPr/>
        </p:nvSpPr>
        <p:spPr bwMode="auto">
          <a:xfrm>
            <a:off x="5929558" y="2286099"/>
            <a:ext cx="885285" cy="3600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1011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－断言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当断言失败时，</a:t>
            </a:r>
            <a:r>
              <a:rPr lang="en-US" altLang="zh-CN" sz="2000" dirty="0">
                <a:latin typeface="Times New Roman" panose="02020603050405020304" pitchFamily="18" charset="0"/>
              </a:rPr>
              <a:t>Google Test</a:t>
            </a:r>
            <a:r>
              <a:rPr lang="zh-CN" altLang="en-US" sz="2000" dirty="0">
                <a:latin typeface="Times New Roman" panose="02020603050405020304" pitchFamily="18" charset="0"/>
              </a:rPr>
              <a:t>打印失败断言所在源文件、行数，并给出失败原因：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pic>
        <p:nvPicPr>
          <p:cNvPr id="3471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943100"/>
            <a:ext cx="912495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9113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－步骤总结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990600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首先用</a:t>
            </a:r>
            <a:r>
              <a:rPr lang="en-US" altLang="zh-CN" sz="2000" dirty="0">
                <a:latin typeface="Times New Roman" panose="02020603050405020304" pitchFamily="18" charset="0"/>
              </a:rPr>
              <a:t>TEST()</a:t>
            </a:r>
            <a:r>
              <a:rPr lang="zh-CN" altLang="en-US" sz="2000" dirty="0">
                <a:latin typeface="Times New Roman" panose="02020603050405020304" pitchFamily="18" charset="0"/>
              </a:rPr>
              <a:t>宏定义和命名一个测试函数（普通的无返回值的</a:t>
            </a:r>
            <a:r>
              <a:rPr lang="en-US" altLang="zh-CN" sz="2000" dirty="0">
                <a:latin typeface="Times New Roman" panose="02020603050405020304" pitchFamily="18" charset="0"/>
              </a:rPr>
              <a:t>C++</a:t>
            </a:r>
            <a:r>
              <a:rPr lang="zh-CN" altLang="en-US" sz="2000" dirty="0">
                <a:latin typeface="Times New Roman" panose="02020603050405020304" pitchFamily="18" charset="0"/>
              </a:rPr>
              <a:t>函数）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在该函数中包含多个断言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该函数的结果由断言的结果决定，任何一个断言出错，则该测试函数崩溃和出错，否则，测试成功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sz="2000" dirty="0"/>
              <a:t>                    TEST(</a:t>
            </a:r>
            <a:r>
              <a:rPr lang="en-US" altLang="zh-CN" sz="2000" dirty="0" err="1"/>
              <a:t>test_case_name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test_name</a:t>
            </a:r>
            <a:r>
              <a:rPr lang="en-US" altLang="zh-CN" sz="2000" dirty="0"/>
              <a:t>) </a:t>
            </a:r>
            <a:r>
              <a:rPr lang="en-US" altLang="zh-CN" sz="1600" dirty="0"/>
              <a:t>{ </a:t>
            </a:r>
          </a:p>
          <a:p>
            <a:pPr marL="0" indent="0">
              <a:buNone/>
              <a:defRPr/>
            </a:pPr>
            <a:r>
              <a:rPr lang="en-US" altLang="zh-CN" sz="1600" dirty="0"/>
              <a:t>                             ... test body ... </a:t>
            </a:r>
          </a:p>
          <a:p>
            <a:pPr marL="0" indent="0">
              <a:buNone/>
              <a:defRPr/>
            </a:pPr>
            <a:r>
              <a:rPr lang="en-US" altLang="zh-CN" sz="1600" dirty="0"/>
              <a:t>                         }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450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－步骤总结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CN" sz="2000" dirty="0"/>
              <a:t>                    TEST(</a:t>
            </a:r>
            <a:r>
              <a:rPr lang="en-US" altLang="zh-CN" sz="2000" dirty="0" err="1"/>
              <a:t>test_case_name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test_name</a:t>
            </a:r>
            <a:r>
              <a:rPr lang="en-US" altLang="zh-CN" sz="2000" dirty="0"/>
              <a:t>) </a:t>
            </a:r>
            <a:r>
              <a:rPr lang="en-US" altLang="zh-CN" sz="1600" dirty="0"/>
              <a:t>{ </a:t>
            </a:r>
          </a:p>
          <a:p>
            <a:pPr marL="0" indent="0">
              <a:buNone/>
              <a:defRPr/>
            </a:pPr>
            <a:r>
              <a:rPr lang="en-US" altLang="zh-CN" sz="1600" dirty="0"/>
              <a:t>                             ... test body ... </a:t>
            </a:r>
          </a:p>
          <a:p>
            <a:pPr marL="0" indent="0">
              <a:buNone/>
              <a:defRPr/>
            </a:pPr>
            <a:r>
              <a:rPr lang="en-US" altLang="zh-CN" sz="1600" dirty="0"/>
              <a:t>                         }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endParaRPr lang="en-US" altLang="zh-CN" sz="1402" dirty="0">
              <a:latin typeface="Times New Roman" panose="02020603050405020304" pitchFamily="18" charset="0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H="1">
            <a:off x="2411760" y="1552500"/>
            <a:ext cx="1224136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5265" y="3009253"/>
            <a:ext cx="2614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不同的</a:t>
            </a:r>
            <a:r>
              <a:rPr lang="en-US" altLang="zh-CN" dirty="0"/>
              <a:t>TEST</a:t>
            </a:r>
            <a:r>
              <a:rPr lang="zh-CN" altLang="en-US" dirty="0"/>
              <a:t>宏，可以有相同的</a:t>
            </a:r>
            <a:r>
              <a:rPr lang="en-US" altLang="zh-CN" dirty="0" err="1"/>
              <a:t>test_case_name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 bwMode="auto">
          <a:xfrm>
            <a:off x="5367585" y="1542457"/>
            <a:ext cx="537726" cy="13061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60032" y="3009253"/>
            <a:ext cx="2339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test_case_name</a:t>
            </a:r>
            <a:r>
              <a:rPr lang="zh-CN" altLang="en-US" dirty="0"/>
              <a:t>不同时</a:t>
            </a:r>
            <a:endParaRPr lang="en-US" altLang="zh-CN" dirty="0"/>
          </a:p>
          <a:p>
            <a:r>
              <a:rPr lang="en-US" altLang="zh-CN" dirty="0" err="1"/>
              <a:t>test_name</a:t>
            </a:r>
            <a:r>
              <a:rPr lang="zh-CN" altLang="en-US" dirty="0"/>
              <a:t>可以相同</a:t>
            </a:r>
          </a:p>
        </p:txBody>
      </p:sp>
    </p:spTree>
    <p:extLst>
      <p:ext uri="{BB962C8B-B14F-4D97-AF65-F5344CB8AC3E}">
        <p14:creationId xmlns:p14="http://schemas.microsoft.com/office/powerpoint/2010/main" val="13924355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－例子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测试对象为阶乘函数：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测试用例可为：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dirty="0">
              <a:latin typeface="Times New Roman" panose="02020603050405020304" pitchFamily="18" charset="0"/>
            </a:endParaRPr>
          </a:p>
        </p:txBody>
      </p:sp>
      <p:pic>
        <p:nvPicPr>
          <p:cNvPr id="3481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710035"/>
            <a:ext cx="3914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646139"/>
            <a:ext cx="3471863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/>
          <p:cNvSpPr/>
          <p:nvPr/>
        </p:nvSpPr>
        <p:spPr bwMode="auto">
          <a:xfrm>
            <a:off x="3131840" y="2790155"/>
            <a:ext cx="1071195" cy="3600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3068757" y="3726259"/>
            <a:ext cx="1071195" cy="3600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73121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dirty="0"/>
              <a:t>test fixture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Google Test</a:t>
            </a:r>
            <a:r>
              <a:rPr lang="zh-CN" altLang="en-US" sz="2000" dirty="0">
                <a:latin typeface="Times New Roman" panose="02020603050405020304" pitchFamily="18" charset="0"/>
              </a:rPr>
              <a:t>采用</a:t>
            </a:r>
            <a:r>
              <a:rPr lang="en-US" altLang="zh-CN" sz="2000" dirty="0">
                <a:latin typeface="Times New Roman" panose="02020603050405020304" pitchFamily="18" charset="0"/>
              </a:rPr>
              <a:t>test fixture</a:t>
            </a:r>
            <a:r>
              <a:rPr lang="zh-CN" altLang="en-US" sz="2000" dirty="0">
                <a:latin typeface="Times New Roman" panose="02020603050405020304" pitchFamily="18" charset="0"/>
              </a:rPr>
              <a:t>机制实现面向对象的测试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举例说明：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dirty="0">
              <a:latin typeface="Times New Roman" panose="02020603050405020304" pitchFamily="18" charset="0"/>
            </a:endParaRPr>
          </a:p>
        </p:txBody>
      </p:sp>
      <p:pic>
        <p:nvPicPr>
          <p:cNvPr id="3491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956" y="2142082"/>
            <a:ext cx="4100513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08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9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dirty="0"/>
              <a:t>test fixture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pic>
        <p:nvPicPr>
          <p:cNvPr id="3491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-4972"/>
            <a:ext cx="4100513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02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26059"/>
            <a:ext cx="3195637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85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dirty="0"/>
              <a:t>test fixture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pic>
        <p:nvPicPr>
          <p:cNvPr id="3491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-4972"/>
            <a:ext cx="4100513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02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26059"/>
            <a:ext cx="3195637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123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251403"/>
            <a:ext cx="2828925" cy="38766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 bwMode="auto">
          <a:xfrm flipV="1">
            <a:off x="2411760" y="1494011"/>
            <a:ext cx="3744416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 bwMode="auto">
          <a:xfrm>
            <a:off x="2411760" y="2070075"/>
            <a:ext cx="3744416" cy="720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 bwMode="auto">
          <a:xfrm>
            <a:off x="5292080" y="1251403"/>
            <a:ext cx="1071195" cy="3600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24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－步骤总结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4607743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从</a:t>
            </a:r>
            <a:r>
              <a:rPr lang="en-US" altLang="zh-CN" sz="2000" dirty="0">
                <a:latin typeface="Times New Roman" panose="02020603050405020304" pitchFamily="18" charset="0"/>
              </a:rPr>
              <a:t>::testing::Test</a:t>
            </a:r>
            <a:r>
              <a:rPr lang="zh-CN" altLang="en-US" sz="2000" dirty="0">
                <a:latin typeface="Times New Roman" panose="02020603050405020304" pitchFamily="18" charset="0"/>
              </a:rPr>
              <a:t>继承一个子类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在该子类里，申明被测对象，这些对象能被所有测试使用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重写</a:t>
            </a:r>
            <a:r>
              <a:rPr lang="en-US" altLang="zh-CN" sz="2000" dirty="0" err="1">
                <a:latin typeface="Times New Roman" panose="02020603050405020304" pitchFamily="18" charset="0"/>
              </a:rPr>
              <a:t>SetUp</a:t>
            </a:r>
            <a:r>
              <a:rPr lang="zh-CN" altLang="en-US" sz="2000" dirty="0">
                <a:latin typeface="Times New Roman" panose="02020603050405020304" pitchFamily="18" charset="0"/>
              </a:rPr>
              <a:t>和</a:t>
            </a:r>
            <a:r>
              <a:rPr lang="en-US" altLang="zh-CN" sz="2000" dirty="0" err="1">
                <a:latin typeface="Times New Roman" panose="02020603050405020304" pitchFamily="18" charset="0"/>
              </a:rPr>
              <a:t>TearDown</a:t>
            </a:r>
            <a:r>
              <a:rPr lang="zh-CN" altLang="en-US" sz="2000" dirty="0">
                <a:latin typeface="Times New Roman" panose="02020603050405020304" pitchFamily="18" charset="0"/>
              </a:rPr>
              <a:t>函数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在使用</a:t>
            </a:r>
            <a:r>
              <a:rPr lang="en-US" altLang="zh-CN" sz="2000" dirty="0">
                <a:latin typeface="Times New Roman" panose="02020603050405020304" pitchFamily="18" charset="0"/>
              </a:rPr>
              <a:t>fixture</a:t>
            </a:r>
            <a:r>
              <a:rPr lang="zh-CN" altLang="en-US" sz="2000" dirty="0">
                <a:latin typeface="Times New Roman" panose="02020603050405020304" pitchFamily="18" charset="0"/>
              </a:rPr>
              <a:t>时，用</a:t>
            </a:r>
            <a:r>
              <a:rPr lang="en-US" altLang="zh-CN" sz="2000" dirty="0">
                <a:latin typeface="Times New Roman" panose="02020603050405020304" pitchFamily="18" charset="0"/>
              </a:rPr>
              <a:t>TEST_F</a:t>
            </a:r>
            <a:r>
              <a:rPr lang="zh-CN" altLang="en-US" sz="2000" dirty="0">
                <a:latin typeface="Times New Roman" panose="02020603050405020304" pitchFamily="18" charset="0"/>
              </a:rPr>
              <a:t>替代</a:t>
            </a:r>
            <a:r>
              <a:rPr lang="en-US" altLang="zh-CN" sz="2000" dirty="0">
                <a:latin typeface="Times New Roman" panose="02020603050405020304" pitchFamily="18" charset="0"/>
              </a:rPr>
              <a:t>TEST</a:t>
            </a:r>
            <a:r>
              <a:rPr lang="zh-CN" altLang="en-US" sz="2000" dirty="0">
                <a:latin typeface="Times New Roman" panose="02020603050405020304" pitchFamily="18" charset="0"/>
              </a:rPr>
              <a:t>宏。对于</a:t>
            </a:r>
            <a:r>
              <a:rPr lang="en-US" altLang="zh-CN" sz="2000" dirty="0">
                <a:latin typeface="Times New Roman" panose="02020603050405020304" pitchFamily="18" charset="0"/>
              </a:rPr>
              <a:t>TSET_F</a:t>
            </a:r>
            <a:r>
              <a:rPr lang="zh-CN" altLang="en-US" sz="2000" dirty="0">
                <a:latin typeface="Times New Roman" panose="02020603050405020304" pitchFamily="18" charset="0"/>
              </a:rPr>
              <a:t>定义的测试，</a:t>
            </a:r>
            <a:r>
              <a:rPr lang="en-US" altLang="zh-CN" sz="2000" dirty="0">
                <a:latin typeface="Times New Roman" panose="02020603050405020304" pitchFamily="18" charset="0"/>
              </a:rPr>
              <a:t>Google Test</a:t>
            </a:r>
            <a:r>
              <a:rPr lang="zh-CN" altLang="en-US" sz="2000" dirty="0">
                <a:latin typeface="Times New Roman" panose="02020603050405020304" pitchFamily="18" charset="0"/>
              </a:rPr>
              <a:t>将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创建一个</a:t>
            </a:r>
            <a:r>
              <a:rPr lang="en-US" altLang="zh-CN" sz="1200" dirty="0">
                <a:latin typeface="Times New Roman" panose="02020603050405020304" pitchFamily="18" charset="0"/>
              </a:rPr>
              <a:t>test fixture</a:t>
            </a:r>
            <a:r>
              <a:rPr lang="zh-CN" altLang="en-US" sz="1200" dirty="0">
                <a:latin typeface="Times New Roman" panose="02020603050405020304" pitchFamily="18" charset="0"/>
              </a:rPr>
              <a:t>对象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初始化它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执行测试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析构</a:t>
            </a:r>
            <a:r>
              <a:rPr lang="en-US" altLang="zh-CN" sz="1200" dirty="0">
                <a:latin typeface="Times New Roman" panose="02020603050405020304" pitchFamily="18" charset="0"/>
              </a:rPr>
              <a:t>test fixture</a:t>
            </a:r>
            <a:r>
              <a:rPr lang="zh-CN" altLang="en-US" sz="1200" dirty="0">
                <a:latin typeface="Times New Roman" panose="02020603050405020304" pitchFamily="18" charset="0"/>
              </a:rPr>
              <a:t>对象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删除该对象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277987"/>
            <a:ext cx="3195637" cy="275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5154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3" y="269875"/>
            <a:ext cx="8229600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－运行过程</a:t>
            </a:r>
            <a:endParaRPr lang="en-US" altLang="zh-CN" dirty="0"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运行过程：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首先</a:t>
            </a:r>
            <a:r>
              <a:rPr lang="en-US" altLang="zh-CN" sz="1600" dirty="0">
                <a:latin typeface="Times New Roman" panose="02020603050405020304" pitchFamily="18" charset="0"/>
              </a:rPr>
              <a:t>Google Test</a:t>
            </a:r>
            <a:r>
              <a:rPr lang="zh-CN" altLang="en-US" sz="1600" dirty="0">
                <a:latin typeface="Times New Roman" panose="02020603050405020304" pitchFamily="18" charset="0"/>
              </a:rPr>
              <a:t>构建一个</a:t>
            </a:r>
            <a:r>
              <a:rPr lang="en-US" altLang="zh-CN" sz="1600" dirty="0" err="1">
                <a:latin typeface="Times New Roman" panose="02020603050405020304" pitchFamily="18" charset="0"/>
              </a:rPr>
              <a:t>QueueTest</a:t>
            </a:r>
            <a:r>
              <a:rPr lang="zh-CN" altLang="en-US" sz="1600" dirty="0">
                <a:latin typeface="Times New Roman" panose="02020603050405020304" pitchFamily="18" charset="0"/>
              </a:rPr>
              <a:t>对象（称之为</a:t>
            </a:r>
            <a:r>
              <a:rPr lang="en-US" altLang="zh-CN" sz="1600" dirty="0">
                <a:latin typeface="Times New Roman" panose="02020603050405020304" pitchFamily="18" charset="0"/>
              </a:rPr>
              <a:t>t1</a:t>
            </a:r>
            <a:r>
              <a:rPr lang="zh-CN" altLang="en-US" sz="1600" dirty="0">
                <a:latin typeface="Times New Roman" panose="02020603050405020304" pitchFamily="18" charset="0"/>
              </a:rPr>
              <a:t>）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t1.SetUp()</a:t>
            </a:r>
            <a:r>
              <a:rPr lang="zh-CN" altLang="en-US" sz="1600" dirty="0">
                <a:latin typeface="Times New Roman" panose="02020603050405020304" pitchFamily="18" charset="0"/>
              </a:rPr>
              <a:t>执行，并初始化</a:t>
            </a:r>
            <a:r>
              <a:rPr lang="en-US" altLang="zh-CN" sz="1600" dirty="0">
                <a:latin typeface="Times New Roman" panose="02020603050405020304" pitchFamily="18" charset="0"/>
              </a:rPr>
              <a:t>t1</a:t>
            </a: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在</a:t>
            </a:r>
            <a:r>
              <a:rPr lang="en-US" altLang="zh-CN" sz="1600" dirty="0">
                <a:latin typeface="Times New Roman" panose="02020603050405020304" pitchFamily="18" charset="0"/>
              </a:rPr>
              <a:t>t1</a:t>
            </a:r>
            <a:r>
              <a:rPr lang="zh-CN" altLang="en-US" sz="1600" dirty="0">
                <a:latin typeface="Times New Roman" panose="02020603050405020304" pitchFamily="18" charset="0"/>
              </a:rPr>
              <a:t>上执行</a:t>
            </a:r>
            <a:r>
              <a:rPr lang="en-US" altLang="zh-CN" sz="1600" dirty="0" err="1"/>
              <a:t>IsEmptyInitially</a:t>
            </a:r>
            <a:r>
              <a:rPr lang="en-US" altLang="zh-CN" sz="1600" dirty="0"/>
              <a:t> </a:t>
            </a:r>
            <a:r>
              <a:rPr lang="zh-CN" altLang="en-US" sz="1600" dirty="0"/>
              <a:t>测试例子</a:t>
            </a:r>
            <a:endParaRPr lang="en-US" altLang="zh-CN" sz="1600" dirty="0"/>
          </a:p>
          <a:p>
            <a:pPr lvl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t1.TearDown()</a:t>
            </a:r>
            <a:r>
              <a:rPr lang="zh-CN" altLang="en-US" sz="1600" dirty="0">
                <a:latin typeface="Times New Roman" panose="02020603050405020304" pitchFamily="18" charset="0"/>
              </a:rPr>
              <a:t>执行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t1</a:t>
            </a:r>
            <a:r>
              <a:rPr lang="zh-CN" altLang="en-US" sz="1600" dirty="0">
                <a:latin typeface="Times New Roman" panose="02020603050405020304" pitchFamily="18" charset="0"/>
              </a:rPr>
              <a:t>被析构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sz="1600" dirty="0">
                <a:latin typeface="Times New Roman" panose="02020603050405020304" pitchFamily="18" charset="0"/>
              </a:rPr>
              <a:t>上述过程重新执行，建立新的</a:t>
            </a:r>
            <a:r>
              <a:rPr lang="en-US" altLang="zh-CN" sz="1600" dirty="0" err="1">
                <a:latin typeface="Times New Roman" panose="02020603050405020304" pitchFamily="18" charset="0"/>
              </a:rPr>
              <a:t>QueueTest</a:t>
            </a:r>
            <a:r>
              <a:rPr lang="zh-CN" altLang="en-US" sz="1600" dirty="0">
                <a:latin typeface="Times New Roman" panose="02020603050405020304" pitchFamily="18" charset="0"/>
              </a:rPr>
              <a:t>对象，并执行</a:t>
            </a:r>
            <a:r>
              <a:rPr lang="en-US" altLang="zh-CN" sz="1600" dirty="0" err="1">
                <a:latin typeface="Times New Roman" panose="02020603050405020304" pitchFamily="18" charset="0"/>
              </a:rPr>
              <a:t>DequeueWorks</a:t>
            </a:r>
            <a:r>
              <a:rPr lang="zh-CN" altLang="en-US" sz="1600" dirty="0">
                <a:latin typeface="Times New Roman" panose="02020603050405020304" pitchFamily="18" charset="0"/>
              </a:rPr>
              <a:t>测试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970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－进阶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更多断言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事件机制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参数化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死亡测试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运行参数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3429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sz="3600" dirty="0"/>
              <a:t>More Assertions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异常检查</a:t>
            </a:r>
          </a:p>
        </p:txBody>
      </p:sp>
      <p:pic>
        <p:nvPicPr>
          <p:cNvPr id="3522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19059"/>
            <a:ext cx="8929687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22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03443"/>
            <a:ext cx="2800350" cy="468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718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sz="3600" dirty="0"/>
              <a:t>More Assertions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b="1" dirty="0"/>
              <a:t>Predicate</a:t>
            </a:r>
            <a:r>
              <a:rPr lang="zh-CN" altLang="en-US" sz="2000" b="1" dirty="0"/>
              <a:t>（谓语）</a:t>
            </a:r>
            <a:r>
              <a:rPr lang="en-US" altLang="zh-CN" sz="2000" b="1" dirty="0"/>
              <a:t> Assertions</a:t>
            </a:r>
          </a:p>
          <a:p>
            <a:pPr lvl="1">
              <a:defRPr/>
            </a:pPr>
            <a:r>
              <a:rPr lang="zh-CN" altLang="en-US" sz="1600" dirty="0"/>
              <a:t>在使用</a:t>
            </a:r>
            <a:r>
              <a:rPr lang="en-US" altLang="zh-CN" sz="1600" dirty="0"/>
              <a:t>EXPECT_TRUE</a:t>
            </a:r>
            <a:r>
              <a:rPr lang="zh-CN" altLang="en-US" sz="1600" dirty="0"/>
              <a:t>或</a:t>
            </a:r>
            <a:r>
              <a:rPr lang="en-US" altLang="zh-CN" sz="1600" dirty="0"/>
              <a:t>ASSERT_TRUE</a:t>
            </a:r>
            <a:r>
              <a:rPr lang="zh-CN" altLang="en-US" sz="1600" dirty="0"/>
              <a:t>时，有时希望能够输出更加详细的信息，比如检查一个函数的返回值</a:t>
            </a:r>
            <a:r>
              <a:rPr lang="en-US" altLang="zh-CN" sz="1600" dirty="0"/>
              <a:t>TRUE</a:t>
            </a:r>
            <a:r>
              <a:rPr lang="zh-CN" altLang="en-US" sz="1600" dirty="0"/>
              <a:t>还是</a:t>
            </a:r>
            <a:r>
              <a:rPr lang="en-US" altLang="zh-CN" sz="1600" dirty="0"/>
              <a:t>FALSE</a:t>
            </a:r>
            <a:r>
              <a:rPr lang="zh-CN" altLang="en-US" sz="1600" dirty="0"/>
              <a:t>时，希望能够输出传入的参数是什么，以便失败后好跟踪。因此提供了如下的断言：</a:t>
            </a:r>
          </a:p>
        </p:txBody>
      </p:sp>
      <p:pic>
        <p:nvPicPr>
          <p:cNvPr id="3532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999" y="2661865"/>
            <a:ext cx="6348413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32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75" y="1710035"/>
            <a:ext cx="2633663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328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086299"/>
            <a:ext cx="3471863" cy="7477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827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sz="3600" dirty="0"/>
              <a:t>More Assertions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b="1" dirty="0"/>
              <a:t>Predicate Assertions</a:t>
            </a:r>
          </a:p>
          <a:p>
            <a:pPr lvl="1">
              <a:defRPr/>
            </a:pPr>
            <a:r>
              <a:rPr lang="zh-CN" altLang="en-US" sz="1600" dirty="0"/>
              <a:t>如果对这样的输出不满意的话，还可以自定义输出格式，通过如下：</a:t>
            </a:r>
            <a:endParaRPr lang="en-US" altLang="zh-CN" sz="1600" dirty="0"/>
          </a:p>
        </p:txBody>
      </p:sp>
      <p:pic>
        <p:nvPicPr>
          <p:cNvPr id="3543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998067"/>
            <a:ext cx="8715375" cy="150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430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" y="1364496"/>
            <a:ext cx="8105775" cy="300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559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sz="3600" dirty="0"/>
              <a:t>More Assertions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浮点型检查</a:t>
            </a:r>
            <a:endParaRPr lang="en-US" altLang="zh-CN" sz="2000" b="1" dirty="0"/>
          </a:p>
        </p:txBody>
      </p:sp>
      <p:pic>
        <p:nvPicPr>
          <p:cNvPr id="3553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3" y="1782043"/>
            <a:ext cx="7519987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53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1" y="3006179"/>
            <a:ext cx="9068570" cy="988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882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sz="3600" dirty="0"/>
              <a:t>More Assertions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b="1" dirty="0"/>
              <a:t>Windows HRESULT assertions</a:t>
            </a:r>
          </a:p>
        </p:txBody>
      </p:sp>
      <p:pic>
        <p:nvPicPr>
          <p:cNvPr id="3563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8" y="1782043"/>
            <a:ext cx="9031040" cy="1031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63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1" y="3078187"/>
            <a:ext cx="61626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797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</a:t>
            </a:r>
            <a:r>
              <a:rPr lang="en-US" altLang="zh-CN" sz="3600" dirty="0"/>
              <a:t>More Assertions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类型检查</a:t>
            </a:r>
            <a:endParaRPr lang="en-US" altLang="zh-CN" sz="2000" b="1" dirty="0"/>
          </a:p>
        </p:txBody>
      </p:sp>
      <p:pic>
        <p:nvPicPr>
          <p:cNvPr id="3573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455" y="1710035"/>
            <a:ext cx="3967163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64652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－事件机制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b="1" dirty="0" err="1"/>
              <a:t>gtest</a:t>
            </a:r>
            <a:r>
              <a:rPr lang="zh-CN" altLang="en-US" sz="2000" b="1" dirty="0"/>
              <a:t>提供了多种事件机制，方便在案例之前或之后做一些操作。</a:t>
            </a:r>
            <a:r>
              <a:rPr lang="en-US" altLang="zh-CN" sz="2000" b="1" dirty="0" err="1"/>
              <a:t>gtest</a:t>
            </a:r>
            <a:r>
              <a:rPr lang="zh-CN" altLang="en-US" sz="2000" b="1" dirty="0"/>
              <a:t>的事件一共有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种：</a:t>
            </a:r>
            <a:endParaRPr lang="en-US" altLang="zh-CN" sz="2000" b="1" dirty="0"/>
          </a:p>
          <a:p>
            <a:pPr lvl="1">
              <a:defRPr/>
            </a:pPr>
            <a:r>
              <a:rPr lang="zh-CN" altLang="en-US" sz="1800" dirty="0"/>
              <a:t>全局的，所有案例执行前后。</a:t>
            </a:r>
            <a:endParaRPr lang="en-US" altLang="zh-CN" sz="1800" dirty="0"/>
          </a:p>
          <a:p>
            <a:pPr lvl="1">
              <a:defRPr/>
            </a:pPr>
            <a:r>
              <a:rPr lang="en-US" altLang="zh-CN" sz="1800" dirty="0" err="1"/>
              <a:t>TestSuite</a:t>
            </a:r>
            <a:r>
              <a:rPr lang="zh-CN" altLang="en-US" sz="1800" dirty="0"/>
              <a:t>级别的，在某一批案例中第一个案例前，最后一个案例执行后。</a:t>
            </a:r>
            <a:endParaRPr lang="en-US" altLang="zh-CN" sz="1800" dirty="0"/>
          </a:p>
          <a:p>
            <a:pPr lvl="1">
              <a:defRPr/>
            </a:pPr>
            <a:r>
              <a:rPr lang="en-US" altLang="zh-CN" sz="1800" dirty="0" err="1"/>
              <a:t>TestCase</a:t>
            </a:r>
            <a:r>
              <a:rPr lang="zh-CN" altLang="en-US" sz="1800" dirty="0"/>
              <a:t>级别的，每个</a:t>
            </a:r>
            <a:r>
              <a:rPr lang="en-US" altLang="zh-CN" sz="1800" dirty="0" err="1"/>
              <a:t>TestCase</a:t>
            </a:r>
            <a:r>
              <a:rPr lang="zh-CN" altLang="en-US" sz="1800" dirty="0"/>
              <a:t>前后</a:t>
            </a:r>
            <a:r>
              <a:rPr lang="zh-CN" altLang="en-US" sz="1600" b="1" dirty="0"/>
              <a:t>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7726236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－事件机制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全局事件</a:t>
            </a:r>
            <a:endParaRPr lang="en-US" altLang="zh-CN" sz="2000" b="1" dirty="0"/>
          </a:p>
          <a:p>
            <a:pPr lvl="1">
              <a:defRPr/>
            </a:pPr>
            <a:r>
              <a:rPr lang="zh-CN" altLang="en-US" sz="1400" dirty="0"/>
              <a:t>要实现全局事件，必须写一个类，继承</a:t>
            </a:r>
            <a:r>
              <a:rPr lang="en-US" altLang="zh-CN" sz="1400" dirty="0"/>
              <a:t>testing::Environment</a:t>
            </a:r>
            <a:r>
              <a:rPr lang="zh-CN" altLang="en-US" sz="1400" dirty="0"/>
              <a:t>类，实现里面的</a:t>
            </a:r>
            <a:r>
              <a:rPr lang="en-US" altLang="zh-CN" sz="1400" dirty="0" err="1"/>
              <a:t>SetUp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TearDown</a:t>
            </a:r>
            <a:r>
              <a:rPr lang="zh-CN" altLang="en-US" sz="1400" dirty="0"/>
              <a:t>方法。</a:t>
            </a:r>
            <a:endParaRPr lang="en-US" altLang="zh-CN" sz="1400" dirty="0"/>
          </a:p>
          <a:p>
            <a:pPr lvl="2">
              <a:defRPr/>
            </a:pPr>
            <a:r>
              <a:rPr lang="en-US" altLang="zh-CN" sz="1000" dirty="0" err="1"/>
              <a:t>SetUp</a:t>
            </a:r>
            <a:r>
              <a:rPr lang="en-US" altLang="zh-CN" sz="1000" dirty="0"/>
              <a:t>()</a:t>
            </a:r>
            <a:r>
              <a:rPr lang="zh-CN" altLang="en-US" sz="1000" dirty="0"/>
              <a:t>方法在所有案例执行前执行</a:t>
            </a:r>
            <a:endParaRPr lang="en-US" altLang="zh-CN" sz="1000" dirty="0"/>
          </a:p>
          <a:p>
            <a:pPr lvl="2">
              <a:defRPr/>
            </a:pPr>
            <a:r>
              <a:rPr lang="en-US" altLang="zh-CN" sz="1000" dirty="0" err="1"/>
              <a:t>TearDown</a:t>
            </a:r>
            <a:r>
              <a:rPr lang="en-US" altLang="zh-CN" sz="1000" dirty="0"/>
              <a:t>()</a:t>
            </a:r>
            <a:r>
              <a:rPr lang="zh-CN" altLang="en-US" sz="1000" dirty="0"/>
              <a:t>方法在所有案例执行后执行</a:t>
            </a:r>
            <a:endParaRPr lang="en-US" altLang="zh-CN" sz="1000" dirty="0"/>
          </a:p>
          <a:p>
            <a:pPr lvl="1">
              <a:defRPr/>
            </a:pPr>
            <a:r>
              <a:rPr lang="zh-CN" altLang="en-US" sz="1400" dirty="0"/>
              <a:t>接下里，在</a:t>
            </a:r>
            <a:r>
              <a:rPr lang="en-US" altLang="zh-CN" sz="1400" dirty="0"/>
              <a:t>main</a:t>
            </a:r>
            <a:r>
              <a:rPr lang="zh-CN" altLang="en-US" sz="1400" dirty="0"/>
              <a:t>函数中通过</a:t>
            </a:r>
            <a:r>
              <a:rPr lang="en-US" altLang="zh-CN" sz="1400" dirty="0"/>
              <a:t>testing::</a:t>
            </a:r>
            <a:r>
              <a:rPr lang="en-US" altLang="zh-CN" sz="1400" dirty="0" err="1"/>
              <a:t>AddGlobalTestEnvironment</a:t>
            </a:r>
            <a:r>
              <a:rPr lang="zh-CN" altLang="en-US" sz="1400" dirty="0"/>
              <a:t>方法添加这个全局事件</a:t>
            </a:r>
            <a:endParaRPr lang="en-US" altLang="zh-CN" sz="1400" dirty="0"/>
          </a:p>
        </p:txBody>
      </p:sp>
      <p:pic>
        <p:nvPicPr>
          <p:cNvPr id="3584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133971"/>
            <a:ext cx="4419600" cy="306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7" y="2862163"/>
            <a:ext cx="4176713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01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－事件机制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b="1" dirty="0" err="1"/>
              <a:t>TestSuite</a:t>
            </a:r>
            <a:r>
              <a:rPr lang="zh-CN" altLang="en-US" sz="2000" b="1" dirty="0"/>
              <a:t>事件</a:t>
            </a:r>
            <a:endParaRPr lang="en-US" altLang="zh-CN" sz="2000" b="1" dirty="0"/>
          </a:p>
          <a:p>
            <a:pPr lvl="1">
              <a:defRPr/>
            </a:pPr>
            <a:r>
              <a:rPr lang="zh-CN" altLang="en-US" sz="1400" dirty="0"/>
              <a:t>需要写一个类，继承</a:t>
            </a:r>
            <a:r>
              <a:rPr lang="en-US" altLang="zh-CN" sz="1400" dirty="0"/>
              <a:t>testing::Test</a:t>
            </a:r>
            <a:r>
              <a:rPr lang="zh-CN" altLang="en-US" sz="1400" dirty="0"/>
              <a:t>，然后实现两个静态方法</a:t>
            </a:r>
            <a:endParaRPr lang="en-US" altLang="zh-CN" sz="1400" dirty="0"/>
          </a:p>
          <a:p>
            <a:pPr lvl="2">
              <a:defRPr/>
            </a:pPr>
            <a:r>
              <a:rPr lang="en-US" altLang="zh-CN" sz="1000" dirty="0" err="1"/>
              <a:t>SetUpTestCase</a:t>
            </a:r>
            <a:r>
              <a:rPr lang="en-US" altLang="zh-CN" sz="1000" dirty="0"/>
              <a:t>() </a:t>
            </a:r>
            <a:r>
              <a:rPr lang="zh-CN" altLang="en-US" sz="1000" dirty="0"/>
              <a:t>方法在第一个</a:t>
            </a:r>
            <a:r>
              <a:rPr lang="en-US" altLang="zh-CN" sz="1000" dirty="0" err="1"/>
              <a:t>TestCase</a:t>
            </a:r>
            <a:r>
              <a:rPr lang="zh-CN" altLang="en-US" sz="1000" dirty="0"/>
              <a:t>之前执行</a:t>
            </a:r>
            <a:endParaRPr lang="en-US" altLang="zh-CN" sz="1000" dirty="0"/>
          </a:p>
          <a:p>
            <a:pPr lvl="2">
              <a:defRPr/>
            </a:pPr>
            <a:r>
              <a:rPr lang="en-US" altLang="zh-CN" sz="1000" dirty="0" err="1"/>
              <a:t>TearDown</a:t>
            </a:r>
            <a:r>
              <a:rPr lang="en-US" altLang="zh-CN" sz="1000" dirty="0"/>
              <a:t>()</a:t>
            </a:r>
            <a:r>
              <a:rPr lang="zh-CN" altLang="en-US" sz="1000" dirty="0"/>
              <a:t>方法在所有案例执行后执行</a:t>
            </a:r>
            <a:endParaRPr lang="en-US" altLang="zh-CN" sz="1000" dirty="0"/>
          </a:p>
          <a:p>
            <a:pPr lvl="1">
              <a:defRPr/>
            </a:pPr>
            <a:r>
              <a:rPr lang="zh-CN" altLang="en-US" sz="1400" dirty="0"/>
              <a:t>在编写测试案例时，使用</a:t>
            </a:r>
            <a:r>
              <a:rPr lang="en-US" altLang="zh-CN" sz="1400" dirty="0"/>
              <a:t>TEST_F</a:t>
            </a:r>
            <a:r>
              <a:rPr lang="zh-CN" altLang="en-US" sz="1400" dirty="0"/>
              <a:t>宏，第一个参数必须是上面的类的名字，代表一个</a:t>
            </a:r>
            <a:r>
              <a:rPr lang="en-US" altLang="zh-CN" sz="1400" dirty="0" err="1"/>
              <a:t>TestSuite</a:t>
            </a:r>
            <a:endParaRPr lang="en-US" altLang="zh-CN" sz="1400" dirty="0"/>
          </a:p>
        </p:txBody>
      </p:sp>
      <p:pic>
        <p:nvPicPr>
          <p:cNvPr id="3594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710035"/>
            <a:ext cx="3500437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94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190" y="1987893"/>
            <a:ext cx="3471863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88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－事件机制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en-US" altLang="zh-CN" sz="2000" b="1" dirty="0" err="1"/>
              <a:t>TestCase</a:t>
            </a:r>
            <a:r>
              <a:rPr lang="zh-CN" altLang="en-US" sz="2000" b="1" dirty="0"/>
              <a:t>事件</a:t>
            </a:r>
            <a:endParaRPr lang="en-US" altLang="zh-CN" sz="2000" b="1" dirty="0"/>
          </a:p>
          <a:p>
            <a:pPr lvl="1">
              <a:defRPr/>
            </a:pPr>
            <a:r>
              <a:rPr lang="en-US" altLang="zh-CN" sz="1600" dirty="0" err="1"/>
              <a:t>TestCase</a:t>
            </a:r>
            <a:r>
              <a:rPr lang="zh-CN" altLang="en-US" sz="1600" dirty="0"/>
              <a:t>事件是挂在每个案例执行前后的，实现方式和上面的几乎一样，不过需要实现的是</a:t>
            </a:r>
            <a:r>
              <a:rPr lang="en-US" altLang="zh-CN" sz="1600" dirty="0" err="1"/>
              <a:t>SetUp</a:t>
            </a:r>
            <a:r>
              <a:rPr lang="zh-CN" altLang="en-US" sz="1600" dirty="0"/>
              <a:t>方法和</a:t>
            </a:r>
            <a:r>
              <a:rPr lang="en-US" altLang="zh-CN" sz="1600" dirty="0" err="1"/>
              <a:t>TearDown</a:t>
            </a:r>
            <a:r>
              <a:rPr lang="zh-CN" altLang="en-US" sz="1600" dirty="0"/>
              <a:t>方法：</a:t>
            </a:r>
            <a:endParaRPr lang="en-US" altLang="zh-CN" sz="1600" dirty="0"/>
          </a:p>
          <a:p>
            <a:pPr lvl="2">
              <a:defRPr/>
            </a:pPr>
            <a:r>
              <a:rPr lang="en-US" altLang="zh-CN" sz="1200" dirty="0" err="1"/>
              <a:t>SetUp</a:t>
            </a:r>
            <a:r>
              <a:rPr lang="en-US" altLang="zh-CN" sz="1200" dirty="0"/>
              <a:t>()</a:t>
            </a:r>
            <a:r>
              <a:rPr lang="zh-CN" altLang="en-US" sz="1200" dirty="0"/>
              <a:t>方法在每个</a:t>
            </a:r>
            <a:r>
              <a:rPr lang="en-US" altLang="zh-CN" sz="1200" dirty="0" err="1"/>
              <a:t>TestCase</a:t>
            </a:r>
            <a:r>
              <a:rPr lang="zh-CN" altLang="en-US" sz="1200" dirty="0"/>
              <a:t>之前执行</a:t>
            </a:r>
            <a:endParaRPr lang="en-US" altLang="zh-CN" sz="1200" dirty="0"/>
          </a:p>
          <a:p>
            <a:pPr lvl="2">
              <a:defRPr/>
            </a:pPr>
            <a:r>
              <a:rPr lang="en-US" altLang="zh-CN" sz="1200" dirty="0" err="1"/>
              <a:t>TearDown</a:t>
            </a:r>
            <a:r>
              <a:rPr lang="en-US" altLang="zh-CN" sz="1200" dirty="0"/>
              <a:t>()</a:t>
            </a:r>
            <a:r>
              <a:rPr lang="zh-CN" altLang="en-US" sz="1200" dirty="0"/>
              <a:t>方法在每个</a:t>
            </a:r>
            <a:r>
              <a:rPr lang="en-US" altLang="zh-CN" sz="1200" dirty="0" err="1"/>
              <a:t>TestCase</a:t>
            </a:r>
            <a:r>
              <a:rPr lang="zh-CN" altLang="en-US" sz="1200" dirty="0"/>
              <a:t>之后执行</a:t>
            </a:r>
            <a:endParaRPr lang="en-US" altLang="zh-CN" sz="1200" dirty="0"/>
          </a:p>
        </p:txBody>
      </p:sp>
      <p:pic>
        <p:nvPicPr>
          <p:cNvPr id="3604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1"/>
            <a:ext cx="2982639" cy="510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97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－参数化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在设计测试案例时，经常需要考虑给被测函数传入不同的值的情况。</a:t>
            </a:r>
            <a:endParaRPr lang="en-US" altLang="zh-CN" sz="2000" b="1" dirty="0"/>
          </a:p>
          <a:p>
            <a:pPr lvl="1">
              <a:defRPr/>
            </a:pPr>
            <a:r>
              <a:rPr lang="zh-CN" altLang="en-US" sz="1600" dirty="0"/>
              <a:t>例如：</a:t>
            </a:r>
            <a:endParaRPr lang="en-US" altLang="zh-CN" sz="1600" dirty="0"/>
          </a:p>
          <a:p>
            <a:pPr>
              <a:defRPr/>
            </a:pPr>
            <a:endParaRPr lang="en-US" altLang="zh-CN" sz="2000" b="1" dirty="0"/>
          </a:p>
        </p:txBody>
      </p:sp>
      <p:pic>
        <p:nvPicPr>
          <p:cNvPr id="3614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0"/>
            <a:ext cx="4737893" cy="5150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14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1482725"/>
            <a:ext cx="25146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116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－参数化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参数化解决方案</a:t>
            </a:r>
            <a:endParaRPr lang="en-US" altLang="zh-CN" sz="2000" b="1" dirty="0"/>
          </a:p>
          <a:p>
            <a:pPr lvl="1">
              <a:defRPr/>
            </a:pPr>
            <a:r>
              <a:rPr lang="zh-CN" altLang="en-US" sz="1600" b="1" dirty="0"/>
              <a:t>添加一个类，继承</a:t>
            </a:r>
            <a:r>
              <a:rPr lang="en-US" altLang="zh-CN" sz="1600" b="1" dirty="0"/>
              <a:t>testing::</a:t>
            </a:r>
            <a:r>
              <a:rPr lang="en-US" altLang="zh-CN" sz="1600" b="1" dirty="0" err="1"/>
              <a:t>TestWithParam</a:t>
            </a:r>
            <a:r>
              <a:rPr lang="en-US" altLang="zh-CN" sz="1600" b="1" dirty="0"/>
              <a:t>&lt;T&gt;</a:t>
            </a:r>
            <a:r>
              <a:rPr lang="zh-CN" altLang="en-US" sz="1600" b="1" dirty="0"/>
              <a:t>，其中</a:t>
            </a:r>
            <a:r>
              <a:rPr lang="en-US" altLang="zh-CN" sz="1600" b="1" dirty="0"/>
              <a:t>T</a:t>
            </a:r>
            <a:r>
              <a:rPr lang="zh-CN" altLang="en-US" sz="1600" b="1" dirty="0"/>
              <a:t>就是需要参数化的参数类型，比如上面的例子，需要参数化一个</a:t>
            </a:r>
            <a:r>
              <a:rPr lang="en-US" altLang="zh-CN" sz="1600" b="1" dirty="0" err="1"/>
              <a:t>int</a:t>
            </a:r>
            <a:r>
              <a:rPr lang="zh-CN" altLang="en-US" sz="1600" b="1" dirty="0"/>
              <a:t>型的参数</a:t>
            </a:r>
            <a:endParaRPr lang="en-US" altLang="zh-CN" sz="1600" b="1" dirty="0"/>
          </a:p>
          <a:p>
            <a:pPr lvl="1">
              <a:defRPr/>
            </a:pPr>
            <a:endParaRPr lang="en-US" altLang="zh-CN" sz="1600" b="1" dirty="0"/>
          </a:p>
          <a:p>
            <a:pPr lvl="1">
              <a:defRPr/>
            </a:pPr>
            <a:endParaRPr lang="en-US" altLang="zh-CN" sz="1600" b="1" dirty="0"/>
          </a:p>
          <a:p>
            <a:pPr lvl="1">
              <a:defRPr/>
            </a:pPr>
            <a:endParaRPr lang="en-US" altLang="zh-CN" sz="1600" b="1" dirty="0"/>
          </a:p>
          <a:p>
            <a:pPr lvl="1">
              <a:defRPr/>
            </a:pPr>
            <a:r>
              <a:rPr lang="zh-CN" altLang="en-US" sz="1600" b="1" dirty="0"/>
              <a:t>使用一个新的宏：</a:t>
            </a:r>
            <a:r>
              <a:rPr lang="en-US" altLang="zh-CN" sz="1600" b="1" dirty="0"/>
              <a:t>TEST_P</a:t>
            </a:r>
            <a:r>
              <a:rPr lang="zh-CN" altLang="en-US" sz="1600" b="1" dirty="0"/>
              <a:t>，关于这个</a:t>
            </a:r>
            <a:r>
              <a:rPr lang="en-US" altLang="zh-CN" sz="1600" b="1" dirty="0"/>
              <a:t>“P”</a:t>
            </a:r>
            <a:r>
              <a:rPr lang="zh-CN" altLang="en-US" sz="1600" b="1" dirty="0"/>
              <a:t>的含义，可以理解为”</a:t>
            </a:r>
            <a:r>
              <a:rPr lang="en-US" altLang="zh-CN" sz="1600" b="1" dirty="0"/>
              <a:t>parameterized" </a:t>
            </a:r>
            <a:r>
              <a:rPr lang="zh-CN" altLang="en-US" sz="1600" b="1" dirty="0"/>
              <a:t>或者 </a:t>
            </a:r>
            <a:r>
              <a:rPr lang="en-US" altLang="zh-CN" sz="1600" b="1" dirty="0"/>
              <a:t>"pattern"</a:t>
            </a:r>
            <a:r>
              <a:rPr lang="zh-CN" altLang="en-US" sz="1600" b="1" dirty="0"/>
              <a:t>。在</a:t>
            </a:r>
            <a:r>
              <a:rPr lang="en-US" altLang="zh-CN" sz="1600" b="1" dirty="0"/>
              <a:t>TEST_P</a:t>
            </a:r>
            <a:r>
              <a:rPr lang="zh-CN" altLang="en-US" sz="1600" b="1" dirty="0"/>
              <a:t>宏里，使用</a:t>
            </a:r>
            <a:r>
              <a:rPr lang="en-US" altLang="zh-CN" sz="1600" b="1" dirty="0" err="1"/>
              <a:t>GetParam</a:t>
            </a:r>
            <a:r>
              <a:rPr lang="en-US" altLang="zh-CN" sz="1600" b="1" dirty="0"/>
              <a:t>()</a:t>
            </a:r>
            <a:r>
              <a:rPr lang="zh-CN" altLang="en-US" sz="1600" b="1" dirty="0"/>
              <a:t>获取当前的参数的具体值</a:t>
            </a:r>
            <a:endParaRPr lang="en-US" altLang="zh-CN" sz="1600" b="1" dirty="0"/>
          </a:p>
          <a:p>
            <a:pPr marL="457200" lvl="1" indent="0">
              <a:buNone/>
              <a:defRPr/>
            </a:pPr>
            <a:endParaRPr lang="en-US" altLang="zh-CN" sz="1600" dirty="0"/>
          </a:p>
          <a:p>
            <a:pPr>
              <a:defRPr/>
            </a:pPr>
            <a:endParaRPr lang="en-US" altLang="zh-CN" sz="2000" b="1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2178050"/>
            <a:ext cx="4195763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24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593" y="3582243"/>
            <a:ext cx="294322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31248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－参数化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参数化解决方案</a:t>
            </a:r>
            <a:endParaRPr lang="en-US" altLang="zh-CN" sz="2000" b="1" dirty="0"/>
          </a:p>
          <a:p>
            <a:pPr lvl="1">
              <a:defRPr/>
            </a:pPr>
            <a:r>
              <a:rPr lang="zh-CN" altLang="en-US" sz="1600" b="1" dirty="0"/>
              <a:t>告诉</a:t>
            </a:r>
            <a:r>
              <a:rPr lang="en-US" altLang="zh-CN" sz="1600" b="1" dirty="0" err="1"/>
              <a:t>gtest</a:t>
            </a:r>
            <a:r>
              <a:rPr lang="zh-CN" altLang="en-US" sz="1600" b="1" dirty="0"/>
              <a:t>想要测试的参数范围是什么</a:t>
            </a:r>
            <a:endParaRPr lang="en-US" altLang="zh-CN" sz="1600" b="1" dirty="0"/>
          </a:p>
          <a:p>
            <a:pPr lvl="1">
              <a:defRPr/>
            </a:pPr>
            <a:endParaRPr lang="en-US" altLang="zh-CN" sz="1600" b="1" dirty="0"/>
          </a:p>
          <a:p>
            <a:pPr lvl="1">
              <a:defRPr/>
            </a:pPr>
            <a:r>
              <a:rPr lang="zh-CN" altLang="en-US" sz="1600" b="1" dirty="0"/>
              <a:t>第一个参数是测试案例的前缀，可以任意取。 </a:t>
            </a:r>
          </a:p>
          <a:p>
            <a:pPr lvl="1">
              <a:defRPr/>
            </a:pPr>
            <a:r>
              <a:rPr lang="zh-CN" altLang="en-US" sz="1600" b="1" dirty="0"/>
              <a:t>第二个参数是测试案例的名称，需要和之前定义的参数化的类的名称相同，如：</a:t>
            </a:r>
            <a:r>
              <a:rPr lang="en-US" altLang="zh-CN" sz="1600" b="1" dirty="0" err="1"/>
              <a:t>IsPrimeParamTest</a:t>
            </a:r>
            <a:r>
              <a:rPr lang="en-US" altLang="zh-CN" sz="1600" b="1" dirty="0"/>
              <a:t> </a:t>
            </a:r>
          </a:p>
          <a:p>
            <a:pPr lvl="1">
              <a:defRPr/>
            </a:pPr>
            <a:r>
              <a:rPr lang="zh-CN" altLang="en-US" sz="1600" b="1" dirty="0"/>
              <a:t>第三个参数是可以理解为参数生成器，上面的例子使用</a:t>
            </a:r>
            <a:r>
              <a:rPr lang="en-US" altLang="zh-CN" sz="1600" b="1" dirty="0"/>
              <a:t>test::Values</a:t>
            </a:r>
            <a:r>
              <a:rPr lang="zh-CN" altLang="en-US" sz="1600" b="1" dirty="0"/>
              <a:t>表示使用括号内的参数。</a:t>
            </a:r>
            <a:r>
              <a:rPr lang="en-US" altLang="zh-CN" sz="1600" b="1" dirty="0"/>
              <a:t>Google</a:t>
            </a:r>
            <a:r>
              <a:rPr lang="zh-CN" altLang="en-US" sz="1600" b="1" dirty="0"/>
              <a:t>提供了一系列的参数生成的函数：</a:t>
            </a:r>
            <a:endParaRPr lang="en-US" altLang="zh-CN" sz="1600" b="1" dirty="0"/>
          </a:p>
        </p:txBody>
      </p:sp>
      <p:pic>
        <p:nvPicPr>
          <p:cNvPr id="3635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711" y="1926059"/>
            <a:ext cx="610076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844830"/>
              </p:ext>
            </p:extLst>
          </p:nvPr>
        </p:nvGraphicFramePr>
        <p:xfrm>
          <a:off x="1731169" y="1422400"/>
          <a:ext cx="5703888" cy="339725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51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269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Range(begin, end[, step])</a:t>
                      </a:r>
                    </a:p>
                  </a:txBody>
                  <a:tcPr marL="16505" marR="16505" marT="16505" marB="16505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范围在</a:t>
                      </a:r>
                      <a:r>
                        <a:rPr lang="en-US" altLang="zh-CN" sz="1200">
                          <a:effectLst/>
                        </a:rPr>
                        <a:t>begin~end</a:t>
                      </a:r>
                      <a:r>
                        <a:rPr lang="zh-CN" altLang="en-US" sz="1200">
                          <a:effectLst/>
                        </a:rPr>
                        <a:t>之间，步长为</a:t>
                      </a:r>
                      <a:r>
                        <a:rPr lang="en-US" altLang="zh-CN" sz="1200">
                          <a:effectLst/>
                        </a:rPr>
                        <a:t>step</a:t>
                      </a:r>
                      <a:r>
                        <a:rPr lang="zh-CN" altLang="en-US" sz="1200">
                          <a:effectLst/>
                        </a:rPr>
                        <a:t>，不包括</a:t>
                      </a:r>
                      <a:r>
                        <a:rPr lang="en-US" altLang="zh-CN" sz="1200">
                          <a:effectLst/>
                        </a:rPr>
                        <a:t>end</a:t>
                      </a:r>
                    </a:p>
                  </a:txBody>
                  <a:tcPr marL="16505" marR="16505" marT="16505" marB="1650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26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Values(v1, v2, ..., vN)</a:t>
                      </a:r>
                    </a:p>
                  </a:txBody>
                  <a:tcPr marL="16505" marR="16505" marT="16505" marB="1650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v1,v2</a:t>
                      </a:r>
                      <a:r>
                        <a:rPr lang="zh-CN" altLang="en-US" sz="1200">
                          <a:effectLst/>
                        </a:rPr>
                        <a:t>到</a:t>
                      </a:r>
                      <a:r>
                        <a:rPr lang="en-US" sz="1200">
                          <a:effectLst/>
                        </a:rPr>
                        <a:t>vN</a:t>
                      </a:r>
                      <a:r>
                        <a:rPr lang="zh-CN" altLang="en-US" sz="1200">
                          <a:effectLst/>
                        </a:rPr>
                        <a:t>的值</a:t>
                      </a:r>
                      <a:br>
                        <a:rPr lang="zh-CN" altLang="en-US" sz="1200">
                          <a:effectLst/>
                        </a:rPr>
                      </a:br>
                      <a:endParaRPr lang="zh-CN" altLang="en-US" sz="1200">
                        <a:effectLst/>
                      </a:endParaRPr>
                    </a:p>
                  </a:txBody>
                  <a:tcPr marL="16505" marR="16505" marT="16505" marB="1650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26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ValuesIn(container) and ValuesIn(begin, end)</a:t>
                      </a:r>
                    </a:p>
                  </a:txBody>
                  <a:tcPr marL="16505" marR="16505" marT="16505" marB="16505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从一个</a:t>
                      </a:r>
                      <a:r>
                        <a:rPr lang="en-US" altLang="zh-CN" sz="1200">
                          <a:effectLst/>
                        </a:rPr>
                        <a:t>C</a:t>
                      </a:r>
                      <a:r>
                        <a:rPr lang="zh-CN" altLang="en-US" sz="1200">
                          <a:effectLst/>
                        </a:rPr>
                        <a:t>类型的数组或是</a:t>
                      </a:r>
                      <a:r>
                        <a:rPr lang="en-US" altLang="zh-CN" sz="1200">
                          <a:effectLst/>
                        </a:rPr>
                        <a:t>STL</a:t>
                      </a:r>
                      <a:r>
                        <a:rPr lang="zh-CN" altLang="en-US" sz="1200">
                          <a:effectLst/>
                        </a:rPr>
                        <a:t>容器，或是迭代器中取值</a:t>
                      </a:r>
                    </a:p>
                  </a:txBody>
                  <a:tcPr marL="16505" marR="16505" marT="16505" marB="1650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Bool()</a:t>
                      </a:r>
                    </a:p>
                  </a:txBody>
                  <a:tcPr marL="16505" marR="16505" marT="16505" marB="16505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取</a:t>
                      </a:r>
                      <a:r>
                        <a:rPr lang="en-US" sz="1200">
                          <a:effectLst/>
                        </a:rPr>
                        <a:t>false </a:t>
                      </a:r>
                      <a:r>
                        <a:rPr lang="zh-CN" altLang="en-US" sz="1200">
                          <a:effectLst/>
                        </a:rPr>
                        <a:t>和 </a:t>
                      </a:r>
                      <a:r>
                        <a:rPr lang="en-US" sz="1200">
                          <a:effectLst/>
                        </a:rPr>
                        <a:t>true </a:t>
                      </a:r>
                      <a:r>
                        <a:rPr lang="zh-CN" altLang="en-US" sz="1200">
                          <a:effectLst/>
                        </a:rPr>
                        <a:t>两个值</a:t>
                      </a:r>
                    </a:p>
                  </a:txBody>
                  <a:tcPr marL="16505" marR="16505" marT="16505" marB="1650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4305"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Combine(g1, g2, ..., </a:t>
                      </a:r>
                      <a:r>
                        <a:rPr lang="en-US" sz="1200" dirty="0" err="1">
                          <a:effectLst/>
                        </a:rPr>
                        <a:t>gN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</a:txBody>
                  <a:tcPr marL="16505" marR="16505" marT="16505" marB="16505" anchor="ctr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将</a:t>
                      </a:r>
                      <a:r>
                        <a:rPr lang="en-US" altLang="zh-CN" sz="1200" dirty="0">
                          <a:effectLst/>
                        </a:rPr>
                        <a:t>g1,g2,...</a:t>
                      </a:r>
                      <a:r>
                        <a:rPr lang="en-US" altLang="zh-CN" sz="1200" dirty="0" err="1">
                          <a:effectLst/>
                        </a:rPr>
                        <a:t>gN</a:t>
                      </a:r>
                      <a:r>
                        <a:rPr lang="zh-CN" altLang="en-US" sz="1200" dirty="0">
                          <a:effectLst/>
                        </a:rPr>
                        <a:t>进行排列组合，</a:t>
                      </a:r>
                      <a:r>
                        <a:rPr lang="en-US" altLang="zh-CN" sz="1200" dirty="0">
                          <a:effectLst/>
                        </a:rPr>
                        <a:t>g1,g2,...</a:t>
                      </a:r>
                      <a:r>
                        <a:rPr lang="en-US" altLang="zh-CN" sz="1200" dirty="0" err="1">
                          <a:effectLst/>
                        </a:rPr>
                        <a:t>gN</a:t>
                      </a:r>
                      <a:r>
                        <a:rPr lang="zh-CN" altLang="en-US" sz="1200" dirty="0">
                          <a:effectLst/>
                        </a:rPr>
                        <a:t>本身是一个参数生成器，每次分别从</a:t>
                      </a:r>
                      <a:r>
                        <a:rPr lang="en-US" altLang="zh-CN" sz="1200" dirty="0">
                          <a:effectLst/>
                        </a:rPr>
                        <a:t>g1,g2,..gN</a:t>
                      </a:r>
                      <a:r>
                        <a:rPr lang="zh-CN" altLang="en-US" sz="1200" dirty="0">
                          <a:effectLst/>
                        </a:rPr>
                        <a:t>中各取出一个值，组合成一个元组</a:t>
                      </a:r>
                      <a:r>
                        <a:rPr lang="en-US" altLang="zh-CN" sz="1200" dirty="0">
                          <a:effectLst/>
                        </a:rPr>
                        <a:t>(Tuple)</a:t>
                      </a:r>
                      <a:r>
                        <a:rPr lang="zh-CN" altLang="en-US" sz="1200" dirty="0">
                          <a:effectLst/>
                        </a:rPr>
                        <a:t>作为一个参数。</a:t>
                      </a:r>
                    </a:p>
                    <a:p>
                      <a:r>
                        <a:rPr lang="zh-CN" altLang="en-US" sz="1200" dirty="0">
                          <a:effectLst/>
                        </a:rPr>
                        <a:t>说明：这个功能只在提供了</a:t>
                      </a:r>
                      <a:r>
                        <a:rPr lang="en-US" altLang="zh-CN" sz="1200" dirty="0">
                          <a:effectLst/>
                        </a:rPr>
                        <a:t>&lt;tr1/tuple&gt;</a:t>
                      </a:r>
                      <a:r>
                        <a:rPr lang="zh-CN" altLang="en-US" sz="1200" dirty="0">
                          <a:effectLst/>
                        </a:rPr>
                        <a:t>头的系统中有效。</a:t>
                      </a:r>
                      <a:r>
                        <a:rPr lang="en-US" altLang="zh-CN" sz="1200" dirty="0" err="1">
                          <a:effectLst/>
                        </a:rPr>
                        <a:t>gtest</a:t>
                      </a:r>
                      <a:r>
                        <a:rPr lang="zh-CN" altLang="en-US" sz="1200" dirty="0">
                          <a:effectLst/>
                        </a:rPr>
                        <a:t>会自动去判断是否支持</a:t>
                      </a:r>
                      <a:r>
                        <a:rPr lang="en-US" altLang="zh-CN" sz="1200" dirty="0" err="1">
                          <a:effectLst/>
                        </a:rPr>
                        <a:t>tr</a:t>
                      </a:r>
                      <a:r>
                        <a:rPr lang="en-US" altLang="zh-CN" sz="1200" dirty="0">
                          <a:effectLst/>
                        </a:rPr>
                        <a:t>/tuple</a:t>
                      </a:r>
                      <a:r>
                        <a:rPr lang="zh-CN" altLang="en-US" sz="1200" dirty="0">
                          <a:effectLst/>
                        </a:rPr>
                        <a:t>。</a:t>
                      </a:r>
                    </a:p>
                  </a:txBody>
                  <a:tcPr marL="16505" marR="16505" marT="16505" marB="1650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81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 descr="Large confetti"/>
          <p:cNvSpPr>
            <a:spLocks noGrp="1" noChangeArrowheads="1"/>
          </p:cNvSpPr>
          <p:nvPr>
            <p:ph type="title"/>
          </p:nvPr>
        </p:nvSpPr>
        <p:spPr>
          <a:xfrm>
            <a:off x="468312" y="269875"/>
            <a:ext cx="9216256" cy="647700"/>
          </a:xfrm>
        </p:spPr>
        <p:txBody>
          <a:bodyPr/>
          <a:lstStyle/>
          <a:p>
            <a:r>
              <a:rPr lang="en-US" altLang="zh-CN" dirty="0"/>
              <a:t>Google Test</a:t>
            </a:r>
            <a:r>
              <a:rPr lang="zh-CN" altLang="en-US" dirty="0"/>
              <a:t>－其他</a:t>
            </a:r>
            <a:r>
              <a:rPr lang="zh-CN" altLang="en-US" dirty="0">
                <a:solidFill>
                  <a:srgbClr val="FF9900"/>
                </a:solidFill>
              </a:rPr>
              <a:t>（</a:t>
            </a:r>
            <a:r>
              <a:rPr lang="zh-CN" altLang="en-US" sz="3600" dirty="0">
                <a:solidFill>
                  <a:srgbClr val="FF9900"/>
                </a:solidFill>
              </a:rPr>
              <a:t>课外了解</a:t>
            </a:r>
            <a:r>
              <a:rPr lang="zh-CN" altLang="en-US" dirty="0">
                <a:solidFill>
                  <a:srgbClr val="FF9900"/>
                </a:solidFill>
              </a:rPr>
              <a:t>）</a:t>
            </a:r>
            <a:endParaRPr lang="en-US" altLang="zh-CN" dirty="0">
              <a:solidFill>
                <a:srgbClr val="FF9900"/>
              </a:solidFill>
              <a:latin typeface="仿宋_GB2312"/>
              <a:ea typeface="楷体_GB2312"/>
              <a:cs typeface="楷体_GB2312"/>
            </a:endParaRPr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3105"/>
            <a:ext cx="8229600" cy="3397250"/>
          </a:xfrm>
        </p:spPr>
        <p:txBody>
          <a:bodyPr/>
          <a:lstStyle/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死亡测试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2000" dirty="0">
                <a:latin typeface="Times New Roman" panose="02020603050405020304" pitchFamily="18" charset="0"/>
              </a:rPr>
              <a:t>运行参数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...</a:t>
            </a:r>
          </a:p>
          <a:p>
            <a:pPr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Google Mock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312343" y="2275608"/>
            <a:ext cx="1243013" cy="630237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Helvetica" pitchFamily="34" charset="0"/>
                <a:ea typeface="楷体_GB2312"/>
                <a:cs typeface="楷体_GB2312"/>
              </a:rPr>
              <a:t>被测模块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514850" y="1236663"/>
            <a:ext cx="2327696" cy="6477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驱动模块</a:t>
            </a:r>
            <a:endParaRPr lang="en-US" altLang="zh-CN" sz="1800" b="1" dirty="0">
              <a:solidFill>
                <a:srgbClr val="000000"/>
              </a:solidFill>
              <a:latin typeface="Comic Sans MS" pitchFamily="66" charset="0"/>
              <a:ea typeface="仿宋_GB2312"/>
              <a:cs typeface="仿宋_GB231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(</a:t>
            </a:r>
            <a:r>
              <a:rPr lang="en-US" altLang="zh-CN" sz="1800" b="1" dirty="0" err="1">
                <a:solidFill>
                  <a:srgbClr val="FFFF00"/>
                </a:solidFill>
                <a:latin typeface="Comic Sans MS" pitchFamily="66" charset="0"/>
                <a:ea typeface="仿宋_GB2312"/>
                <a:cs typeface="仿宋_GB2312"/>
              </a:rPr>
              <a:t>googletest</a:t>
            </a:r>
            <a:r>
              <a:rPr lang="en-US" altLang="zh-CN" sz="1800" b="1" dirty="0" err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Junit</a:t>
            </a:r>
            <a:r>
              <a:rPr lang="en-US" altLang="zh-CN" sz="1800" b="1" dirty="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 …)</a:t>
            </a:r>
            <a:endParaRPr lang="zh-CN" altLang="en-US" sz="1800" b="1" dirty="0">
              <a:solidFill>
                <a:srgbClr val="000000"/>
              </a:solidFill>
              <a:latin typeface="Comic Sans MS" pitchFamily="66" charset="0"/>
              <a:ea typeface="仿宋_GB2312"/>
              <a:cs typeface="仿宋_GB231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 flipH="1">
            <a:off x="3974331" y="1966045"/>
            <a:ext cx="1458912" cy="309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flipH="1">
            <a:off x="2886893" y="2962995"/>
            <a:ext cx="773113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4317231" y="2962995"/>
            <a:ext cx="630237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5290368" y="4218708"/>
            <a:ext cx="685800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928" tIns="33368" rIns="67928" bIns="33368" anchor="ctr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结果</a:t>
            </a:r>
          </a:p>
        </p:txBody>
      </p: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7185843" y="1777133"/>
            <a:ext cx="1381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11" name="Rectangle 20"/>
          <p:cNvSpPr>
            <a:spLocks noChangeArrowheads="1"/>
          </p:cNvSpPr>
          <p:nvPr/>
        </p:nvSpPr>
        <p:spPr bwMode="auto">
          <a:xfrm>
            <a:off x="7185843" y="2253383"/>
            <a:ext cx="1381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12" name="Rectangle 22"/>
          <p:cNvSpPr>
            <a:spLocks noChangeArrowheads="1"/>
          </p:cNvSpPr>
          <p:nvPr/>
        </p:nvSpPr>
        <p:spPr bwMode="auto">
          <a:xfrm>
            <a:off x="7185843" y="2882033"/>
            <a:ext cx="138113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/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  <a:p>
            <a:pPr>
              <a:defRPr/>
            </a:pPr>
            <a:endParaRPr lang="en-US" altLang="zh-CN" sz="1351" b="1">
              <a:solidFill>
                <a:schemeClr val="bg1"/>
              </a:solidFill>
              <a:latin typeface="Helvetica" panose="020B0604020202020204" pitchFamily="34" charset="0"/>
              <a:cs typeface="Angsana New" panose="02020603050405020304" pitchFamily="18" charset="-34"/>
            </a:endParaRPr>
          </a:p>
        </p:txBody>
      </p:sp>
      <p:pic>
        <p:nvPicPr>
          <p:cNvPr id="13" name="Picture 2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218" y="2924895"/>
            <a:ext cx="914400" cy="124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25"/>
          <p:cNvSpPr>
            <a:spLocks noChangeArrowheads="1"/>
          </p:cNvSpPr>
          <p:nvPr/>
        </p:nvSpPr>
        <p:spPr bwMode="auto">
          <a:xfrm>
            <a:off x="6795318" y="3791670"/>
            <a:ext cx="1066800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2"/>
                </a:solidFill>
                <a:latin typeface="Helvetica" pitchFamily="34" charset="0"/>
                <a:ea typeface="仿宋_GB2312"/>
                <a:cs typeface="仿宋_GB2312"/>
              </a:rPr>
              <a:t>测试用例</a:t>
            </a:r>
          </a:p>
        </p:txBody>
      </p:sp>
      <p:sp>
        <p:nvSpPr>
          <p:cNvPr id="15" name="AutoShape 26"/>
          <p:cNvSpPr>
            <a:spLocks noChangeArrowheads="1"/>
          </p:cNvSpPr>
          <p:nvPr/>
        </p:nvSpPr>
        <p:spPr bwMode="auto">
          <a:xfrm rot="-5400000">
            <a:off x="5876156" y="2272433"/>
            <a:ext cx="857250" cy="285750"/>
          </a:xfrm>
          <a:prstGeom prst="rightArrow">
            <a:avLst>
              <a:gd name="adj1" fmla="val 50000"/>
              <a:gd name="adj2" fmla="val 150014"/>
            </a:avLst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6" name="Line 27"/>
          <p:cNvSpPr>
            <a:spLocks noChangeShapeType="1"/>
          </p:cNvSpPr>
          <p:nvPr/>
        </p:nvSpPr>
        <p:spPr bwMode="auto">
          <a:xfrm flipV="1">
            <a:off x="6328593" y="1924769"/>
            <a:ext cx="1306041" cy="65722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8"/>
          <p:cNvSpPr>
            <a:spLocks noChangeShapeType="1"/>
          </p:cNvSpPr>
          <p:nvPr/>
        </p:nvSpPr>
        <p:spPr bwMode="auto">
          <a:xfrm flipV="1">
            <a:off x="6357168" y="2220757"/>
            <a:ext cx="1263083" cy="361237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29"/>
          <p:cNvSpPr>
            <a:spLocks noChangeShapeType="1"/>
          </p:cNvSpPr>
          <p:nvPr/>
        </p:nvSpPr>
        <p:spPr bwMode="auto">
          <a:xfrm flipV="1">
            <a:off x="6366693" y="2522900"/>
            <a:ext cx="1267941" cy="68619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30"/>
          <p:cNvSpPr>
            <a:spLocks noChangeShapeType="1"/>
          </p:cNvSpPr>
          <p:nvPr/>
        </p:nvSpPr>
        <p:spPr bwMode="auto">
          <a:xfrm>
            <a:off x="6376218" y="2620095"/>
            <a:ext cx="1244033" cy="223838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31"/>
          <p:cNvSpPr>
            <a:spLocks noChangeShapeType="1"/>
          </p:cNvSpPr>
          <p:nvPr/>
        </p:nvSpPr>
        <p:spPr bwMode="auto">
          <a:xfrm>
            <a:off x="6366692" y="2591520"/>
            <a:ext cx="1267941" cy="535668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32"/>
          <p:cNvSpPr>
            <a:spLocks noChangeShapeType="1"/>
          </p:cNvSpPr>
          <p:nvPr/>
        </p:nvSpPr>
        <p:spPr bwMode="auto">
          <a:xfrm>
            <a:off x="5633268" y="1981920"/>
            <a:ext cx="0" cy="2192338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33"/>
          <p:cNvSpPr>
            <a:spLocks noChangeArrowheads="1"/>
          </p:cNvSpPr>
          <p:nvPr/>
        </p:nvSpPr>
        <p:spPr bwMode="auto">
          <a:xfrm>
            <a:off x="7620251" y="1817500"/>
            <a:ext cx="9144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模块接口</a:t>
            </a:r>
          </a:p>
        </p:txBody>
      </p:sp>
      <p:sp>
        <p:nvSpPr>
          <p:cNvPr id="23" name="Rectangle 34"/>
          <p:cNvSpPr>
            <a:spLocks noChangeArrowheads="1"/>
          </p:cNvSpPr>
          <p:nvPr/>
        </p:nvSpPr>
        <p:spPr bwMode="auto">
          <a:xfrm>
            <a:off x="7620251" y="2119643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局部数据结构</a:t>
            </a:r>
          </a:p>
        </p:txBody>
      </p:sp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7193781" y="1704108"/>
            <a:ext cx="138112" cy="62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</p:txBody>
      </p:sp>
      <p:sp>
        <p:nvSpPr>
          <p:cNvPr id="25" name="Rectangle 36"/>
          <p:cNvSpPr>
            <a:spLocks noChangeArrowheads="1"/>
          </p:cNvSpPr>
          <p:nvPr/>
        </p:nvSpPr>
        <p:spPr bwMode="auto">
          <a:xfrm>
            <a:off x="7620251" y="2421786"/>
            <a:ext cx="9144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边界条件</a:t>
            </a:r>
          </a:p>
        </p:txBody>
      </p:sp>
      <p:sp>
        <p:nvSpPr>
          <p:cNvPr id="26" name="Rectangle 37"/>
          <p:cNvSpPr>
            <a:spLocks noChangeArrowheads="1"/>
          </p:cNvSpPr>
          <p:nvPr/>
        </p:nvSpPr>
        <p:spPr bwMode="auto">
          <a:xfrm>
            <a:off x="7193781" y="2180358"/>
            <a:ext cx="138112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Helvetica" pitchFamily="34" charset="0"/>
              <a:ea typeface="微软雅黑" pitchFamily="34" charset="-122"/>
              <a:cs typeface="Angsana New" pitchFamily="18" charset="-34"/>
            </a:endParaRPr>
          </a:p>
        </p:txBody>
      </p:sp>
      <p:sp>
        <p:nvSpPr>
          <p:cNvPr id="27" name="Rectangle 38"/>
          <p:cNvSpPr>
            <a:spLocks noChangeArrowheads="1"/>
          </p:cNvSpPr>
          <p:nvPr/>
        </p:nvSpPr>
        <p:spPr bwMode="auto">
          <a:xfrm>
            <a:off x="7620251" y="2723929"/>
            <a:ext cx="1301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独立执行路径</a:t>
            </a:r>
          </a:p>
        </p:txBody>
      </p:sp>
      <p:sp>
        <p:nvSpPr>
          <p:cNvPr id="28" name="Rectangle 39"/>
          <p:cNvSpPr>
            <a:spLocks noChangeArrowheads="1"/>
          </p:cNvSpPr>
          <p:nvPr/>
        </p:nvSpPr>
        <p:spPr bwMode="auto">
          <a:xfrm>
            <a:off x="7620251" y="3026073"/>
            <a:ext cx="1495425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928" tIns="33368" rIns="67928" bIns="33368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500" b="1" dirty="0">
                <a:solidFill>
                  <a:srgbClr val="000000"/>
                </a:solidFill>
                <a:latin typeface="仿宋_GB2312"/>
                <a:ea typeface="仿宋_GB2312"/>
                <a:cs typeface="仿宋_GB2312"/>
              </a:rPr>
              <a:t>错误处理的路径</a:t>
            </a:r>
          </a:p>
        </p:txBody>
      </p:sp>
      <p:sp>
        <p:nvSpPr>
          <p:cNvPr id="29" name="AutoShape 40"/>
          <p:cNvSpPr>
            <a:spLocks noChangeArrowheads="1"/>
          </p:cNvSpPr>
          <p:nvPr/>
        </p:nvSpPr>
        <p:spPr bwMode="auto">
          <a:xfrm>
            <a:off x="2601143" y="3477345"/>
            <a:ext cx="744538" cy="514350"/>
          </a:xfrm>
          <a:prstGeom prst="octagon">
            <a:avLst>
              <a:gd name="adj" fmla="val 29287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桩</a:t>
            </a:r>
            <a:r>
              <a:rPr lang="en-US" altLang="zh-CN" sz="180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1</a:t>
            </a:r>
          </a:p>
        </p:txBody>
      </p:sp>
      <p:sp>
        <p:nvSpPr>
          <p:cNvPr id="30" name="AutoShape 41"/>
          <p:cNvSpPr>
            <a:spLocks noChangeArrowheads="1"/>
          </p:cNvSpPr>
          <p:nvPr/>
        </p:nvSpPr>
        <p:spPr bwMode="auto">
          <a:xfrm>
            <a:off x="3631431" y="3477345"/>
            <a:ext cx="742950" cy="514350"/>
          </a:xfrm>
          <a:prstGeom prst="octagon">
            <a:avLst>
              <a:gd name="adj" fmla="val 29287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桩</a:t>
            </a:r>
            <a:r>
              <a:rPr lang="en-US" altLang="zh-CN" sz="180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2</a:t>
            </a:r>
          </a:p>
        </p:txBody>
      </p:sp>
      <p:sp>
        <p:nvSpPr>
          <p:cNvPr id="31" name="AutoShape 42"/>
          <p:cNvSpPr>
            <a:spLocks noChangeArrowheads="1"/>
          </p:cNvSpPr>
          <p:nvPr/>
        </p:nvSpPr>
        <p:spPr bwMode="auto">
          <a:xfrm>
            <a:off x="4717281" y="3477345"/>
            <a:ext cx="744537" cy="514350"/>
          </a:xfrm>
          <a:prstGeom prst="octagon">
            <a:avLst>
              <a:gd name="adj" fmla="val 29287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桩</a:t>
            </a:r>
            <a:r>
              <a:rPr lang="en-US" altLang="zh-CN" sz="1800">
                <a:solidFill>
                  <a:srgbClr val="000000"/>
                </a:solidFill>
                <a:latin typeface="Comic Sans MS" pitchFamily="66" charset="0"/>
                <a:ea typeface="仿宋_GB2312"/>
                <a:cs typeface="仿宋_GB2312"/>
              </a:rPr>
              <a:t>n</a:t>
            </a:r>
          </a:p>
        </p:txBody>
      </p:sp>
      <p:sp>
        <p:nvSpPr>
          <p:cNvPr id="32" name="Line 43"/>
          <p:cNvSpPr>
            <a:spLocks noChangeShapeType="1"/>
          </p:cNvSpPr>
          <p:nvPr/>
        </p:nvSpPr>
        <p:spPr bwMode="auto">
          <a:xfrm>
            <a:off x="3974331" y="2962995"/>
            <a:ext cx="0" cy="514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99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Slide Number Placeholder 3"/>
          <p:cNvSpPr txBox="1">
            <a:spLocks noGrp="1" noChangeArrowheads="1"/>
          </p:cNvSpPr>
          <p:nvPr/>
        </p:nvSpPr>
        <p:spPr bwMode="auto">
          <a:xfrm>
            <a:off x="8027988" y="5051425"/>
            <a:ext cx="946150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itchFamily="34" charset="0"/>
              <a:buNone/>
            </a:pPr>
            <a:fld id="{F0DB7C46-A614-422F-9E32-F53357EFC71F}" type="slidenum">
              <a:rPr lang="zh-CN" altLang="zh-CN" sz="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r" eaLnBrk="1" hangingPunct="1">
                <a:spcBef>
                  <a:spcPct val="0"/>
                </a:spcBef>
                <a:buFont typeface="Arial" pitchFamily="34" charset="0"/>
                <a:buNone/>
              </a:pPr>
              <a:t>84</a:t>
            </a:fld>
            <a:endParaRPr lang="zh-CN" altLang="zh-CN" sz="6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8579" name="TextBox 7"/>
          <p:cNvSpPr txBox="1">
            <a:spLocks noChangeArrowheads="1"/>
          </p:cNvSpPr>
          <p:nvPr/>
        </p:nvSpPr>
        <p:spPr bwMode="auto">
          <a:xfrm>
            <a:off x="1979613" y="760413"/>
            <a:ext cx="3671887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zh-CN" altLang="zh-CN" sz="72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谢  谢！</a:t>
            </a:r>
          </a:p>
        </p:txBody>
      </p:sp>
      <p:sp>
        <p:nvSpPr>
          <p:cNvPr id="408580" name="Rectangle 3"/>
          <p:cNvSpPr>
            <a:spLocks noChangeArrowheads="1"/>
          </p:cNvSpPr>
          <p:nvPr/>
        </p:nvSpPr>
        <p:spPr bwMode="auto">
          <a:xfrm>
            <a:off x="7308850" y="0"/>
            <a:ext cx="1800225" cy="287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itchFamily="34" charset="0"/>
              <a:buNone/>
            </a:pPr>
            <a:endParaRPr lang="en-US" altLang="zh-CN" sz="1800">
              <a:latin typeface="Times New Roman" pitchFamily="18" charset="0"/>
              <a:ea typeface="微软雅黑" pitchFamily="34" charset="-122"/>
            </a:endParaRPr>
          </a:p>
        </p:txBody>
      </p:sp>
      <p:grpSp>
        <p:nvGrpSpPr>
          <p:cNvPr id="408581" name="Group 4"/>
          <p:cNvGrpSpPr>
            <a:grpSpLocks/>
          </p:cNvGrpSpPr>
          <p:nvPr/>
        </p:nvGrpSpPr>
        <p:grpSpPr bwMode="auto">
          <a:xfrm>
            <a:off x="14606" y="-1805"/>
            <a:ext cx="9153525" cy="5165725"/>
            <a:chOff x="0" y="0"/>
            <a:chExt cx="14414" cy="8135"/>
          </a:xfrm>
        </p:grpSpPr>
        <p:sp>
          <p:nvSpPr>
            <p:cNvPr id="408583" name="AutoShape 5"/>
            <p:cNvSpPr>
              <a:spLocks noChangeArrowheads="1"/>
            </p:cNvSpPr>
            <p:nvPr/>
          </p:nvSpPr>
          <p:spPr bwMode="auto">
            <a:xfrm flipV="1">
              <a:off x="18" y="40"/>
              <a:ext cx="13642" cy="1653"/>
            </a:xfrm>
            <a:prstGeom prst="rtTriangle">
              <a:avLst/>
            </a:prstGeom>
            <a:solidFill>
              <a:srgbClr val="FF33CC"/>
            </a:solidFill>
            <a:ln w="38100">
              <a:solidFill>
                <a:srgbClr val="FF33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18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408584" name="AutoShape 6"/>
            <p:cNvSpPr>
              <a:spLocks noChangeArrowheads="1"/>
            </p:cNvSpPr>
            <p:nvPr/>
          </p:nvSpPr>
          <p:spPr bwMode="auto">
            <a:xfrm rot="-5400000">
              <a:off x="7566" y="1291"/>
              <a:ext cx="7885" cy="5723"/>
            </a:xfrm>
            <a:prstGeom prst="rtTriangle">
              <a:avLst/>
            </a:prstGeom>
            <a:solidFill>
              <a:srgbClr val="0070C0"/>
            </a:solidFill>
            <a:ln w="381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18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408585" name="AutoShape 7"/>
            <p:cNvSpPr>
              <a:spLocks noChangeArrowheads="1"/>
            </p:cNvSpPr>
            <p:nvPr/>
          </p:nvSpPr>
          <p:spPr bwMode="auto">
            <a:xfrm>
              <a:off x="0" y="5465"/>
              <a:ext cx="14140" cy="2670"/>
            </a:xfrm>
            <a:prstGeom prst="rtTriangle">
              <a:avLst/>
            </a:prstGeom>
            <a:solidFill>
              <a:schemeClr val="tx1">
                <a:alpha val="7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18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408586" name="AutoShape 8"/>
            <p:cNvSpPr>
              <a:spLocks noChangeArrowheads="1"/>
            </p:cNvSpPr>
            <p:nvPr/>
          </p:nvSpPr>
          <p:spPr bwMode="auto">
            <a:xfrm rot="16200000" flipH="1">
              <a:off x="10461" y="1469"/>
              <a:ext cx="5415" cy="2477"/>
            </a:xfrm>
            <a:prstGeom prst="rtTriangle">
              <a:avLst/>
            </a:prstGeom>
            <a:solidFill>
              <a:srgbClr val="33CC33">
                <a:alpha val="7999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Arial" pitchFamily="34" charset="0"/>
                <a:buNone/>
              </a:pPr>
              <a:endParaRPr lang="en-US" altLang="zh-CN" sz="1800">
                <a:latin typeface="Times New Roman" pitchFamily="18" charset="0"/>
                <a:ea typeface="微软雅黑" pitchFamily="34" charset="-122"/>
              </a:endParaRPr>
            </a:p>
          </p:txBody>
        </p:sp>
      </p:grpSp>
      <p:sp>
        <p:nvSpPr>
          <p:cNvPr id="408582" name="TextBox 4"/>
          <p:cNvSpPr>
            <a:spLocks noChangeArrowheads="1"/>
          </p:cNvSpPr>
          <p:nvPr/>
        </p:nvSpPr>
        <p:spPr bwMode="auto">
          <a:xfrm>
            <a:off x="3924300" y="2646363"/>
            <a:ext cx="302396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华南理工大学 计算机科学与工程学院</a:t>
            </a:r>
          </a:p>
          <a:p>
            <a:pPr>
              <a:spcBef>
                <a:spcPct val="0"/>
              </a:spcBef>
              <a:buFont typeface="Arial" pitchFamily="34" charset="0"/>
              <a:buNone/>
            </a:pPr>
            <a:endParaRPr lang="zh-CN" altLang="en-US" sz="12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200" dirty="0">
                <a:solidFill>
                  <a:srgbClr val="777777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广州市番禺区大学城华南理工大学</a:t>
            </a:r>
          </a:p>
          <a:p>
            <a:pPr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200" dirty="0">
                <a:solidFill>
                  <a:srgbClr val="777777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邮编：510006</a:t>
            </a:r>
          </a:p>
          <a:p>
            <a:pPr>
              <a:spcBef>
                <a:spcPct val="0"/>
              </a:spcBef>
              <a:buFont typeface="Arial" pitchFamily="34" charset="0"/>
              <a:buNone/>
            </a:pPr>
            <a:r>
              <a:rPr lang="zh-CN" altLang="en-US" sz="1200" dirty="0">
                <a:solidFill>
                  <a:srgbClr val="777777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电子邮件：</a:t>
            </a:r>
            <a:r>
              <a:rPr lang="en-US" altLang="zh-CN" sz="1200" dirty="0" err="1">
                <a:solidFill>
                  <a:srgbClr val="777777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nieyongwei</a:t>
            </a:r>
            <a:r>
              <a:rPr lang="zh-CN" altLang="en-US" sz="1200" dirty="0">
                <a:solidFill>
                  <a:srgbClr val="777777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@scut.edu.cn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7961" dir="2700000" algn="ctr" rotWithShape="0">
            <a:schemeClr val="accent1">
              <a:gamma/>
              <a:shade val="60000"/>
              <a:invGamma/>
            </a:schemeClr>
          </a:outer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7961" dir="2700000" algn="ctr" rotWithShape="0">
            <a:schemeClr val="accent1">
              <a:gamma/>
              <a:shade val="60000"/>
              <a:invGamma/>
            </a:schemeClr>
          </a:outer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3E3D2D"/>
        </a:dk2>
        <a:lt2>
          <a:srgbClr val="CAF278"/>
        </a:lt2>
        <a:accent1>
          <a:srgbClr val="94C600"/>
        </a:accent1>
        <a:accent2>
          <a:srgbClr val="71685A"/>
        </a:accent2>
        <a:accent3>
          <a:srgbClr val="FFFFFF"/>
        </a:accent3>
        <a:accent4>
          <a:srgbClr val="000000"/>
        </a:accent4>
        <a:accent5>
          <a:srgbClr val="C8DFAA"/>
        </a:accent5>
        <a:accent6>
          <a:srgbClr val="665E51"/>
        </a:accent6>
        <a:hlink>
          <a:srgbClr val="E68200"/>
        </a:hlink>
        <a:folHlink>
          <a:srgbClr val="FFA94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2119</TotalTime>
  <Pages>0</Pages>
  <Words>3148</Words>
  <Characters>0</Characters>
  <Application>Microsoft Office PowerPoint</Application>
  <DocSecurity>0</DocSecurity>
  <PresentationFormat>自定义</PresentationFormat>
  <Lines>0</Lines>
  <Paragraphs>624</Paragraphs>
  <Slides>84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100" baseType="lpstr">
      <vt:lpstr>仿宋_GB2312</vt:lpstr>
      <vt:lpstr>黑体</vt:lpstr>
      <vt:lpstr>楷体_GB2312</vt:lpstr>
      <vt:lpstr>宋体</vt:lpstr>
      <vt:lpstr>微软雅黑</vt:lpstr>
      <vt:lpstr>Arial</vt:lpstr>
      <vt:lpstr>Arial Black</vt:lpstr>
      <vt:lpstr>Calibri</vt:lpstr>
      <vt:lpstr>Comic Sans MS</vt:lpstr>
      <vt:lpstr>Helvetica</vt:lpstr>
      <vt:lpstr>Impact</vt:lpstr>
      <vt:lpstr>Tahoma</vt:lpstr>
      <vt:lpstr>Times New Roman</vt:lpstr>
      <vt:lpstr>Verdana</vt:lpstr>
      <vt:lpstr>Wingdings</vt:lpstr>
      <vt:lpstr>Office 主题</vt:lpstr>
      <vt:lpstr>PowerPoint 演示文稿</vt:lpstr>
      <vt:lpstr>课程回顾</vt:lpstr>
      <vt:lpstr>回顾 — 软件测评技术 — 级别</vt:lpstr>
      <vt:lpstr>回顾－过程</vt:lpstr>
      <vt:lpstr>回顾－测试级别</vt:lpstr>
      <vt:lpstr>回顾－组织</vt:lpstr>
      <vt:lpstr>回顾－软件开发与测试过程</vt:lpstr>
      <vt:lpstr>重点－单元测试</vt:lpstr>
      <vt:lpstr>单元测试－测试准备</vt:lpstr>
      <vt:lpstr>单元测试－通过准则</vt:lpstr>
      <vt:lpstr>单元测试－测试方法</vt:lpstr>
      <vt:lpstr>单元测试－单元测试焦点</vt:lpstr>
      <vt:lpstr>单元测试－模块接口</vt:lpstr>
      <vt:lpstr>单元测试－局部数据结构</vt:lpstr>
      <vt:lpstr>单元测试－边界条件</vt:lpstr>
      <vt:lpstr>单元测试－独立执行路径</vt:lpstr>
      <vt:lpstr>单元测试－错误处理的路径</vt:lpstr>
      <vt:lpstr>单元测试－动态测试环境</vt:lpstr>
      <vt:lpstr>单元测试－测试步骤</vt:lpstr>
      <vt:lpstr>单元测试－冒烟测试</vt:lpstr>
      <vt:lpstr>单元测试－肯定测试</vt:lpstr>
      <vt:lpstr>单元测试－否定测试</vt:lpstr>
      <vt:lpstr>单元测试－专用测试</vt:lpstr>
      <vt:lpstr>单元测试－覆盖测试</vt:lpstr>
      <vt:lpstr>单元测试－覆盖率评估</vt:lpstr>
      <vt:lpstr>单元测试－覆盖率完善与实现</vt:lpstr>
      <vt:lpstr>单元测试－实例</vt:lpstr>
      <vt:lpstr>单元测试－实现及原始测试代码</vt:lpstr>
      <vt:lpstr>单元测试－等价类划分设计</vt:lpstr>
      <vt:lpstr>单元测试－等价类划分设计</vt:lpstr>
      <vt:lpstr>单元测试－等价类划分设计</vt:lpstr>
      <vt:lpstr>单元测试－等价类划分设计</vt:lpstr>
      <vt:lpstr>单元测试－等价类划分设计</vt:lpstr>
      <vt:lpstr>单元测试－边界值分析设计</vt:lpstr>
      <vt:lpstr>单元测试－边界值分析设计</vt:lpstr>
      <vt:lpstr>单元测试－边界值分析设计</vt:lpstr>
      <vt:lpstr>单元测试－边界值分析设计</vt:lpstr>
      <vt:lpstr>单元测试－边界值分析设计</vt:lpstr>
      <vt:lpstr>单元测试－边界值分析设计</vt:lpstr>
      <vt:lpstr>单元测试－原始测试代码的问题</vt:lpstr>
      <vt:lpstr>优秀的单元测试框架</vt:lpstr>
      <vt:lpstr>Google Test</vt:lpstr>
      <vt:lpstr>Google Test – 安装</vt:lpstr>
      <vt:lpstr>Google Test – 安装</vt:lpstr>
      <vt:lpstr>Google Test</vt:lpstr>
      <vt:lpstr>Google Test</vt:lpstr>
      <vt:lpstr>Google Test</vt:lpstr>
      <vt:lpstr>Google Test</vt:lpstr>
      <vt:lpstr>Google Test</vt:lpstr>
      <vt:lpstr>Google Test</vt:lpstr>
      <vt:lpstr>Google Test</vt:lpstr>
      <vt:lpstr>Google Test</vt:lpstr>
      <vt:lpstr>Google Test</vt:lpstr>
      <vt:lpstr>学习使用它 Google Test </vt:lpstr>
      <vt:lpstr>Google Test－TEST宏</vt:lpstr>
      <vt:lpstr>Google Test－断言</vt:lpstr>
      <vt:lpstr>Google Test－断言</vt:lpstr>
      <vt:lpstr>Google Test－断言</vt:lpstr>
      <vt:lpstr>Google Test－断言</vt:lpstr>
      <vt:lpstr>Google Test－断言</vt:lpstr>
      <vt:lpstr>Google Test－步骤总结</vt:lpstr>
      <vt:lpstr>Google Test－步骤总结</vt:lpstr>
      <vt:lpstr>Google Test－例子</vt:lpstr>
      <vt:lpstr>Google Test－test fixture</vt:lpstr>
      <vt:lpstr>Google Test－test fixture</vt:lpstr>
      <vt:lpstr>Google Test－test fixture</vt:lpstr>
      <vt:lpstr>Google Test－步骤总结</vt:lpstr>
      <vt:lpstr>Google Test－运行过程</vt:lpstr>
      <vt:lpstr>Google Test－进阶</vt:lpstr>
      <vt:lpstr>Google Test－More Assertions</vt:lpstr>
      <vt:lpstr>Google Test－More Assertions</vt:lpstr>
      <vt:lpstr>Google Test－More Assertions</vt:lpstr>
      <vt:lpstr>Google Test－More Assertions</vt:lpstr>
      <vt:lpstr>Google Test－More Assertions</vt:lpstr>
      <vt:lpstr>Google Test－More Assertions</vt:lpstr>
      <vt:lpstr>Google Test－事件机制</vt:lpstr>
      <vt:lpstr>Google Test－事件机制</vt:lpstr>
      <vt:lpstr>Google Test－事件机制</vt:lpstr>
      <vt:lpstr>Google Test－事件机制</vt:lpstr>
      <vt:lpstr>Google Test－参数化</vt:lpstr>
      <vt:lpstr>Google Test－参数化</vt:lpstr>
      <vt:lpstr>Google Test－参数化</vt:lpstr>
      <vt:lpstr>Google Test－其他（课外了解）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lu, eelu</dc:creator>
  <cp:lastModifiedBy>nie yongwei</cp:lastModifiedBy>
  <cp:revision>188</cp:revision>
  <dcterms:created xsi:type="dcterms:W3CDTF">2015-04-05T11:50:22Z</dcterms:created>
  <dcterms:modified xsi:type="dcterms:W3CDTF">2020-03-25T02:14:31Z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