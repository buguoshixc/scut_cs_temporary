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68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83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45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61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95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28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75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91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670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79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32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B1900-39CE-4F45-9B8F-E517D4DFF729}" type="datetimeFigureOut">
              <a:rPr lang="zh-CN" altLang="en-US" smtClean="0"/>
              <a:t>2020/06/03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904C9-10DD-4195-8194-E7FABF713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79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9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8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4.pn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50.png"/><Relationship Id="rId18" Type="http://schemas.openxmlformats.org/officeDocument/2006/relationships/image" Target="../media/image120.png"/><Relationship Id="rId3" Type="http://schemas.openxmlformats.org/officeDocument/2006/relationships/image" Target="../media/image1120.png"/><Relationship Id="rId7" Type="http://schemas.openxmlformats.org/officeDocument/2006/relationships/image" Target="../media/image104.png"/><Relationship Id="rId12" Type="http://schemas.openxmlformats.org/officeDocument/2006/relationships/image" Target="../media/image1140.png"/><Relationship Id="rId17" Type="http://schemas.openxmlformats.org/officeDocument/2006/relationships/image" Target="../media/image119.png"/><Relationship Id="rId2" Type="http://schemas.openxmlformats.org/officeDocument/2006/relationships/image" Target="../media/image99.png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70.png"/><Relationship Id="rId10" Type="http://schemas.openxmlformats.org/officeDocument/2006/relationships/image" Target="../media/image1130.png"/><Relationship Id="rId19" Type="http://schemas.openxmlformats.org/officeDocument/2006/relationships/image" Target="../media/image121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58" y="403151"/>
            <a:ext cx="11558532" cy="2920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336749" y="1401619"/>
                <a:ext cx="4764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749" y="1401619"/>
                <a:ext cx="476412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05" y="3565917"/>
            <a:ext cx="10910438" cy="12359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33671" y="513499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95932" y="5134991"/>
                <a:ext cx="249888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∵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 smtClean="0"/>
                  <a:t>相互独立，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932" y="5134991"/>
                <a:ext cx="2498889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15789" r="-2683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312786" y="4922539"/>
                <a:ext cx="8140434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zh-CN" altLang="en-US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𝑎𝑟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𝑉𝑎𝑟𝑋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+9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𝑉𝑎𝑟𝑌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=3+9∙8∙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=19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786" y="4922539"/>
                <a:ext cx="8140434" cy="7861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0793574" y="3824767"/>
                <a:ext cx="4514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3574" y="3824767"/>
                <a:ext cx="45147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16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75" y="329126"/>
            <a:ext cx="11588269" cy="152022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7353" y="224858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150458" y="1994574"/>
                <a:ext cx="2979790" cy="93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458" y="1994574"/>
                <a:ext cx="2979790" cy="9328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885808" y="684752"/>
                <a:ext cx="4514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808" y="684752"/>
                <a:ext cx="45147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317353" y="4402289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007720" y="4402289"/>
                <a:ext cx="14004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720" y="4402289"/>
                <a:ext cx="1400448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6987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575" y="3085019"/>
            <a:ext cx="11614811" cy="1274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807084" y="4402521"/>
                <a:ext cx="5290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4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zh-CN" altLang="en-US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zh-CN" altLang="en-US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84" y="4402521"/>
                <a:ext cx="529023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807084" y="5021747"/>
                <a:ext cx="44021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84" y="5021747"/>
                <a:ext cx="4402167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986092" y="5021747"/>
                <a:ext cx="70830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l-GR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l-GR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l-GR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−1=2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092" y="5021747"/>
                <a:ext cx="7083029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423612" y="5748726"/>
                <a:ext cx="27887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612" y="5748726"/>
                <a:ext cx="2788777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5021515" y="5563821"/>
                <a:ext cx="1864293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zh-CN" altLang="en-US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515" y="5563821"/>
                <a:ext cx="1864293" cy="78380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2069331" y="3455479"/>
                <a:ext cx="4764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331" y="3455479"/>
                <a:ext cx="476412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9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28" y="178908"/>
            <a:ext cx="11780089" cy="182443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44825" y="2269528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50216" y="2115358"/>
                <a:ext cx="7293279" cy="699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≤−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l-GR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16" y="2115358"/>
                <a:ext cx="7293279" cy="6992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780210" y="2926669"/>
                <a:ext cx="5811976" cy="699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a:rPr lang="el-GR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10" y="2926669"/>
                <a:ext cx="5811976" cy="6992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753474" y="539750"/>
                <a:ext cx="4521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474" y="539750"/>
                <a:ext cx="45217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28" y="3737980"/>
            <a:ext cx="7803312" cy="85261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4824" y="4632750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087031" y="4624697"/>
                <a:ext cx="81049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031" y="4624697"/>
                <a:ext cx="8104911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850215" y="5205175"/>
                <a:ext cx="67569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])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zh-CN" alt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15" y="5205175"/>
                <a:ext cx="6756978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7408785" y="5197122"/>
                <a:ext cx="270798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zh-CN" alt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785" y="5197122"/>
                <a:ext cx="2707985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9891978" y="5174116"/>
                <a:ext cx="13392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zh-CN" alt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978" y="5174116"/>
                <a:ext cx="1339213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7078403" y="3747357"/>
                <a:ext cx="4521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403" y="3747357"/>
                <a:ext cx="452175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97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10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06" y="114776"/>
            <a:ext cx="11743426" cy="165122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6906" y="1908791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29692" y="1683482"/>
                <a:ext cx="6232540" cy="793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92" y="1683482"/>
                <a:ext cx="6232540" cy="79367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55281" y="2358983"/>
                <a:ext cx="6381362" cy="793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81" y="2358983"/>
                <a:ext cx="6381362" cy="79367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29692" y="3195927"/>
                <a:ext cx="30582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92" y="3195927"/>
                <a:ext cx="3058273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3947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715944" y="3174822"/>
                <a:ext cx="14189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更有效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944" y="3174822"/>
                <a:ext cx="1418915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293" t="-15789" r="-6034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906" y="3801131"/>
            <a:ext cx="11832027" cy="489471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86905" y="4248313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655281" y="4200800"/>
                <a:ext cx="9966318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≥2,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≥2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81" y="4200800"/>
                <a:ext cx="9966318" cy="50917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655281" y="4878814"/>
                <a:ext cx="3570721" cy="9204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81" y="4878814"/>
                <a:ext cx="3570721" cy="92044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226002" y="4945947"/>
                <a:ext cx="3352841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002" y="4945947"/>
                <a:ext cx="3352841" cy="7861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10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3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54" y="66405"/>
            <a:ext cx="11788715" cy="112141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3773" y="1198116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27856" y="1106424"/>
                <a:ext cx="7574446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400" dirty="0" smtClean="0"/>
                  <a:t>的密度函数为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+0.25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6" y="1106424"/>
                <a:ext cx="7574446" cy="645048"/>
              </a:xfrm>
              <a:prstGeom prst="rect">
                <a:avLst/>
              </a:prstGeom>
              <a:blipFill rotWithShape="0">
                <a:blip r:embed="rId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67471" y="1766170"/>
                <a:ext cx="8291822" cy="908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71" y="1766170"/>
                <a:ext cx="8291822" cy="9087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210485" y="2822676"/>
                <a:ext cx="3545201" cy="908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+4)</m:t>
                          </m:r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485" y="2822676"/>
                <a:ext cx="3545201" cy="9087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8728947" y="1913966"/>
                <a:ext cx="3394519" cy="6131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FF0000"/>
                    </a:solidFill>
                  </a:rPr>
                  <a:t>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947" y="1913966"/>
                <a:ext cx="3394519" cy="613117"/>
              </a:xfrm>
              <a:prstGeom prst="rect">
                <a:avLst/>
              </a:prstGeom>
              <a:blipFill rotWithShape="0">
                <a:blip r:embed="rId6"/>
                <a:stretch>
                  <a:fillRect l="-2873" t="-990" b="-3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521147" y="2822676"/>
                <a:ext cx="5138201" cy="9087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147" y="2822676"/>
                <a:ext cx="5138201" cy="9087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254" y="3731386"/>
            <a:ext cx="11788715" cy="907537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9254" y="4704856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719285" y="4704856"/>
                <a:ext cx="21118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85" y="4704856"/>
                <a:ext cx="21118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98024" y="5207622"/>
                <a:ext cx="82307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𝑉𝑎𝑟𝑌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=1+4</m:t>
                      </m:r>
                      <m:r>
                        <a:rPr lang="en-US" altLang="zh-CN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−2=3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24" y="5207622"/>
                <a:ext cx="8230715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697270" y="4663755"/>
                <a:ext cx="5759718" cy="5027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ra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zh-CN" alt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270" y="4663755"/>
                <a:ext cx="5759718" cy="50276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719285" y="5660362"/>
                <a:ext cx="9152442" cy="809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≥6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85" y="5660362"/>
                <a:ext cx="9152442" cy="80906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37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98" y="148715"/>
            <a:ext cx="9296400" cy="5048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9498" y="653540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89553" y="653540"/>
                <a:ext cx="199150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=3,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3" y="653540"/>
                <a:ext cx="1991506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768042" y="653540"/>
                <a:ext cx="49823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zh-CN" alt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=1.2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42" y="653540"/>
                <a:ext cx="4982390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535557" y="653539"/>
                <a:ext cx="15829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557" y="653539"/>
                <a:ext cx="1582997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8903598" y="653538"/>
                <a:ext cx="13568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598" y="653538"/>
                <a:ext cx="135684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883" y="1225042"/>
            <a:ext cx="11500449" cy="193354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69497" y="3158584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074888" y="3154929"/>
                <a:ext cx="3972690" cy="468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88" y="3154929"/>
                <a:ext cx="3972690" cy="468975"/>
              </a:xfrm>
              <a:prstGeom prst="rect">
                <a:avLst/>
              </a:prstGeom>
              <a:blipFill rotWithShape="0"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911928" y="3146017"/>
                <a:ext cx="3991670" cy="4742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928" y="3146017"/>
                <a:ext cx="3991670" cy="474232"/>
              </a:xfrm>
              <a:prstGeom prst="rect">
                <a:avLst/>
              </a:prstGeom>
              <a:blipFill rotWithShape="0"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074888" y="3620249"/>
                <a:ext cx="5224251" cy="93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/10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/5</m:t>
                          </m:r>
                        </m:den>
                      </m:f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10,5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88" y="3620249"/>
                <a:ext cx="5224251" cy="93288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61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32" y="144671"/>
            <a:ext cx="11602787" cy="201193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5980" y="2156602"/>
            <a:ext cx="705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解：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71" y="2235034"/>
            <a:ext cx="381000" cy="30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161871" y="2156601"/>
                <a:ext cx="50971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zh-CN" sz="2400" kern="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 kern="1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被保险人在一年内出了事故</m:t>
                        </m:r>
                      </m:e>
                    </m:d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871" y="2156601"/>
                <a:ext cx="5097101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914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136025" y="2156600"/>
                <a:ext cx="37479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2400" kern="10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被保险人</m:t>
                          </m:r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是</m:t>
                          </m:r>
                          <m:r>
                            <a:rPr lang="zh-CN" altLang="en-US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谨慎</m:t>
                          </m:r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的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025" y="2156600"/>
                <a:ext cx="3747949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37048" y="2618265"/>
                <a:ext cx="37550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2400" kern="10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被保险人</m:t>
                          </m:r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是一般的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48" y="2618265"/>
                <a:ext cx="3755067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247815" y="2618264"/>
                <a:ext cx="38320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2400" kern="10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被保险</m:t>
                          </m:r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人是</m:t>
                          </m:r>
                          <m:r>
                            <a:rPr lang="zh-CN" altLang="en-US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冒失</m:t>
                          </m:r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的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815" y="2618264"/>
                <a:ext cx="383201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89849" y="3158360"/>
                <a:ext cx="60123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已知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</m:t>
                      </m:r>
                      <m:r>
                        <a:rPr lang="en-US" altLang="zh-CN" sz="2400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2,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</m:t>
                      </m:r>
                      <m:r>
                        <a:rPr lang="en-US" altLang="zh-CN" sz="2400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5,</m:t>
                      </m:r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</m:t>
                      </m:r>
                      <m: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CN" sz="2400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49" y="3158360"/>
                <a:ext cx="6012351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199815" y="3620022"/>
                <a:ext cx="660709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=0.05,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=0.15,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=0.3,</m:t>
                    </m:r>
                  </m:oMath>
                </a14:m>
                <a:r>
                  <a:rPr lang="en-US" altLang="zh-CN" sz="2400" kern="1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815" y="3620022"/>
                <a:ext cx="6607091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77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596481" y="4017677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则由全概率公式知：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199815" y="4479339"/>
                <a:ext cx="87982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0.175</m:t>
                    </m:r>
                  </m:oMath>
                </a14:m>
                <a:r>
                  <a:rPr lang="en-US" altLang="zh-CN" sz="2400" kern="1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 </a:t>
                </a:r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815" y="4479339"/>
                <a:ext cx="8798200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208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066" y="5418633"/>
            <a:ext cx="381000" cy="381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158066" y="5171834"/>
                <a:ext cx="4936416" cy="8745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=0.0571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066" y="5171834"/>
                <a:ext cx="4936416" cy="87459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28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3535" y="2445979"/>
            <a:ext cx="71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解：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18809" y="2297752"/>
                <a:ext cx="7833397" cy="7564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kern="1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lang="zh-CN" altLang="zh-CN" sz="2400" kern="100" dirty="0" smtClean="0">
                    <a:cs typeface="Arial" panose="020B0604020202020204" pitchFamily="34" charset="0"/>
                  </a:rPr>
                  <a:t>的置信区间</a:t>
                </a:r>
                <a:r>
                  <a:rPr lang="zh-CN" altLang="en-US" sz="2400" kern="100" dirty="0" smtClean="0">
                    <a:cs typeface="Arial" panose="020B0604020202020204" pitchFamily="34" charset="0"/>
                  </a:rPr>
                  <a:t>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  <a:sym typeface="Symbol" pitchFamily="18" charset="2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  <a:sym typeface="Symbol" pitchFamily="18" charset="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sym typeface="Symbol" pitchFamily="18" charset="2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  <a:sym typeface="Symbol" pitchFamily="18" charset="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sym typeface="Symbol" pitchFamily="18" charset="2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sym typeface="Symbol" pitchFamily="18" charset="2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−1),</m:t>
                        </m:r>
                        <m:acc>
                          <m:accPr>
                            <m:chr m:val="̅"/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  <a:sym typeface="Symbol" pitchFamily="18" charset="2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  <a:sym typeface="Symbol" pitchFamily="18" charset="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sym typeface="Symbol" pitchFamily="18" charset="2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  <a:sym typeface="Symbol" pitchFamily="18" charset="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sym typeface="Symbol" pitchFamily="18" charset="2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sym typeface="Symbol" pitchFamily="18" charset="2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−1)</m:t>
                        </m:r>
                      </m:e>
                    </m:d>
                    <m:r>
                      <a:rPr lang="zh-CN" alt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，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809" y="2297752"/>
                <a:ext cx="7833397" cy="7564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93535" y="3172886"/>
                <a:ext cx="349392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=36,1−</m:t>
                    </m:r>
                    <m:r>
                      <a:rPr lang="zh-CN" altLang="en-US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=0.95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5" y="3172886"/>
                <a:ext cx="3493929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2792"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516757" y="3014041"/>
                <a:ext cx="2539670" cy="7223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  <a:sym typeface="Symbol" pitchFamily="18" charset="2"/>
                        </a:rPr>
                        <m:t>1−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/>
                              <a:sym typeface="Symbol" pitchFamily="18" charset="2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  <a:sym typeface="Symbol" pitchFamily="18" charset="2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975,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757" y="3014041"/>
                <a:ext cx="2539670" cy="72231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910496" y="3025334"/>
                <a:ext cx="5513369" cy="6652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itchFamily="18" charset="2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36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0.975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35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15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6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∙2.0301=5.07525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496" y="3025334"/>
                <a:ext cx="5513369" cy="665247"/>
              </a:xfrm>
              <a:prstGeom prst="rect">
                <a:avLst/>
              </a:prstGeom>
              <a:blipFill rotWithShape="0">
                <a:blip r:embed="rId5"/>
                <a:stretch>
                  <a:fillRect l="-1770" b="-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09" y="2536530"/>
            <a:ext cx="419100" cy="314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93535" y="3703252"/>
                <a:ext cx="458516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故</a:t>
                </a:r>
                <a14:m>
                  <m:oMath xmlns:m="http://schemas.openxmlformats.org/officeDocument/2006/math">
                    <m:r>
                      <a:rPr lang="zh-CN" altLang="en-US" sz="2400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lang="zh-CN" altLang="zh-CN" sz="2400" kern="1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的置信区间</a:t>
                </a:r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[61.42,71.58]</m:t>
                    </m:r>
                  </m:oMath>
                </a14:m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5" y="3703252"/>
                <a:ext cx="458516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128" t="-15789" r="-1064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917" y="4310425"/>
            <a:ext cx="438150" cy="323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79067" y="4241517"/>
                <a:ext cx="171476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:</m:t>
                      </m:r>
                      <m:r>
                        <a:rPr lang="zh-CN" alt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𝜇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=70,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67" y="4241517"/>
                <a:ext cx="1714765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287826" y="4110000"/>
                <a:ext cx="3633559" cy="859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构造统计量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240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zh-CN" altLang="en-US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𝜇</m:t>
                        </m:r>
                      </m:num>
                      <m:den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sym typeface="Symbol" pitchFamily="18" charset="2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d>
                      <m:d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826" y="4110000"/>
                <a:ext cx="3633559" cy="859402"/>
              </a:xfrm>
              <a:prstGeom prst="rect">
                <a:avLst/>
              </a:prstGeom>
              <a:blipFill rotWithShape="0">
                <a:blip r:embed="rId10"/>
                <a:stretch>
                  <a:fillRect l="-2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889854" y="4204257"/>
                <a:ext cx="5693097" cy="6097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临界值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  <a:sym typeface="Symbol" pitchFamily="18" charset="2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/>
                                <a:sym typeface="Symbol" pitchFamily="18" charset="2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  <a:sym typeface="Symbol" pitchFamily="18" charset="2"/>
                              </a:rPr>
                              <m:t>2</m:t>
                            </m:r>
                          </m:den>
                        </m:f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0.975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35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=2.0301,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854" y="4204257"/>
                <a:ext cx="5693097" cy="609782"/>
              </a:xfrm>
              <a:prstGeom prst="rect">
                <a:avLst/>
              </a:prstGeom>
              <a:blipFill rotWithShape="0">
                <a:blip r:embed="rId11"/>
                <a:stretch>
                  <a:fillRect l="-1606" t="-11000" b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72893" y="4802322"/>
                <a:ext cx="5271956" cy="12661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𝜇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sym typeface="Symbol" pitchFamily="18" charset="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sym typeface="Symbol" pitchFamily="18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sym typeface="Symbol" pitchFamily="18" charset="2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 pitchFamily="18" charset="2"/>
                                        </a:rPr>
                                        <m:t>∗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sym typeface="Symbol" pitchFamily="18" charset="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  <a:sym typeface="Symbol" pitchFamily="18" charset="2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CN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66.5−70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15/6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=1.4&lt;2.0301,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93" y="4802322"/>
                <a:ext cx="5271956" cy="126618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193535" y="6067310"/>
            <a:ext cx="5727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100" dirty="0" smtClean="0">
                <a:cs typeface="Arial" panose="020B0604020202020204" pitchFamily="34" charset="0"/>
              </a:rPr>
              <a:t>故</a:t>
            </a:r>
            <a:r>
              <a:rPr lang="zh-CN" altLang="zh-CN" sz="2400" kern="100" dirty="0" smtClean="0">
                <a:cs typeface="Arial" panose="020B0604020202020204" pitchFamily="34" charset="0"/>
              </a:rPr>
              <a:t>可以</a:t>
            </a:r>
            <a:r>
              <a:rPr lang="zh-CN" altLang="zh-CN" sz="2400" kern="100" dirty="0">
                <a:cs typeface="Arial" panose="020B0604020202020204" pitchFamily="34" charset="0"/>
              </a:rPr>
              <a:t>认为这次考试的平均成绩为</a:t>
            </a:r>
            <a:r>
              <a:rPr lang="en-US" altLang="zh-CN" sz="2400" kern="100" dirty="0">
                <a:cs typeface="Arial" panose="020B0604020202020204" pitchFamily="34" charset="0"/>
              </a:rPr>
              <a:t>70</a:t>
            </a:r>
            <a:r>
              <a:rPr lang="zh-CN" altLang="zh-CN" sz="2400" kern="100" dirty="0">
                <a:cs typeface="Arial" panose="020B0604020202020204" pitchFamily="34" charset="0"/>
              </a:rPr>
              <a:t>分。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5329719" y="5063923"/>
            <a:ext cx="19097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solidFill>
                  <a:prstClr val="black"/>
                </a:solidFill>
                <a:cs typeface="Arial" panose="020B0604020202020204" pitchFamily="34" charset="0"/>
              </a:rPr>
              <a:t>接受原假设，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209" y="102547"/>
            <a:ext cx="11528436" cy="224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4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06" y="127868"/>
            <a:ext cx="11476907" cy="170955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51706" y="1798108"/>
            <a:ext cx="71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解：</a:t>
            </a:r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79" y="1843202"/>
            <a:ext cx="6219825" cy="371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53" y="2212772"/>
            <a:ext cx="7153275" cy="952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5428" y="2184197"/>
            <a:ext cx="3438525" cy="981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690" y="3180775"/>
            <a:ext cx="2905125" cy="342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9815" y="3178606"/>
            <a:ext cx="2743200" cy="295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90434" y="3524882"/>
                <a:ext cx="8510471" cy="8234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第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部</m:t>
                              </m:r>
                              <m:r>
                                <a:rPr lang="zh-CN" altLang="en-US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电话</m:t>
                              </m:r>
                              <m: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未</m:t>
                              </m:r>
                              <m:r>
                                <a:rPr lang="zh-CN" altLang="en-US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使用</m:t>
                              </m:r>
                              <m: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外线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1,</m:t>
                              </m:r>
                              <m: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第</m:t>
                              </m:r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部</m:t>
                              </m:r>
                              <m:r>
                                <a:rPr lang="zh-CN" altLang="en-US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电话</m:t>
                              </m:r>
                              <m: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正</m:t>
                              </m:r>
                              <m:r>
                                <a:rPr lang="zh-CN" altLang="en-US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使用</m:t>
                              </m:r>
                              <m:r>
                                <a:rPr lang="zh-CN" altLang="en-US" sz="240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外线</m:t>
                              </m:r>
                            </m:e>
                          </m:mr>
                        </m:m>
                        <m:r>
                          <a:rPr lang="zh-CN" altLang="en-US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，则</m:t>
                        </m:r>
                        <m:sSub>
                          <m:sSubPr>
                            <m:ctrlP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~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1,0.1</m:t>
                            </m:r>
                          </m:e>
                        </m:d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=1,⋯,400,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34" y="3524882"/>
                <a:ext cx="8510471" cy="823495"/>
              </a:xfrm>
              <a:prstGeom prst="rect">
                <a:avLst/>
              </a:prstGeom>
              <a:blipFill rotWithShape="0">
                <a:blip r:embed="rId9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8804956" y="3348792"/>
                <a:ext cx="2935099" cy="1130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(30≤</m:t>
                      </m:r>
                      <m:nary>
                        <m:naryPr>
                          <m:chr m:val="∑"/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400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≤50)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956" y="3348792"/>
                <a:ext cx="2935099" cy="113063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221274"/>
              </p:ext>
            </p:extLst>
          </p:nvPr>
        </p:nvGraphicFramePr>
        <p:xfrm>
          <a:off x="677508" y="4399378"/>
          <a:ext cx="5384247" cy="1092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1" imgW="3200535" imgH="571590" progId="Equation.DSMT4">
                  <p:embed/>
                </p:oleObj>
              </mc:Choice>
              <mc:Fallback>
                <p:oleObj name="Equation" r:id="rId11" imgW="3200535" imgH="571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08" y="4399378"/>
                        <a:ext cx="5384247" cy="1092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92" y="4457641"/>
            <a:ext cx="4714426" cy="87406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2514" y="5457226"/>
            <a:ext cx="2925433" cy="82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6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01332" y="2308157"/>
            <a:ext cx="71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解：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52045" y="230815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kern="100" dirty="0" smtClean="0">
                <a:solidFill>
                  <a:prstClr val="black"/>
                </a:solidFill>
                <a:cs typeface="Arial" panose="020B0604020202020204" pitchFamily="34" charset="0"/>
              </a:rPr>
              <a:t>似然函数：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683" y="2077027"/>
            <a:ext cx="6734175" cy="923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01332" y="3000950"/>
                <a:ext cx="4447243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ln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ln</m:t>
                      </m:r>
                      <m:r>
                        <a:rPr lang="zh-CN" altLang="en-US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𝜃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den>
                      </m:f>
                      <m:d>
                        <m:d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0" i="1" kern="1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kern="1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kern="1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32" y="3000950"/>
                <a:ext cx="4447243" cy="11005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575" y="3155942"/>
            <a:ext cx="4762500" cy="7905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40" y="4176695"/>
            <a:ext cx="3249314" cy="449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01332" y="4690790"/>
                <a:ext cx="4843762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400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ln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den>
                      </m:f>
                      <m:r>
                        <a:rPr lang="en-US" altLang="zh-CN" sz="2400" b="0" i="0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CN" sz="2400" b="0" i="1" kern="1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zh-CN" altLang="en-US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32" y="4690790"/>
                <a:ext cx="4843762" cy="110055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054679" y="4690790"/>
                <a:ext cx="2681823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r>
                        <a:rPr lang="zh-CN" altLang="en-US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𝜃</m:t>
                      </m:r>
                      <m:r>
                        <a:rPr lang="en-US" altLang="zh-CN" sz="2400" b="0" i="1" kern="1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zh-CN" altLang="en-US" sz="2400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79" y="4690790"/>
                <a:ext cx="2681823" cy="110055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640" y="5855538"/>
            <a:ext cx="5838825" cy="5048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332" y="107322"/>
            <a:ext cx="97250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6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3" y="130475"/>
            <a:ext cx="10734675" cy="800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58513" y="926231"/>
            <a:ext cx="71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解：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858142" y="905998"/>
                <a:ext cx="87044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kern="100" dirty="0" smtClean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记三角形区域为</a:t>
                </a:r>
                <a14:m>
                  <m:oMath xmlns:m="http://schemas.openxmlformats.org/officeDocument/2006/math">
                    <m:r>
                      <a:rPr lang="zh-CN" altLang="en-US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={(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)|0≤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≤1,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≥1},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prstClr val="black"/>
                        </a:solidFill>
                      </a:rPr>
                      <m:t>则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=1/2,</m:t>
                    </m:r>
                  </m:oMath>
                </a14:m>
                <a:endParaRPr lang="zh-CN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42" y="905998"/>
                <a:ext cx="8704499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120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/>
          <p:cNvGrpSpPr/>
          <p:nvPr/>
        </p:nvGrpSpPr>
        <p:grpSpPr>
          <a:xfrm>
            <a:off x="9742071" y="641824"/>
            <a:ext cx="1858586" cy="1735744"/>
            <a:chOff x="10171735" y="200282"/>
            <a:chExt cx="1858586" cy="1735744"/>
          </a:xfrm>
        </p:grpSpPr>
        <p:grpSp>
          <p:nvGrpSpPr>
            <p:cNvPr id="26" name="组合 25"/>
            <p:cNvGrpSpPr/>
            <p:nvPr/>
          </p:nvGrpSpPr>
          <p:grpSpPr>
            <a:xfrm>
              <a:off x="10171735" y="200282"/>
              <a:ext cx="1858586" cy="1735744"/>
              <a:chOff x="10334445" y="109306"/>
              <a:chExt cx="1858586" cy="1735744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>
                <a:off x="10334445" y="1392240"/>
                <a:ext cx="171665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V="1">
                <a:off x="10893994" y="358935"/>
                <a:ext cx="9794" cy="14861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11453544" y="855375"/>
                <a:ext cx="1119" cy="5368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矩形 19"/>
                  <p:cNvSpPr/>
                  <p:nvPr/>
                </p:nvSpPr>
                <p:spPr>
                  <a:xfrm>
                    <a:off x="10593063" y="1339419"/>
                    <a:ext cx="385041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矩形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3063" y="1339419"/>
                    <a:ext cx="385041" cy="400110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 20"/>
                  <p:cNvSpPr/>
                  <p:nvPr/>
                </p:nvSpPr>
                <p:spPr>
                  <a:xfrm>
                    <a:off x="11254732" y="1325249"/>
                    <a:ext cx="385041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矩形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54732" y="1325249"/>
                    <a:ext cx="385041" cy="400110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矩形 21"/>
                  <p:cNvSpPr/>
                  <p:nvPr/>
                </p:nvSpPr>
                <p:spPr>
                  <a:xfrm>
                    <a:off x="11336137" y="577851"/>
                    <a:ext cx="792205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(1,1)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矩形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36137" y="577851"/>
                    <a:ext cx="792205" cy="400110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151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 22"/>
                  <p:cNvSpPr/>
                  <p:nvPr/>
                </p:nvSpPr>
                <p:spPr>
                  <a:xfrm>
                    <a:off x="11766632" y="1285429"/>
                    <a:ext cx="426399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dirty="0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矩形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766632" y="1285429"/>
                    <a:ext cx="426399" cy="461665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/>
                  <p:cNvSpPr/>
                  <p:nvPr/>
                </p:nvSpPr>
                <p:spPr>
                  <a:xfrm>
                    <a:off x="10824358" y="109306"/>
                    <a:ext cx="43037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dirty="0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矩形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24358" y="109306"/>
                    <a:ext cx="430374" cy="461665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直接连接符 30"/>
            <p:cNvCxnSpPr/>
            <p:nvPr/>
          </p:nvCxnSpPr>
          <p:spPr>
            <a:xfrm>
              <a:off x="10741078" y="946351"/>
              <a:ext cx="5434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0741078" y="936287"/>
              <a:ext cx="543465" cy="539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等腰三角形 39"/>
            <p:cNvSpPr/>
            <p:nvPr/>
          </p:nvSpPr>
          <p:spPr>
            <a:xfrm rot="16200000">
              <a:off x="10765319" y="971077"/>
              <a:ext cx="540429" cy="498016"/>
            </a:xfrm>
            <a:prstGeom prst="triangle">
              <a:avLst>
                <a:gd name="adj" fmla="val 10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/>
                <p:cNvSpPr/>
                <p:nvPr/>
              </p:nvSpPr>
              <p:spPr>
                <a:xfrm>
                  <a:off x="10430353" y="764233"/>
                  <a:ext cx="38504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0353" y="764233"/>
                  <a:ext cx="385041" cy="40011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/>
              <p:cNvSpPr/>
              <p:nvPr/>
            </p:nvSpPr>
            <p:spPr>
              <a:xfrm>
                <a:off x="405247" y="1649497"/>
                <a:ext cx="34158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</a:rPr>
                  <a:t>的联合密度函数为</a:t>
                </a:r>
                <a:endParaRPr lang="zh-CN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47" y="1649497"/>
                <a:ext cx="3415872" cy="461665"/>
              </a:xfrm>
              <a:prstGeom prst="rect">
                <a:avLst/>
              </a:prstGeom>
              <a:blipFill rotWithShape="0">
                <a:blip r:embed="rId10"/>
                <a:stretch>
                  <a:fillRect t="-16000" r="-1783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图片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3468" y="1421265"/>
            <a:ext cx="3267075" cy="933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55112" y="5592973"/>
                <a:ext cx="595342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𝐷𝑌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12" y="5592973"/>
                <a:ext cx="5953425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5799986" y="5572740"/>
                <a:ext cx="45114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𝐷𝑋</m:t>
                      </m:r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𝐷𝑌</m:t>
                      </m:r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+2(</m:t>
                      </m:r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𝐸𝑋𝑌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𝐸𝑌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9986" y="5572740"/>
                <a:ext cx="4511428" cy="461665"/>
              </a:xfrm>
              <a:prstGeom prst="rect">
                <a:avLst/>
              </a:prstGeom>
              <a:blipFill rotWithShape="0">
                <a:blip r:embed="rId1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85618" y="4664033"/>
                <a:ext cx="10288266" cy="793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𝐸𝑈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𝐸𝑋𝑌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𝐸𝑌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18" y="4664033"/>
                <a:ext cx="10288266" cy="79367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247" y="2381988"/>
            <a:ext cx="9201150" cy="428625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0600399" y="930575"/>
            <a:ext cx="0" cy="14165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5225" y="2764478"/>
            <a:ext cx="4219575" cy="5810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57276" y="3326846"/>
            <a:ext cx="3409950" cy="762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351" y="3358851"/>
            <a:ext cx="5495925" cy="7334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45755" y="4050772"/>
            <a:ext cx="4762500" cy="8191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716375" y="6054638"/>
                <a:ext cx="722463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𝐸𝑈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𝐸𝑋𝑌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𝐸𝑌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75" y="6054638"/>
                <a:ext cx="7224634" cy="461665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连接符 31"/>
          <p:cNvCxnSpPr/>
          <p:nvPr/>
        </p:nvCxnSpPr>
        <p:spPr>
          <a:xfrm>
            <a:off x="0" y="5550668"/>
            <a:ext cx="12192000" cy="11956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50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/>
      <p:bldP spid="43" grpId="0"/>
      <p:bldP spid="2" grpId="0"/>
      <p:bldP spid="3" grpId="0"/>
      <p:bldP spid="6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3" y="130475"/>
            <a:ext cx="10734675" cy="800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05968" y="974793"/>
            <a:ext cx="71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解：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805597" y="954560"/>
                <a:ext cx="87044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kern="100" dirty="0" smtClean="0">
                    <a:solidFill>
                      <a:prstClr val="black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记三角形区域为</a:t>
                </a:r>
                <a14:m>
                  <m:oMath xmlns:m="http://schemas.openxmlformats.org/officeDocument/2006/math">
                    <m:r>
                      <a:rPr lang="zh-CN" altLang="en-US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={(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)|0≤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≤1,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≥1},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prstClr val="black"/>
                        </a:solidFill>
                      </a:rPr>
                      <m:t>则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=1/2,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97" y="954560"/>
                <a:ext cx="8704499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050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/>
          <p:cNvGrpSpPr/>
          <p:nvPr/>
        </p:nvGrpSpPr>
        <p:grpSpPr>
          <a:xfrm>
            <a:off x="9742071" y="641824"/>
            <a:ext cx="1858586" cy="1735744"/>
            <a:chOff x="10171735" y="200282"/>
            <a:chExt cx="1858586" cy="1735744"/>
          </a:xfrm>
        </p:grpSpPr>
        <p:grpSp>
          <p:nvGrpSpPr>
            <p:cNvPr id="26" name="组合 25"/>
            <p:cNvGrpSpPr/>
            <p:nvPr/>
          </p:nvGrpSpPr>
          <p:grpSpPr>
            <a:xfrm>
              <a:off x="10171735" y="200282"/>
              <a:ext cx="1858586" cy="1735744"/>
              <a:chOff x="10334445" y="109306"/>
              <a:chExt cx="1858586" cy="1735744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>
                <a:off x="10334445" y="1392240"/>
                <a:ext cx="171665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V="1">
                <a:off x="10893994" y="358935"/>
                <a:ext cx="9794" cy="14861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11453544" y="855375"/>
                <a:ext cx="1119" cy="5368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矩形 19"/>
                  <p:cNvSpPr/>
                  <p:nvPr/>
                </p:nvSpPr>
                <p:spPr>
                  <a:xfrm>
                    <a:off x="10593063" y="1339419"/>
                    <a:ext cx="385041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000" dirty="0"/>
                  </a:p>
                </p:txBody>
              </p:sp>
            </mc:Choice>
            <mc:Fallback xmlns="">
              <p:sp>
                <p:nvSpPr>
                  <p:cNvPr id="20" name="矩形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3063" y="1339419"/>
                    <a:ext cx="385041" cy="400110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 20"/>
                  <p:cNvSpPr/>
                  <p:nvPr/>
                </p:nvSpPr>
                <p:spPr>
                  <a:xfrm>
                    <a:off x="11254732" y="1325249"/>
                    <a:ext cx="385041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0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000" dirty="0"/>
                  </a:p>
                </p:txBody>
              </p:sp>
            </mc:Choice>
            <mc:Fallback xmlns="">
              <p:sp>
                <p:nvSpPr>
                  <p:cNvPr id="21" name="矩形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54732" y="1325249"/>
                    <a:ext cx="385041" cy="400110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矩形 21"/>
                  <p:cNvSpPr/>
                  <p:nvPr/>
                </p:nvSpPr>
                <p:spPr>
                  <a:xfrm>
                    <a:off x="11336137" y="577851"/>
                    <a:ext cx="792205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(1,1)</m:t>
                          </m:r>
                        </m:oMath>
                      </m:oMathPara>
                    </a14:m>
                    <a:endParaRPr lang="zh-CN" altLang="en-US" sz="2000" dirty="0"/>
                  </a:p>
                </p:txBody>
              </p:sp>
            </mc:Choice>
            <mc:Fallback xmlns="">
              <p:sp>
                <p:nvSpPr>
                  <p:cNvPr id="22" name="矩形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36137" y="577851"/>
                    <a:ext cx="792205" cy="400110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151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 22"/>
                  <p:cNvSpPr/>
                  <p:nvPr/>
                </p:nvSpPr>
                <p:spPr>
                  <a:xfrm>
                    <a:off x="11766632" y="1285429"/>
                    <a:ext cx="426399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3" name="矩形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766632" y="1285429"/>
                    <a:ext cx="426399" cy="461665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/>
                  <p:cNvSpPr/>
                  <p:nvPr/>
                </p:nvSpPr>
                <p:spPr>
                  <a:xfrm>
                    <a:off x="10824358" y="109306"/>
                    <a:ext cx="43037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" name="矩形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24358" y="109306"/>
                    <a:ext cx="430374" cy="461665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直接连接符 30"/>
            <p:cNvCxnSpPr/>
            <p:nvPr/>
          </p:nvCxnSpPr>
          <p:spPr>
            <a:xfrm>
              <a:off x="10741078" y="946351"/>
              <a:ext cx="5434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10741078" y="936287"/>
              <a:ext cx="543465" cy="539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等腰三角形 39"/>
            <p:cNvSpPr/>
            <p:nvPr/>
          </p:nvSpPr>
          <p:spPr>
            <a:xfrm rot="16200000">
              <a:off x="10765319" y="971077"/>
              <a:ext cx="540429" cy="498016"/>
            </a:xfrm>
            <a:prstGeom prst="triangle">
              <a:avLst>
                <a:gd name="adj" fmla="val 10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/>
                <p:cNvSpPr/>
                <p:nvPr/>
              </p:nvSpPr>
              <p:spPr>
                <a:xfrm>
                  <a:off x="10430353" y="764233"/>
                  <a:ext cx="38504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1" name="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0353" y="764233"/>
                  <a:ext cx="385041" cy="40011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/>
              <p:cNvSpPr/>
              <p:nvPr/>
            </p:nvSpPr>
            <p:spPr>
              <a:xfrm>
                <a:off x="302377" y="1719533"/>
                <a:ext cx="34158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的联合密度函数为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77" y="1719533"/>
                <a:ext cx="3415872" cy="461665"/>
              </a:xfrm>
              <a:prstGeom prst="rect">
                <a:avLst/>
              </a:prstGeom>
              <a:blipFill rotWithShape="0">
                <a:blip r:embed="rId10"/>
                <a:stretch>
                  <a:fillRect t="-15789" r="-1786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图片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0598" y="1491301"/>
            <a:ext cx="3267075" cy="933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305968" y="2405461"/>
                <a:ext cx="57861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dirty="0" smtClean="0">
                    <a:solidFill>
                      <a:prstClr val="black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</a:rPr>
                  <a:t>的分布函数为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</a:rPr>
                  <a:t>密度函数为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</a:rPr>
                  <a:t>则</a:t>
                </a:r>
                <a:endParaRPr lang="zh-CN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68" y="2405461"/>
                <a:ext cx="5786199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1581" t="-16000" r="-738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1832601" y="2720628"/>
                <a:ext cx="7542770" cy="1278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601" y="2720628"/>
                <a:ext cx="7542770" cy="127894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/>
              <p:cNvSpPr/>
              <p:nvPr/>
            </p:nvSpPr>
            <p:spPr>
              <a:xfrm>
                <a:off x="463428" y="3872329"/>
                <a:ext cx="39604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/>
                  <a:t>或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 smtClean="0"/>
                  <a:t>时，</a:t>
                </a:r>
                <a:r>
                  <a:rPr lang="en-US" altLang="zh-CN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5" name="矩形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28" y="3872329"/>
                <a:ext cx="3960443" cy="461665"/>
              </a:xfrm>
              <a:prstGeom prst="rect">
                <a:avLst/>
              </a:prstGeom>
              <a:blipFill rotWithShape="0">
                <a:blip r:embed="rId14"/>
                <a:stretch>
                  <a:fillRect t="-1578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/>
              <p:cNvSpPr/>
              <p:nvPr/>
            </p:nvSpPr>
            <p:spPr>
              <a:xfrm>
                <a:off x="463428" y="4660680"/>
                <a:ext cx="212776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 smtClean="0"/>
                  <a:t>时，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28" y="4660680"/>
                <a:ext cx="2127762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573" t="-16000" r="-3725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/>
              <p:cNvSpPr/>
              <p:nvPr/>
            </p:nvSpPr>
            <p:spPr>
              <a:xfrm>
                <a:off x="2193790" y="4417021"/>
                <a:ext cx="682039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790" y="4417021"/>
                <a:ext cx="6820393" cy="922176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/>
          <p:cNvGrpSpPr/>
          <p:nvPr/>
        </p:nvGrpSpPr>
        <p:grpSpPr>
          <a:xfrm>
            <a:off x="8800338" y="574893"/>
            <a:ext cx="2468026" cy="1497099"/>
            <a:chOff x="8800338" y="574893"/>
            <a:chExt cx="2468026" cy="1497099"/>
          </a:xfrm>
        </p:grpSpPr>
        <p:cxnSp>
          <p:nvCxnSpPr>
            <p:cNvPr id="54" name="直接连接符 53"/>
            <p:cNvCxnSpPr/>
            <p:nvPr/>
          </p:nvCxnSpPr>
          <p:spPr>
            <a:xfrm>
              <a:off x="10123055" y="930575"/>
              <a:ext cx="1145309" cy="11414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/>
                <p:cNvSpPr/>
                <p:nvPr/>
              </p:nvSpPr>
              <p:spPr>
                <a:xfrm>
                  <a:off x="8800338" y="574893"/>
                  <a:ext cx="15551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4"/>
                          </m:rPr>
                          <a:rPr lang="en-US" altLang="zh-CN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矩形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0338" y="574893"/>
                  <a:ext cx="1555169" cy="461665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/>
                <p:cNvSpPr/>
                <p:nvPr/>
              </p:nvSpPr>
              <p:spPr>
                <a:xfrm>
                  <a:off x="10010478" y="920354"/>
                  <a:ext cx="39639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oMath>
                    </m:oMathPara>
                  </a14:m>
                  <a:endParaRPr lang="zh-CN" altLang="en-US" sz="2000" i="1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矩形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0478" y="920354"/>
                  <a:ext cx="396391" cy="400110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梯形 64"/>
          <p:cNvSpPr/>
          <p:nvPr/>
        </p:nvSpPr>
        <p:spPr>
          <a:xfrm rot="2717527">
            <a:off x="10288526" y="1510266"/>
            <a:ext cx="757722" cy="191238"/>
          </a:xfrm>
          <a:prstGeom prst="trapezoid">
            <a:avLst>
              <a:gd name="adj" fmla="val 98818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/>
              <p:cNvSpPr/>
              <p:nvPr/>
            </p:nvSpPr>
            <p:spPr>
              <a:xfrm>
                <a:off x="463428" y="5339197"/>
                <a:ext cx="5297797" cy="1051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+4,1&lt;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&lt;2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　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0,    </m:t>
                                </m:r>
                                <m:r>
                                  <a:rPr lang="zh-CN" altLang="en-US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" name="矩形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28" y="5339197"/>
                <a:ext cx="5297797" cy="105157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37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/>
      <p:bldP spid="43" grpId="0"/>
      <p:bldP spid="45" grpId="0"/>
      <p:bldP spid="47" grpId="0"/>
      <p:bldP spid="55" grpId="0"/>
      <p:bldP spid="56" grpId="0"/>
      <p:bldP spid="57" grpId="0"/>
      <p:bldP spid="65" grpId="0" animBg="1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3" y="130475"/>
            <a:ext cx="10734675" cy="800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6353" y="1164685"/>
            <a:ext cx="71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解：</a:t>
            </a:r>
            <a:endParaRPr lang="zh-CN" alt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46727" y="974793"/>
                <a:ext cx="8711552" cy="8414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𝐸𝑈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𝑢𝑓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e>
                          </m:nary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27" y="974793"/>
                <a:ext cx="8711552" cy="84144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98945" y="1816242"/>
                <a:ext cx="9570377" cy="9337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e>
                          </m:nary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45" y="1816242"/>
                <a:ext cx="9570377" cy="9337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98945" y="2750024"/>
                <a:ext cx="3568606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𝐸𝑈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45" y="2750024"/>
                <a:ext cx="3568606" cy="7861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86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4" y="103485"/>
            <a:ext cx="11725275" cy="17240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8927" y="2020262"/>
            <a:ext cx="71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解：</a:t>
            </a:r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96" y="1900636"/>
            <a:ext cx="3924300" cy="723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196" y="1827510"/>
            <a:ext cx="6343650" cy="8477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85" y="2816990"/>
            <a:ext cx="485775" cy="3429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63" y="2100661"/>
            <a:ext cx="457200" cy="3238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896" y="2755078"/>
            <a:ext cx="3790950" cy="4667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4743" y="2844444"/>
            <a:ext cx="1762125" cy="342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738602" y="3231825"/>
                <a:ext cx="86932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602" y="3231825"/>
                <a:ext cx="8693277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6315" y="3781473"/>
            <a:ext cx="3343275" cy="6477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9590" y="3781473"/>
            <a:ext cx="2590800" cy="6477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863" y="4517156"/>
            <a:ext cx="3429000" cy="3524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085" y="4909835"/>
            <a:ext cx="62198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4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352</Words>
  <Application>Microsoft Office PowerPoint</Application>
  <PresentationFormat>宽屏</PresentationFormat>
  <Paragraphs>121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宋体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xfile</dc:creator>
  <cp:lastModifiedBy>xfile</cp:lastModifiedBy>
  <cp:revision>53</cp:revision>
  <dcterms:created xsi:type="dcterms:W3CDTF">2020-05-31T04:42:36Z</dcterms:created>
  <dcterms:modified xsi:type="dcterms:W3CDTF">2020-06-03T01:09:56Z</dcterms:modified>
</cp:coreProperties>
</file>