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7" r:id="rId16"/>
    <p:sldId id="283" r:id="rId17"/>
    <p:sldId id="288" r:id="rId18"/>
    <p:sldId id="285" r:id="rId19"/>
    <p:sldId id="286" r:id="rId20"/>
    <p:sldId id="289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2023/05/31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835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2023/05/31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450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2023/05/31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613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2023/05/31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951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2023/05/31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286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2023/05/31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755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2023/05/31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915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2023/05/31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670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2023/05/31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795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2023/05/31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1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2023/05/31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320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B1900-39CE-4F45-9B8F-E517D4DFF729}" type="datetimeFigureOut">
              <a:rPr lang="zh-CN" altLang="en-US" smtClean="0"/>
              <a:t>2023/05/31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794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0" Type="http://schemas.openxmlformats.org/officeDocument/2006/relationships/image" Target="../media/image130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Relationship Id="rId14" Type="http://schemas.openxmlformats.org/officeDocument/2006/relationships/image" Target="../media/image1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52.png"/><Relationship Id="rId7" Type="http://schemas.openxmlformats.org/officeDocument/2006/relationships/image" Target="../media/image156.png"/><Relationship Id="rId12" Type="http://schemas.openxmlformats.org/officeDocument/2006/relationships/image" Target="../media/image161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11" Type="http://schemas.openxmlformats.org/officeDocument/2006/relationships/image" Target="../media/image160.png"/><Relationship Id="rId5" Type="http://schemas.openxmlformats.org/officeDocument/2006/relationships/image" Target="../media/image154.png"/><Relationship Id="rId10" Type="http://schemas.openxmlformats.org/officeDocument/2006/relationships/image" Target="../media/image159.png"/><Relationship Id="rId4" Type="http://schemas.openxmlformats.org/officeDocument/2006/relationships/image" Target="../media/image153.png"/><Relationship Id="rId9" Type="http://schemas.openxmlformats.org/officeDocument/2006/relationships/image" Target="../media/image15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1563" y="2851040"/>
            <a:ext cx="6470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解：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2804971" y="3867862"/>
                <a:ext cx="53437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∴</m:t>
                      </m:r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400" b="0" i="1" kern="10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kern="10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sz="2400" b="0" i="1" kern="10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400" b="0" i="1" kern="10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≤1</m:t>
                          </m:r>
                        </m:e>
                      </m:d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≤1,</m:t>
                      </m:r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≤1)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971" y="3867862"/>
                <a:ext cx="5343771" cy="461665"/>
              </a:xfrm>
              <a:prstGeom prst="rect">
                <a:avLst/>
              </a:prstGeom>
              <a:blipFill>
                <a:blip r:embed="rId2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DA47708A-87E0-46A9-B590-B4FA8D07C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03" y="525125"/>
            <a:ext cx="11413827" cy="21083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DE83C7BF-203E-4898-8B87-918F3190D676}"/>
                  </a:ext>
                </a:extLst>
              </p:cNvPr>
              <p:cNvSpPr/>
              <p:nvPr/>
            </p:nvSpPr>
            <p:spPr>
              <a:xfrm>
                <a:off x="11206137" y="1214493"/>
                <a:ext cx="47641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DE83C7BF-203E-4898-8B87-918F3190D6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6137" y="1214493"/>
                <a:ext cx="47641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4C9CEE5E-7299-452F-9176-78D23F5A40F7}"/>
                  </a:ext>
                </a:extLst>
              </p:cNvPr>
              <p:cNvSpPr/>
              <p:nvPr/>
            </p:nvSpPr>
            <p:spPr>
              <a:xfrm>
                <a:off x="753701" y="2581640"/>
                <a:ext cx="7942431" cy="10004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区间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[0,3]</a:t>
                </a:r>
                <a:r>
                  <a:rPr lang="zh-CN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上的均匀分布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的密度函数为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∈[0,3]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∉[0,3]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4C9CEE5E-7299-452F-9176-78D23F5A40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01" y="2581640"/>
                <a:ext cx="7942431" cy="1000467"/>
              </a:xfrm>
              <a:prstGeom prst="rect">
                <a:avLst/>
              </a:prstGeom>
              <a:blipFill>
                <a:blip r:embed="rId5"/>
                <a:stretch>
                  <a:fillRect l="-12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B144C4DA-3591-4ABA-AEB2-8C45489ACA31}"/>
                  </a:ext>
                </a:extLst>
              </p:cNvPr>
              <p:cNvSpPr/>
              <p:nvPr/>
            </p:nvSpPr>
            <p:spPr>
              <a:xfrm>
                <a:off x="339103" y="3867863"/>
                <a:ext cx="268535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sz="2400" dirty="0"/>
                  <a:t>相互独立，</a:t>
                </a: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B144C4DA-3591-4ABA-AEB2-8C45489AC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03" y="3867863"/>
                <a:ext cx="2685351" cy="461665"/>
              </a:xfrm>
              <a:prstGeom prst="rect">
                <a:avLst/>
              </a:prstGeom>
              <a:blipFill>
                <a:blip r:embed="rId6"/>
                <a:stretch>
                  <a:fillRect t="-15789" r="-2500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B9FEFC2-E8F6-4692-B7FD-50661A49DADF}"/>
                  </a:ext>
                </a:extLst>
              </p:cNvPr>
              <p:cNvSpPr/>
              <p:nvPr/>
            </p:nvSpPr>
            <p:spPr>
              <a:xfrm>
                <a:off x="7920987" y="3867861"/>
                <a:ext cx="301986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40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≤1</m:t>
                          </m:r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≤1)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B9FEFC2-E8F6-4692-B7FD-50661A49DA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987" y="3867861"/>
                <a:ext cx="3019866" cy="461665"/>
              </a:xfrm>
              <a:prstGeom prst="rect">
                <a:avLst/>
              </a:prstGeom>
              <a:blipFill>
                <a:blip r:embed="rId7"/>
                <a:stretch>
                  <a:fillRect r="-202"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D382025-5FC4-4C95-922F-779DCD2260FE}"/>
                  </a:ext>
                </a:extLst>
              </p:cNvPr>
              <p:cNvSpPr/>
              <p:nvPr/>
            </p:nvSpPr>
            <p:spPr>
              <a:xfrm>
                <a:off x="2804971" y="4648766"/>
                <a:ext cx="1968744" cy="921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nary>
                            <m:nary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nary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D382025-5FC4-4C95-922F-779DCD2260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971" y="4648766"/>
                <a:ext cx="1968744" cy="92198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74A79E1F-E95D-4AE8-ACC7-065C00866C41}"/>
                  </a:ext>
                </a:extLst>
              </p:cNvPr>
              <p:cNvSpPr/>
              <p:nvPr/>
            </p:nvSpPr>
            <p:spPr>
              <a:xfrm>
                <a:off x="4724916" y="4689980"/>
                <a:ext cx="1137298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74A79E1F-E95D-4AE8-ACC7-065C00866C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916" y="4689980"/>
                <a:ext cx="1137298" cy="7861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D64D2506-4463-41ED-8110-E0D028ADD13B}"/>
                  </a:ext>
                </a:extLst>
              </p:cNvPr>
              <p:cNvSpPr/>
              <p:nvPr/>
            </p:nvSpPr>
            <p:spPr>
              <a:xfrm>
                <a:off x="5862214" y="4689979"/>
                <a:ext cx="738214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D64D2506-4463-41ED-8110-E0D028ADD1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214" y="4689979"/>
                <a:ext cx="738214" cy="7861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16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7" grpId="0"/>
      <p:bldP spid="18" grpId="0"/>
      <p:bldP spid="20" grpId="0"/>
      <p:bldP spid="21" grpId="0"/>
      <p:bldP spid="23" grpId="0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76281" y="2742227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解：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D2438F4-C1ED-4F87-B681-A266ACCEA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76" y="806420"/>
            <a:ext cx="11498826" cy="16381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8D7709C-85E4-4BFA-84B6-8A03BC7786C3}"/>
                  </a:ext>
                </a:extLst>
              </p:cNvPr>
              <p:cNvSpPr/>
              <p:nvPr/>
            </p:nvSpPr>
            <p:spPr>
              <a:xfrm>
                <a:off x="1088968" y="2741995"/>
                <a:ext cx="6599094" cy="4531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i="1" kern="1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kern="1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&gt;</m:t>
                        </m:r>
                        <m:r>
                          <a:rPr lang="zh-CN" altLang="en-US" sz="240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</m:d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zh-CN" altLang="en-US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&gt;</m:t>
                        </m:r>
                        <m:r>
                          <a:rPr lang="zh-CN" altLang="en-US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∪(</m:t>
                        </m:r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&lt;−</m:t>
                        </m:r>
                        <m:r>
                          <a:rPr lang="zh-CN" altLang="en-US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，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8D7709C-85E4-4BFA-84B6-8A03BC7786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968" y="2741995"/>
                <a:ext cx="6599094" cy="453137"/>
              </a:xfrm>
              <a:prstGeom prst="rect">
                <a:avLst/>
              </a:prstGeom>
              <a:blipFill>
                <a:blip r:embed="rId3"/>
                <a:stretch>
                  <a:fillRect l="-277" b="-21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878BB03-9E15-4582-B88C-EF68C55FF8DE}"/>
                  </a:ext>
                </a:extLst>
              </p:cNvPr>
              <p:cNvSpPr/>
              <p:nvPr/>
            </p:nvSpPr>
            <p:spPr>
              <a:xfrm>
                <a:off x="553228" y="3630895"/>
                <a:ext cx="40246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2400" dirty="0"/>
                  <a:t>服从自由度为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的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/>
                  <a:t>分布，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878BB03-9E15-4582-B88C-EF68C55FF8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28" y="3630895"/>
                <a:ext cx="4024628" cy="461665"/>
              </a:xfrm>
              <a:prstGeom prst="rect">
                <a:avLst/>
              </a:prstGeom>
              <a:blipFill>
                <a:blip r:embed="rId4"/>
                <a:stretch>
                  <a:fillRect t="-16000" r="-1364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1DBC8BA-14CD-4993-8538-904019487794}"/>
                  </a:ext>
                </a:extLst>
              </p:cNvPr>
              <p:cNvSpPr/>
              <p:nvPr/>
            </p:nvSpPr>
            <p:spPr>
              <a:xfrm>
                <a:off x="4577856" y="3463404"/>
                <a:ext cx="4156458" cy="7223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∴</m:t>
                      </m:r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&lt;−</m:t>
                          </m:r>
                          <m:r>
                            <a:rPr lang="zh-CN" altLang="en-US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&gt;</m:t>
                          </m:r>
                          <m:r>
                            <a:rPr lang="zh-CN" altLang="en-US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1DBC8BA-14CD-4993-8538-9040194877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7856" y="3463404"/>
                <a:ext cx="4156458" cy="7223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93D15F2-E88B-4345-AA3C-0634739FDF37}"/>
                  </a:ext>
                </a:extLst>
              </p:cNvPr>
              <p:cNvSpPr/>
              <p:nvPr/>
            </p:nvSpPr>
            <p:spPr>
              <a:xfrm>
                <a:off x="7433074" y="2733235"/>
                <a:ext cx="416832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kern="100" dirty="0">
                    <a:solidFill>
                      <a:prstClr val="black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kern="100" dirty="0">
                    <a:solidFill>
                      <a:prstClr val="black"/>
                    </a:solidFill>
                    <a:cs typeface="Times New Roman" panose="02020603050405020304" pitchFamily="18" charset="0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&gt;</m:t>
                        </m:r>
                        <m:r>
                          <a:rPr lang="zh-CN" altLang="en-US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</m:d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&lt;−</m:t>
                        </m:r>
                        <m:r>
                          <a:rPr lang="zh-CN" altLang="en-US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</m:d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93D15F2-E88B-4345-AA3C-0634739FDF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3074" y="2733235"/>
                <a:ext cx="4168321" cy="461665"/>
              </a:xfrm>
              <a:prstGeom prst="rect">
                <a:avLst/>
              </a:prstGeom>
              <a:blipFill>
                <a:blip r:embed="rId6"/>
                <a:stretch>
                  <a:fillRect l="-585" t="-15789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DDCD6198-96C8-49A8-9311-353EE8A83BE0}"/>
                  </a:ext>
                </a:extLst>
              </p:cNvPr>
              <p:cNvSpPr/>
              <p:nvPr/>
            </p:nvSpPr>
            <p:spPr>
              <a:xfrm>
                <a:off x="11000912" y="867890"/>
                <a:ext cx="4514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DDCD6198-96C8-49A8-9311-353EE8A83B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0912" y="867890"/>
                <a:ext cx="45147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9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21" grpId="0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9F44FE4-E5F8-48C8-A161-7B0E895C7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82" y="229966"/>
            <a:ext cx="10209176" cy="353681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DF1EB92-8E2A-48C7-8365-FC78186056E6}"/>
              </a:ext>
            </a:extLst>
          </p:cNvPr>
          <p:cNvSpPr/>
          <p:nvPr/>
        </p:nvSpPr>
        <p:spPr>
          <a:xfrm>
            <a:off x="770975" y="376678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D8CDC28-CBFE-4721-B3D2-DECF64AE03F1}"/>
                  </a:ext>
                </a:extLst>
              </p:cNvPr>
              <p:cNvSpPr/>
              <p:nvPr/>
            </p:nvSpPr>
            <p:spPr>
              <a:xfrm>
                <a:off x="701482" y="4228448"/>
                <a:ext cx="6517232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b="0" i="1" kern="10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b="0" i="1" kern="10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36</m:t>
                          </m:r>
                        </m:den>
                      </m:f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𝑉𝑎𝑟</m:t>
                      </m:r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D8CDC28-CBFE-4721-B3D2-DECF64AE03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482" y="4228448"/>
                <a:ext cx="6517232" cy="7861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0827780-9B2E-48AB-BF07-94AA03C87D5F}"/>
                  </a:ext>
                </a:extLst>
              </p:cNvPr>
              <p:cNvSpPr/>
              <p:nvPr/>
            </p:nvSpPr>
            <p:spPr>
              <a:xfrm>
                <a:off x="1357199" y="3766783"/>
                <a:ext cx="167975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solidFill>
                      <a:prstClr val="black"/>
                    </a:solidFill>
                  </a:rPr>
                  <a:t>设总体为</a:t>
                </a:r>
                <a14:m>
                  <m:oMath xmlns:m="http://schemas.openxmlformats.org/officeDocument/2006/math"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CN" dirty="0"/>
                  <a:t>,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0827780-9B2E-48AB-BF07-94AA03C87D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199" y="3766783"/>
                <a:ext cx="1679755" cy="461665"/>
              </a:xfrm>
              <a:prstGeom prst="rect">
                <a:avLst/>
              </a:prstGeom>
              <a:blipFill>
                <a:blip r:embed="rId4"/>
                <a:stretch>
                  <a:fillRect l="-5818" t="-14474" r="-2182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2C0C262-C146-4F29-A734-4D8E96691601}"/>
                  </a:ext>
                </a:extLst>
              </p:cNvPr>
              <p:cNvSpPr/>
              <p:nvPr/>
            </p:nvSpPr>
            <p:spPr>
              <a:xfrm>
                <a:off x="6996364" y="4228448"/>
                <a:ext cx="1897635" cy="7837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18</m:t>
                          </m:r>
                        </m:den>
                      </m:f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2C0C262-C146-4F29-A734-4D8E966916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364" y="4228448"/>
                <a:ext cx="1897635" cy="7837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3267FF1-F4EA-4BE1-B185-A4F793F47832}"/>
                  </a:ext>
                </a:extLst>
              </p:cNvPr>
              <p:cNvSpPr/>
              <p:nvPr/>
            </p:nvSpPr>
            <p:spPr>
              <a:xfrm>
                <a:off x="3036954" y="3766783"/>
                <a:ext cx="378020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solidFill>
                      <a:prstClr val="black"/>
                    </a:solidFill>
                  </a:rPr>
                  <a:t>由样本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/>
                  <a:t>相互独立</a:t>
                </a:r>
                <a:r>
                  <a:rPr lang="zh-CN" altLang="en-US" dirty="0"/>
                  <a:t>，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3267FF1-F4EA-4BE1-B185-A4F793F478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954" y="3766783"/>
                <a:ext cx="3780202" cy="461665"/>
              </a:xfrm>
              <a:prstGeom prst="rect">
                <a:avLst/>
              </a:prstGeom>
              <a:blipFill>
                <a:blip r:embed="rId6"/>
                <a:stretch>
                  <a:fillRect l="-2419" t="-14474" r="-645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741D6BBB-BE00-4926-BBAB-E2217961070B}"/>
                  </a:ext>
                </a:extLst>
              </p:cNvPr>
              <p:cNvSpPr/>
              <p:nvPr/>
            </p:nvSpPr>
            <p:spPr>
              <a:xfrm>
                <a:off x="770975" y="5086440"/>
                <a:ext cx="8844794" cy="6171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solidFill>
                      <a:prstClr val="black"/>
                    </a:solidFill>
                  </a:rPr>
                  <a:t>同理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400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400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b="0" i="1" kern="1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400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400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b="0" i="1" kern="1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400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400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b="0" i="1" kern="1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num>
                      <m:den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25</m:t>
                        </m:r>
                      </m:den>
                    </m:f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741D6BBB-BE00-4926-BBAB-E221796107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75" y="5086440"/>
                <a:ext cx="8844794" cy="617157"/>
              </a:xfrm>
              <a:prstGeom prst="rect">
                <a:avLst/>
              </a:prstGeom>
              <a:blipFill>
                <a:blip r:embed="rId7"/>
                <a:stretch>
                  <a:fillRect l="-1034" b="-39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7B68BB0-0208-4ECF-AB49-F6F3C11BD732}"/>
                  </a:ext>
                </a:extLst>
              </p:cNvPr>
              <p:cNvSpPr/>
              <p:nvPr/>
            </p:nvSpPr>
            <p:spPr>
              <a:xfrm>
                <a:off x="788679" y="5775412"/>
                <a:ext cx="2414315" cy="6171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∵</m:t>
                    </m:r>
                    <m:f>
                      <m:f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18</m:t>
                        </m:r>
                      </m:den>
                    </m:f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f>
                      <m:f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f>
                      <m:f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num>
                      <m:den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25</m:t>
                        </m:r>
                      </m:den>
                    </m:f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r>
                  <a:rPr lang="en-US" altLang="zh-CN" sz="2400" kern="100" dirty="0">
                    <a:solidFill>
                      <a:prstClr val="black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7B68BB0-0208-4ECF-AB49-F6F3C11BD7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679" y="5775412"/>
                <a:ext cx="2414315" cy="6171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54A863C0-93B2-49DA-881C-684D65E95BDE}"/>
                  </a:ext>
                </a:extLst>
              </p:cNvPr>
              <p:cNvSpPr/>
              <p:nvPr/>
            </p:nvSpPr>
            <p:spPr>
              <a:xfrm>
                <a:off x="3323408" y="5853157"/>
                <a:ext cx="168071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  <m:sSub>
                      <m:sSub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400" dirty="0"/>
                  <a:t>最有效</a:t>
                </a: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54A863C0-93B2-49DA-881C-684D65E95B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408" y="5853157"/>
                <a:ext cx="1680717" cy="461665"/>
              </a:xfrm>
              <a:prstGeom prst="rect">
                <a:avLst/>
              </a:prstGeom>
              <a:blipFill>
                <a:blip r:embed="rId9"/>
                <a:stretch>
                  <a:fillRect t="-15789" r="-4710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3260510B-329F-424F-8281-BDFC37BC0C26}"/>
                  </a:ext>
                </a:extLst>
              </p:cNvPr>
              <p:cNvSpPr/>
              <p:nvPr/>
            </p:nvSpPr>
            <p:spPr>
              <a:xfrm>
                <a:off x="8469625" y="2581614"/>
                <a:ext cx="45217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3260510B-329F-424F-8281-BDFC37BC0C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9625" y="2581614"/>
                <a:ext cx="45217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874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277681A-BAE9-419C-8564-F2BE87F41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07" y="493365"/>
            <a:ext cx="11683014" cy="224035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8E20255-F598-4571-8C5C-239F5B52C38B}"/>
              </a:ext>
            </a:extLst>
          </p:cNvPr>
          <p:cNvSpPr/>
          <p:nvPr/>
        </p:nvSpPr>
        <p:spPr>
          <a:xfrm>
            <a:off x="504644" y="2813615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6A177EB-014D-4A31-92B1-5316627FC757}"/>
                  </a:ext>
                </a:extLst>
              </p:cNvPr>
              <p:cNvSpPr/>
              <p:nvPr/>
            </p:nvSpPr>
            <p:spPr>
              <a:xfrm>
                <a:off x="1308069" y="2813035"/>
                <a:ext cx="362253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𝐸𝑋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𝐸𝑌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6A177EB-014D-4A31-92B1-5316627FC7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069" y="2813035"/>
                <a:ext cx="362253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684BD5C-29E8-4CA0-929F-B8DD99B55F39}"/>
                  </a:ext>
                </a:extLst>
              </p:cNvPr>
              <p:cNvSpPr/>
              <p:nvPr/>
            </p:nvSpPr>
            <p:spPr>
              <a:xfrm>
                <a:off x="1229649" y="3429000"/>
                <a:ext cx="2877518" cy="8649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𝜌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𝐶𝑜𝑣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𝑉𝑎𝑟𝑋</m:t>
                              </m:r>
                            </m:e>
                          </m:rad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ad>
                            <m:radPr>
                              <m:degHide m:val="on"/>
                              <m:ctrlP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𝑉𝑎𝑟𝑌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684BD5C-29E8-4CA0-929F-B8DD99B55F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649" y="3429000"/>
                <a:ext cx="2877518" cy="8649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DF25CBA-8A37-4578-955E-D92C49A036B9}"/>
                  </a:ext>
                </a:extLst>
              </p:cNvPr>
              <p:cNvSpPr/>
              <p:nvPr/>
            </p:nvSpPr>
            <p:spPr>
              <a:xfrm>
                <a:off x="4016807" y="3621519"/>
                <a:ext cx="5703100" cy="5027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⟹</m:t>
                      </m:r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𝜌</m:t>
                      </m:r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𝑉𝑎𝑟𝑋</m:t>
                          </m:r>
                        </m:e>
                      </m:rad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𝑉𝑎𝑟𝑌</m:t>
                          </m:r>
                        </m:e>
                      </m:rad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=−1,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DF25CBA-8A37-4578-955E-D92C49A036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807" y="3621519"/>
                <a:ext cx="5703100" cy="5027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1A277E3-74A8-4F33-8593-C62CF2DA18D8}"/>
                  </a:ext>
                </a:extLst>
              </p:cNvPr>
              <p:cNvSpPr/>
              <p:nvPr/>
            </p:nvSpPr>
            <p:spPr>
              <a:xfrm>
                <a:off x="1229649" y="4447637"/>
                <a:ext cx="576638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𝑉𝑎𝑟𝑋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𝑉𝑎𝑟𝑌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+2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𝐶𝑜𝑣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1A277E3-74A8-4F33-8593-C62CF2DA18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649" y="4447637"/>
                <a:ext cx="5766387" cy="461665"/>
              </a:xfrm>
              <a:prstGeom prst="rect">
                <a:avLst/>
              </a:prstGeom>
              <a:blipFill>
                <a:blip r:embed="rId6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CD06C36-D08D-4ED0-A9DB-752B6075823D}"/>
                  </a:ext>
                </a:extLst>
              </p:cNvPr>
              <p:cNvSpPr/>
              <p:nvPr/>
            </p:nvSpPr>
            <p:spPr>
              <a:xfrm>
                <a:off x="6868357" y="4447637"/>
                <a:ext cx="339131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1+4+</m:t>
                      </m:r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=3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CD06C36-D08D-4ED0-A9DB-752B607582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8357" y="4447637"/>
                <a:ext cx="339131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DF3B76F6-BD9C-44F7-90D3-79B72CE892EF}"/>
                  </a:ext>
                </a:extLst>
              </p:cNvPr>
              <p:cNvSpPr/>
              <p:nvPr/>
            </p:nvSpPr>
            <p:spPr>
              <a:xfrm>
                <a:off x="1229649" y="5151255"/>
                <a:ext cx="5123839" cy="8098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∴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</m:d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≥6</m:t>
                          </m:r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𝑉𝑎𝑟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36</m:t>
                          </m:r>
                        </m:den>
                      </m:f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DF3B76F6-BD9C-44F7-90D3-79B72CE892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649" y="5151255"/>
                <a:ext cx="5123839" cy="8098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图片 15">
            <a:extLst>
              <a:ext uri="{FF2B5EF4-FFF2-40B4-BE49-F238E27FC236}">
                <a16:creationId xmlns:a16="http://schemas.microsoft.com/office/drawing/2014/main" id="{C34FFAF4-D769-4A6E-B54F-8EDBF99BF9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7687" y="1205361"/>
            <a:ext cx="3067975" cy="9757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E3E3164-5A48-452B-AE81-7AB87CE713BD}"/>
                  </a:ext>
                </a:extLst>
              </p:cNvPr>
              <p:cNvSpPr/>
              <p:nvPr/>
            </p:nvSpPr>
            <p:spPr>
              <a:xfrm>
                <a:off x="4704864" y="1205361"/>
                <a:ext cx="4514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E3E3164-5A48-452B-AE81-7AB87CE713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864" y="1205361"/>
                <a:ext cx="45147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050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AE65C84-B7B6-4905-A7DB-082CAC0A0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73" y="432130"/>
            <a:ext cx="11275544" cy="203586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AE833E3-209D-46A5-A957-DAAEB6798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098" y="2556427"/>
            <a:ext cx="5329787" cy="94055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CF757D-7A96-4432-8C0D-3342065D8B46}"/>
              </a:ext>
            </a:extLst>
          </p:cNvPr>
          <p:cNvSpPr/>
          <p:nvPr/>
        </p:nvSpPr>
        <p:spPr>
          <a:xfrm>
            <a:off x="551673" y="2795871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解：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C198723-EBD7-449C-9B48-FF392911A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885" y="2603859"/>
            <a:ext cx="4637329" cy="84568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2D84EF5-ECC1-4545-BE3A-9D113F5F0C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673" y="3671026"/>
            <a:ext cx="2905530" cy="5239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47F121-8966-4182-A68E-4EF194EF59C5}"/>
                  </a:ext>
                </a:extLst>
              </p:cNvPr>
              <p:cNvSpPr/>
              <p:nvPr/>
            </p:nvSpPr>
            <p:spPr>
              <a:xfrm>
                <a:off x="3367850" y="3699124"/>
                <a:ext cx="2817503" cy="462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solidFill>
                      <a:prstClr val="black"/>
                    </a:solidFill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⊂</m:t>
                    </m:r>
                    <m:acc>
                      <m:accPr>
                        <m:chr m:val="̅"/>
                        <m:ctrlP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47F121-8966-4182-A68E-4EF194EF59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850" y="3699124"/>
                <a:ext cx="2817503" cy="462434"/>
              </a:xfrm>
              <a:prstGeom prst="rect">
                <a:avLst/>
              </a:prstGeom>
              <a:blipFill>
                <a:blip r:embed="rId6"/>
                <a:stretch>
                  <a:fillRect l="-3240" t="-15789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BF0D6DE-498C-4B94-A9F0-19F993054EEC}"/>
                  </a:ext>
                </a:extLst>
              </p:cNvPr>
              <p:cNvSpPr/>
              <p:nvPr/>
            </p:nvSpPr>
            <p:spPr>
              <a:xfrm>
                <a:off x="5980591" y="3688354"/>
                <a:ext cx="3373359" cy="462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⟹</m:t>
                      </m:r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𝐴𝐵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BF0D6DE-498C-4B94-A9F0-19F993054E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0591" y="3688354"/>
                <a:ext cx="3373359" cy="4624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5EB7959-2FD1-4AD0-9DAC-9762EE93B117}"/>
                  </a:ext>
                </a:extLst>
              </p:cNvPr>
              <p:cNvSpPr/>
              <p:nvPr/>
            </p:nvSpPr>
            <p:spPr>
              <a:xfrm>
                <a:off x="542795" y="4637281"/>
                <a:ext cx="3537250" cy="613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𝐴𝐵</m:t>
                        </m:r>
                        <m:acc>
                          <m:accPr>
                            <m:chr m:val="̅"/>
                            <m:ctrlP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𝐴𝐵</m:t>
                        </m:r>
                      </m:e>
                    </m:d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prstClr val="black"/>
                    </a:solidFill>
                  </a:rPr>
                  <a:t>,</a:t>
                </a:r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5EB7959-2FD1-4AD0-9DAC-9762EE93B1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795" y="4637281"/>
                <a:ext cx="3537250" cy="613886"/>
              </a:xfrm>
              <a:prstGeom prst="rect">
                <a:avLst/>
              </a:prstGeom>
              <a:blipFill>
                <a:blip r:embed="rId8"/>
                <a:stretch>
                  <a:fillRect r="-517" b="-1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695403A0-DE4B-4755-BD62-C2A95339F9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0143" y="4608464"/>
            <a:ext cx="2076740" cy="7240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5694D07A-2035-4500-B9F9-D04C92D6E2F0}"/>
                  </a:ext>
                </a:extLst>
              </p:cNvPr>
              <p:cNvSpPr/>
              <p:nvPr/>
            </p:nvSpPr>
            <p:spPr>
              <a:xfrm>
                <a:off x="11232025" y="685788"/>
                <a:ext cx="47583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5694D07A-2035-4500-B9F9-D04C92D6E2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2025" y="685788"/>
                <a:ext cx="475836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892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7DB0C4A-F92A-4087-814B-63C2D5189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09" y="260705"/>
            <a:ext cx="9597986" cy="224872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6A752A8-1AE8-4D77-9494-A1ED2AFC47D9}"/>
              </a:ext>
            </a:extLst>
          </p:cNvPr>
          <p:cNvSpPr/>
          <p:nvPr/>
        </p:nvSpPr>
        <p:spPr>
          <a:xfrm>
            <a:off x="977285" y="2487368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1EA2E52-C83C-4AD7-8E07-00C6C6592EB3}"/>
                  </a:ext>
                </a:extLst>
              </p:cNvPr>
              <p:cNvSpPr/>
              <p:nvPr/>
            </p:nvSpPr>
            <p:spPr>
              <a:xfrm>
                <a:off x="1561863" y="2487369"/>
                <a:ext cx="69172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solidFill>
                      <a:prstClr val="black"/>
                    </a:solidFill>
                  </a:rPr>
                  <a:t>从形式上可知，该统计量只能服从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</a:rPr>
                  <a:t>分布，故选</a:t>
                </a:r>
                <a:r>
                  <a:rPr lang="en-US" altLang="zh-CN" sz="2400" i="1" dirty="0">
                    <a:solidFill>
                      <a:prstClr val="black"/>
                    </a:solidFill>
                  </a:rPr>
                  <a:t>B</a:t>
                </a:r>
                <a:r>
                  <a:rPr lang="zh-CN" altLang="en-US" sz="2400" dirty="0">
                    <a:solidFill>
                      <a:prstClr val="black"/>
                    </a:solidFill>
                  </a:rPr>
                  <a:t>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1EA2E52-C83C-4AD7-8E07-00C6C6592E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1863" y="2487369"/>
                <a:ext cx="6917278" cy="461665"/>
              </a:xfrm>
              <a:prstGeom prst="rect">
                <a:avLst/>
              </a:prstGeom>
              <a:blipFill>
                <a:blip r:embed="rId3"/>
                <a:stretch>
                  <a:fillRect l="-1322" t="-15789" r="-793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AA0C1EB-5645-4B4B-A5EA-59AD773D1991}"/>
                  </a:ext>
                </a:extLst>
              </p:cNvPr>
              <p:cNvSpPr/>
              <p:nvPr/>
            </p:nvSpPr>
            <p:spPr>
              <a:xfrm>
                <a:off x="3864304" y="1019184"/>
                <a:ext cx="47641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AA0C1EB-5645-4B4B-A5EA-59AD773D19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304" y="1019184"/>
                <a:ext cx="47641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7FBF2CA-F7ED-4D41-A60A-FD30F1F63373}"/>
                  </a:ext>
                </a:extLst>
              </p:cNvPr>
              <p:cNvSpPr/>
              <p:nvPr/>
            </p:nvSpPr>
            <p:spPr>
              <a:xfrm>
                <a:off x="995041" y="3034298"/>
                <a:ext cx="43729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,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7FBF2CA-F7ED-4D41-A60A-FD30F1F633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041" y="3034298"/>
                <a:ext cx="4372928" cy="461665"/>
              </a:xfrm>
              <a:prstGeom prst="rect">
                <a:avLst/>
              </a:prstGeom>
              <a:blipFill>
                <a:blip r:embed="rId5"/>
                <a:stretch>
                  <a:fillRect r="-139" b="-17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94AA5BF-BCB0-4FF0-826D-B9FA9C0633CB}"/>
                  </a:ext>
                </a:extLst>
              </p:cNvPr>
              <p:cNvSpPr/>
              <p:nvPr/>
            </p:nvSpPr>
            <p:spPr>
              <a:xfrm>
                <a:off x="5367969" y="3034298"/>
                <a:ext cx="517481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,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94AA5BF-BCB0-4FF0-826D-B9FA9C0633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969" y="3034298"/>
                <a:ext cx="5174815" cy="461665"/>
              </a:xfrm>
              <a:prstGeom prst="rect">
                <a:avLst/>
              </a:prstGeom>
              <a:blipFill>
                <a:blip r:embed="rId6"/>
                <a:stretch>
                  <a:fillRect l="-354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909447B-DD29-4609-A57F-CD924C6F6600}"/>
                  </a:ext>
                </a:extLst>
              </p:cNvPr>
              <p:cNvSpPr/>
              <p:nvPr/>
            </p:nvSpPr>
            <p:spPr>
              <a:xfrm>
                <a:off x="995041" y="3606774"/>
                <a:ext cx="30436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909447B-DD29-4609-A57F-CD924C6F66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041" y="3606774"/>
                <a:ext cx="3043654" cy="461665"/>
              </a:xfrm>
              <a:prstGeom prst="rect">
                <a:avLst/>
              </a:prstGeom>
              <a:blipFill>
                <a:blip r:embed="rId7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738611B-C42B-44DC-8FA3-3E65A5BB3937}"/>
                  </a:ext>
                </a:extLst>
              </p:cNvPr>
              <p:cNvSpPr/>
              <p:nvPr/>
            </p:nvSpPr>
            <p:spPr>
              <a:xfrm>
                <a:off x="3988592" y="3606773"/>
                <a:ext cx="434939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kern="100" dirty="0">
                    <a:solidFill>
                      <a:prstClr val="black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同理可得，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2,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738611B-C42B-44DC-8FA3-3E65A5BB39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592" y="3606773"/>
                <a:ext cx="4349396" cy="461665"/>
              </a:xfrm>
              <a:prstGeom prst="rect">
                <a:avLst/>
              </a:prstGeom>
              <a:blipFill>
                <a:blip r:embed="rId8"/>
                <a:stretch>
                  <a:fillRect l="-2101" t="-16000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AA49AB1-409E-43BB-B9C4-460C66EF2610}"/>
                  </a:ext>
                </a:extLst>
              </p:cNvPr>
              <p:cNvSpPr/>
              <p:nvPr/>
            </p:nvSpPr>
            <p:spPr>
              <a:xfrm>
                <a:off x="982093" y="5372847"/>
                <a:ext cx="61587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AA49AB1-409E-43BB-B9C4-460C66EF26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093" y="5372847"/>
                <a:ext cx="615873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组合 17">
            <a:extLst>
              <a:ext uri="{FF2B5EF4-FFF2-40B4-BE49-F238E27FC236}">
                <a16:creationId xmlns:a16="http://schemas.microsoft.com/office/drawing/2014/main" id="{9A5E0BCF-3496-4976-B906-CAFFDF6123E9}"/>
              </a:ext>
            </a:extLst>
          </p:cNvPr>
          <p:cNvGrpSpPr/>
          <p:nvPr/>
        </p:nvGrpSpPr>
        <p:grpSpPr>
          <a:xfrm>
            <a:off x="1083817" y="4232973"/>
            <a:ext cx="5037277" cy="637354"/>
            <a:chOff x="1048306" y="4549075"/>
            <a:chExt cx="5037277" cy="6373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C2E11AF7-1B99-43F4-9C17-BB66482917E2}"/>
                    </a:ext>
                  </a:extLst>
                </p:cNvPr>
                <p:cNvSpPr/>
                <p:nvPr/>
              </p:nvSpPr>
              <p:spPr>
                <a:xfrm>
                  <a:off x="1048306" y="4549075"/>
                  <a:ext cx="2559611" cy="6373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f>
                        <m:fPr>
                          <m:ctrlPr>
                            <a:rPr lang="en-US" altLang="zh-CN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a14:m>
                  <a:r>
                    <a:rPr lang="en-US" altLang="zh-CN" sz="2400" dirty="0">
                      <a:solidFill>
                        <a:prstClr val="black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CN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C2E11AF7-1B99-43F4-9C17-BB66482917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306" y="4549075"/>
                  <a:ext cx="2559611" cy="6373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DFEE3A19-9C08-4FD8-B41E-51F102F65EDA}"/>
                    </a:ext>
                  </a:extLst>
                </p:cNvPr>
                <p:cNvSpPr/>
                <p:nvPr/>
              </p:nvSpPr>
              <p:spPr>
                <a:xfrm>
                  <a:off x="3607917" y="4549075"/>
                  <a:ext cx="2477666" cy="6373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a14:m>
                  <a:r>
                    <a:rPr lang="en-US" altLang="zh-CN" sz="2400" dirty="0">
                      <a:solidFill>
                        <a:prstClr val="black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DFEE3A19-9C08-4FD8-B41E-51F102F65E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7917" y="4549075"/>
                  <a:ext cx="2477666" cy="6373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419CF53A-815A-49C4-A987-7082E4EDD047}"/>
              </a:ext>
            </a:extLst>
          </p:cNvPr>
          <p:cNvSpPr/>
          <p:nvPr/>
        </p:nvSpPr>
        <p:spPr>
          <a:xfrm>
            <a:off x="5996660" y="4320817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kern="100" dirty="0">
                <a:solidFill>
                  <a:prstClr val="black"/>
                </a:solidFill>
                <a:ea typeface="Cambria Math" panose="02040503050406030204" pitchFamily="18" charset="0"/>
                <a:cs typeface="Times New Roman" panose="02020603050405020304" pitchFamily="18" charset="0"/>
              </a:rPr>
              <a:t>且它们相互独立，</a:t>
            </a:r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440619B4-FF44-4AA1-B492-2D7D9A12132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6453" y="4955593"/>
            <a:ext cx="1884114" cy="1522069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24BB9F6-8C11-4C33-A930-2D7940DA3D2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56484" y="5220975"/>
            <a:ext cx="1801442" cy="73945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AAEE8BA0-ABAD-4663-9C0E-3E199932E07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57926" y="5354325"/>
            <a:ext cx="790685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84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1" grpId="0"/>
      <p:bldP spid="12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50AADEC-7610-4CC4-AE5F-EFE9667A47FA}"/>
              </a:ext>
            </a:extLst>
          </p:cNvPr>
          <p:cNvSpPr/>
          <p:nvPr/>
        </p:nvSpPr>
        <p:spPr>
          <a:xfrm>
            <a:off x="625283" y="192100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F74AF4D-494C-42C6-8F83-BD2081CF187D}"/>
                  </a:ext>
                </a:extLst>
              </p:cNvPr>
              <p:cNvSpPr/>
              <p:nvPr/>
            </p:nvSpPr>
            <p:spPr>
              <a:xfrm>
                <a:off x="1209681" y="1920999"/>
                <a:ext cx="162743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∵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F74AF4D-494C-42C6-8F83-BD2081CF18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681" y="1920999"/>
                <a:ext cx="1627433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33F7D9E-5258-4981-830D-06791D31762B}"/>
                  </a:ext>
                </a:extLst>
              </p:cNvPr>
              <p:cNvSpPr/>
              <p:nvPr/>
            </p:nvSpPr>
            <p:spPr>
              <a:xfrm>
                <a:off x="2837114" y="1742914"/>
                <a:ext cx="3010504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∴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33F7D9E-5258-4981-830D-06791D3176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7114" y="1742914"/>
                <a:ext cx="3010504" cy="7861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FDC2EFF-B81C-4EFC-9707-4112AD3311FB}"/>
                  </a:ext>
                </a:extLst>
              </p:cNvPr>
              <p:cNvSpPr/>
              <p:nvPr/>
            </p:nvSpPr>
            <p:spPr>
              <a:xfrm>
                <a:off x="5847618" y="1936613"/>
                <a:ext cx="263989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kern="100" dirty="0">
                    <a:solidFill>
                      <a:prstClr val="black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𝐸𝑋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𝑉𝑎𝑟𝑋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=1,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FDC2EFF-B81C-4EFC-9707-4112AD3311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618" y="1936613"/>
                <a:ext cx="2639890" cy="461665"/>
              </a:xfrm>
              <a:prstGeom prst="rect">
                <a:avLst/>
              </a:prstGeom>
              <a:blipFill>
                <a:blip r:embed="rId4"/>
                <a:stretch>
                  <a:fillRect l="-3464" t="-16000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B51D5BD-FAD6-48A9-A639-9211B2003344}"/>
                  </a:ext>
                </a:extLst>
              </p:cNvPr>
              <p:cNvSpPr/>
              <p:nvPr/>
            </p:nvSpPr>
            <p:spPr>
              <a:xfrm>
                <a:off x="612466" y="2584260"/>
                <a:ext cx="417934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kern="100" dirty="0">
                    <a:solidFill>
                      <a:prstClr val="black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𝑉𝑎𝑟𝑋</m:t>
                    </m:r>
                    <m:r>
                      <a:rPr lang="en-US" altLang="zh-CN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𝐸𝑋</m:t>
                    </m:r>
                    <m:sSup>
                      <m:sSupPr>
                        <m:ctrlPr>
                          <a:rPr lang="zh-CN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B51D5BD-FAD6-48A9-A639-9211B20033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66" y="2584260"/>
                <a:ext cx="4179349" cy="461665"/>
              </a:xfrm>
              <a:prstGeom prst="rect">
                <a:avLst/>
              </a:prstGeom>
              <a:blipFill>
                <a:blip r:embed="rId5"/>
                <a:stretch>
                  <a:fillRect l="-2187" t="-15789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B2E8424-56F1-47C6-8082-6685EE4A045E}"/>
                  </a:ext>
                </a:extLst>
              </p:cNvPr>
              <p:cNvSpPr/>
              <p:nvPr/>
            </p:nvSpPr>
            <p:spPr>
              <a:xfrm>
                <a:off x="4791815" y="2460706"/>
                <a:ext cx="5779596" cy="668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/>
                  <a:t>则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{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=2}=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B2E8424-56F1-47C6-8082-6685EE4A04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815" y="2460706"/>
                <a:ext cx="5779596" cy="668388"/>
              </a:xfrm>
              <a:prstGeom prst="rect">
                <a:avLst/>
              </a:prstGeom>
              <a:blipFill>
                <a:blip r:embed="rId6"/>
                <a:stretch>
                  <a:fillRect l="-1582" b="-4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A4C0F4E7-D0D1-45A4-9D22-7B1D5609C8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373" y="3191522"/>
            <a:ext cx="11436083" cy="163793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D7E87F9-9844-40EE-812A-2AF2E65F2C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466" y="334096"/>
            <a:ext cx="10515821" cy="14088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035AF3B-93C2-489A-8D05-DD8BDBF9EAA7}"/>
                  </a:ext>
                </a:extLst>
              </p:cNvPr>
              <p:cNvSpPr/>
              <p:nvPr/>
            </p:nvSpPr>
            <p:spPr>
              <a:xfrm>
                <a:off x="8664933" y="416428"/>
                <a:ext cx="43055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035AF3B-93C2-489A-8D05-DD8BDBF9EA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4933" y="416428"/>
                <a:ext cx="430558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>
            <a:extLst>
              <a:ext uri="{FF2B5EF4-FFF2-40B4-BE49-F238E27FC236}">
                <a16:creationId xmlns:a16="http://schemas.microsoft.com/office/drawing/2014/main" id="{78D4C613-22B4-427C-9562-A1E7770BFBAC}"/>
              </a:ext>
            </a:extLst>
          </p:cNvPr>
          <p:cNvSpPr/>
          <p:nvPr/>
        </p:nvSpPr>
        <p:spPr>
          <a:xfrm>
            <a:off x="612466" y="4891881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8212FE5-C38C-4A9D-8475-C5FD467D5A47}"/>
                  </a:ext>
                </a:extLst>
              </p:cNvPr>
              <p:cNvSpPr/>
              <p:nvPr/>
            </p:nvSpPr>
            <p:spPr>
              <a:xfrm>
                <a:off x="1196864" y="4891880"/>
                <a:ext cx="194021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∵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8212FE5-C38C-4A9D-8475-C5FD467D5A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864" y="4891880"/>
                <a:ext cx="1940210" cy="461665"/>
              </a:xfrm>
              <a:prstGeom prst="rect">
                <a:avLst/>
              </a:prstGeom>
              <a:blipFill>
                <a:blip r:embed="rId10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7E2CD91-CFD3-439A-A479-B44C6B968165}"/>
                  </a:ext>
                </a:extLst>
              </p:cNvPr>
              <p:cNvSpPr/>
              <p:nvPr/>
            </p:nvSpPr>
            <p:spPr>
              <a:xfrm>
                <a:off x="3137074" y="4891880"/>
                <a:ext cx="42152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∴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𝐸𝑋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𝑛𝑝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𝑉𝑎𝑟𝑋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𝑛𝑝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(1−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7E2CD91-CFD3-439A-A479-B44C6B9681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7074" y="4891880"/>
                <a:ext cx="4215257" cy="461665"/>
              </a:xfrm>
              <a:prstGeom prst="rect">
                <a:avLst/>
              </a:prstGeom>
              <a:blipFill>
                <a:blip r:embed="rId11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2B8589F0-1656-437C-BF26-BED333B57DC2}"/>
                  </a:ext>
                </a:extLst>
              </p:cNvPr>
              <p:cNvSpPr/>
              <p:nvPr/>
            </p:nvSpPr>
            <p:spPr>
              <a:xfrm>
                <a:off x="612465" y="5488738"/>
                <a:ext cx="45992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kern="100" dirty="0">
                    <a:solidFill>
                      <a:prstClr val="black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sSup>
                      <m:sSupPr>
                        <m:ctrlPr>
                          <a:rPr lang="zh-CN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2B8589F0-1656-437C-BF26-BED333B57D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65" y="5488738"/>
                <a:ext cx="4599272" cy="461665"/>
              </a:xfrm>
              <a:prstGeom prst="rect">
                <a:avLst/>
              </a:prstGeom>
              <a:blipFill>
                <a:blip r:embed="rId12"/>
                <a:stretch>
                  <a:fillRect l="-1987" t="-15789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3BE749F1-7253-4CE4-8E51-D1C02F1DC3F0}"/>
                  </a:ext>
                </a:extLst>
              </p:cNvPr>
              <p:cNvSpPr/>
              <p:nvPr/>
            </p:nvSpPr>
            <p:spPr>
              <a:xfrm>
                <a:off x="6464750" y="3779654"/>
                <a:ext cx="43055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3BE749F1-7253-4CE4-8E51-D1C02F1DC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750" y="3779654"/>
                <a:ext cx="430558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7F0A1E79-226E-4A8F-B00F-73CC9B0631EB}"/>
                  </a:ext>
                </a:extLst>
              </p:cNvPr>
              <p:cNvSpPr/>
              <p:nvPr/>
            </p:nvSpPr>
            <p:spPr>
              <a:xfrm>
                <a:off x="4987638" y="5488738"/>
                <a:ext cx="204902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𝐸𝑋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𝑉𝑎𝑟𝑋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7F0A1E79-226E-4A8F-B00F-73CC9B0631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638" y="5488738"/>
                <a:ext cx="2049022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20811BA5-4ABF-4BD7-BF28-7D94DDAC6EA5}"/>
                  </a:ext>
                </a:extLst>
              </p:cNvPr>
              <p:cNvSpPr/>
              <p:nvPr/>
            </p:nvSpPr>
            <p:spPr>
              <a:xfrm>
                <a:off x="6828222" y="5486041"/>
                <a:ext cx="35070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𝑛𝑝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𝑛𝑝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20811BA5-4ABF-4BD7-BF28-7D94DDAC6E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222" y="5486041"/>
                <a:ext cx="3507050" cy="461665"/>
              </a:xfrm>
              <a:prstGeom prst="rect">
                <a:avLst/>
              </a:prstGeom>
              <a:blipFill>
                <a:blip r:embed="rId1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157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35E1BD4-6621-4935-859F-6FE59A0FEAE2}"/>
              </a:ext>
            </a:extLst>
          </p:cNvPr>
          <p:cNvSpPr/>
          <p:nvPr/>
        </p:nvSpPr>
        <p:spPr>
          <a:xfrm>
            <a:off x="971512" y="4681956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A81266B-C056-4758-9456-891BC6C4CCBF}"/>
                  </a:ext>
                </a:extLst>
              </p:cNvPr>
              <p:cNvSpPr/>
              <p:nvPr/>
            </p:nvSpPr>
            <p:spPr>
              <a:xfrm>
                <a:off x="1555910" y="4681955"/>
                <a:ext cx="62694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0,3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≤0,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≤3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((0,0)∪(0,2))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A81266B-C056-4758-9456-891BC6C4CC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910" y="4681955"/>
                <a:ext cx="6269472" cy="461665"/>
              </a:xfrm>
              <a:prstGeom prst="rect">
                <a:avLst/>
              </a:prstGeom>
              <a:blipFill>
                <a:blip r:embed="rId2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01FB2656-2FEC-4D0C-B729-1632E560DBED}"/>
                  </a:ext>
                </a:extLst>
              </p:cNvPr>
              <p:cNvSpPr/>
              <p:nvPr/>
            </p:nvSpPr>
            <p:spPr>
              <a:xfrm>
                <a:off x="2574723" y="5425155"/>
                <a:ext cx="264649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0,0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0,2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01FB2656-2FEC-4D0C-B729-1632E560DB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723" y="5425155"/>
                <a:ext cx="264649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B8B264E-9E19-4766-87ED-89EA2C7C4E4B}"/>
                  </a:ext>
                </a:extLst>
              </p:cNvPr>
              <p:cNvSpPr/>
              <p:nvPr/>
            </p:nvSpPr>
            <p:spPr>
              <a:xfrm>
                <a:off x="5078225" y="5213334"/>
                <a:ext cx="2014206" cy="7936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B8B264E-9E19-4766-87ED-89EA2C7C4E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225" y="5213334"/>
                <a:ext cx="2014206" cy="7936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08520819-175F-4695-B213-8CE49E33357B}"/>
              </a:ext>
            </a:extLst>
          </p:cNvPr>
          <p:cNvGrpSpPr/>
          <p:nvPr/>
        </p:nvGrpSpPr>
        <p:grpSpPr>
          <a:xfrm>
            <a:off x="774210" y="278284"/>
            <a:ext cx="9897856" cy="4277323"/>
            <a:chOff x="774210" y="278284"/>
            <a:chExt cx="9897856" cy="4277323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0CFC9AD1-6572-4191-96E0-F524CAFDC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4210" y="278285"/>
              <a:ext cx="9897856" cy="4277322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4645A359-F4AC-4AEB-AD13-556836FA0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79817" y="278284"/>
              <a:ext cx="1692249" cy="48349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CD6D8826-1A55-41F9-AB0A-0FFA65D9514D}"/>
                  </a:ext>
                </a:extLst>
              </p:cNvPr>
              <p:cNvSpPr/>
              <p:nvPr/>
            </p:nvSpPr>
            <p:spPr>
              <a:xfrm>
                <a:off x="10195654" y="278283"/>
                <a:ext cx="47641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CD6D8826-1A55-41F9-AB0A-0FFA65D951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5654" y="278283"/>
                <a:ext cx="47641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637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CF59145-372B-4033-94FB-9764B5112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82" y="250526"/>
            <a:ext cx="11573421" cy="167432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3B9F447-AC5B-44C3-9249-049D576827BE}"/>
              </a:ext>
            </a:extLst>
          </p:cNvPr>
          <p:cNvSpPr/>
          <p:nvPr/>
        </p:nvSpPr>
        <p:spPr>
          <a:xfrm>
            <a:off x="407402" y="183673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8A30EA6F-D7A1-4D6C-B055-C43820DC2AE9}"/>
                  </a:ext>
                </a:extLst>
              </p:cNvPr>
              <p:cNvSpPr/>
              <p:nvPr/>
            </p:nvSpPr>
            <p:spPr>
              <a:xfrm>
                <a:off x="1028189" y="1823401"/>
                <a:ext cx="8671605" cy="4735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kern="100" dirty="0">
                    <a:solidFill>
                      <a:prstClr val="black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由分布函数和密度函数的性质可知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zh-CN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zh-CN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8A30EA6F-D7A1-4D6C-B055-C43820DC2A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189" y="1823401"/>
                <a:ext cx="8671605" cy="473591"/>
              </a:xfrm>
              <a:prstGeom prst="rect">
                <a:avLst/>
              </a:prstGeom>
              <a:blipFill>
                <a:blip r:embed="rId3"/>
                <a:stretch>
                  <a:fillRect l="-1125" t="-15385" b="-20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A191FC1-FBD6-4DE4-A09C-AC03E5118923}"/>
                  </a:ext>
                </a:extLst>
              </p:cNvPr>
              <p:cNvSpPr/>
              <p:nvPr/>
            </p:nvSpPr>
            <p:spPr>
              <a:xfrm>
                <a:off x="407402" y="2299489"/>
                <a:ext cx="45504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kern="100" dirty="0">
                    <a:solidFill>
                      <a:prstClr val="black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zh-CN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zh-CN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zh-CN" alt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A191FC1-FBD6-4DE4-A09C-AC03E51189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02" y="2299489"/>
                <a:ext cx="4550400" cy="461665"/>
              </a:xfrm>
              <a:prstGeom prst="rect">
                <a:avLst/>
              </a:prstGeom>
              <a:blipFill>
                <a:blip r:embed="rId4"/>
                <a:stretch>
                  <a:fillRect l="-2145" t="-15789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E091DE65-0945-44E1-B667-1BEB7E59CD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7484" y="2703036"/>
            <a:ext cx="7018616" cy="99476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E7B3F3C-B7C4-4DC8-8494-078F3FB0DB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6554" y="3615568"/>
            <a:ext cx="8259311" cy="70061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994CCBF-E393-49B4-B38E-6F89C9E854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722" y="4248504"/>
            <a:ext cx="10111308" cy="1253802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5710EE39-014F-4711-83ED-C605D0B07E1C}"/>
              </a:ext>
            </a:extLst>
          </p:cNvPr>
          <p:cNvSpPr/>
          <p:nvPr/>
        </p:nvSpPr>
        <p:spPr>
          <a:xfrm>
            <a:off x="434861" y="5502308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A6B1361-AE02-4A73-93AF-4CF3CDDBB71C}"/>
                  </a:ext>
                </a:extLst>
              </p:cNvPr>
              <p:cNvSpPr/>
              <p:nvPr/>
            </p:nvSpPr>
            <p:spPr>
              <a:xfrm>
                <a:off x="1019259" y="5502307"/>
                <a:ext cx="371621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∵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)~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,0),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A6B1361-AE02-4A73-93AF-4CF3CDDBB7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259" y="5502307"/>
                <a:ext cx="3716210" cy="461665"/>
              </a:xfrm>
              <a:prstGeom prst="rect">
                <a:avLst/>
              </a:prstGeom>
              <a:blipFill>
                <a:blip r:embed="rId8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5E5A4CA1-5A10-490C-A6F4-F8A3FC1D88E5}"/>
                  </a:ext>
                </a:extLst>
              </p:cNvPr>
              <p:cNvSpPr/>
              <p:nvPr/>
            </p:nvSpPr>
            <p:spPr>
              <a:xfrm>
                <a:off x="4584082" y="5502306"/>
                <a:ext cx="606101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CN" altLang="en-US" sz="2400" dirty="0"/>
                  <a:t>且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sz="2400" dirty="0"/>
                  <a:t>相互独立，</a:t>
                </a: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5E5A4CA1-5A10-490C-A6F4-F8A3FC1D88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082" y="5502306"/>
                <a:ext cx="6061018" cy="461665"/>
              </a:xfrm>
              <a:prstGeom prst="rect">
                <a:avLst/>
              </a:prstGeom>
              <a:blipFill>
                <a:blip r:embed="rId9"/>
                <a:stretch>
                  <a:fillRect t="-16000" r="-503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3E846EC-6D83-4C2C-8E51-4F4D3A1D897D}"/>
                  </a:ext>
                </a:extLst>
              </p:cNvPr>
              <p:cNvSpPr/>
              <p:nvPr/>
            </p:nvSpPr>
            <p:spPr>
              <a:xfrm>
                <a:off x="434861" y="6053009"/>
                <a:ext cx="80572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solidFill>
                      <a:prstClr val="black"/>
                    </a:solidFill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𝐸𝑋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𝐸𝑋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𝑉𝑎𝑟</m:t>
                        </m:r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3E846EC-6D83-4C2C-8E51-4F4D3A1D89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61" y="6053009"/>
                <a:ext cx="8057270" cy="461665"/>
              </a:xfrm>
              <a:prstGeom prst="rect">
                <a:avLst/>
              </a:prstGeom>
              <a:blipFill>
                <a:blip r:embed="rId10"/>
                <a:stretch>
                  <a:fillRect l="-1135" t="-15789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02B6977D-A7DC-474E-89C6-5E651C63F5A0}"/>
                  </a:ext>
                </a:extLst>
              </p:cNvPr>
              <p:cNvSpPr/>
              <p:nvPr/>
            </p:nvSpPr>
            <p:spPr>
              <a:xfrm>
                <a:off x="9671228" y="4246936"/>
                <a:ext cx="43055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02B6977D-A7DC-474E-89C6-5E651C63F5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1228" y="4246936"/>
                <a:ext cx="430558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3F5DA03-F547-4BD2-82CB-42D960B4A4DF}"/>
                  </a:ext>
                </a:extLst>
              </p:cNvPr>
              <p:cNvSpPr/>
              <p:nvPr/>
            </p:nvSpPr>
            <p:spPr>
              <a:xfrm>
                <a:off x="1306790" y="855552"/>
                <a:ext cx="47583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3F5DA03-F547-4BD2-82CB-42D960B4A4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790" y="855552"/>
                <a:ext cx="475836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381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9E8082C8-43DF-4280-8E11-387674348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22" y="1174795"/>
            <a:ext cx="9015564" cy="1710212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F13C260-522F-4699-869E-60EA8BC379B7}"/>
              </a:ext>
            </a:extLst>
          </p:cNvPr>
          <p:cNvSpPr/>
          <p:nvPr/>
        </p:nvSpPr>
        <p:spPr>
          <a:xfrm>
            <a:off x="1326922" y="305207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21413A6-2106-4721-BE60-3DB83AF673BC}"/>
                  </a:ext>
                </a:extLst>
              </p:cNvPr>
              <p:cNvSpPr/>
              <p:nvPr/>
            </p:nvSpPr>
            <p:spPr>
              <a:xfrm>
                <a:off x="1911320" y="3052069"/>
                <a:ext cx="313771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因为相关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系数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21413A6-2106-4721-BE60-3DB83AF673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320" y="3052069"/>
                <a:ext cx="3137718" cy="461665"/>
              </a:xfrm>
              <a:prstGeom prst="rect">
                <a:avLst/>
              </a:prstGeom>
              <a:blipFill>
                <a:blip r:embed="rId3"/>
                <a:stretch>
                  <a:fillRect l="-3113" t="-16000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24ED5FD-D831-4199-94FD-41C632A36CE0}"/>
                  </a:ext>
                </a:extLst>
              </p:cNvPr>
              <p:cNvSpPr/>
              <p:nvPr/>
            </p:nvSpPr>
            <p:spPr>
              <a:xfrm>
                <a:off x="5049038" y="3052069"/>
                <a:ext cx="223708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sz="2400" dirty="0"/>
                  <a:t>正相关，</a:t>
                </a: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24ED5FD-D831-4199-94FD-41C632A36C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038" y="3052069"/>
                <a:ext cx="2237087" cy="461665"/>
              </a:xfrm>
              <a:prstGeom prst="rect">
                <a:avLst/>
              </a:prstGeom>
              <a:blipFill>
                <a:blip r:embed="rId4"/>
                <a:stretch>
                  <a:fillRect l="-4087" t="-16000" r="-3270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523C47BD-5F41-4F99-836F-69F51836C989}"/>
                  </a:ext>
                </a:extLst>
              </p:cNvPr>
              <p:cNvSpPr/>
              <p:nvPr/>
            </p:nvSpPr>
            <p:spPr>
              <a:xfrm>
                <a:off x="7068212" y="3052068"/>
                <a:ext cx="28493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从而排除选项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/>
                  <a:t>，</a:t>
                </a: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523C47BD-5F41-4F99-836F-69F51836C9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212" y="3052068"/>
                <a:ext cx="2849370" cy="461665"/>
              </a:xfrm>
              <a:prstGeom prst="rect">
                <a:avLst/>
              </a:prstGeom>
              <a:blipFill>
                <a:blip r:embed="rId5"/>
                <a:stretch>
                  <a:fillRect l="-3205" t="-16000" r="-2350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49016655-468D-4ECE-9CEF-81C78AA2A4E3}"/>
                  </a:ext>
                </a:extLst>
              </p:cNvPr>
              <p:cNvSpPr/>
              <p:nvPr/>
            </p:nvSpPr>
            <p:spPr>
              <a:xfrm>
                <a:off x="1363214" y="3699345"/>
                <a:ext cx="203331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设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zh-CN" alt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＝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49016655-468D-4ECE-9CEF-81C78AA2A4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214" y="3699345"/>
                <a:ext cx="2033313" cy="461665"/>
              </a:xfrm>
              <a:prstGeom prst="rect">
                <a:avLst/>
              </a:prstGeom>
              <a:blipFill>
                <a:blip r:embed="rId6"/>
                <a:stretch>
                  <a:fillRect l="-300" b="-78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3DE95B8-2CC6-4B43-8FC0-C8AFFC7517D9}"/>
                  </a:ext>
                </a:extLst>
              </p:cNvPr>
              <p:cNvSpPr/>
              <p:nvPr/>
            </p:nvSpPr>
            <p:spPr>
              <a:xfrm>
                <a:off x="3286054" y="3699345"/>
                <a:ext cx="520604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zh-CN" altLang="en-US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＝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𝐸𝑋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3DE95B8-2CC6-4B43-8FC0-C8AFFC751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054" y="3699345"/>
                <a:ext cx="5206041" cy="461665"/>
              </a:xfrm>
              <a:prstGeom prst="rect">
                <a:avLst/>
              </a:prstGeom>
              <a:blipFill>
                <a:blip r:embed="rId7"/>
                <a:stretch>
                  <a:fillRect l="-1756" t="-15789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0A7F6EA3-7762-4677-AFAA-26CE09CDF7B1}"/>
                  </a:ext>
                </a:extLst>
              </p:cNvPr>
              <p:cNvSpPr/>
              <p:nvPr/>
            </p:nvSpPr>
            <p:spPr>
              <a:xfrm>
                <a:off x="9441746" y="1174794"/>
                <a:ext cx="47583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0A7F6EA3-7762-4677-AFAA-26CE09CDF7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1746" y="1174794"/>
                <a:ext cx="475836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030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/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2835537-111C-4E05-BEFF-149112AB5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93" y="354930"/>
            <a:ext cx="11679584" cy="17853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5E3536F-DE67-44BF-8E23-26840F00ED12}"/>
              </a:ext>
            </a:extLst>
          </p:cNvPr>
          <p:cNvSpPr/>
          <p:nvPr/>
        </p:nvSpPr>
        <p:spPr>
          <a:xfrm>
            <a:off x="296393" y="2215601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BC3698E-8E61-4F52-BB5D-DD4BD223DC3A}"/>
                  </a:ext>
                </a:extLst>
              </p:cNvPr>
              <p:cNvSpPr/>
              <p:nvPr/>
            </p:nvSpPr>
            <p:spPr>
              <a:xfrm>
                <a:off x="916736" y="2215600"/>
                <a:ext cx="451521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甲投中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zh-CN" alt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＝</m:t>
                    </m:r>
                    <m:r>
                      <a:rPr lang="en-US" altLang="zh-CN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乙投中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，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BC3698E-8E61-4F52-BB5D-DD4BD223DC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36" y="2215600"/>
                <a:ext cx="4515210" cy="461665"/>
              </a:xfrm>
              <a:prstGeom prst="rect">
                <a:avLst/>
              </a:prstGeom>
              <a:blipFill>
                <a:blip r:embed="rId3"/>
                <a:stretch>
                  <a:fillRect l="-2024" t="-15789" r="-1619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BE2634A-6CFF-44FA-9AAD-0D221175CCEB}"/>
                  </a:ext>
                </a:extLst>
              </p:cNvPr>
              <p:cNvSpPr/>
              <p:nvPr/>
            </p:nvSpPr>
            <p:spPr>
              <a:xfrm>
                <a:off x="296393" y="2783497"/>
                <a:ext cx="786202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=0.7</m:t>
                    </m:r>
                    <m:r>
                      <a:rPr lang="zh-CN" alt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</m:t>
                    </m:r>
                    <m:r>
                      <a:rPr lang="en-US" altLang="zh-CN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zh-CN" alt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altLang="zh-CN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</m:t>
                    </m:r>
                    <m:r>
                      <a:rPr lang="zh-CN" alt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n-US" altLang="zh-CN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BE2634A-6CFF-44FA-9AAD-0D221175CC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93" y="2783497"/>
                <a:ext cx="7862024" cy="461665"/>
              </a:xfrm>
              <a:prstGeom prst="rect">
                <a:avLst/>
              </a:prstGeom>
              <a:blipFill>
                <a:blip r:embed="rId4"/>
                <a:stretch>
                  <a:fillRect l="-1241" t="-16000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D67877B-F5F8-40F5-BA72-2E63B82B8DDF}"/>
                  </a:ext>
                </a:extLst>
              </p:cNvPr>
              <p:cNvSpPr/>
              <p:nvPr/>
            </p:nvSpPr>
            <p:spPr>
              <a:xfrm>
                <a:off x="296393" y="3394557"/>
                <a:ext cx="739702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en-US" sz="2400" dirty="0">
                            <a:solidFill>
                              <a:prstClr val="black"/>
                            </a:solidFill>
                            <a:ea typeface="Cambria Math" panose="02040503050406030204" pitchFamily="18" charset="0"/>
                          </a:rPr>
                          <m:t>乙</m:t>
                        </m:r>
                        <m:r>
                          <a:rPr lang="zh-CN" altLang="en-US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第一次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solidFill>
                              <a:prstClr val="black"/>
                            </a:solidFill>
                            <a:ea typeface="Cambria Math" panose="02040503050406030204" pitchFamily="18" charset="0"/>
                          </a:rPr>
                          <m:t>投中</m:t>
                        </m:r>
                      </m:e>
                    </m:d>
                    <m:r>
                      <a:rPr lang="zh-CN" alt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en-US" sz="2400" dirty="0">
                            <a:solidFill>
                              <a:prstClr val="black"/>
                            </a:solidFill>
                            <a:ea typeface="Cambria Math" panose="02040503050406030204" pitchFamily="18" charset="0"/>
                          </a:rPr>
                          <m:t>甲</m:t>
                        </m:r>
                        <m:r>
                          <a:rPr lang="zh-CN" altLang="en-US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第</m:t>
                        </m:r>
                        <m:r>
                          <a:rPr lang="en-US" altLang="zh-CN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次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solidFill>
                              <a:prstClr val="black"/>
                            </a:solidFill>
                            <a:ea typeface="Cambria Math" panose="02040503050406030204" pitchFamily="18" charset="0"/>
                          </a:rPr>
                          <m:t>投中</m:t>
                        </m:r>
                      </m:e>
                    </m:d>
                    <m:r>
                      <a:rPr lang="zh-CN" alt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D67877B-F5F8-40F5-BA72-2E63B82B8D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93" y="3394557"/>
                <a:ext cx="7397025" cy="461665"/>
              </a:xfrm>
              <a:prstGeom prst="rect">
                <a:avLst/>
              </a:prstGeom>
              <a:blipFill>
                <a:blip r:embed="rId5"/>
                <a:stretch>
                  <a:fillRect l="-1319" t="-15789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0FA8E73-4E24-4240-8ED3-42913C2B81B1}"/>
                  </a:ext>
                </a:extLst>
              </p:cNvPr>
              <p:cNvSpPr/>
              <p:nvPr/>
            </p:nvSpPr>
            <p:spPr>
              <a:xfrm>
                <a:off x="358537" y="4006001"/>
                <a:ext cx="6203493" cy="462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0FA8E73-4E24-4240-8ED3-42913C2B81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37" y="4006001"/>
                <a:ext cx="6203493" cy="462434"/>
              </a:xfrm>
              <a:prstGeom prst="rect">
                <a:avLst/>
              </a:prstGeom>
              <a:blipFill>
                <a:blip r:embed="rId6"/>
                <a:stretch>
                  <a:fillRect r="-983"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734B522-A549-4D3E-B34D-F926C8469F38}"/>
                  </a:ext>
                </a:extLst>
              </p:cNvPr>
              <p:cNvSpPr/>
              <p:nvPr/>
            </p:nvSpPr>
            <p:spPr>
              <a:xfrm>
                <a:off x="6397608" y="4005617"/>
                <a:ext cx="389459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0.7∙0.5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0.3∙0.6</m:t>
                    </m:r>
                    <m:r>
                      <a:rPr lang="en-US" altLang="zh-CN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734B522-A549-4D3E-B34D-F926C8469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608" y="4005617"/>
                <a:ext cx="389459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C4C88F9-7EA7-4265-BDCF-B6E60FAB3B24}"/>
                  </a:ext>
                </a:extLst>
              </p:cNvPr>
              <p:cNvSpPr/>
              <p:nvPr/>
            </p:nvSpPr>
            <p:spPr>
              <a:xfrm>
                <a:off x="358537" y="4717721"/>
                <a:ext cx="62177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C4C88F9-7EA7-4265-BDCF-B6E60FAB3B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37" y="4717721"/>
                <a:ext cx="6217728" cy="461665"/>
              </a:xfrm>
              <a:prstGeom prst="rect">
                <a:avLst/>
              </a:prstGeom>
              <a:blipFill>
                <a:blip r:embed="rId8"/>
                <a:stretch>
                  <a:fillRect r="-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435A71D-7356-424C-82F4-2DC09A2F4A5F}"/>
                  </a:ext>
                </a:extLst>
              </p:cNvPr>
              <p:cNvSpPr/>
              <p:nvPr/>
            </p:nvSpPr>
            <p:spPr>
              <a:xfrm>
                <a:off x="6397608" y="4717721"/>
                <a:ext cx="44043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0.53∙0.4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0.47∙0.</m:t>
                    </m:r>
                    <m:r>
                      <a:rPr lang="en-US" altLang="zh-CN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7=0.541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435A71D-7356-424C-82F4-2DC09A2F4A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608" y="4717721"/>
                <a:ext cx="4404347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4773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67E244C-B18A-4F80-9D88-6B00F1FD0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85" y="386629"/>
            <a:ext cx="11231542" cy="148610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D5B225F-7786-4E33-8CA6-26EB7D4F13B5}"/>
              </a:ext>
            </a:extLst>
          </p:cNvPr>
          <p:cNvSpPr/>
          <p:nvPr/>
        </p:nvSpPr>
        <p:spPr>
          <a:xfrm>
            <a:off x="418085" y="2134018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解：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327B53C-1795-4E27-8057-C5E21482A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510" y="1959830"/>
            <a:ext cx="7038679" cy="84499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77CCEDA-2A67-4842-93DD-AF124A1E1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085" y="2914658"/>
            <a:ext cx="6603044" cy="86314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FA0BB86-8460-4A29-84A0-7A59054AFD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367" y="3857220"/>
            <a:ext cx="3625952" cy="48847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4C21906-23C1-4683-B39C-E509FB108A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5590" y="4471424"/>
            <a:ext cx="3476108" cy="53478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2EFF740-6505-4564-A737-FD877DC67F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698" y="4217519"/>
            <a:ext cx="5537054" cy="98938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6128B28-3298-430A-B176-7125FC0A6B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2273" y="5302809"/>
            <a:ext cx="4844870" cy="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5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3C53EF8-AFE5-4999-A5A1-1275253A8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18" y="368282"/>
            <a:ext cx="11202963" cy="267689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7D27D4F-BA87-4307-9BAF-4D83A2DF5639}"/>
              </a:ext>
            </a:extLst>
          </p:cNvPr>
          <p:cNvSpPr/>
          <p:nvPr/>
        </p:nvSpPr>
        <p:spPr>
          <a:xfrm>
            <a:off x="494518" y="3259141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6395F86-E897-4D98-BBDF-865F423E1D7D}"/>
                  </a:ext>
                </a:extLst>
              </p:cNvPr>
              <p:cNvSpPr/>
              <p:nvPr/>
            </p:nvSpPr>
            <p:spPr>
              <a:xfrm>
                <a:off x="999931" y="3239679"/>
                <a:ext cx="7462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6395F86-E897-4D98-BBDF-865F423E1D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931" y="3239679"/>
                <a:ext cx="74629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7BDB77D-9E2A-443C-AA72-0502E3824125}"/>
                  </a:ext>
                </a:extLst>
              </p:cNvPr>
              <p:cNvSpPr/>
              <p:nvPr/>
            </p:nvSpPr>
            <p:spPr>
              <a:xfrm>
                <a:off x="1548903" y="3210487"/>
                <a:ext cx="487082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CN" altLang="en-US" sz="240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sym typeface="Symbol" pitchFamily="18" charset="2"/>
                      </a:rPr>
                      <m:t></m:t>
                    </m:r>
                  </m:oMath>
                </a14:m>
                <a:r>
                  <a:rPr kumimoji="0" lang="zh-CN" altLang="en-US" sz="24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itchFamily="34" charset="0"/>
                    <a:sym typeface="Symbol" pitchFamily="18" charset="2"/>
                  </a:rPr>
                  <a:t>的置信水平为</a:t>
                </a:r>
                <a14:m>
                  <m:oMath xmlns:m="http://schemas.openxmlformats.org/officeDocument/2006/math">
                    <m:r>
                      <a:rPr kumimoji="0" lang="en-US" altLang="zh-CN" sz="240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1</m:t>
                    </m:r>
                    <m:r>
                      <a:rPr kumimoji="0" lang="en-US" altLang="zh-CN" sz="24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0" lang="en-US" altLang="zh-CN" sz="240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sym typeface="Symbol" pitchFamily="18" charset="2"/>
                      </a:rPr>
                      <m:t></m:t>
                    </m:r>
                  </m:oMath>
                </a14:m>
                <a:r>
                  <a:rPr kumimoji="0" lang="zh-CN" altLang="en-US" sz="24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itchFamily="34" charset="0"/>
                    <a:sym typeface="Symbol" pitchFamily="18" charset="2"/>
                  </a:rPr>
                  <a:t>的置信区间为 </a:t>
                </a:r>
                <a:endParaRPr kumimoji="0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7BDB77D-9E2A-443C-AA72-0502E3824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903" y="3210487"/>
                <a:ext cx="4870821" cy="461665"/>
              </a:xfrm>
              <a:prstGeom prst="rect">
                <a:avLst/>
              </a:prstGeom>
              <a:blipFill>
                <a:blip r:embed="rId4"/>
                <a:stretch>
                  <a:fillRect l="-250" t="-16000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925DBF3-57F1-4A24-AA7D-F5B8EBBB8343}"/>
                  </a:ext>
                </a:extLst>
              </p:cNvPr>
              <p:cNvSpPr/>
              <p:nvPr/>
            </p:nvSpPr>
            <p:spPr>
              <a:xfrm>
                <a:off x="6096000" y="2971887"/>
                <a:ext cx="5704153" cy="9142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en-US" altLang="zh-CN" sz="240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0" lang="zh-CN" altLang="en-US" sz="240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sym typeface="Symbol" pitchFamily="18" charset="2"/>
                                </a:rPr>
                                <m:t>𝑋</m:t>
                              </m:r>
                            </m:e>
                          </m:acc>
                          <m:r>
                            <a:rPr kumimoji="0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/>
                              <a:sym typeface="Symbol" pitchFamily="18" charset="2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altLang="zh-CN" sz="240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sym typeface="Symbol" pitchFamily="18" charset="2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kumimoji="0" lang="en-US" altLang="zh-CN" sz="240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Symbol" pitchFamily="18" charset="2"/>
                                    </a:rPr>
                                  </m:ctrlPr>
                                </m:fPr>
                                <m:num>
                                  <m:r>
                                    <a:rPr kumimoji="0" lang="zh-CN" altLang="en-US" sz="24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sym typeface="Symbol" pitchFamily="18" charset="2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kumimoji="0" lang="en-US" altLang="zh-CN" sz="24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sym typeface="Symbol" pitchFamily="18" charset="2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r>
                            <a:rPr kumimoji="0" lang="en-US" altLang="zh-CN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(</m:t>
                          </m:r>
                          <m:r>
                            <a:rPr kumimoji="0" lang="en-US" altLang="zh-CN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𝑛</m:t>
                          </m:r>
                          <m:r>
                            <a:rPr kumimoji="0" lang="en-US" altLang="zh-CN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−1)</m:t>
                          </m:r>
                          <m:f>
                            <m:fPr>
                              <m:ctrlPr>
                                <a:rPr lang="en-US" altLang="zh-CN" sz="2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sym typeface="Symbol" pitchFamily="18" charset="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sym typeface="Symbol" pitchFamily="18" charset="2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altLang="zh-CN" sz="24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itchFamily="18" charset="2"/>
                                    </a:rPr>
                                    <m:t>∗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4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sym typeface="Symbol" pitchFamily="18" charset="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 kern="0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  <a:sym typeface="Symbol" pitchFamily="18" charset="2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r>
                            <a:rPr kumimoji="0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kumimoji="0" lang="zh-CN" altLang="en-US" sz="240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sym typeface="Symbol" pitchFamily="18" charset="2"/>
                                </a:rPr>
                                <m:t>𝑋</m:t>
                              </m:r>
                            </m:e>
                          </m:acc>
                          <m:r>
                            <a:rPr kumimoji="0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/>
                              <a:sym typeface="Symbol" pitchFamily="18" charset="2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altLang="zh-CN" sz="240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sym typeface="Symbol" pitchFamily="18" charset="2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kumimoji="0" lang="en-US" altLang="zh-CN" sz="240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Symbol" pitchFamily="18" charset="2"/>
                                    </a:rPr>
                                  </m:ctrlPr>
                                </m:fPr>
                                <m:num>
                                  <m:r>
                                    <a:rPr kumimoji="0" lang="zh-CN" altLang="en-US" sz="24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sym typeface="Symbol" pitchFamily="18" charset="2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kumimoji="0" lang="en-US" altLang="zh-CN" sz="24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sym typeface="Symbol" pitchFamily="18" charset="2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r>
                            <a:rPr kumimoji="0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(</m:t>
                          </m:r>
                          <m:r>
                            <a:rPr kumimoji="0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𝑛</m:t>
                          </m:r>
                          <m:r>
                            <a:rPr kumimoji="0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−1)</m:t>
                          </m:r>
                          <m:f>
                            <m:fPr>
                              <m:ctrlPr>
                                <a:rPr lang="en-US" altLang="zh-CN" sz="2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sym typeface="Symbol" pitchFamily="18" charset="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sym typeface="Symbol" pitchFamily="18" charset="2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altLang="zh-CN" sz="24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itchFamily="18" charset="2"/>
                                    </a:rPr>
                                    <m:t>∗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4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sym typeface="Symbol" pitchFamily="18" charset="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 kern="0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  <a:sym typeface="Symbol" pitchFamily="18" charset="2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kumimoji="0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925DBF3-57F1-4A24-AA7D-F5B8EBBB83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971887"/>
                <a:ext cx="5704153" cy="9142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1D66A129-44CA-4014-BF1B-B740F34786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518" y="3855019"/>
            <a:ext cx="7433241" cy="5418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DF4A84-7B88-492B-A7D9-174BF696ADD6}"/>
                  </a:ext>
                </a:extLst>
              </p:cNvPr>
              <p:cNvSpPr/>
              <p:nvPr/>
            </p:nvSpPr>
            <p:spPr>
              <a:xfrm>
                <a:off x="494518" y="4393130"/>
                <a:ext cx="456567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kern="0" dirty="0">
                    <a:solidFill>
                      <a:srgbClr val="000000"/>
                    </a:solidFill>
                    <a:latin typeface="Arial" pitchFamily="34" charset="0"/>
                    <a:sym typeface="Symbol" pitchFamily="18" charset="2"/>
                  </a:rPr>
                  <a:t>故所求区间为</a:t>
                </a:r>
                <a14:m>
                  <m:oMath xmlns:m="http://schemas.openxmlformats.org/officeDocument/2006/math">
                    <m:r>
                      <a:rPr lang="en-US" altLang="zh-CN" sz="24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[9.7869</m:t>
                    </m:r>
                    <m:r>
                      <a:rPr lang="zh-CN" altLang="en-US" sz="24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，</m:t>
                    </m:r>
                    <m:r>
                      <a:rPr lang="en-US" altLang="zh-CN" sz="24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10.2132]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DF4A84-7B88-492B-A7D9-174BF696AD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18" y="4393130"/>
                <a:ext cx="4565673" cy="461665"/>
              </a:xfrm>
              <a:prstGeom prst="rect">
                <a:avLst/>
              </a:prstGeom>
              <a:blipFill>
                <a:blip r:embed="rId7"/>
                <a:stretch>
                  <a:fillRect l="-2003" t="-16000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E5A1AEF-6B98-4FA1-AC71-6C1274809FE4}"/>
                  </a:ext>
                </a:extLst>
              </p:cNvPr>
              <p:cNvSpPr/>
              <p:nvPr/>
            </p:nvSpPr>
            <p:spPr>
              <a:xfrm>
                <a:off x="494518" y="5036353"/>
                <a:ext cx="7462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E5A1AEF-6B98-4FA1-AC71-6C1274809F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18" y="5036353"/>
                <a:ext cx="74629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849AA869-BF7A-4CF0-B260-B157FC72C0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1948" y="5046561"/>
            <a:ext cx="1790950" cy="4477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5CFBF62-2206-4B32-BDB3-FBCF7493C9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79576" y="4854795"/>
            <a:ext cx="3314691" cy="82478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9F634A1-407C-4FD5-8920-6AE23AF0B6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7428" y="4989245"/>
            <a:ext cx="4820681" cy="47801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90CD73F-D021-41E2-ABC2-CB212FB5B3D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576" y="5705692"/>
            <a:ext cx="2548753" cy="7044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97F54EF-5E97-4734-9AB5-61AF0A73C133}"/>
                  </a:ext>
                </a:extLst>
              </p:cNvPr>
              <p:cNvSpPr/>
              <p:nvPr/>
            </p:nvSpPr>
            <p:spPr>
              <a:xfrm>
                <a:off x="3169329" y="5827093"/>
                <a:ext cx="337560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itchFamily="18" charset="2"/>
                        </a:rPr>
                        <m:t>∵</m:t>
                      </m:r>
                      <m:r>
                        <a:rPr lang="en-US" altLang="zh-CN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itchFamily="18" charset="2"/>
                        </a:rPr>
                        <m:t>6.262&lt;24&lt;27.488</m:t>
                      </m:r>
                      <m:r>
                        <a:rPr lang="en-US" altLang="zh-CN" sz="2400" b="0" i="0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itchFamily="18" charset="2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97F54EF-5E97-4734-9AB5-61AF0A73C1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329" y="5827093"/>
                <a:ext cx="3375604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246A4429-5390-4F90-B128-464804E4FE2B}"/>
                  </a:ext>
                </a:extLst>
              </p:cNvPr>
              <p:cNvSpPr/>
              <p:nvPr/>
            </p:nvSpPr>
            <p:spPr>
              <a:xfrm>
                <a:off x="6544933" y="5827092"/>
                <a:ext cx="147995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itchFamily="18" charset="2"/>
                        </a:rPr>
                        <m:t>∴</m:t>
                      </m:r>
                      <m:r>
                        <a:rPr lang="zh-CN" altLang="en-US" sz="2400" i="1" ker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itchFamily="18" charset="2"/>
                        </a:rPr>
                        <m:t>接受</m:t>
                      </m:r>
                      <m:sSub>
                        <m:sSubPr>
                          <m:ctrlPr>
                            <a:rPr lang="en-US" altLang="zh-CN" sz="240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zh-CN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itchFamily="18" charset="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itchFamily="18" charset="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246A4429-5390-4F90-B128-464804E4F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933" y="5827092"/>
                <a:ext cx="1479956" cy="461665"/>
              </a:xfrm>
              <a:prstGeom prst="rect">
                <a:avLst/>
              </a:prstGeom>
              <a:blipFill>
                <a:blip r:embed="rId1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943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4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2208B5D-5E2C-44AB-BE7E-728548CB7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30" y="343480"/>
            <a:ext cx="11603069" cy="1838582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D2ECBF6C-64DE-4CBB-A216-B9A9A3B1F7F4}"/>
              </a:ext>
            </a:extLst>
          </p:cNvPr>
          <p:cNvSpPr/>
          <p:nvPr/>
        </p:nvSpPr>
        <p:spPr>
          <a:xfrm>
            <a:off x="438222" y="2301515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8CD1837E-BBA3-486C-B112-DDB9DFE0A7C9}"/>
                  </a:ext>
                </a:extLst>
              </p:cNvPr>
              <p:cNvSpPr/>
              <p:nvPr/>
            </p:nvSpPr>
            <p:spPr>
              <a:xfrm>
                <a:off x="949717" y="2301514"/>
                <a:ext cx="7462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8CD1837E-BBA3-486C-B112-DDB9DFE0A7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717" y="2301514"/>
                <a:ext cx="74629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图片 34">
            <a:extLst>
              <a:ext uri="{FF2B5EF4-FFF2-40B4-BE49-F238E27FC236}">
                <a16:creationId xmlns:a16="http://schemas.microsoft.com/office/drawing/2014/main" id="{8606FA7A-3B59-4738-9489-D69FD1E71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5870" y="2344679"/>
            <a:ext cx="6382641" cy="438211"/>
          </a:xfrm>
          <a:prstGeom prst="rect">
            <a:avLst/>
          </a:prstGeom>
        </p:spPr>
      </p:pic>
      <p:grpSp>
        <p:nvGrpSpPr>
          <p:cNvPr id="36" name="组合 35">
            <a:extLst>
              <a:ext uri="{FF2B5EF4-FFF2-40B4-BE49-F238E27FC236}">
                <a16:creationId xmlns:a16="http://schemas.microsoft.com/office/drawing/2014/main" id="{710A860F-6772-4A6F-A656-E354BEC0AD85}"/>
              </a:ext>
            </a:extLst>
          </p:cNvPr>
          <p:cNvGrpSpPr/>
          <p:nvPr/>
        </p:nvGrpSpPr>
        <p:grpSpPr>
          <a:xfrm>
            <a:off x="9448869" y="1519247"/>
            <a:ext cx="2581830" cy="753424"/>
            <a:chOff x="6565279" y="1218576"/>
            <a:chExt cx="2581830" cy="753424"/>
          </a:xfrm>
        </p:grpSpPr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AFBE69CD-EBE4-489A-AE7B-913A4CC61BAB}"/>
                </a:ext>
              </a:extLst>
            </p:cNvPr>
            <p:cNvCxnSpPr>
              <a:cxnSpLocks/>
            </p:cNvCxnSpPr>
            <p:nvPr/>
          </p:nvCxnSpPr>
          <p:spPr>
            <a:xfrm>
              <a:off x="6565316" y="1484784"/>
              <a:ext cx="2399173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FA62101-DED6-4BDC-A2F8-2610456775CD}"/>
                    </a:ext>
                  </a:extLst>
                </p:cNvPr>
                <p:cNvSpPr/>
                <p:nvPr/>
              </p:nvSpPr>
              <p:spPr>
                <a:xfrm>
                  <a:off x="7994981" y="1448780"/>
                  <a:ext cx="498855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2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FA62101-DED6-4BDC-A2F8-2610456775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4981" y="1448780"/>
                  <a:ext cx="498855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6B779FEA-10E7-46B1-BC3C-5E1B261AFEC7}"/>
                    </a:ext>
                  </a:extLst>
                </p:cNvPr>
                <p:cNvSpPr/>
                <p:nvPr/>
              </p:nvSpPr>
              <p:spPr>
                <a:xfrm>
                  <a:off x="7130885" y="1448780"/>
                  <a:ext cx="498855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2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6B779FEA-10E7-46B1-BC3C-5E1B261AFE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0885" y="1448780"/>
                  <a:ext cx="498855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2A7C0B7D-9B24-475E-8F65-5DC3DBF91A23}"/>
                </a:ext>
              </a:extLst>
            </p:cNvPr>
            <p:cNvGrpSpPr/>
            <p:nvPr/>
          </p:nvGrpSpPr>
          <p:grpSpPr>
            <a:xfrm>
              <a:off x="6565279" y="1313765"/>
              <a:ext cx="881784" cy="234026"/>
              <a:chOff x="6565314" y="1316679"/>
              <a:chExt cx="881784" cy="234026"/>
            </a:xfrm>
          </p:grpSpPr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423722F9-E61F-4C97-A733-2087288B0622}"/>
                  </a:ext>
                </a:extLst>
              </p:cNvPr>
              <p:cNvSpPr/>
              <p:nvPr/>
            </p:nvSpPr>
            <p:spPr>
              <a:xfrm>
                <a:off x="7303081" y="1406689"/>
                <a:ext cx="144017" cy="144016"/>
              </a:xfrm>
              <a:prstGeom prst="ellipse">
                <a:avLst/>
              </a:prstGeom>
              <a:solidFill>
                <a:srgbClr val="BBE0E3">
                  <a:alpha val="0"/>
                </a:srgbClr>
              </a:solidFill>
              <a:ln w="25400" cap="flat" cmpd="sng" algn="ctr">
                <a:solidFill>
                  <a:srgbClr val="BBE0E3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cxnSp>
            <p:nvCxnSpPr>
              <p:cNvPr id="64" name="肘形连接符 20">
                <a:extLst>
                  <a:ext uri="{FF2B5EF4-FFF2-40B4-BE49-F238E27FC236}">
                    <a16:creationId xmlns:a16="http://schemas.microsoft.com/office/drawing/2014/main" id="{01C845FD-0DF6-462E-90BD-74118311FC8A}"/>
                  </a:ext>
                </a:extLst>
              </p:cNvPr>
              <p:cNvCxnSpPr/>
              <p:nvPr/>
            </p:nvCxnSpPr>
            <p:spPr>
              <a:xfrm rot="16200000" flipV="1">
                <a:off x="6927808" y="954185"/>
                <a:ext cx="90010" cy="814997"/>
              </a:xfrm>
              <a:prstGeom prst="bentConnector2">
                <a:avLst/>
              </a:prstGeom>
              <a:noFill/>
              <a:ln w="15875" cap="flat" cmpd="sng" algn="ctr">
                <a:solidFill>
                  <a:srgbClr val="7030A0"/>
                </a:solidFill>
                <a:prstDash val="solid"/>
              </a:ln>
              <a:effectLst/>
            </p:spPr>
          </p:cxn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7B95D795-56A6-4118-AFA0-BE23CCBD3AAF}"/>
                </a:ext>
              </a:extLst>
            </p:cNvPr>
            <p:cNvGrpSpPr/>
            <p:nvPr/>
          </p:nvGrpSpPr>
          <p:grpSpPr>
            <a:xfrm>
              <a:off x="8176087" y="1272490"/>
              <a:ext cx="788403" cy="275301"/>
              <a:chOff x="8176086" y="1272490"/>
              <a:chExt cx="788403" cy="275301"/>
            </a:xfrm>
          </p:grpSpPr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C24DEA51-FB48-4254-A815-21589317A58B}"/>
                  </a:ext>
                </a:extLst>
              </p:cNvPr>
              <p:cNvSpPr/>
              <p:nvPr/>
            </p:nvSpPr>
            <p:spPr>
              <a:xfrm>
                <a:off x="8176086" y="1403775"/>
                <a:ext cx="144017" cy="144016"/>
              </a:xfrm>
              <a:prstGeom prst="ellipse">
                <a:avLst/>
              </a:prstGeom>
              <a:solidFill>
                <a:srgbClr val="BBE0E3">
                  <a:alpha val="0"/>
                </a:srgbClr>
              </a:solidFill>
              <a:ln w="25400" cap="flat" cmpd="sng" algn="ctr">
                <a:solidFill>
                  <a:srgbClr val="BBE0E3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cxnSp>
            <p:nvCxnSpPr>
              <p:cNvPr id="62" name="肘形连接符 24">
                <a:extLst>
                  <a:ext uri="{FF2B5EF4-FFF2-40B4-BE49-F238E27FC236}">
                    <a16:creationId xmlns:a16="http://schemas.microsoft.com/office/drawing/2014/main" id="{45DCF41B-4D0B-4251-BE6B-92C9CC026A88}"/>
                  </a:ext>
                </a:extLst>
              </p:cNvPr>
              <p:cNvCxnSpPr/>
              <p:nvPr/>
            </p:nvCxnSpPr>
            <p:spPr>
              <a:xfrm rot="5400000" flipH="1" flipV="1">
                <a:off x="8544499" y="976088"/>
                <a:ext cx="123587" cy="716392"/>
              </a:xfrm>
              <a:prstGeom prst="bentConnector2">
                <a:avLst/>
              </a:prstGeom>
              <a:noFill/>
              <a:ln w="22225" cap="flat" cmpd="sng" algn="ctr">
                <a:solidFill>
                  <a:srgbClr val="FFC000"/>
                </a:solidFill>
                <a:prstDash val="solid"/>
              </a:ln>
              <a:effectLst/>
            </p:spPr>
          </p:cxnSp>
        </p:grpSp>
        <p:sp>
          <p:nvSpPr>
            <p:cNvPr id="42" name="右大括号 41">
              <a:extLst>
                <a:ext uri="{FF2B5EF4-FFF2-40B4-BE49-F238E27FC236}">
                  <a16:creationId xmlns:a16="http://schemas.microsoft.com/office/drawing/2014/main" id="{319F1544-2E22-4F20-8D4B-62D5B05C4612}"/>
                </a:ext>
              </a:extLst>
            </p:cNvPr>
            <p:cNvSpPr/>
            <p:nvPr/>
          </p:nvSpPr>
          <p:spPr>
            <a:xfrm rot="16200000">
              <a:off x="7744429" y="849202"/>
              <a:ext cx="130607" cy="869356"/>
            </a:xfrm>
            <a:prstGeom prst="rightBrace">
              <a:avLst/>
            </a:prstGeom>
            <a:noFill/>
            <a:ln w="22225" cap="flat" cmpd="sng" algn="ctr">
              <a:solidFill>
                <a:srgbClr val="00B05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DA5E7665-2B98-416B-B4B9-96BCE9D394E6}"/>
                    </a:ext>
                  </a:extLst>
                </p:cNvPr>
                <p:cNvSpPr/>
                <p:nvPr/>
              </p:nvSpPr>
              <p:spPr>
                <a:xfrm>
                  <a:off x="8656270" y="1412776"/>
                  <a:ext cx="49083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2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DA5E7665-2B98-416B-B4B9-96BCE9D394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6270" y="1412776"/>
                  <a:ext cx="490839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96F1A89D-33A1-41DD-BF80-A23A95B71778}"/>
                </a:ext>
              </a:extLst>
            </p:cNvPr>
            <p:cNvGrpSpPr/>
            <p:nvPr/>
          </p:nvGrpSpPr>
          <p:grpSpPr>
            <a:xfrm>
              <a:off x="6565279" y="1283880"/>
              <a:ext cx="671018" cy="164900"/>
              <a:chOff x="6565278" y="1283880"/>
              <a:chExt cx="671018" cy="164900"/>
            </a:xfrm>
          </p:grpSpPr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B532C3CC-6BAD-4967-92BA-E0E2B4047BF8}"/>
                  </a:ext>
                </a:extLst>
              </p:cNvPr>
              <p:cNvCxnSpPr/>
              <p:nvPr/>
            </p:nvCxnSpPr>
            <p:spPr>
              <a:xfrm flipH="1">
                <a:off x="6565278" y="1313764"/>
                <a:ext cx="124986" cy="135016"/>
              </a:xfrm>
              <a:prstGeom prst="line">
                <a:avLst/>
              </a:prstGeom>
              <a:noFill/>
              <a:ln w="15875" cap="flat" cmpd="sng" algn="ctr">
                <a:solidFill>
                  <a:srgbClr val="FFC000"/>
                </a:solidFill>
                <a:prstDash val="solid"/>
              </a:ln>
              <a:effectLst/>
            </p:spPr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9FF7CAE2-7A29-42C8-A93E-D9603A8A653B}"/>
                  </a:ext>
                </a:extLst>
              </p:cNvPr>
              <p:cNvCxnSpPr/>
              <p:nvPr/>
            </p:nvCxnSpPr>
            <p:spPr>
              <a:xfrm flipH="1">
                <a:off x="6726563" y="1349184"/>
                <a:ext cx="84614" cy="87471"/>
              </a:xfrm>
              <a:prstGeom prst="line">
                <a:avLst/>
              </a:prstGeom>
              <a:noFill/>
              <a:ln w="15875" cap="flat" cmpd="sng" algn="ctr">
                <a:solidFill>
                  <a:srgbClr val="FFC000"/>
                </a:solidFill>
                <a:prstDash val="solid"/>
              </a:ln>
              <a:effectLst/>
            </p:spPr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334BF3B7-0297-4B73-BFE0-3AE485C7E747}"/>
                  </a:ext>
                </a:extLst>
              </p:cNvPr>
              <p:cNvCxnSpPr/>
              <p:nvPr/>
            </p:nvCxnSpPr>
            <p:spPr>
              <a:xfrm flipH="1">
                <a:off x="6918344" y="1333410"/>
                <a:ext cx="80642" cy="89637"/>
              </a:xfrm>
              <a:prstGeom prst="line">
                <a:avLst/>
              </a:prstGeom>
              <a:noFill/>
              <a:ln w="15875" cap="flat" cmpd="sng" algn="ctr">
                <a:solidFill>
                  <a:srgbClr val="FFC000"/>
                </a:solidFill>
                <a:prstDash val="solid"/>
              </a:ln>
              <a:effectLst/>
            </p:spPr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30F035C7-B30C-4001-BD3C-5828CD291042}"/>
                  </a:ext>
                </a:extLst>
              </p:cNvPr>
              <p:cNvCxnSpPr/>
              <p:nvPr/>
            </p:nvCxnSpPr>
            <p:spPr>
              <a:xfrm flipV="1">
                <a:off x="7130884" y="1283880"/>
                <a:ext cx="105412" cy="152775"/>
              </a:xfrm>
              <a:prstGeom prst="line">
                <a:avLst/>
              </a:prstGeom>
              <a:noFill/>
              <a:ln w="15875" cap="flat" cmpd="sng" algn="ctr">
                <a:solidFill>
                  <a:srgbClr val="FFC000"/>
                </a:solidFill>
                <a:prstDash val="solid"/>
              </a:ln>
              <a:effectLst/>
            </p:spPr>
          </p:cxn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908EFE2D-2B2A-4CE3-8135-C2A63D5ADC58}"/>
                </a:ext>
              </a:extLst>
            </p:cNvPr>
            <p:cNvGrpSpPr/>
            <p:nvPr/>
          </p:nvGrpSpPr>
          <p:grpSpPr>
            <a:xfrm>
              <a:off x="7375055" y="1302687"/>
              <a:ext cx="878691" cy="182096"/>
              <a:chOff x="7375054" y="1302687"/>
              <a:chExt cx="878691" cy="182096"/>
            </a:xfrm>
          </p:grpSpPr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B605E36E-F620-45CD-9A0A-D571161B8D81}"/>
                  </a:ext>
                </a:extLst>
              </p:cNvPr>
              <p:cNvCxnSpPr/>
              <p:nvPr/>
            </p:nvCxnSpPr>
            <p:spPr>
              <a:xfrm>
                <a:off x="7676916" y="1303887"/>
                <a:ext cx="172161" cy="180896"/>
              </a:xfrm>
              <a:prstGeom prst="line">
                <a:avLst/>
              </a:prstGeom>
              <a:noFill/>
              <a:ln w="9525" cap="flat" cmpd="sng" algn="ctr">
                <a:solidFill>
                  <a:srgbClr val="0033CC"/>
                </a:solidFill>
                <a:prstDash val="solid"/>
              </a:ln>
              <a:effectLst/>
            </p:spPr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549B7914-B91C-430B-8A93-DD0D5D5F0464}"/>
                  </a:ext>
                </a:extLst>
              </p:cNvPr>
              <p:cNvCxnSpPr/>
              <p:nvPr/>
            </p:nvCxnSpPr>
            <p:spPr>
              <a:xfrm>
                <a:off x="7893937" y="1321945"/>
                <a:ext cx="114852" cy="148079"/>
              </a:xfrm>
              <a:prstGeom prst="line">
                <a:avLst/>
              </a:prstGeom>
              <a:noFill/>
              <a:ln w="9525" cap="flat" cmpd="sng" algn="ctr">
                <a:solidFill>
                  <a:srgbClr val="0033CC"/>
                </a:solidFill>
                <a:prstDash val="solid"/>
              </a:ln>
              <a:effectLst/>
            </p:spPr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2E88E316-13C8-400B-A731-217B924C0403}"/>
                  </a:ext>
                </a:extLst>
              </p:cNvPr>
              <p:cNvCxnSpPr/>
              <p:nvPr/>
            </p:nvCxnSpPr>
            <p:spPr>
              <a:xfrm>
                <a:off x="8018124" y="1302687"/>
                <a:ext cx="132816" cy="151081"/>
              </a:xfrm>
              <a:prstGeom prst="line">
                <a:avLst/>
              </a:prstGeom>
              <a:noFill/>
              <a:ln w="9525" cap="flat" cmpd="sng" algn="ctr">
                <a:solidFill>
                  <a:srgbClr val="0033CC"/>
                </a:solidFill>
                <a:prstDash val="solid"/>
              </a:ln>
              <a:effectLst/>
            </p:spPr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AB8CA741-D443-491A-AEBA-9A0C5800B842}"/>
                  </a:ext>
                </a:extLst>
              </p:cNvPr>
              <p:cNvCxnSpPr>
                <a:stCxn id="42" idx="0"/>
              </p:cNvCxnSpPr>
              <p:nvPr/>
            </p:nvCxnSpPr>
            <p:spPr>
              <a:xfrm>
                <a:off x="7375054" y="1349184"/>
                <a:ext cx="149274" cy="99596"/>
              </a:xfrm>
              <a:prstGeom prst="line">
                <a:avLst/>
              </a:prstGeom>
              <a:noFill/>
              <a:ln w="9525" cap="flat" cmpd="sng" algn="ctr">
                <a:solidFill>
                  <a:srgbClr val="0033CC"/>
                </a:solidFill>
                <a:prstDash val="solid"/>
              </a:ln>
              <a:effectLst/>
            </p:spPr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D6136304-C065-4DD4-96B0-A3B3B9FE045F}"/>
                  </a:ext>
                </a:extLst>
              </p:cNvPr>
              <p:cNvCxnSpPr/>
              <p:nvPr/>
            </p:nvCxnSpPr>
            <p:spPr>
              <a:xfrm>
                <a:off x="7540508" y="1302687"/>
                <a:ext cx="125209" cy="162825"/>
              </a:xfrm>
              <a:prstGeom prst="line">
                <a:avLst/>
              </a:prstGeom>
              <a:noFill/>
              <a:ln w="9525" cap="flat" cmpd="sng" algn="ctr">
                <a:solidFill>
                  <a:srgbClr val="0033CC"/>
                </a:solidFill>
                <a:prstDash val="solid"/>
              </a:ln>
              <a:effectLst/>
            </p:spPr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32991662-B5E8-42B9-86A2-A6702898E2CD}"/>
                  </a:ext>
                </a:extLst>
              </p:cNvPr>
              <p:cNvCxnSpPr/>
              <p:nvPr/>
            </p:nvCxnSpPr>
            <p:spPr>
              <a:xfrm>
                <a:off x="8162191" y="1306308"/>
                <a:ext cx="91554" cy="72008"/>
              </a:xfrm>
              <a:prstGeom prst="line">
                <a:avLst/>
              </a:prstGeom>
              <a:noFill/>
              <a:ln w="9525" cap="flat" cmpd="sng" algn="ctr">
                <a:solidFill>
                  <a:srgbClr val="0033CC"/>
                </a:solidFill>
                <a:prstDash val="solid"/>
              </a:ln>
              <a:effectLst/>
            </p:spPr>
          </p:cxn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440E9813-D501-4631-B3CE-CF7357569440}"/>
                </a:ext>
              </a:extLst>
            </p:cNvPr>
            <p:cNvGrpSpPr/>
            <p:nvPr/>
          </p:nvGrpSpPr>
          <p:grpSpPr>
            <a:xfrm>
              <a:off x="8374031" y="1302687"/>
              <a:ext cx="543245" cy="182096"/>
              <a:chOff x="8374030" y="1302687"/>
              <a:chExt cx="543245" cy="182096"/>
            </a:xfrm>
          </p:grpSpPr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84848871-E6AC-43C8-9DFF-7202FA551392}"/>
                  </a:ext>
                </a:extLst>
              </p:cNvPr>
              <p:cNvCxnSpPr/>
              <p:nvPr/>
            </p:nvCxnSpPr>
            <p:spPr>
              <a:xfrm flipH="1">
                <a:off x="8374030" y="1313764"/>
                <a:ext cx="95356" cy="151748"/>
              </a:xfrm>
              <a:prstGeom prst="line">
                <a:avLst/>
              </a:prstGeom>
              <a:noFill/>
              <a:ln w="2222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50A86450-8D88-481D-853C-246F48F17162}"/>
                  </a:ext>
                </a:extLst>
              </p:cNvPr>
              <p:cNvCxnSpPr/>
              <p:nvPr/>
            </p:nvCxnSpPr>
            <p:spPr>
              <a:xfrm flipH="1">
                <a:off x="8552104" y="1313764"/>
                <a:ext cx="110778" cy="163323"/>
              </a:xfrm>
              <a:prstGeom prst="line">
                <a:avLst/>
              </a:prstGeom>
              <a:noFill/>
              <a:ln w="2222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5BEBCB36-4C2A-41FC-9FEE-7D41FDE0965B}"/>
                  </a:ext>
                </a:extLst>
              </p:cNvPr>
              <p:cNvCxnSpPr/>
              <p:nvPr/>
            </p:nvCxnSpPr>
            <p:spPr>
              <a:xfrm flipH="1">
                <a:off x="8674941" y="1302687"/>
                <a:ext cx="118877" cy="174400"/>
              </a:xfrm>
              <a:prstGeom prst="line">
                <a:avLst/>
              </a:prstGeom>
              <a:noFill/>
              <a:ln w="2222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43C6BA56-D514-4E69-80A3-75D4F201B623}"/>
                  </a:ext>
                </a:extLst>
              </p:cNvPr>
              <p:cNvCxnSpPr/>
              <p:nvPr/>
            </p:nvCxnSpPr>
            <p:spPr>
              <a:xfrm flipH="1">
                <a:off x="8767047" y="1302687"/>
                <a:ext cx="150228" cy="182096"/>
              </a:xfrm>
              <a:prstGeom prst="line">
                <a:avLst/>
              </a:prstGeom>
              <a:noFill/>
              <a:ln w="2222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</p:grpSp>
      </p:grpSp>
      <p:pic>
        <p:nvPicPr>
          <p:cNvPr id="65" name="图片 64">
            <a:extLst>
              <a:ext uri="{FF2B5EF4-FFF2-40B4-BE49-F238E27FC236}">
                <a16:creationId xmlns:a16="http://schemas.microsoft.com/office/drawing/2014/main" id="{00578859-7A54-4EC3-BF04-5CDE00DC6C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4657" y="2344022"/>
            <a:ext cx="2562583" cy="419158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50BEE8D5-296F-48B2-BAED-98D6FDE8CE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915" y="2922808"/>
            <a:ext cx="3267531" cy="457264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61FFA3A7-7100-43E8-A006-1DA02F0B5A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25278" y="2954272"/>
            <a:ext cx="2438740" cy="400106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16EC3CE2-2E68-43AD-BC0A-07FDD90F879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915" y="3540086"/>
            <a:ext cx="9640645" cy="409632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FCF2FAA2-11C6-4327-8267-B568910E2D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9916" y="4093073"/>
            <a:ext cx="7011378" cy="685896"/>
          </a:xfrm>
          <a:prstGeom prst="rect">
            <a:avLst/>
          </a:prstGeom>
        </p:spPr>
      </p:pic>
      <p:pic>
        <p:nvPicPr>
          <p:cNvPr id="71" name="图片 70">
            <a:extLst>
              <a:ext uri="{FF2B5EF4-FFF2-40B4-BE49-F238E27FC236}">
                <a16:creationId xmlns:a16="http://schemas.microsoft.com/office/drawing/2014/main" id="{2CD78546-D8C1-4304-A155-1205DB531C5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1294" y="4106755"/>
            <a:ext cx="2000529" cy="600159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857591D0-071F-4053-A3E2-D092F94245B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8222" y="4706914"/>
            <a:ext cx="5069703" cy="17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6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2208B5D-5E2C-44AB-BE7E-728548CB7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30" y="384072"/>
            <a:ext cx="11603069" cy="1838582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D2ECBF6C-64DE-4CBB-A216-B9A9A3B1F7F4}"/>
              </a:ext>
            </a:extLst>
          </p:cNvPr>
          <p:cNvSpPr/>
          <p:nvPr/>
        </p:nvSpPr>
        <p:spPr>
          <a:xfrm>
            <a:off x="345801" y="2463089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解：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10A860F-6772-4A6F-A656-E354BEC0AD85}"/>
              </a:ext>
            </a:extLst>
          </p:cNvPr>
          <p:cNvGrpSpPr/>
          <p:nvPr/>
        </p:nvGrpSpPr>
        <p:grpSpPr>
          <a:xfrm>
            <a:off x="9342337" y="1861715"/>
            <a:ext cx="2581830" cy="753424"/>
            <a:chOff x="6565279" y="1218576"/>
            <a:chExt cx="2581830" cy="753424"/>
          </a:xfrm>
        </p:grpSpPr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AFBE69CD-EBE4-489A-AE7B-913A4CC61BAB}"/>
                </a:ext>
              </a:extLst>
            </p:cNvPr>
            <p:cNvCxnSpPr>
              <a:cxnSpLocks/>
            </p:cNvCxnSpPr>
            <p:nvPr/>
          </p:nvCxnSpPr>
          <p:spPr>
            <a:xfrm>
              <a:off x="6565316" y="1484784"/>
              <a:ext cx="2399173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70C0"/>
              </a:solidFill>
              <a:prstDash val="soli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FA62101-DED6-4BDC-A2F8-2610456775CD}"/>
                    </a:ext>
                  </a:extLst>
                </p:cNvPr>
                <p:cNvSpPr/>
                <p:nvPr/>
              </p:nvSpPr>
              <p:spPr>
                <a:xfrm>
                  <a:off x="7994981" y="1448780"/>
                  <a:ext cx="498855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2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𝟐</m:t>
                        </m:r>
                      </m:oMath>
                    </m:oMathPara>
                  </a14:m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FA62101-DED6-4BDC-A2F8-2610456775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4981" y="1448780"/>
                  <a:ext cx="498855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6B779FEA-10E7-46B1-BC3C-5E1B261AFEC7}"/>
                    </a:ext>
                  </a:extLst>
                </p:cNvPr>
                <p:cNvSpPr/>
                <p:nvPr/>
              </p:nvSpPr>
              <p:spPr>
                <a:xfrm>
                  <a:off x="7130885" y="1448780"/>
                  <a:ext cx="498855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2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oMath>
                    </m:oMathPara>
                  </a14:m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6B779FEA-10E7-46B1-BC3C-5E1B261AFE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0885" y="1448780"/>
                  <a:ext cx="498855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2A7C0B7D-9B24-475E-8F65-5DC3DBF91A23}"/>
                </a:ext>
              </a:extLst>
            </p:cNvPr>
            <p:cNvGrpSpPr/>
            <p:nvPr/>
          </p:nvGrpSpPr>
          <p:grpSpPr>
            <a:xfrm>
              <a:off x="6565279" y="1313765"/>
              <a:ext cx="881784" cy="234026"/>
              <a:chOff x="6565314" y="1316679"/>
              <a:chExt cx="881784" cy="234026"/>
            </a:xfrm>
          </p:grpSpPr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423722F9-E61F-4C97-A733-2087288B0622}"/>
                  </a:ext>
                </a:extLst>
              </p:cNvPr>
              <p:cNvSpPr/>
              <p:nvPr/>
            </p:nvSpPr>
            <p:spPr>
              <a:xfrm>
                <a:off x="7303081" y="1406689"/>
                <a:ext cx="144017" cy="144016"/>
              </a:xfrm>
              <a:prstGeom prst="ellipse">
                <a:avLst/>
              </a:prstGeom>
              <a:solidFill>
                <a:srgbClr val="BBE0E3">
                  <a:alpha val="0"/>
                </a:srgbClr>
              </a:solidFill>
              <a:ln w="25400" cap="flat" cmpd="sng" algn="ctr">
                <a:solidFill>
                  <a:srgbClr val="BBE0E3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cxnSp>
            <p:nvCxnSpPr>
              <p:cNvPr id="64" name="肘形连接符 20">
                <a:extLst>
                  <a:ext uri="{FF2B5EF4-FFF2-40B4-BE49-F238E27FC236}">
                    <a16:creationId xmlns:a16="http://schemas.microsoft.com/office/drawing/2014/main" id="{01C845FD-0DF6-462E-90BD-74118311FC8A}"/>
                  </a:ext>
                </a:extLst>
              </p:cNvPr>
              <p:cNvCxnSpPr/>
              <p:nvPr/>
            </p:nvCxnSpPr>
            <p:spPr>
              <a:xfrm rot="16200000" flipV="1">
                <a:off x="6927808" y="954185"/>
                <a:ext cx="90010" cy="814997"/>
              </a:xfrm>
              <a:prstGeom prst="bentConnector2">
                <a:avLst/>
              </a:prstGeom>
              <a:noFill/>
              <a:ln w="15875" cap="flat" cmpd="sng" algn="ctr">
                <a:solidFill>
                  <a:srgbClr val="7030A0"/>
                </a:solidFill>
                <a:prstDash val="solid"/>
              </a:ln>
              <a:effectLst/>
            </p:spPr>
          </p:cxn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7B95D795-56A6-4118-AFA0-BE23CCBD3AAF}"/>
                </a:ext>
              </a:extLst>
            </p:cNvPr>
            <p:cNvGrpSpPr/>
            <p:nvPr/>
          </p:nvGrpSpPr>
          <p:grpSpPr>
            <a:xfrm>
              <a:off x="8176087" y="1272490"/>
              <a:ext cx="788403" cy="275301"/>
              <a:chOff x="8176086" y="1272490"/>
              <a:chExt cx="788403" cy="275301"/>
            </a:xfrm>
          </p:grpSpPr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C24DEA51-FB48-4254-A815-21589317A58B}"/>
                  </a:ext>
                </a:extLst>
              </p:cNvPr>
              <p:cNvSpPr/>
              <p:nvPr/>
            </p:nvSpPr>
            <p:spPr>
              <a:xfrm>
                <a:off x="8176086" y="1403775"/>
                <a:ext cx="144017" cy="144016"/>
              </a:xfrm>
              <a:prstGeom prst="ellipse">
                <a:avLst/>
              </a:prstGeom>
              <a:solidFill>
                <a:srgbClr val="BBE0E3">
                  <a:alpha val="0"/>
                </a:srgbClr>
              </a:solidFill>
              <a:ln w="25400" cap="flat" cmpd="sng" algn="ctr">
                <a:solidFill>
                  <a:srgbClr val="BBE0E3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cxnSp>
            <p:nvCxnSpPr>
              <p:cNvPr id="62" name="肘形连接符 24">
                <a:extLst>
                  <a:ext uri="{FF2B5EF4-FFF2-40B4-BE49-F238E27FC236}">
                    <a16:creationId xmlns:a16="http://schemas.microsoft.com/office/drawing/2014/main" id="{45DCF41B-4D0B-4251-BE6B-92C9CC026A88}"/>
                  </a:ext>
                </a:extLst>
              </p:cNvPr>
              <p:cNvCxnSpPr/>
              <p:nvPr/>
            </p:nvCxnSpPr>
            <p:spPr>
              <a:xfrm rot="5400000" flipH="1" flipV="1">
                <a:off x="8544499" y="976088"/>
                <a:ext cx="123587" cy="716392"/>
              </a:xfrm>
              <a:prstGeom prst="bentConnector2">
                <a:avLst/>
              </a:prstGeom>
              <a:noFill/>
              <a:ln w="22225" cap="flat" cmpd="sng" algn="ctr">
                <a:solidFill>
                  <a:srgbClr val="FFC000"/>
                </a:solidFill>
                <a:prstDash val="solid"/>
              </a:ln>
              <a:effectLst/>
            </p:spPr>
          </p:cxnSp>
        </p:grpSp>
        <p:sp>
          <p:nvSpPr>
            <p:cNvPr id="42" name="右大括号 41">
              <a:extLst>
                <a:ext uri="{FF2B5EF4-FFF2-40B4-BE49-F238E27FC236}">
                  <a16:creationId xmlns:a16="http://schemas.microsoft.com/office/drawing/2014/main" id="{319F1544-2E22-4F20-8D4B-62D5B05C4612}"/>
                </a:ext>
              </a:extLst>
            </p:cNvPr>
            <p:cNvSpPr/>
            <p:nvPr/>
          </p:nvSpPr>
          <p:spPr>
            <a:xfrm rot="16200000">
              <a:off x="7744429" y="849202"/>
              <a:ext cx="130607" cy="869356"/>
            </a:xfrm>
            <a:prstGeom prst="rightBrace">
              <a:avLst/>
            </a:prstGeom>
            <a:noFill/>
            <a:ln w="22225" cap="flat" cmpd="sng" algn="ctr">
              <a:solidFill>
                <a:srgbClr val="00B05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DA5E7665-2B98-416B-B4B9-96BCE9D394E6}"/>
                    </a:ext>
                  </a:extLst>
                </p:cNvPr>
                <p:cNvSpPr/>
                <p:nvPr/>
              </p:nvSpPr>
              <p:spPr>
                <a:xfrm>
                  <a:off x="8656270" y="1412776"/>
                  <a:ext cx="49083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2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oMath>
                    </m:oMathPara>
                  </a14:m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DA5E7665-2B98-416B-B4B9-96BCE9D394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6270" y="1412776"/>
                  <a:ext cx="490839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96F1A89D-33A1-41DD-BF80-A23A95B71778}"/>
                </a:ext>
              </a:extLst>
            </p:cNvPr>
            <p:cNvGrpSpPr/>
            <p:nvPr/>
          </p:nvGrpSpPr>
          <p:grpSpPr>
            <a:xfrm>
              <a:off x="6565279" y="1283880"/>
              <a:ext cx="671018" cy="164900"/>
              <a:chOff x="6565278" y="1283880"/>
              <a:chExt cx="671018" cy="164900"/>
            </a:xfrm>
          </p:grpSpPr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B532C3CC-6BAD-4967-92BA-E0E2B4047BF8}"/>
                  </a:ext>
                </a:extLst>
              </p:cNvPr>
              <p:cNvCxnSpPr/>
              <p:nvPr/>
            </p:nvCxnSpPr>
            <p:spPr>
              <a:xfrm flipH="1">
                <a:off x="6565278" y="1313764"/>
                <a:ext cx="124986" cy="135016"/>
              </a:xfrm>
              <a:prstGeom prst="line">
                <a:avLst/>
              </a:prstGeom>
              <a:noFill/>
              <a:ln w="15875" cap="flat" cmpd="sng" algn="ctr">
                <a:solidFill>
                  <a:srgbClr val="FFC000"/>
                </a:solidFill>
                <a:prstDash val="solid"/>
              </a:ln>
              <a:effectLst/>
            </p:spPr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9FF7CAE2-7A29-42C8-A93E-D9603A8A653B}"/>
                  </a:ext>
                </a:extLst>
              </p:cNvPr>
              <p:cNvCxnSpPr/>
              <p:nvPr/>
            </p:nvCxnSpPr>
            <p:spPr>
              <a:xfrm flipH="1">
                <a:off x="6726563" y="1349184"/>
                <a:ext cx="84614" cy="87471"/>
              </a:xfrm>
              <a:prstGeom prst="line">
                <a:avLst/>
              </a:prstGeom>
              <a:noFill/>
              <a:ln w="15875" cap="flat" cmpd="sng" algn="ctr">
                <a:solidFill>
                  <a:srgbClr val="FFC000"/>
                </a:solidFill>
                <a:prstDash val="solid"/>
              </a:ln>
              <a:effectLst/>
            </p:spPr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334BF3B7-0297-4B73-BFE0-3AE485C7E747}"/>
                  </a:ext>
                </a:extLst>
              </p:cNvPr>
              <p:cNvCxnSpPr/>
              <p:nvPr/>
            </p:nvCxnSpPr>
            <p:spPr>
              <a:xfrm flipH="1">
                <a:off x="6918344" y="1333410"/>
                <a:ext cx="80642" cy="89637"/>
              </a:xfrm>
              <a:prstGeom prst="line">
                <a:avLst/>
              </a:prstGeom>
              <a:noFill/>
              <a:ln w="15875" cap="flat" cmpd="sng" algn="ctr">
                <a:solidFill>
                  <a:srgbClr val="FFC000"/>
                </a:solidFill>
                <a:prstDash val="solid"/>
              </a:ln>
              <a:effectLst/>
            </p:spPr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30F035C7-B30C-4001-BD3C-5828CD291042}"/>
                  </a:ext>
                </a:extLst>
              </p:cNvPr>
              <p:cNvCxnSpPr/>
              <p:nvPr/>
            </p:nvCxnSpPr>
            <p:spPr>
              <a:xfrm flipV="1">
                <a:off x="7130884" y="1283880"/>
                <a:ext cx="105412" cy="152775"/>
              </a:xfrm>
              <a:prstGeom prst="line">
                <a:avLst/>
              </a:prstGeom>
              <a:noFill/>
              <a:ln w="15875" cap="flat" cmpd="sng" algn="ctr">
                <a:solidFill>
                  <a:srgbClr val="FFC000"/>
                </a:solidFill>
                <a:prstDash val="solid"/>
              </a:ln>
              <a:effectLst/>
            </p:spPr>
          </p:cxn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908EFE2D-2B2A-4CE3-8135-C2A63D5ADC58}"/>
                </a:ext>
              </a:extLst>
            </p:cNvPr>
            <p:cNvGrpSpPr/>
            <p:nvPr/>
          </p:nvGrpSpPr>
          <p:grpSpPr>
            <a:xfrm>
              <a:off x="7375055" y="1302687"/>
              <a:ext cx="878691" cy="182096"/>
              <a:chOff x="7375054" y="1302687"/>
              <a:chExt cx="878691" cy="182096"/>
            </a:xfrm>
          </p:grpSpPr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B605E36E-F620-45CD-9A0A-D571161B8D81}"/>
                  </a:ext>
                </a:extLst>
              </p:cNvPr>
              <p:cNvCxnSpPr/>
              <p:nvPr/>
            </p:nvCxnSpPr>
            <p:spPr>
              <a:xfrm>
                <a:off x="7676916" y="1303887"/>
                <a:ext cx="172161" cy="180896"/>
              </a:xfrm>
              <a:prstGeom prst="line">
                <a:avLst/>
              </a:prstGeom>
              <a:noFill/>
              <a:ln w="9525" cap="flat" cmpd="sng" algn="ctr">
                <a:solidFill>
                  <a:srgbClr val="0033CC"/>
                </a:solidFill>
                <a:prstDash val="solid"/>
              </a:ln>
              <a:effectLst/>
            </p:spPr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549B7914-B91C-430B-8A93-DD0D5D5F0464}"/>
                  </a:ext>
                </a:extLst>
              </p:cNvPr>
              <p:cNvCxnSpPr/>
              <p:nvPr/>
            </p:nvCxnSpPr>
            <p:spPr>
              <a:xfrm>
                <a:off x="7893937" y="1321945"/>
                <a:ext cx="114852" cy="148079"/>
              </a:xfrm>
              <a:prstGeom prst="line">
                <a:avLst/>
              </a:prstGeom>
              <a:noFill/>
              <a:ln w="9525" cap="flat" cmpd="sng" algn="ctr">
                <a:solidFill>
                  <a:srgbClr val="0033CC"/>
                </a:solidFill>
                <a:prstDash val="solid"/>
              </a:ln>
              <a:effectLst/>
            </p:spPr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2E88E316-13C8-400B-A731-217B924C0403}"/>
                  </a:ext>
                </a:extLst>
              </p:cNvPr>
              <p:cNvCxnSpPr/>
              <p:nvPr/>
            </p:nvCxnSpPr>
            <p:spPr>
              <a:xfrm>
                <a:off x="8018124" y="1302687"/>
                <a:ext cx="132816" cy="151081"/>
              </a:xfrm>
              <a:prstGeom prst="line">
                <a:avLst/>
              </a:prstGeom>
              <a:noFill/>
              <a:ln w="9525" cap="flat" cmpd="sng" algn="ctr">
                <a:solidFill>
                  <a:srgbClr val="0033CC"/>
                </a:solidFill>
                <a:prstDash val="solid"/>
              </a:ln>
              <a:effectLst/>
            </p:spPr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AB8CA741-D443-491A-AEBA-9A0C5800B842}"/>
                  </a:ext>
                </a:extLst>
              </p:cNvPr>
              <p:cNvCxnSpPr>
                <a:stCxn id="42" idx="0"/>
              </p:cNvCxnSpPr>
              <p:nvPr/>
            </p:nvCxnSpPr>
            <p:spPr>
              <a:xfrm>
                <a:off x="7375054" y="1349184"/>
                <a:ext cx="149274" cy="99596"/>
              </a:xfrm>
              <a:prstGeom prst="line">
                <a:avLst/>
              </a:prstGeom>
              <a:noFill/>
              <a:ln w="9525" cap="flat" cmpd="sng" algn="ctr">
                <a:solidFill>
                  <a:srgbClr val="0033CC"/>
                </a:solidFill>
                <a:prstDash val="solid"/>
              </a:ln>
              <a:effectLst/>
            </p:spPr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D6136304-C065-4DD4-96B0-A3B3B9FE045F}"/>
                  </a:ext>
                </a:extLst>
              </p:cNvPr>
              <p:cNvCxnSpPr/>
              <p:nvPr/>
            </p:nvCxnSpPr>
            <p:spPr>
              <a:xfrm>
                <a:off x="7540508" y="1302687"/>
                <a:ext cx="125209" cy="162825"/>
              </a:xfrm>
              <a:prstGeom prst="line">
                <a:avLst/>
              </a:prstGeom>
              <a:noFill/>
              <a:ln w="9525" cap="flat" cmpd="sng" algn="ctr">
                <a:solidFill>
                  <a:srgbClr val="0033CC"/>
                </a:solidFill>
                <a:prstDash val="solid"/>
              </a:ln>
              <a:effectLst/>
            </p:spPr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32991662-B5E8-42B9-86A2-A6702898E2CD}"/>
                  </a:ext>
                </a:extLst>
              </p:cNvPr>
              <p:cNvCxnSpPr/>
              <p:nvPr/>
            </p:nvCxnSpPr>
            <p:spPr>
              <a:xfrm>
                <a:off x="8162191" y="1306308"/>
                <a:ext cx="91554" cy="72008"/>
              </a:xfrm>
              <a:prstGeom prst="line">
                <a:avLst/>
              </a:prstGeom>
              <a:noFill/>
              <a:ln w="9525" cap="flat" cmpd="sng" algn="ctr">
                <a:solidFill>
                  <a:srgbClr val="0033CC"/>
                </a:solidFill>
                <a:prstDash val="solid"/>
              </a:ln>
              <a:effectLst/>
            </p:spPr>
          </p:cxn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440E9813-D501-4631-B3CE-CF7357569440}"/>
                </a:ext>
              </a:extLst>
            </p:cNvPr>
            <p:cNvGrpSpPr/>
            <p:nvPr/>
          </p:nvGrpSpPr>
          <p:grpSpPr>
            <a:xfrm>
              <a:off x="8374031" y="1302687"/>
              <a:ext cx="543245" cy="182096"/>
              <a:chOff x="8374030" y="1302687"/>
              <a:chExt cx="543245" cy="182096"/>
            </a:xfrm>
          </p:grpSpPr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84848871-E6AC-43C8-9DFF-7202FA551392}"/>
                  </a:ext>
                </a:extLst>
              </p:cNvPr>
              <p:cNvCxnSpPr/>
              <p:nvPr/>
            </p:nvCxnSpPr>
            <p:spPr>
              <a:xfrm flipH="1">
                <a:off x="8374030" y="1313764"/>
                <a:ext cx="95356" cy="151748"/>
              </a:xfrm>
              <a:prstGeom prst="line">
                <a:avLst/>
              </a:prstGeom>
              <a:noFill/>
              <a:ln w="2222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50A86450-8D88-481D-853C-246F48F17162}"/>
                  </a:ext>
                </a:extLst>
              </p:cNvPr>
              <p:cNvCxnSpPr/>
              <p:nvPr/>
            </p:nvCxnSpPr>
            <p:spPr>
              <a:xfrm flipH="1">
                <a:off x="8552104" y="1313764"/>
                <a:ext cx="110778" cy="163323"/>
              </a:xfrm>
              <a:prstGeom prst="line">
                <a:avLst/>
              </a:prstGeom>
              <a:noFill/>
              <a:ln w="2222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5BEBCB36-4C2A-41FC-9FEE-7D41FDE0965B}"/>
                  </a:ext>
                </a:extLst>
              </p:cNvPr>
              <p:cNvCxnSpPr/>
              <p:nvPr/>
            </p:nvCxnSpPr>
            <p:spPr>
              <a:xfrm flipH="1">
                <a:off x="8674941" y="1302687"/>
                <a:ext cx="118877" cy="174400"/>
              </a:xfrm>
              <a:prstGeom prst="line">
                <a:avLst/>
              </a:prstGeom>
              <a:noFill/>
              <a:ln w="2222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43C6BA56-D514-4E69-80A3-75D4F201B623}"/>
                  </a:ext>
                </a:extLst>
              </p:cNvPr>
              <p:cNvCxnSpPr/>
              <p:nvPr/>
            </p:nvCxnSpPr>
            <p:spPr>
              <a:xfrm flipH="1">
                <a:off x="8767047" y="1302687"/>
                <a:ext cx="150228" cy="182096"/>
              </a:xfrm>
              <a:prstGeom prst="line">
                <a:avLst/>
              </a:prstGeom>
              <a:noFill/>
              <a:ln w="2222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84EDD7C4-7D1E-4DD3-9C00-CB52B719112F}"/>
                  </a:ext>
                </a:extLst>
              </p:cNvPr>
              <p:cNvSpPr/>
              <p:nvPr/>
            </p:nvSpPr>
            <p:spPr>
              <a:xfrm>
                <a:off x="857296" y="2441761"/>
                <a:ext cx="7462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84EDD7C4-7D1E-4DD3-9C00-CB52B7191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96" y="2441761"/>
                <a:ext cx="74629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" name="图片 73">
            <a:extLst>
              <a:ext uri="{FF2B5EF4-FFF2-40B4-BE49-F238E27FC236}">
                <a16:creationId xmlns:a16="http://schemas.microsoft.com/office/drawing/2014/main" id="{5EFB6080-3A38-45DB-A854-D316304213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884" y="3105240"/>
            <a:ext cx="11218559" cy="534217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F9234FF6-87E7-4714-97AE-40314BD537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4803" y="3728286"/>
            <a:ext cx="6803372" cy="80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795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17C1ABA-F132-477A-A5F8-356A2BA60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60" y="241099"/>
            <a:ext cx="11171680" cy="327445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681E22B-A0CF-4A86-980E-1F85E6A98CBA}"/>
              </a:ext>
            </a:extLst>
          </p:cNvPr>
          <p:cNvSpPr/>
          <p:nvPr/>
        </p:nvSpPr>
        <p:spPr>
          <a:xfrm>
            <a:off x="510160" y="370070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解：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07C90F5-62CE-4B0C-8281-E719AB982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08" y="3667409"/>
            <a:ext cx="6716062" cy="5239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9EA8749-8BC0-4D51-B5E2-EAC675FC2C19}"/>
                  </a:ext>
                </a:extLst>
              </p:cNvPr>
              <p:cNvSpPr/>
              <p:nvPr/>
            </p:nvSpPr>
            <p:spPr>
              <a:xfrm>
                <a:off x="7795852" y="3577471"/>
                <a:ext cx="2723694" cy="613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sSub>
                      <m:sSubPr>
                        <m:ctrlPr>
                          <a:rPr lang="en-US" altLang="zh-CN" sz="240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i="1" kern="1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 kern="1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sub>
                    </m:sSub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(3−</m:t>
                    </m:r>
                    <m:acc>
                      <m:accPr>
                        <m:chr m:val="̅"/>
                        <m:ctrlP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solidFill>
                      <a:prstClr val="black"/>
                    </a:solidFill>
                  </a:rPr>
                  <a:t>,</a:t>
                </a:r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9EA8749-8BC0-4D51-B5E2-EAC675FC2C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852" y="3577471"/>
                <a:ext cx="2723694" cy="613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D1C85DFE-89D7-43C3-A90A-45E0E55999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082" y="4376500"/>
            <a:ext cx="4222319" cy="7196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69AFADD-6C7F-48C3-B74F-8E1192A27876}"/>
                  </a:ext>
                </a:extLst>
              </p:cNvPr>
              <p:cNvSpPr/>
              <p:nvPr/>
            </p:nvSpPr>
            <p:spPr>
              <a:xfrm>
                <a:off x="4903879" y="4387930"/>
                <a:ext cx="2708177" cy="613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kern="100" dirty="0">
                    <a:solidFill>
                      <a:prstClr val="black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代入上式得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sub>
                    </m:sSub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69AFADD-6C7F-48C3-B74F-8E1192A278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879" y="4387930"/>
                <a:ext cx="2708177" cy="613886"/>
              </a:xfrm>
              <a:prstGeom prst="rect">
                <a:avLst/>
              </a:prstGeom>
              <a:blipFill>
                <a:blip r:embed="rId6"/>
                <a:stretch>
                  <a:fillRect l="-3371" b="-4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061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17C1ABA-F132-477A-A5F8-356A2BA60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961" y="349351"/>
            <a:ext cx="10507036" cy="307964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681E22B-A0CF-4A86-980E-1F85E6A98CBA}"/>
              </a:ext>
            </a:extLst>
          </p:cNvPr>
          <p:cNvSpPr/>
          <p:nvPr/>
        </p:nvSpPr>
        <p:spPr>
          <a:xfrm>
            <a:off x="862599" y="3450806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解：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2DC2441-6DE8-416E-8E0D-45B8E83C4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160" y="3429000"/>
            <a:ext cx="7135221" cy="53347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C7602BF-C754-4CBA-9F5E-637E56838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961" y="3959889"/>
            <a:ext cx="5839640" cy="58110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00E4E67-6BB2-49C1-A1FF-9F944190BD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961" y="4595762"/>
            <a:ext cx="6573167" cy="98121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BB50F7C-DA8C-4F3A-AA9D-5E41961B69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4472" y="4595762"/>
            <a:ext cx="2143424" cy="86689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416781A-6787-4F01-A215-EDD1F2709E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961" y="5576974"/>
            <a:ext cx="8478433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28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C6ECD56-86AE-407B-AD1F-6F9322C6E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91" y="279879"/>
            <a:ext cx="9697803" cy="369621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F2BDF3F-D037-42B2-BBCA-01A33E54081B}"/>
              </a:ext>
            </a:extLst>
          </p:cNvPr>
          <p:cNvSpPr/>
          <p:nvPr/>
        </p:nvSpPr>
        <p:spPr>
          <a:xfrm>
            <a:off x="1058853" y="4002314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96C9F85-893F-4078-A9D7-4DECF526E818}"/>
                  </a:ext>
                </a:extLst>
              </p:cNvPr>
              <p:cNvSpPr/>
              <p:nvPr/>
            </p:nvSpPr>
            <p:spPr>
              <a:xfrm>
                <a:off x="1570348" y="3980986"/>
                <a:ext cx="7462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96C9F85-893F-4078-A9D7-4DECF526E8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0348" y="3980986"/>
                <a:ext cx="74629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3AC778D-B6F5-4AF6-8034-BB0DA6A09631}"/>
                  </a:ext>
                </a:extLst>
              </p:cNvPr>
              <p:cNvSpPr/>
              <p:nvPr/>
            </p:nvSpPr>
            <p:spPr>
              <a:xfrm>
                <a:off x="2151859" y="3991650"/>
                <a:ext cx="2608535" cy="4605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∵</m:t>
                    </m:r>
                    <m:r>
                      <a:rPr lang="en-US" altLang="zh-CN" sz="24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4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4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4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4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CN" sz="24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=1</m:t>
                    </m:r>
                  </m:oMath>
                </a14:m>
                <a:r>
                  <a:rPr lang="en-US" altLang="zh-CN" dirty="0"/>
                  <a:t>,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3AC778D-B6F5-4AF6-8034-BB0DA6A096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859" y="3991650"/>
                <a:ext cx="2608535" cy="460575"/>
              </a:xfrm>
              <a:prstGeom prst="rect">
                <a:avLst/>
              </a:prstGeom>
              <a:blipFill>
                <a:blip r:embed="rId4"/>
                <a:stretch>
                  <a:fillRect r="-701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1D69F72-FB86-44B4-B255-1376B9FC6836}"/>
                  </a:ext>
                </a:extLst>
              </p:cNvPr>
              <p:cNvSpPr/>
              <p:nvPr/>
            </p:nvSpPr>
            <p:spPr>
              <a:xfrm>
                <a:off x="4603486" y="3976095"/>
                <a:ext cx="592046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itchFamily="18" charset="2"/>
                        </a:rPr>
                        <m:t>∴</m:t>
                      </m:r>
                      <m:d>
                        <m:dPr>
                          <m:ctrlP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itchFamily="18" charset="2"/>
                            </a:rPr>
                            <m:t>𝑋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itchFamily="18" charset="2"/>
                            </a:rPr>
                            <m:t>𝑌</m:t>
                          </m:r>
                        </m:e>
                      </m:d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itchFamily="18" charset="2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itchFamily="18" charset="2"/>
                            </a:rPr>
                            <m:t>0,0</m:t>
                          </m:r>
                        </m:e>
                      </m:d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itchFamily="18" charset="2"/>
                        </a:rPr>
                        <m:t>,</m:t>
                      </m:r>
                      <m:d>
                        <m:dPr>
                          <m:ctrlP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itchFamily="18" charset="2"/>
                            </a:rPr>
                            <m:t>1,±1</m:t>
                          </m:r>
                        </m:e>
                      </m:d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itchFamily="18" charset="2"/>
                        </a:rPr>
                        <m:t>,</m:t>
                      </m:r>
                      <m:r>
                        <a:rPr lang="zh-CN" altLang="en-US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itchFamily="18" charset="2"/>
                        </a:rPr>
                        <m:t>且</m:t>
                      </m:r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4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itchFamily="18" charset="2"/>
                            </a:rPr>
                            <m:t>≠</m:t>
                          </m:r>
                          <m:sSup>
                            <m:sSupPr>
                              <m:ctrlPr>
                                <a:rPr lang="en-US" altLang="zh-CN" sz="24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altLang="zh-CN" sz="24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1D69F72-FB86-44B4-B255-1376B9FC6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486" y="3976095"/>
                <a:ext cx="5920467" cy="461665"/>
              </a:xfrm>
              <a:prstGeom prst="rect">
                <a:avLst/>
              </a:prstGeom>
              <a:blipFill>
                <a:blip r:embed="rId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9E8AADE-2088-4BF4-ACDC-64F01C04200B}"/>
                  </a:ext>
                </a:extLst>
              </p:cNvPr>
              <p:cNvSpPr/>
              <p:nvPr/>
            </p:nvSpPr>
            <p:spPr>
              <a:xfrm>
                <a:off x="975812" y="4477874"/>
                <a:ext cx="862332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itchFamily="18" charset="2"/>
                        </a:rPr>
                        <m:t>⟹</m:t>
                      </m:r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𝑋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=0,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𝑌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=1</m:t>
                          </m:r>
                        </m:e>
                      </m:d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=</m:t>
                      </m:r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𝑋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=0,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𝑌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=−1</m:t>
                          </m:r>
                        </m:e>
                      </m:d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=</m:t>
                      </m:r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𝑋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=1,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𝑌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=0</m:t>
                          </m:r>
                        </m:e>
                      </m:d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9E8AADE-2088-4BF4-ACDC-64F01C0420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812" y="4477874"/>
                <a:ext cx="862332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D2C1CBE-8B0D-4BE3-906B-0CF2A9F21F8B}"/>
                  </a:ext>
                </a:extLst>
              </p:cNvPr>
              <p:cNvSpPr/>
              <p:nvPr/>
            </p:nvSpPr>
            <p:spPr>
              <a:xfrm>
                <a:off x="991753" y="4971405"/>
                <a:ext cx="645195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𝑌</m:t>
                          </m:r>
                          <m:r>
                            <a:rPr lang="en-US" altLang="zh-CN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=0</m:t>
                          </m:r>
                        </m:e>
                      </m:d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=</m:t>
                      </m:r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𝑋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=0,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𝑌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=0</m:t>
                          </m:r>
                        </m:e>
                      </m:d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+</m:t>
                      </m:r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𝑋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=1,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𝑌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D2C1CBE-8B0D-4BE3-906B-0CF2A9F21F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753" y="4971405"/>
                <a:ext cx="6451959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F1B8586-238B-4955-9548-BCCEEBAEEFDA}"/>
                  </a:ext>
                </a:extLst>
              </p:cNvPr>
              <p:cNvSpPr/>
              <p:nvPr/>
            </p:nvSpPr>
            <p:spPr>
              <a:xfrm>
                <a:off x="7165918" y="4738244"/>
                <a:ext cx="3358035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=</m:t>
                      </m:r>
                      <m:r>
                        <a:rPr lang="en-US" altLang="zh-CN" sz="240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zh-CN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𝑋</m:t>
                          </m:r>
                          <m:r>
                            <a:rPr lang="en-US" altLang="zh-CN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=0,</m:t>
                          </m:r>
                          <m:r>
                            <a:rPr lang="en-US" altLang="zh-CN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𝑌</m:t>
                          </m:r>
                          <m:r>
                            <a:rPr lang="en-US" altLang="zh-CN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=0</m:t>
                          </m:r>
                        </m:e>
                      </m:d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fPr>
                        <m:num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F1B8586-238B-4955-9548-BCCEEBAEEF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5918" y="4738244"/>
                <a:ext cx="3358035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8B74D55-C5C8-4392-BB83-CEFE7BADD7DA}"/>
                  </a:ext>
                </a:extLst>
              </p:cNvPr>
              <p:cNvSpPr/>
              <p:nvPr/>
            </p:nvSpPr>
            <p:spPr>
              <a:xfrm>
                <a:off x="850883" y="6158077"/>
                <a:ext cx="71396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𝑌</m:t>
                          </m:r>
                          <m:r>
                            <a:rPr lang="en-US" altLang="zh-CN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=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−1</m:t>
                          </m:r>
                        </m:e>
                      </m:d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=</m:t>
                      </m:r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𝑋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=0,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𝑌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=−1</m:t>
                          </m:r>
                        </m:e>
                      </m:d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+</m:t>
                      </m:r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𝑋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=1,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𝑌</m:t>
                          </m:r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=−1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8B74D55-C5C8-4392-BB83-CEFE7BADD7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83" y="6158077"/>
                <a:ext cx="7139647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CCBD68D8-9F65-4AD5-B913-29982FBFD2C9}"/>
                  </a:ext>
                </a:extLst>
              </p:cNvPr>
              <p:cNvSpPr/>
              <p:nvPr/>
            </p:nvSpPr>
            <p:spPr>
              <a:xfrm>
                <a:off x="7640051" y="5939972"/>
                <a:ext cx="3679971" cy="7861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=</m:t>
                      </m:r>
                      <m:r>
                        <a:rPr lang="en-US" altLang="zh-CN" sz="2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zh-CN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𝑋</m:t>
                          </m:r>
                          <m:r>
                            <a:rPr lang="en-US" altLang="zh-CN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=1,</m:t>
                          </m:r>
                          <m:r>
                            <a:rPr lang="en-US" altLang="zh-CN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𝑌</m:t>
                          </m:r>
                          <m:r>
                            <a:rPr lang="en-US" altLang="zh-CN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=−1</m:t>
                          </m:r>
                        </m:e>
                      </m:d>
                      <m:r>
                        <a:rPr lang="en-US" altLang="zh-CN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fPr>
                        <m:num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CCBD68D8-9F65-4AD5-B913-29982FBFD2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0051" y="5939972"/>
                <a:ext cx="3679971" cy="7861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8750B829-8271-403D-AC3D-014296AE4D01}"/>
                  </a:ext>
                </a:extLst>
              </p:cNvPr>
              <p:cNvSpPr/>
              <p:nvPr/>
            </p:nvSpPr>
            <p:spPr>
              <a:xfrm>
                <a:off x="877809" y="5589630"/>
                <a:ext cx="66811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Symbol" pitchFamily="18" charset="2"/>
                        </a:rPr>
                        <m:t>𝑃</m:t>
                      </m:r>
                      <m:d>
                        <m:dPr>
                          <m:ctrlPr>
                            <a:rPr kumimoji="0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  <m:t>𝑌</m:t>
                          </m:r>
                          <m:r>
                            <a:rPr kumimoji="0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  <m:t>=</m:t>
                          </m:r>
                          <m:r>
                            <a:rPr kumimoji="0" lang="en-US" altLang="zh-CN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  <m:t>1</m:t>
                          </m:r>
                        </m:e>
                      </m:d>
                      <m:r>
                        <a:rPr kumimoji="0" lang="en-US" altLang="zh-CN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Symbol" pitchFamily="18" charset="2"/>
                        </a:rPr>
                        <m:t>=</m:t>
                      </m:r>
                      <m:r>
                        <a:rPr kumimoji="0" lang="en-US" altLang="zh-CN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Symbol" pitchFamily="18" charset="2"/>
                        </a:rPr>
                        <m:t>𝑃</m:t>
                      </m:r>
                      <m:d>
                        <m:dPr>
                          <m:ctrlPr>
                            <a:rPr kumimoji="0" lang="en-US" altLang="zh-CN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  <m:t>𝑋</m:t>
                          </m:r>
                          <m:r>
                            <a:rPr kumimoji="0" lang="en-US" altLang="zh-CN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  <m:t>=0,</m:t>
                          </m:r>
                          <m:r>
                            <a:rPr kumimoji="0" lang="en-US" altLang="zh-CN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  <m:t>𝑌</m:t>
                          </m:r>
                          <m:r>
                            <a:rPr kumimoji="0" lang="en-US" altLang="zh-CN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  <m:t>=1</m:t>
                          </m:r>
                        </m:e>
                      </m:d>
                      <m:r>
                        <a:rPr kumimoji="0" lang="en-US" altLang="zh-CN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Symbol" pitchFamily="18" charset="2"/>
                        </a:rPr>
                        <m:t>+</m:t>
                      </m:r>
                      <m:r>
                        <a:rPr kumimoji="0" lang="en-US" altLang="zh-CN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Symbol" pitchFamily="18" charset="2"/>
                        </a:rPr>
                        <m:t>𝑃</m:t>
                      </m:r>
                      <m:d>
                        <m:dPr>
                          <m:ctrlPr>
                            <a:rPr kumimoji="0" lang="en-US" altLang="zh-CN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  <m:t>𝑋</m:t>
                          </m:r>
                          <m:r>
                            <a:rPr kumimoji="0" lang="en-US" altLang="zh-CN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  <m:t>=1,</m:t>
                          </m:r>
                          <m:r>
                            <a:rPr kumimoji="0" lang="en-US" altLang="zh-CN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  <m:t>𝑌</m:t>
                          </m:r>
                          <m:r>
                            <a:rPr kumimoji="0" lang="en-US" altLang="zh-CN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8750B829-8271-403D-AC3D-014296AE4D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09" y="5589630"/>
                <a:ext cx="6681188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E919DE8-3405-4AE0-AE09-DBB7629A2EC5}"/>
                  </a:ext>
                </a:extLst>
              </p:cNvPr>
              <p:cNvSpPr/>
              <p:nvPr/>
            </p:nvSpPr>
            <p:spPr>
              <a:xfrm>
                <a:off x="7046523" y="5389329"/>
                <a:ext cx="3679971" cy="7861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Symbol" pitchFamily="18" charset="2"/>
                        </a:rPr>
                        <m:t>=</m:t>
                      </m:r>
                      <m:r>
                        <a:rPr kumimoji="0" lang="en-US" altLang="zh-CN" sz="2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Symbol" pitchFamily="18" charset="2"/>
                        </a:rPr>
                        <m:t>𝑃</m:t>
                      </m:r>
                      <m:d>
                        <m:dPr>
                          <m:ctrlPr>
                            <a:rPr kumimoji="0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  <m:t>𝑋</m:t>
                          </m:r>
                          <m:r>
                            <a:rPr kumimoji="0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  <m:t>=1,</m:t>
                          </m:r>
                          <m:r>
                            <a:rPr kumimoji="0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  <m:t>𝑌</m:t>
                          </m:r>
                          <m:r>
                            <a:rPr kumimoji="0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  <m:t>=1</m:t>
                          </m:r>
                        </m:e>
                      </m:d>
                      <m:r>
                        <a:rPr kumimoji="0" lang="en-US" altLang="zh-CN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Symbol" pitchFamily="18" charset="2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</m:ctrlPr>
                        </m:fPr>
                        <m:num>
                          <m:r>
                            <a:rPr kumimoji="0" lang="en-US" altLang="zh-CN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CN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itchFamily="18" charset="2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E919DE8-3405-4AE0-AE09-DBB7629A2E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523" y="5389329"/>
                <a:ext cx="3679971" cy="7861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581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2E9408A-00A3-4814-8DF2-B030687B4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13" y="364652"/>
            <a:ext cx="9432116" cy="359495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34F1996-0119-405C-9661-AD076F30E9FD}"/>
              </a:ext>
            </a:extLst>
          </p:cNvPr>
          <p:cNvSpPr/>
          <p:nvPr/>
        </p:nvSpPr>
        <p:spPr>
          <a:xfrm>
            <a:off x="1042912" y="398253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CDEDD8B-BA5C-413F-9415-F9C0911D7D0F}"/>
                  </a:ext>
                </a:extLst>
              </p:cNvPr>
              <p:cNvSpPr/>
              <p:nvPr/>
            </p:nvSpPr>
            <p:spPr>
              <a:xfrm>
                <a:off x="1551079" y="3975743"/>
                <a:ext cx="129452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e>
                      </m:d>
                      <m:r>
                        <a:rPr kumimoji="0" lang="zh-CN" alt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续：</m:t>
                      </m:r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CDEDD8B-BA5C-413F-9415-F9C0911D7D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079" y="3975743"/>
                <a:ext cx="1294522" cy="461665"/>
              </a:xfrm>
              <a:prstGeom prst="rect">
                <a:avLst/>
              </a:prstGeom>
              <a:blipFill>
                <a:blip r:embed="rId3"/>
                <a:stretch>
                  <a:fillRect r="-1408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1B443832-B7CB-40AF-BA06-884D8D781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314" y="4159583"/>
            <a:ext cx="6479629" cy="233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07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2E9408A-00A3-4814-8DF2-B030687B4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12" y="364652"/>
            <a:ext cx="9697803" cy="369621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34F1996-0119-405C-9661-AD076F30E9FD}"/>
              </a:ext>
            </a:extLst>
          </p:cNvPr>
          <p:cNvSpPr/>
          <p:nvPr/>
        </p:nvSpPr>
        <p:spPr>
          <a:xfrm>
            <a:off x="1080800" y="4244451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CDEDD8B-BA5C-413F-9415-F9C0911D7D0F}"/>
                  </a:ext>
                </a:extLst>
              </p:cNvPr>
              <p:cNvSpPr/>
              <p:nvPr/>
            </p:nvSpPr>
            <p:spPr>
              <a:xfrm>
                <a:off x="1592295" y="4223123"/>
                <a:ext cx="67896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CDEDD8B-BA5C-413F-9415-F9C0911D7D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295" y="4223123"/>
                <a:ext cx="67896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BFA65A0-D35F-49E2-8FC0-B9725F748764}"/>
                  </a:ext>
                </a:extLst>
              </p:cNvPr>
              <p:cNvSpPr/>
              <p:nvPr/>
            </p:nvSpPr>
            <p:spPr>
              <a:xfrm>
                <a:off x="2191430" y="4060868"/>
                <a:ext cx="5770105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𝑋𝑌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)=0∙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+1∙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+1∙1∙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BFA65A0-D35F-49E2-8FC0-B9725F748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430" y="4060868"/>
                <a:ext cx="5770105" cy="7861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5C44261-DF34-4B6F-A552-735DC8241AE2}"/>
                  </a:ext>
                </a:extLst>
              </p:cNvPr>
              <p:cNvSpPr/>
              <p:nvPr/>
            </p:nvSpPr>
            <p:spPr>
              <a:xfrm>
                <a:off x="1592295" y="5047698"/>
                <a:ext cx="67896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5C44261-DF34-4B6F-A552-735DC8241A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295" y="5047698"/>
                <a:ext cx="67896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B04DC251-1841-45C1-A35E-4A16799527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1263" y="4847043"/>
            <a:ext cx="3701698" cy="86297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2B41973-F93C-4EA6-895E-8D82B8A0E0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9071" y="4932503"/>
            <a:ext cx="4555223" cy="78242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45C2CF6-775A-4C0D-A251-EB894D730E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912" y="5872271"/>
            <a:ext cx="5645145" cy="5285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9681D55-6006-48C9-8A66-62EB0E03CCE8}"/>
                  </a:ext>
                </a:extLst>
              </p:cNvPr>
              <p:cNvSpPr/>
              <p:nvPr/>
            </p:nvSpPr>
            <p:spPr>
              <a:xfrm>
                <a:off x="6688057" y="5905702"/>
                <a:ext cx="276742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从而可知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zh-CN" alt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9681D55-6006-48C9-8A66-62EB0E03CC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057" y="5905702"/>
                <a:ext cx="2767424" cy="461665"/>
              </a:xfrm>
              <a:prstGeom prst="rect">
                <a:avLst/>
              </a:prstGeom>
              <a:blipFill>
                <a:blip r:embed="rId9"/>
                <a:stretch>
                  <a:fillRect l="-3304" t="-15789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7677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1925</TotalTime>
  <Words>850</Words>
  <Application>Microsoft Office PowerPoint</Application>
  <PresentationFormat>宽屏</PresentationFormat>
  <Paragraphs>132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宋体</vt:lpstr>
      <vt:lpstr>Arial</vt:lpstr>
      <vt:lpstr>Calibri</vt:lpstr>
      <vt:lpstr>Calibri Light</vt:lpstr>
      <vt:lpstr>Cambria Math</vt:lpstr>
      <vt:lpstr>Symbol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xfile</dc:creator>
  <cp:lastModifiedBy>Administrator</cp:lastModifiedBy>
  <cp:revision>113</cp:revision>
  <dcterms:created xsi:type="dcterms:W3CDTF">2020-05-31T04:42:36Z</dcterms:created>
  <dcterms:modified xsi:type="dcterms:W3CDTF">2023-05-31T14:47:55Z</dcterms:modified>
</cp:coreProperties>
</file>