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80" r:id="rId10"/>
    <p:sldId id="282" r:id="rId11"/>
    <p:sldId id="279" r:id="rId12"/>
    <p:sldId id="284" r:id="rId13"/>
    <p:sldId id="265" r:id="rId14"/>
    <p:sldId id="266" r:id="rId15"/>
    <p:sldId id="267" r:id="rId16"/>
    <p:sldId id="283" r:id="rId17"/>
    <p:sldId id="268" r:id="rId18"/>
    <p:sldId id="269" r:id="rId19"/>
    <p:sldId id="270" r:id="rId20"/>
    <p:sldId id="271" r:id="rId21"/>
    <p:sldId id="272" r:id="rId22"/>
    <p:sldId id="278"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43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9053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9872D-AD9B-4B9F-B389-EA5B06B09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EFE564-1C6E-AA88-A715-6F895A0C6B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4C367-3FE8-F439-6F12-EA319CD397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CDEADE-F963-5C4E-083D-DC0D2410CDC5}"/>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3667363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19600-2D9D-5C0C-AECC-F3479E9DB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CB8576-C253-A61A-BCFE-8A01BC2C02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8F3058-D57E-EC87-589E-FC20AF9B2D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FCEF14-E0BD-AD1A-C04A-2F98F06502C2}"/>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8943646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E27E7-641B-F39C-7B13-F963B2E073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6DC84F-46D9-2338-6714-4649B55D8F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AC20DA-96B6-E2DE-CB02-CC90F5D12D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DBEA65-2815-9376-6E4F-2DC78E460100}"/>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6290471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79B53-3B5E-3B91-45F8-DADDA47E85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A5E96D-32B7-971E-81C1-72A683EFE0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23B199-7896-87EC-2B7C-B4784355FC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28756F-A742-1949-0E3E-7478BB3A79C1}"/>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666677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18477-FFFB-437D-97FC-DD8A910848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DCBE83-FBE9-DB52-3515-38B3E2A55E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414714-5D5C-A8C2-63F7-87C3D35A72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429189-49B7-A83A-51D8-C0F237953BA2}"/>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1655031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jpg"/><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2.jpe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4.jpe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5.jp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6.jp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9.jpeg"/></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0.jpeg"/></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1.jpe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4763"/>
            <a:ext cx="9144000" cy="5143500"/>
          </a:xfrm>
          <a:prstGeom prst="rect">
            <a:avLst/>
          </a:prstGeom>
        </p:spPr>
      </p:pic>
      <p:sp>
        <p:nvSpPr>
          <p:cNvPr id="3" name="Text 0"/>
          <p:cNvSpPr/>
          <p:nvPr/>
        </p:nvSpPr>
        <p:spPr>
          <a:xfrm>
            <a:off x="571500" y="1166813"/>
            <a:ext cx="8001000" cy="1333500"/>
          </a:xfrm>
          <a:prstGeom prst="rect">
            <a:avLst/>
          </a:prstGeom>
          <a:noFill/>
          <a:ln/>
        </p:spPr>
        <p:txBody>
          <a:bodyPr vert="horz" wrap="square" lIns="0" tIns="0" rIns="0" bIns="0" rtlCol="0" anchor="ctr"/>
          <a:lstStyle/>
          <a:p>
            <a:pPr marL="0" indent="0" algn="ctr">
              <a:lnSpc>
                <a:spcPts val="5250"/>
              </a:lnSpc>
              <a:buNone/>
            </a:pPr>
            <a:r>
              <a:rPr lang="en-US" sz="3750" b="1" dirty="0">
                <a:solidFill>
                  <a:srgbClr val="FFFFFF"/>
                </a:solidFill>
                <a:latin typeface="Microsoft YaHei" pitchFamily="34" charset="0"/>
                <a:ea typeface="Microsoft YaHei" pitchFamily="34" charset="-122"/>
                <a:cs typeface="Microsoft YaHei" pitchFamily="34" charset="-120"/>
              </a:rPr>
              <a:t>科技发展与社会变革：生产力与生产关系视角</a:t>
            </a:r>
            <a:endParaRPr lang="en-US" sz="3750" dirty="0"/>
          </a:p>
        </p:txBody>
      </p:sp>
      <p:sp>
        <p:nvSpPr>
          <p:cNvPr id="4" name="Text 1"/>
          <p:cNvSpPr/>
          <p:nvPr/>
        </p:nvSpPr>
        <p:spPr>
          <a:xfrm>
            <a:off x="571500" y="2576513"/>
            <a:ext cx="8001000" cy="400050"/>
          </a:xfrm>
          <a:prstGeom prst="rect">
            <a:avLst/>
          </a:prstGeom>
          <a:noFill/>
          <a:ln/>
        </p:spPr>
        <p:txBody>
          <a:bodyPr vert="horz" wrap="square" lIns="0" tIns="0" rIns="0" bIns="0" rtlCol="0" anchor="ctr"/>
          <a:lstStyle/>
          <a:p>
            <a:pPr marL="0" indent="0" algn="ctr">
              <a:lnSpc>
                <a:spcPts val="3150"/>
              </a:lnSpc>
              <a:buNone/>
            </a:pPr>
            <a:endParaRPr lang="en-US" sz="2250" dirty="0"/>
          </a:p>
        </p:txBody>
      </p:sp>
      <p:sp>
        <p:nvSpPr>
          <p:cNvPr id="6" name="Text 3"/>
          <p:cNvSpPr/>
          <p:nvPr/>
        </p:nvSpPr>
        <p:spPr>
          <a:xfrm>
            <a:off x="160774" y="3309938"/>
            <a:ext cx="2436725" cy="1452981"/>
          </a:xfrm>
          <a:prstGeom prst="rect">
            <a:avLst/>
          </a:prstGeom>
          <a:noFill/>
          <a:ln/>
        </p:spPr>
        <p:txBody>
          <a:bodyPr vert="horz" wrap="square" lIns="0" tIns="0" rIns="0" bIns="0" rtlCol="0" anchor="ctr"/>
          <a:lstStyle/>
          <a:p>
            <a:pPr marL="0" indent="0" algn="ctr">
              <a:lnSpc>
                <a:spcPts val="1725"/>
              </a:lnSpc>
              <a:buNone/>
            </a:pPr>
            <a:endParaRPr lang="en-US" sz="1200" dirty="0"/>
          </a:p>
        </p:txBody>
      </p:sp>
      <p:sp>
        <p:nvSpPr>
          <p:cNvPr id="9" name="文本框 8">
            <a:extLst>
              <a:ext uri="{FF2B5EF4-FFF2-40B4-BE49-F238E27FC236}">
                <a16:creationId xmlns:a16="http://schemas.microsoft.com/office/drawing/2014/main" id="{C8BA28D0-E4A5-F24B-12C0-9E02521D3774}"/>
              </a:ext>
            </a:extLst>
          </p:cNvPr>
          <p:cNvSpPr txBox="1"/>
          <p:nvPr/>
        </p:nvSpPr>
        <p:spPr>
          <a:xfrm>
            <a:off x="406958" y="2888901"/>
            <a:ext cx="2900153" cy="923330"/>
          </a:xfrm>
          <a:prstGeom prst="rect">
            <a:avLst/>
          </a:prstGeom>
          <a:noFill/>
        </p:spPr>
        <p:txBody>
          <a:bodyPr wrap="none" rtlCol="0">
            <a:spAutoFit/>
          </a:bodyPr>
          <a:lstStyle/>
          <a:p>
            <a:r>
              <a:rPr lang="zh-CN" altLang="en-US" b="1" dirty="0">
                <a:solidFill>
                  <a:schemeClr val="bg1"/>
                </a:solidFill>
                <a:latin typeface="Microsoft YaHei Light" panose="020B0502040204020203" pitchFamily="34" charset="-122"/>
                <a:ea typeface="Microsoft YaHei Light" panose="020B0502040204020203" pitchFamily="34" charset="-122"/>
              </a:rPr>
              <a:t>汇报：于博宇</a:t>
            </a:r>
            <a:endParaRPr lang="en-US" altLang="zh-CN" b="1" dirty="0">
              <a:solidFill>
                <a:schemeClr val="bg1"/>
              </a:solidFill>
              <a:latin typeface="Microsoft YaHei Light" panose="020B0502040204020203" pitchFamily="34" charset="-122"/>
              <a:ea typeface="Microsoft YaHei Light" panose="020B0502040204020203" pitchFamily="34" charset="-122"/>
            </a:endParaRPr>
          </a:p>
          <a:p>
            <a:r>
              <a:rPr lang="zh-CN" altLang="en-US" b="1" dirty="0">
                <a:solidFill>
                  <a:schemeClr val="bg1"/>
                </a:solidFill>
                <a:latin typeface="Microsoft YaHei Light" panose="020B0502040204020203" pitchFamily="34" charset="-122"/>
                <a:ea typeface="Microsoft YaHei Light" panose="020B0502040204020203" pitchFamily="34" charset="-122"/>
              </a:rPr>
              <a:t>资料收集：于淑怡 杨浩然</a:t>
            </a:r>
            <a:endParaRPr lang="en-US" altLang="zh-CN" b="1" dirty="0">
              <a:solidFill>
                <a:schemeClr val="bg1"/>
              </a:solidFill>
              <a:latin typeface="Microsoft YaHei Light" panose="020B0502040204020203" pitchFamily="34" charset="-122"/>
              <a:ea typeface="Microsoft YaHei Light" panose="020B0502040204020203" pitchFamily="34" charset="-122"/>
            </a:endParaRPr>
          </a:p>
          <a:p>
            <a:r>
              <a:rPr lang="en-US" altLang="zh-CN" b="1" dirty="0">
                <a:solidFill>
                  <a:schemeClr val="bg1"/>
                </a:solidFill>
                <a:latin typeface="Microsoft YaHei Light" panose="020B0502040204020203" pitchFamily="34" charset="-122"/>
                <a:ea typeface="Microsoft YaHei Light" panose="020B0502040204020203" pitchFamily="34" charset="-122"/>
              </a:rPr>
              <a:t>PPT</a:t>
            </a:r>
            <a:r>
              <a:rPr lang="zh-CN" altLang="en-US" b="1" dirty="0">
                <a:solidFill>
                  <a:schemeClr val="bg1"/>
                </a:solidFill>
                <a:latin typeface="Microsoft YaHei Light" panose="020B0502040204020203" pitchFamily="34" charset="-122"/>
                <a:ea typeface="Microsoft YaHei Light" panose="020B0502040204020203" pitchFamily="34" charset="-122"/>
              </a:rPr>
              <a:t>制作：姚泽文</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zh-CN" altLang="en-US"/>
          </a:p>
        </p:txBody>
      </p:sp>
      <p:pic>
        <p:nvPicPr>
          <p:cNvPr id="3" name="Image 0" descr="preencoded.png"/>
          <p:cNvPicPr>
            <a:picLocks noChangeAspect="1"/>
          </p:cNvPicPr>
          <p:nvPr/>
        </p:nvPicPr>
        <p:blipFill>
          <a:blip r:embed="rId3"/>
          <a:srcRect/>
          <a:stretch/>
        </p:blipFill>
        <p:spPr>
          <a:xfrm>
            <a:off x="0" y="0"/>
            <a:ext cx="2952750" cy="5143500"/>
          </a:xfrm>
          <a:prstGeom prst="rect">
            <a:avLst/>
          </a:prstGeom>
        </p:spPr>
      </p:pic>
      <p:sp>
        <p:nvSpPr>
          <p:cNvPr id="4" name="Text 1"/>
          <p:cNvSpPr/>
          <p:nvPr/>
        </p:nvSpPr>
        <p:spPr>
          <a:xfrm>
            <a:off x="571500" y="3433763"/>
            <a:ext cx="1857375" cy="666750"/>
          </a:xfrm>
          <a:prstGeom prst="rect">
            <a:avLst/>
          </a:prstGeom>
          <a:noFill/>
          <a:ln/>
        </p:spPr>
        <p:txBody>
          <a:bodyPr vert="horz" wrap="square" lIns="0" tIns="0" rIns="0" bIns="0" rtlCol="0" anchor="ctr"/>
          <a:lstStyle/>
          <a:p>
            <a:pPr marL="0" indent="0" algn="l">
              <a:lnSpc>
                <a:spcPts val="5250"/>
              </a:lnSpc>
              <a:buNone/>
            </a:pPr>
            <a:r>
              <a:rPr lang="en-US" sz="3750" b="1" dirty="0">
                <a:solidFill>
                  <a:srgbClr val="FFFFFF"/>
                </a:solidFill>
                <a:latin typeface="Microsoft YaHei" pitchFamily="34" charset="0"/>
                <a:ea typeface="Microsoft YaHei" pitchFamily="34" charset="-122"/>
                <a:cs typeface="Microsoft YaHei" pitchFamily="34" charset="-120"/>
              </a:rPr>
              <a:t>content</a:t>
            </a:r>
            <a:endParaRPr lang="en-US" sz="3750" dirty="0"/>
          </a:p>
        </p:txBody>
      </p:sp>
      <p:sp>
        <p:nvSpPr>
          <p:cNvPr id="5" name="Text 2"/>
          <p:cNvSpPr/>
          <p:nvPr/>
        </p:nvSpPr>
        <p:spPr>
          <a:xfrm>
            <a:off x="571500" y="4176713"/>
            <a:ext cx="1809750" cy="400050"/>
          </a:xfrm>
          <a:prstGeom prst="rect">
            <a:avLst/>
          </a:prstGeom>
          <a:noFill/>
          <a:ln/>
        </p:spPr>
        <p:txBody>
          <a:bodyPr vert="horz" wrap="square" lIns="0" tIns="0" rIns="0" bIns="0" rtlCol="0" anchor="ctr"/>
          <a:lstStyle/>
          <a:p>
            <a:pPr marL="0" indent="0" algn="l">
              <a:lnSpc>
                <a:spcPts val="3150"/>
              </a:lnSpc>
              <a:buNone/>
            </a:pPr>
            <a:r>
              <a:rPr lang="en-US" sz="2250" dirty="0">
                <a:solidFill>
                  <a:srgbClr val="FFFFFF"/>
                </a:solidFill>
                <a:latin typeface="Microsoft YaHei" pitchFamily="34" charset="0"/>
                <a:ea typeface="Microsoft YaHei" pitchFamily="34" charset="-122"/>
                <a:cs typeface="Microsoft YaHei" pitchFamily="34" charset="-120"/>
              </a:rPr>
              <a:t>目录</a:t>
            </a:r>
            <a:endParaRPr lang="en-US" sz="2250" dirty="0"/>
          </a:p>
        </p:txBody>
      </p:sp>
      <p:sp>
        <p:nvSpPr>
          <p:cNvPr id="6" name="Text 3"/>
          <p:cNvSpPr/>
          <p:nvPr/>
        </p:nvSpPr>
        <p:spPr>
          <a:xfrm>
            <a:off x="3336054" y="1302544"/>
            <a:ext cx="540622" cy="333375"/>
          </a:xfrm>
          <a:prstGeom prst="rect">
            <a:avLst/>
          </a:prstGeom>
          <a:noFill/>
          <a:ln/>
        </p:spPr>
        <p:txBody>
          <a:bodyPr vert="horz" wrap="square" lIns="0" tIns="0" rIns="0" bIns="0" rtlCol="0" anchor="ctr"/>
          <a:lstStyle/>
          <a:p>
            <a:pPr marL="0" indent="0" algn="l">
              <a:lnSpc>
                <a:spcPts val="3038"/>
              </a:lnSpc>
              <a:buNone/>
            </a:pPr>
            <a:r>
              <a:rPr lang="en-US" sz="3200" b="1" dirty="0">
                <a:solidFill>
                  <a:srgbClr val="BB0000"/>
                </a:solidFill>
                <a:latin typeface="Microsoft YaHei" pitchFamily="34" charset="0"/>
                <a:ea typeface="Microsoft YaHei" pitchFamily="34" charset="-122"/>
                <a:cs typeface="Microsoft YaHei" pitchFamily="34" charset="-120"/>
              </a:rPr>
              <a:t>01</a:t>
            </a:r>
            <a:endParaRPr lang="en-US" sz="3200" dirty="0"/>
          </a:p>
        </p:txBody>
      </p:sp>
      <p:sp>
        <p:nvSpPr>
          <p:cNvPr id="7" name="Text 4"/>
          <p:cNvSpPr/>
          <p:nvPr/>
        </p:nvSpPr>
        <p:spPr>
          <a:xfrm>
            <a:off x="3990975" y="1373981"/>
            <a:ext cx="4581525" cy="209550"/>
          </a:xfrm>
          <a:prstGeom prst="rect">
            <a:avLst/>
          </a:prstGeom>
          <a:noFill/>
          <a:ln/>
        </p:spPr>
        <p:txBody>
          <a:bodyPr vert="horz" wrap="square" lIns="0" tIns="0" rIns="0" bIns="0" rtlCol="0" anchor="ctr"/>
          <a:lstStyle/>
          <a:p>
            <a:pPr marL="0" indent="0" algn="l">
              <a:lnSpc>
                <a:spcPts val="1650"/>
              </a:lnSpc>
              <a:buNone/>
            </a:pPr>
            <a:r>
              <a:rPr lang="en-US" sz="2000" b="1" dirty="0">
                <a:solidFill>
                  <a:srgbClr val="333333"/>
                </a:solidFill>
                <a:latin typeface="Microsoft YaHei" pitchFamily="34" charset="0"/>
                <a:ea typeface="Microsoft YaHei" pitchFamily="34" charset="-122"/>
                <a:cs typeface="Microsoft YaHei" pitchFamily="34" charset="-120"/>
              </a:rPr>
              <a:t>引言：科技发展与人类社会的变革</a:t>
            </a:r>
            <a:endParaRPr lang="en-US" sz="2000" dirty="0"/>
          </a:p>
        </p:txBody>
      </p:sp>
      <p:sp>
        <p:nvSpPr>
          <p:cNvPr id="8" name="Text 5"/>
          <p:cNvSpPr/>
          <p:nvPr/>
        </p:nvSpPr>
        <p:spPr>
          <a:xfrm>
            <a:off x="3990975" y="1621631"/>
            <a:ext cx="4581525"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9" name="Text 6"/>
          <p:cNvSpPr/>
          <p:nvPr/>
        </p:nvSpPr>
        <p:spPr>
          <a:xfrm>
            <a:off x="3336054" y="1931194"/>
            <a:ext cx="540622" cy="333375"/>
          </a:xfrm>
          <a:prstGeom prst="rect">
            <a:avLst/>
          </a:prstGeom>
          <a:noFill/>
          <a:ln/>
        </p:spPr>
        <p:txBody>
          <a:bodyPr vert="horz" wrap="square" lIns="0" tIns="0" rIns="0" bIns="0" rtlCol="0" anchor="ctr"/>
          <a:lstStyle/>
          <a:p>
            <a:pPr marL="0" indent="0" algn="l">
              <a:lnSpc>
                <a:spcPts val="3038"/>
              </a:lnSpc>
              <a:buNone/>
            </a:pPr>
            <a:r>
              <a:rPr lang="en-US" sz="3200" b="1" dirty="0">
                <a:solidFill>
                  <a:srgbClr val="BB0000"/>
                </a:solidFill>
                <a:latin typeface="Microsoft YaHei" pitchFamily="34" charset="0"/>
                <a:ea typeface="Microsoft YaHei" pitchFamily="34" charset="-122"/>
                <a:cs typeface="Microsoft YaHei" pitchFamily="34" charset="-120"/>
              </a:rPr>
              <a:t>02</a:t>
            </a:r>
            <a:endParaRPr lang="en-US" sz="3200" dirty="0"/>
          </a:p>
        </p:txBody>
      </p:sp>
      <p:sp>
        <p:nvSpPr>
          <p:cNvPr id="10" name="Text 7"/>
          <p:cNvSpPr/>
          <p:nvPr/>
        </p:nvSpPr>
        <p:spPr>
          <a:xfrm>
            <a:off x="3990975" y="2002631"/>
            <a:ext cx="4581525" cy="209550"/>
          </a:xfrm>
          <a:prstGeom prst="rect">
            <a:avLst/>
          </a:prstGeom>
          <a:noFill/>
          <a:ln/>
        </p:spPr>
        <p:txBody>
          <a:bodyPr vert="horz" wrap="square" lIns="0" tIns="0" rIns="0" bIns="0" rtlCol="0" anchor="ctr"/>
          <a:lstStyle/>
          <a:p>
            <a:pPr marL="0" indent="0" algn="l">
              <a:lnSpc>
                <a:spcPts val="1650"/>
              </a:lnSpc>
              <a:buNone/>
            </a:pPr>
            <a:r>
              <a:rPr lang="en-US" sz="2000" b="1" dirty="0" err="1">
                <a:solidFill>
                  <a:srgbClr val="333333"/>
                </a:solidFill>
                <a:latin typeface="Microsoft YaHei" pitchFamily="34" charset="0"/>
                <a:ea typeface="Microsoft YaHei" pitchFamily="34" charset="-122"/>
                <a:cs typeface="Microsoft YaHei" pitchFamily="34" charset="-120"/>
              </a:rPr>
              <a:t>教材理论解析</a:t>
            </a:r>
            <a:endParaRPr lang="en-US" sz="2000" dirty="0"/>
          </a:p>
        </p:txBody>
      </p:sp>
      <p:sp>
        <p:nvSpPr>
          <p:cNvPr id="11" name="Text 8"/>
          <p:cNvSpPr/>
          <p:nvPr/>
        </p:nvSpPr>
        <p:spPr>
          <a:xfrm>
            <a:off x="3990975" y="2250281"/>
            <a:ext cx="4581525"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12" name="Text 9"/>
          <p:cNvSpPr/>
          <p:nvPr/>
        </p:nvSpPr>
        <p:spPr>
          <a:xfrm>
            <a:off x="3336054" y="2559844"/>
            <a:ext cx="540621" cy="333375"/>
          </a:xfrm>
          <a:prstGeom prst="rect">
            <a:avLst/>
          </a:prstGeom>
          <a:noFill/>
          <a:ln/>
        </p:spPr>
        <p:txBody>
          <a:bodyPr vert="horz" wrap="square" lIns="0" tIns="0" rIns="0" bIns="0" rtlCol="0" anchor="ctr"/>
          <a:lstStyle/>
          <a:p>
            <a:pPr marL="0" indent="0" algn="l">
              <a:lnSpc>
                <a:spcPts val="3038"/>
              </a:lnSpc>
              <a:buNone/>
            </a:pPr>
            <a:r>
              <a:rPr lang="en-US" sz="3200" b="1" dirty="0">
                <a:solidFill>
                  <a:srgbClr val="BB0000"/>
                </a:solidFill>
                <a:latin typeface="Microsoft YaHei" pitchFamily="34" charset="0"/>
                <a:ea typeface="Microsoft YaHei" pitchFamily="34" charset="-122"/>
                <a:cs typeface="Microsoft YaHei" pitchFamily="34" charset="-120"/>
              </a:rPr>
              <a:t>03</a:t>
            </a:r>
            <a:endParaRPr lang="en-US" sz="3200" dirty="0"/>
          </a:p>
        </p:txBody>
      </p:sp>
      <p:sp>
        <p:nvSpPr>
          <p:cNvPr id="13" name="Text 10"/>
          <p:cNvSpPr/>
          <p:nvPr/>
        </p:nvSpPr>
        <p:spPr>
          <a:xfrm>
            <a:off x="3990975" y="2631281"/>
            <a:ext cx="4581525" cy="209550"/>
          </a:xfrm>
          <a:prstGeom prst="rect">
            <a:avLst/>
          </a:prstGeom>
          <a:noFill/>
          <a:ln/>
        </p:spPr>
        <p:txBody>
          <a:bodyPr vert="horz" wrap="square" lIns="0" tIns="0" rIns="0" bIns="0" rtlCol="0" anchor="ctr"/>
          <a:lstStyle/>
          <a:p>
            <a:pPr marL="0" indent="0" algn="l">
              <a:lnSpc>
                <a:spcPts val="1650"/>
              </a:lnSpc>
              <a:buNone/>
            </a:pPr>
            <a:r>
              <a:rPr lang="en-US" sz="2000" b="1" dirty="0">
                <a:solidFill>
                  <a:srgbClr val="333333"/>
                </a:solidFill>
                <a:latin typeface="Microsoft YaHei" pitchFamily="34" charset="0"/>
                <a:ea typeface="Microsoft YaHei" pitchFamily="34" charset="-122"/>
                <a:cs typeface="Microsoft YaHei" pitchFamily="34" charset="-120"/>
              </a:rPr>
              <a:t>典型案例分析：自动驾驶引发的社会变革</a:t>
            </a:r>
            <a:endParaRPr lang="en-US" sz="2000" dirty="0"/>
          </a:p>
        </p:txBody>
      </p:sp>
      <p:sp>
        <p:nvSpPr>
          <p:cNvPr id="14" name="Text 11"/>
          <p:cNvSpPr/>
          <p:nvPr/>
        </p:nvSpPr>
        <p:spPr>
          <a:xfrm>
            <a:off x="3990975" y="2878931"/>
            <a:ext cx="4581525"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15" name="Text 12"/>
          <p:cNvSpPr/>
          <p:nvPr/>
        </p:nvSpPr>
        <p:spPr>
          <a:xfrm>
            <a:off x="3336054" y="3188494"/>
            <a:ext cx="540621" cy="333375"/>
          </a:xfrm>
          <a:prstGeom prst="rect">
            <a:avLst/>
          </a:prstGeom>
          <a:noFill/>
          <a:ln/>
        </p:spPr>
        <p:txBody>
          <a:bodyPr vert="horz" wrap="square" lIns="0" tIns="0" rIns="0" bIns="0" rtlCol="0" anchor="ctr"/>
          <a:lstStyle/>
          <a:p>
            <a:pPr marL="0" indent="0" algn="l">
              <a:lnSpc>
                <a:spcPts val="3038"/>
              </a:lnSpc>
              <a:buNone/>
            </a:pPr>
            <a:r>
              <a:rPr lang="en-US" sz="3200" b="1" dirty="0">
                <a:solidFill>
                  <a:srgbClr val="BB0000"/>
                </a:solidFill>
                <a:latin typeface="Microsoft YaHei" pitchFamily="34" charset="0"/>
                <a:ea typeface="Microsoft YaHei" pitchFamily="34" charset="-122"/>
                <a:cs typeface="Microsoft YaHei" pitchFamily="34" charset="-120"/>
              </a:rPr>
              <a:t>04</a:t>
            </a:r>
            <a:endParaRPr lang="en-US" sz="3200" dirty="0"/>
          </a:p>
        </p:txBody>
      </p:sp>
      <p:sp>
        <p:nvSpPr>
          <p:cNvPr id="16" name="Text 13"/>
          <p:cNvSpPr/>
          <p:nvPr/>
        </p:nvSpPr>
        <p:spPr>
          <a:xfrm>
            <a:off x="3990975" y="3259931"/>
            <a:ext cx="4581525" cy="209550"/>
          </a:xfrm>
          <a:prstGeom prst="rect">
            <a:avLst/>
          </a:prstGeom>
          <a:noFill/>
          <a:ln/>
        </p:spPr>
        <p:txBody>
          <a:bodyPr vert="horz" wrap="square" lIns="0" tIns="0" rIns="0" bIns="0" rtlCol="0" anchor="ctr"/>
          <a:lstStyle/>
          <a:p>
            <a:pPr marL="0" indent="0" algn="l">
              <a:lnSpc>
                <a:spcPts val="1650"/>
              </a:lnSpc>
              <a:buNone/>
            </a:pPr>
            <a:r>
              <a:rPr lang="en-US" sz="2000" b="1" dirty="0" err="1">
                <a:solidFill>
                  <a:srgbClr val="333333"/>
                </a:solidFill>
                <a:latin typeface="Microsoft YaHei" pitchFamily="34" charset="0"/>
                <a:ea typeface="Microsoft YaHei" pitchFamily="34" charset="-122"/>
                <a:cs typeface="Microsoft YaHei" pitchFamily="34" charset="-120"/>
              </a:rPr>
              <a:t>总结</a:t>
            </a:r>
            <a:r>
              <a:rPr lang="zh-CN" altLang="en-US" sz="2000" b="1" dirty="0">
                <a:solidFill>
                  <a:srgbClr val="333333"/>
                </a:solidFill>
                <a:latin typeface="Microsoft YaHei" pitchFamily="34" charset="0"/>
                <a:ea typeface="Microsoft YaHei" pitchFamily="34" charset="-122"/>
                <a:cs typeface="Microsoft YaHei" pitchFamily="34" charset="-120"/>
              </a:rPr>
              <a:t>与展望</a:t>
            </a:r>
            <a:endParaRPr lang="en-US" sz="2000" dirty="0"/>
          </a:p>
        </p:txBody>
      </p:sp>
      <p:sp>
        <p:nvSpPr>
          <p:cNvPr id="17" name="Text 14"/>
          <p:cNvSpPr/>
          <p:nvPr/>
        </p:nvSpPr>
        <p:spPr>
          <a:xfrm>
            <a:off x="3990975" y="3507581"/>
            <a:ext cx="4581525"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2647950"/>
            <a:ext cx="4762500" cy="1333500"/>
          </a:xfrm>
          <a:prstGeom prst="rect">
            <a:avLst/>
          </a:prstGeom>
          <a:noFill/>
          <a:ln/>
        </p:spPr>
        <p:txBody>
          <a:bodyPr vert="horz" wrap="square" lIns="0" tIns="0" rIns="0" bIns="0" rtlCol="0" anchor="ctr"/>
          <a:lstStyle/>
          <a:p>
            <a:pPr marL="0" indent="0" algn="l">
              <a:lnSpc>
                <a:spcPts val="5250"/>
              </a:lnSpc>
              <a:buNone/>
            </a:pPr>
            <a:r>
              <a:rPr lang="en-US" sz="3750" b="1" dirty="0">
                <a:solidFill>
                  <a:srgbClr val="FFFFFF"/>
                </a:solidFill>
                <a:latin typeface="Microsoft YaHei" pitchFamily="34" charset="0"/>
                <a:ea typeface="Microsoft YaHei" pitchFamily="34" charset="-122"/>
                <a:cs typeface="Microsoft YaHei" pitchFamily="34" charset="-120"/>
              </a:rPr>
              <a:t>引言：科技发展与人类社会的变革</a:t>
            </a:r>
            <a:endParaRPr lang="en-US" sz="3750" dirty="0"/>
          </a:p>
        </p:txBody>
      </p:sp>
      <p:sp>
        <p:nvSpPr>
          <p:cNvPr id="4" name="Shape 1"/>
          <p:cNvSpPr/>
          <p:nvPr/>
        </p:nvSpPr>
        <p:spPr>
          <a:xfrm>
            <a:off x="571500" y="4157662"/>
            <a:ext cx="4762500" cy="14288"/>
          </a:xfrm>
          <a:prstGeom prst="rect">
            <a:avLst/>
          </a:prstGeom>
          <a:solidFill>
            <a:srgbClr val="FFFFFF">
              <a:alpha val="30000"/>
            </a:srgbClr>
          </a:solidFill>
          <a:ln/>
        </p:spPr>
        <p:txBody>
          <a:bodyPr/>
          <a:lstStyle/>
          <a:p>
            <a:endParaRPr lang="zh-CN" altLang="en-US"/>
          </a:p>
        </p:txBody>
      </p:sp>
      <p:sp>
        <p:nvSpPr>
          <p:cNvPr id="5" name="Text 2"/>
          <p:cNvSpPr/>
          <p:nvPr/>
        </p:nvSpPr>
        <p:spPr>
          <a:xfrm>
            <a:off x="571500" y="4362450"/>
            <a:ext cx="4762500"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a:ln/>
        </p:spPr>
        <p:txBody>
          <a:bodyPr vert="horz" wrap="square" lIns="0" tIns="0" rIns="0" bIns="0" rtlCol="0" anchor="ctr"/>
          <a:lstStyle/>
          <a:p>
            <a:pPr marL="0" indent="0" algn="ctr">
              <a:lnSpc>
                <a:spcPts val="22500"/>
              </a:lnSpc>
              <a:buNone/>
            </a:pPr>
            <a:r>
              <a:rPr lang="en-US" sz="22500" b="1" dirty="0">
                <a:solidFill>
                  <a:srgbClr val="FFF4AE"/>
                </a:solidFill>
                <a:latin typeface="Microsoft YaHei" pitchFamily="34" charset="0"/>
                <a:ea typeface="Microsoft YaHei" pitchFamily="34" charset="-122"/>
                <a:cs typeface="Microsoft YaHei" pitchFamily="34" charset="-120"/>
              </a:rPr>
              <a:t>01</a:t>
            </a:r>
            <a:endParaRPr lang="en-US" sz="22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2" name="Image 0" descr="preencoded.png">
            <a:extLst>
              <a:ext uri="{FF2B5EF4-FFF2-40B4-BE49-F238E27FC236}">
                <a16:creationId xmlns:a16="http://schemas.microsoft.com/office/drawing/2014/main" id="{9E95FA4C-E206-6FE2-09E5-D1F3645388F6}"/>
              </a:ext>
            </a:extLst>
          </p:cNvPr>
          <p:cNvPicPr>
            <a:picLocks noChangeAspect="1"/>
          </p:cNvPicPr>
          <p:nvPr/>
        </p:nvPicPr>
        <p:blipFill>
          <a:blip r:embed="rId3"/>
          <a:srcRect t="3571" b="3571"/>
          <a:stretch/>
        </p:blipFill>
        <p:spPr>
          <a:xfrm>
            <a:off x="0" y="0"/>
            <a:ext cx="9144000" cy="742950"/>
          </a:xfrm>
          <a:prstGeom prst="rect">
            <a:avLst/>
          </a:prstGeom>
        </p:spPr>
      </p:pic>
      <p:sp>
        <p:nvSpPr>
          <p:cNvPr id="5" name="Text 1"/>
          <p:cNvSpPr/>
          <p:nvPr/>
        </p:nvSpPr>
        <p:spPr>
          <a:xfrm>
            <a:off x="218865" y="155121"/>
            <a:ext cx="4038600" cy="400050"/>
          </a:xfrm>
          <a:prstGeom prst="rect">
            <a:avLst/>
          </a:prstGeom>
          <a:noFill/>
          <a:ln/>
        </p:spPr>
        <p:txBody>
          <a:bodyPr vert="horz" wrap="square" lIns="0" tIns="0" rIns="0" bIns="0" rtlCol="0" anchor="ctr"/>
          <a:lstStyle/>
          <a:p>
            <a:pPr marL="0" indent="0" algn="l">
              <a:lnSpc>
                <a:spcPts val="3150"/>
              </a:lnSpc>
              <a:buNone/>
            </a:pPr>
            <a:r>
              <a:rPr lang="en-US" sz="2250" b="1" dirty="0">
                <a:solidFill>
                  <a:schemeClr val="bg1"/>
                </a:solidFill>
                <a:latin typeface="Microsoft YaHei" pitchFamily="34" charset="0"/>
                <a:ea typeface="Microsoft YaHei" pitchFamily="34" charset="-122"/>
                <a:cs typeface="Microsoft YaHei" pitchFamily="34" charset="-120"/>
              </a:rPr>
              <a:t>经典引述</a:t>
            </a:r>
            <a:endParaRPr lang="en-US" sz="2250" dirty="0">
              <a:solidFill>
                <a:schemeClr val="bg1"/>
              </a:solidFill>
            </a:endParaRPr>
          </a:p>
        </p:txBody>
      </p:sp>
      <p:sp>
        <p:nvSpPr>
          <p:cNvPr id="6" name="Text 2"/>
          <p:cNvSpPr/>
          <p:nvPr/>
        </p:nvSpPr>
        <p:spPr>
          <a:xfrm>
            <a:off x="4386981" y="666647"/>
            <a:ext cx="40386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7" name="Image 2" descr="preencoded.png"/>
          <p:cNvPicPr>
            <a:picLocks noChangeAspect="1"/>
          </p:cNvPicPr>
          <p:nvPr/>
        </p:nvPicPr>
        <p:blipFill>
          <a:blip r:embed="rId4"/>
          <a:srcRect/>
          <a:stretch/>
        </p:blipFill>
        <p:spPr>
          <a:xfrm>
            <a:off x="213841" y="876197"/>
            <a:ext cx="476250" cy="476250"/>
          </a:xfrm>
          <a:prstGeom prst="rect">
            <a:avLst/>
          </a:prstGeom>
        </p:spPr>
      </p:pic>
      <p:sp>
        <p:nvSpPr>
          <p:cNvPr id="8" name="Text 3"/>
          <p:cNvSpPr/>
          <p:nvPr/>
        </p:nvSpPr>
        <p:spPr>
          <a:xfrm>
            <a:off x="314834" y="1009547"/>
            <a:ext cx="1881187" cy="209550"/>
          </a:xfrm>
          <a:prstGeom prst="rect">
            <a:avLst/>
          </a:prstGeom>
          <a:noFill/>
          <a:ln/>
        </p:spPr>
        <p:txBody>
          <a:bodyPr vert="horz" wrap="square" lIns="0" tIns="0" rIns="0" bIns="0" rtlCol="0" anchor="ctr"/>
          <a:lstStyle/>
          <a:p>
            <a:pPr marL="0" indent="0" algn="ctr">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马克思的洞见</a:t>
            </a:r>
            <a:endParaRPr lang="en-US" sz="1200" dirty="0"/>
          </a:p>
        </p:txBody>
      </p:sp>
      <p:sp>
        <p:nvSpPr>
          <p:cNvPr id="9" name="Text 4"/>
          <p:cNvSpPr/>
          <p:nvPr/>
        </p:nvSpPr>
        <p:spPr>
          <a:xfrm>
            <a:off x="1892412" y="783460"/>
            <a:ext cx="7009351" cy="1100295"/>
          </a:xfrm>
          <a:prstGeom prst="rect">
            <a:avLst/>
          </a:prstGeom>
          <a:noFill/>
          <a:ln>
            <a:noFill/>
          </a:ln>
        </p:spPr>
        <p:txBody>
          <a:bodyPr vert="horz" wrap="square" lIns="0" tIns="0" rIns="0" bIns="0" rtlCol="0" anchor="ctr"/>
          <a:lstStyle/>
          <a:p>
            <a:pPr>
              <a:buNone/>
            </a:pPr>
            <a:r>
              <a:rPr lang="zh-CN" altLang="en-US" sz="1400" b="1" i="0" dirty="0">
                <a:effectLst/>
                <a:latin typeface="Microsoft YaHei Light" panose="020B0502040204020203" pitchFamily="34" charset="-122"/>
                <a:ea typeface="Microsoft YaHei Light" panose="020B0502040204020203" pitchFamily="34" charset="-122"/>
              </a:rPr>
              <a:t>马克思在</a:t>
            </a:r>
            <a:r>
              <a:rPr lang="en-US" altLang="zh-CN" sz="1400" b="1" i="0" dirty="0">
                <a:effectLst/>
                <a:latin typeface="Microsoft YaHei Light" panose="020B0502040204020203" pitchFamily="34" charset="-122"/>
                <a:ea typeface="Microsoft YaHei Light" panose="020B0502040204020203" pitchFamily="34" charset="-122"/>
              </a:rPr>
              <a:t>《</a:t>
            </a:r>
            <a:r>
              <a:rPr lang="zh-CN" altLang="en-US" sz="1400" b="1" i="0" dirty="0">
                <a:effectLst/>
                <a:latin typeface="Microsoft YaHei Light" panose="020B0502040204020203" pitchFamily="34" charset="-122"/>
                <a:ea typeface="Microsoft YaHei Light" panose="020B0502040204020203" pitchFamily="34" charset="-122"/>
              </a:rPr>
              <a:t>哲学的贫困</a:t>
            </a:r>
            <a:r>
              <a:rPr lang="en-US" altLang="zh-CN" sz="1400" b="1" i="0" dirty="0">
                <a:effectLst/>
                <a:latin typeface="Microsoft YaHei Light" panose="020B0502040204020203" pitchFamily="34" charset="-122"/>
                <a:ea typeface="Microsoft YaHei Light" panose="020B0502040204020203" pitchFamily="34" charset="-122"/>
              </a:rPr>
              <a:t>》</a:t>
            </a:r>
            <a:r>
              <a:rPr lang="zh-CN" altLang="en-US" sz="1400" b="1" i="0" dirty="0">
                <a:effectLst/>
                <a:latin typeface="Microsoft YaHei Light" panose="020B0502040204020203" pitchFamily="34" charset="-122"/>
                <a:ea typeface="Microsoft YaHei Light" panose="020B0502040204020203" pitchFamily="34" charset="-122"/>
              </a:rPr>
              <a:t>（</a:t>
            </a:r>
            <a:r>
              <a:rPr lang="en-US" altLang="zh-CN" sz="1400" b="1" i="0" dirty="0">
                <a:effectLst/>
                <a:latin typeface="Microsoft YaHei Light" panose="020B0502040204020203" pitchFamily="34" charset="-122"/>
                <a:ea typeface="Microsoft YaHei Light" panose="020B0502040204020203" pitchFamily="34" charset="-122"/>
              </a:rPr>
              <a:t>1847</a:t>
            </a:r>
            <a:r>
              <a:rPr lang="zh-CN" altLang="en-US" sz="1400" b="1" i="0" dirty="0">
                <a:effectLst/>
                <a:latin typeface="Microsoft YaHei Light" panose="020B0502040204020203" pitchFamily="34" charset="-122"/>
                <a:ea typeface="Microsoft YaHei Light" panose="020B0502040204020203" pitchFamily="34" charset="-122"/>
              </a:rPr>
              <a:t>年）中提出：</a:t>
            </a:r>
            <a:r>
              <a:rPr lang="zh-CN" altLang="en-US" sz="1400" b="1" i="0" dirty="0">
                <a:effectLst/>
                <a:highlight>
                  <a:srgbClr val="FFFF00"/>
                </a:highlight>
                <a:latin typeface="Microsoft YaHei Light" panose="020B0502040204020203" pitchFamily="34" charset="-122"/>
                <a:ea typeface="Microsoft YaHei Light" panose="020B0502040204020203" pitchFamily="34" charset="-122"/>
              </a:rPr>
              <a:t>“手推磨产生的是封建主的社会，蒸汽磨产生的是工业资本家的社会。”</a:t>
            </a:r>
            <a:r>
              <a:rPr lang="zh-CN" altLang="en-US" sz="1400" b="1" i="0" dirty="0">
                <a:effectLst/>
                <a:latin typeface="Microsoft YaHei Light" panose="020B0502040204020203" pitchFamily="34" charset="-122"/>
                <a:ea typeface="Microsoft YaHei Light" panose="020B0502040204020203" pitchFamily="34" charset="-122"/>
              </a:rPr>
              <a:t>（原文：</a:t>
            </a:r>
            <a:r>
              <a:rPr lang="zh-CN" altLang="en-US" sz="1400" b="1" i="1" dirty="0">
                <a:effectLst/>
                <a:latin typeface="Microsoft YaHei Light" panose="020B0502040204020203" pitchFamily="34" charset="-122"/>
                <a:ea typeface="Microsoft YaHei Light" panose="020B0502040204020203" pitchFamily="34" charset="-122"/>
              </a:rPr>
              <a:t>“</a:t>
            </a:r>
            <a:r>
              <a:rPr lang="en-US" altLang="zh-CN" sz="1400" b="1" i="1" dirty="0">
                <a:effectLst/>
                <a:latin typeface="Microsoft YaHei Light" panose="020B0502040204020203" pitchFamily="34" charset="-122"/>
                <a:ea typeface="Microsoft YaHei Light" panose="020B0502040204020203" pitchFamily="34" charset="-122"/>
              </a:rPr>
              <a:t>The windmill gives you society with the feudal lord; the steam-mill, society with the industrial capitalist.”</a:t>
            </a:r>
            <a:r>
              <a:rPr lang="zh-CN" altLang="en-US" sz="1400" b="1" i="0" dirty="0">
                <a:effectLst/>
                <a:latin typeface="Microsoft YaHei Light" panose="020B0502040204020203" pitchFamily="34" charset="-122"/>
                <a:ea typeface="Microsoft YaHei Light" panose="020B0502040204020203" pitchFamily="34" charset="-122"/>
              </a:rPr>
              <a:t>）这一观点强调生产力（生产工具和技术）的进步推动生产关系的变革，进而决定社会形态的演进。</a:t>
            </a:r>
          </a:p>
        </p:txBody>
      </p:sp>
      <p:pic>
        <p:nvPicPr>
          <p:cNvPr id="10" name="Image 3" descr="preencoded.png"/>
          <p:cNvPicPr>
            <a:picLocks noChangeAspect="1"/>
          </p:cNvPicPr>
          <p:nvPr/>
        </p:nvPicPr>
        <p:blipFill>
          <a:blip r:embed="rId5"/>
          <a:srcRect/>
          <a:stretch/>
        </p:blipFill>
        <p:spPr>
          <a:xfrm>
            <a:off x="143470" y="2551340"/>
            <a:ext cx="476250" cy="476250"/>
          </a:xfrm>
          <a:prstGeom prst="rect">
            <a:avLst/>
          </a:prstGeom>
        </p:spPr>
      </p:pic>
      <p:sp>
        <p:nvSpPr>
          <p:cNvPr id="11" name="Text 5"/>
          <p:cNvSpPr/>
          <p:nvPr/>
        </p:nvSpPr>
        <p:spPr>
          <a:xfrm>
            <a:off x="314833" y="2724569"/>
            <a:ext cx="1881187" cy="209550"/>
          </a:xfrm>
          <a:prstGeom prst="rect">
            <a:avLst/>
          </a:prstGeom>
          <a:noFill/>
          <a:ln/>
        </p:spPr>
        <p:txBody>
          <a:bodyPr vert="horz" wrap="square" lIns="0" tIns="0" rIns="0" bIns="0" rtlCol="0" anchor="ctr"/>
          <a:lstStyle/>
          <a:p>
            <a:pPr marL="0" indent="0" algn="ctr">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邓小平的论断</a:t>
            </a:r>
            <a:endParaRPr lang="en-US" sz="1200" dirty="0"/>
          </a:p>
        </p:txBody>
      </p:sp>
      <p:sp>
        <p:nvSpPr>
          <p:cNvPr id="12" name="Text 6"/>
          <p:cNvSpPr/>
          <p:nvPr/>
        </p:nvSpPr>
        <p:spPr>
          <a:xfrm>
            <a:off x="1941574" y="2741523"/>
            <a:ext cx="6621616" cy="419100"/>
          </a:xfrm>
          <a:prstGeom prst="rect">
            <a:avLst/>
          </a:prstGeom>
          <a:noFill/>
          <a:ln/>
        </p:spPr>
        <p:txBody>
          <a:bodyPr vert="horz" wrap="square" lIns="0" tIns="0" rIns="0" bIns="0" rtlCol="0" anchor="ctr"/>
          <a:lstStyle/>
          <a:p>
            <a:pPr marL="0" indent="0" algn="ctr">
              <a:lnSpc>
                <a:spcPts val="1650"/>
              </a:lnSpc>
              <a:buNone/>
            </a:pPr>
            <a:endParaRPr lang="en-US" sz="1050" dirty="0"/>
          </a:p>
        </p:txBody>
      </p:sp>
      <p:pic>
        <p:nvPicPr>
          <p:cNvPr id="13" name="Image 4" descr="preencoded.png"/>
          <p:cNvPicPr>
            <a:picLocks noChangeAspect="1"/>
          </p:cNvPicPr>
          <p:nvPr/>
        </p:nvPicPr>
        <p:blipFill>
          <a:blip r:embed="rId6"/>
          <a:srcRect/>
          <a:stretch/>
        </p:blipFill>
        <p:spPr>
          <a:xfrm>
            <a:off x="213843" y="4338374"/>
            <a:ext cx="476250" cy="476250"/>
          </a:xfrm>
          <a:prstGeom prst="rect">
            <a:avLst/>
          </a:prstGeom>
        </p:spPr>
      </p:pic>
      <p:sp>
        <p:nvSpPr>
          <p:cNvPr id="14" name="Text 7"/>
          <p:cNvSpPr/>
          <p:nvPr/>
        </p:nvSpPr>
        <p:spPr>
          <a:xfrm>
            <a:off x="291233" y="4427658"/>
            <a:ext cx="1881187" cy="209550"/>
          </a:xfrm>
          <a:prstGeom prst="rect">
            <a:avLst/>
          </a:prstGeom>
          <a:noFill/>
          <a:ln/>
        </p:spPr>
        <p:txBody>
          <a:bodyPr vert="horz" wrap="square" lIns="0" tIns="0" rIns="0" bIns="0" rtlCol="0" anchor="ctr"/>
          <a:lstStyle/>
          <a:p>
            <a:pPr marL="0" indent="0" algn="ctr">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赫拉利的预言</a:t>
            </a:r>
            <a:endParaRPr lang="en-US" sz="1200" dirty="0"/>
          </a:p>
        </p:txBody>
      </p:sp>
      <p:sp>
        <p:nvSpPr>
          <p:cNvPr id="15" name="Text 8"/>
          <p:cNvSpPr/>
          <p:nvPr/>
        </p:nvSpPr>
        <p:spPr>
          <a:xfrm>
            <a:off x="1892412" y="4439591"/>
            <a:ext cx="6876071" cy="419100"/>
          </a:xfrm>
          <a:prstGeom prst="rect">
            <a:avLst/>
          </a:prstGeom>
          <a:noFill/>
          <a:ln/>
        </p:spPr>
        <p:txBody>
          <a:bodyPr vert="horz" wrap="square" lIns="0" tIns="0" rIns="0" bIns="0" rtlCol="0" anchor="ctr"/>
          <a:lstStyle/>
          <a:p>
            <a:pPr marL="0" indent="0">
              <a:lnSpc>
                <a:spcPts val="1650"/>
              </a:lnSpc>
              <a:buNone/>
            </a:pPr>
            <a:r>
              <a:rPr lang="zh-CN" altLang="en-US" sz="1400" b="1" dirty="0">
                <a:latin typeface="Microsoft YaHei Light" panose="020B0502040204020203" pitchFamily="34" charset="-122"/>
                <a:ea typeface="Microsoft YaHei Light" panose="020B0502040204020203" pitchFamily="34" charset="-122"/>
                <a:cs typeface="Microsoft YaHei" pitchFamily="34" charset="-120"/>
              </a:rPr>
              <a:t>赫拉利在书中（及多次公开演讲）强调： “在</a:t>
            </a:r>
            <a:r>
              <a:rPr lang="en-US" altLang="zh-CN" sz="1400" b="1" dirty="0">
                <a:latin typeface="Microsoft YaHei Light" panose="020B0502040204020203" pitchFamily="34" charset="-122"/>
                <a:ea typeface="Microsoft YaHei Light" panose="020B0502040204020203" pitchFamily="34" charset="-122"/>
                <a:cs typeface="Microsoft YaHei" pitchFamily="34" charset="-120"/>
              </a:rPr>
              <a:t>21</a:t>
            </a:r>
            <a:r>
              <a:rPr lang="zh-CN" altLang="en-US" sz="1400" b="1" dirty="0">
                <a:latin typeface="Microsoft YaHei Light" panose="020B0502040204020203" pitchFamily="34" charset="-122"/>
                <a:ea typeface="Microsoft YaHei Light" panose="020B0502040204020203" pitchFamily="34" charset="-122"/>
                <a:cs typeface="Microsoft YaHei" pitchFamily="34" charset="-120"/>
              </a:rPr>
              <a:t>世纪，数据（而非土地、机器）成为关键生产资料，控制数据意味着控制未来。” “谁掌握了数据流，谁就掌握了全球经济和政治的权力结构。”</a:t>
            </a:r>
            <a:endParaRPr lang="en-US" sz="1400" b="1" dirty="0">
              <a:latin typeface="Microsoft YaHei Light" panose="020B0502040204020203" pitchFamily="34" charset="-122"/>
              <a:ea typeface="Microsoft YaHei Light" panose="020B0502040204020203" pitchFamily="34" charset="-122"/>
            </a:endParaRPr>
          </a:p>
        </p:txBody>
      </p:sp>
      <p:sp>
        <p:nvSpPr>
          <p:cNvPr id="20" name="Text 4">
            <a:extLst>
              <a:ext uri="{FF2B5EF4-FFF2-40B4-BE49-F238E27FC236}">
                <a16:creationId xmlns:a16="http://schemas.microsoft.com/office/drawing/2014/main" id="{6FC6683D-5746-7CDB-5B1A-C4CA98570DAD}"/>
              </a:ext>
            </a:extLst>
          </p:cNvPr>
          <p:cNvSpPr/>
          <p:nvPr/>
        </p:nvSpPr>
        <p:spPr>
          <a:xfrm>
            <a:off x="1892412" y="2636748"/>
            <a:ext cx="7023549" cy="628650"/>
          </a:xfrm>
          <a:prstGeom prst="rect">
            <a:avLst/>
          </a:prstGeom>
          <a:noFill/>
          <a:ln/>
        </p:spPr>
        <p:txBody>
          <a:bodyPr vert="horz" wrap="square" lIns="0" tIns="0" rIns="0" bIns="0" rtlCol="0" anchor="ctr"/>
          <a:lstStyle/>
          <a:p>
            <a:pPr algn="l">
              <a:buNone/>
            </a:pPr>
            <a:r>
              <a:rPr lang="zh-CN" altLang="en-US" sz="1400" b="1" dirty="0">
                <a:latin typeface="Microsoft YaHei Light" panose="020B0502040204020203" pitchFamily="34" charset="-122"/>
                <a:ea typeface="Microsoft YaHei Light" panose="020B0502040204020203" pitchFamily="34" charset="-122"/>
              </a:rPr>
              <a:t>首次提出（</a:t>
            </a:r>
            <a:r>
              <a:rPr lang="en-US" altLang="zh-CN" sz="1400" b="1" dirty="0">
                <a:latin typeface="Microsoft YaHei Light" panose="020B0502040204020203" pitchFamily="34" charset="-122"/>
                <a:ea typeface="Microsoft YaHei Light" panose="020B0502040204020203" pitchFamily="34" charset="-122"/>
              </a:rPr>
              <a:t>1988</a:t>
            </a:r>
            <a:r>
              <a:rPr lang="zh-CN" altLang="en-US" sz="1400" b="1" dirty="0">
                <a:latin typeface="Microsoft YaHei Light" panose="020B0502040204020203" pitchFamily="34" charset="-122"/>
                <a:ea typeface="Microsoft YaHei Light" panose="020B0502040204020203" pitchFamily="34" charset="-122"/>
              </a:rPr>
              <a:t>年</a:t>
            </a:r>
            <a:r>
              <a:rPr lang="en-US" altLang="zh-CN" sz="1400" b="1" dirty="0">
                <a:latin typeface="Microsoft YaHei Light" panose="020B0502040204020203" pitchFamily="34" charset="-122"/>
                <a:ea typeface="Microsoft YaHei Light" panose="020B0502040204020203" pitchFamily="34" charset="-122"/>
              </a:rPr>
              <a:t>9</a:t>
            </a:r>
            <a:r>
              <a:rPr lang="zh-CN" altLang="en-US" sz="1400" b="1" dirty="0">
                <a:latin typeface="Microsoft YaHei Light" panose="020B0502040204020203" pitchFamily="34" charset="-122"/>
                <a:ea typeface="Microsoft YaHei Light" panose="020B0502040204020203" pitchFamily="34" charset="-122"/>
              </a:rPr>
              <a:t>月）：邓小平在会见捷克斯洛伐克总统古斯塔夫</a:t>
            </a:r>
            <a:r>
              <a:rPr lang="en-US" altLang="zh-CN" sz="1400" b="1" dirty="0">
                <a:latin typeface="Microsoft YaHei Light" panose="020B0502040204020203" pitchFamily="34" charset="-122"/>
                <a:ea typeface="Microsoft YaHei Light" panose="020B0502040204020203" pitchFamily="34" charset="-122"/>
              </a:rPr>
              <a:t>·</a:t>
            </a:r>
            <a:r>
              <a:rPr lang="zh-CN" altLang="en-US" sz="1400" b="1" dirty="0">
                <a:latin typeface="Microsoft YaHei Light" panose="020B0502040204020203" pitchFamily="34" charset="-122"/>
                <a:ea typeface="Microsoft YaHei Light" panose="020B0502040204020203" pitchFamily="34" charset="-122"/>
              </a:rPr>
              <a:t>胡萨克时明确表示：“马克思说过，科学技术是生产力，事实证明这话讲得很对。依我看，</a:t>
            </a:r>
            <a:r>
              <a:rPr lang="zh-CN" altLang="en-US" sz="1400" b="1" dirty="0">
                <a:highlight>
                  <a:srgbClr val="FFFF00"/>
                </a:highlight>
                <a:latin typeface="Microsoft YaHei Light" panose="020B0502040204020203" pitchFamily="34" charset="-122"/>
                <a:ea typeface="Microsoft YaHei Light" panose="020B0502040204020203" pitchFamily="34" charset="-122"/>
              </a:rPr>
              <a:t>科学技术是第一生产力。”</a:t>
            </a:r>
            <a:endParaRPr lang="en-US" altLang="zh-CN" sz="1400" b="1" dirty="0">
              <a:highlight>
                <a:srgbClr val="FFFF00"/>
              </a:highlight>
              <a:latin typeface="Microsoft YaHei Light" panose="020B0502040204020203" pitchFamily="34" charset="-122"/>
              <a:ea typeface="Microsoft YaHei Light" panose="020B0502040204020203" pitchFamily="34" charset="-122"/>
            </a:endParaRPr>
          </a:p>
          <a:p>
            <a:pPr algn="l">
              <a:buNone/>
            </a:pPr>
            <a:r>
              <a:rPr lang="zh-CN" altLang="en-US" sz="1400" b="1" dirty="0">
                <a:latin typeface="Microsoft YaHei Light" panose="020B0502040204020203" pitchFamily="34" charset="-122"/>
                <a:ea typeface="Microsoft YaHei Light" panose="020B0502040204020203" pitchFamily="34" charset="-122"/>
              </a:rPr>
              <a:t>深化论述（</a:t>
            </a:r>
            <a:r>
              <a:rPr lang="en-US" altLang="zh-CN" sz="1400" b="1" dirty="0">
                <a:latin typeface="Microsoft YaHei Light" panose="020B0502040204020203" pitchFamily="34" charset="-122"/>
                <a:ea typeface="Microsoft YaHei Light" panose="020B0502040204020203" pitchFamily="34" charset="-122"/>
              </a:rPr>
              <a:t>1992</a:t>
            </a:r>
            <a:r>
              <a:rPr lang="zh-CN" altLang="en-US" sz="1400" b="1" dirty="0">
                <a:latin typeface="Microsoft YaHei Light" panose="020B0502040204020203" pitchFamily="34" charset="-122"/>
                <a:ea typeface="Microsoft YaHei Light" panose="020B0502040204020203" pitchFamily="34" charset="-122"/>
              </a:rPr>
              <a:t>年南方谈话）：他在南巡讲话中再次强调：“经济发展得快一点，必须依靠科技和教育。我说科学技术是第一生产力。近一二十年来，世界科学技术发展得多快啊！高科技领域的一个突破，带动一批产业的发展。”</a:t>
            </a:r>
            <a:endParaRPr lang="en-US" altLang="zh-CN" sz="1400" b="1" dirty="0">
              <a:latin typeface="Microsoft YaHei Light" panose="020B0502040204020203" pitchFamily="34" charset="-122"/>
              <a:ea typeface="Microsoft YaHei Light" panose="020B0502040204020203" pitchFamily="34" charset="-122"/>
            </a:endParaRPr>
          </a:p>
          <a:p>
            <a:pPr algn="l">
              <a:buNone/>
            </a:pPr>
            <a:r>
              <a:rPr lang="zh-CN" altLang="en-US" sz="1400" b="1" dirty="0">
                <a:latin typeface="Microsoft YaHei Light" panose="020B0502040204020203" pitchFamily="34" charset="-122"/>
                <a:ea typeface="Microsoft YaHei Light" panose="020B0502040204020203" pitchFamily="34" charset="-122"/>
              </a:rPr>
              <a:t>邓小平的这一论断突破了传统对生产力要素（劳动力、工具等）的认知，将科技置于推动经济发展的首要地位，为中国改革开放后的科教兴国战略、高新技术产业发展奠定了理论基础。</a:t>
            </a:r>
            <a:endParaRPr lang="zh-CN" altLang="en-US" sz="1400" b="1" i="0" dirty="0">
              <a:effectLst/>
              <a:latin typeface="Microsoft YaHei Light" panose="020B0502040204020203" pitchFamily="34" charset="-122"/>
              <a:ea typeface="Microsoft YaHei Light" panose="020B0502040204020203"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rcRect t="3571" b="3571"/>
          <a:stretch/>
        </p:blipFill>
        <p:spPr>
          <a:xfrm>
            <a:off x="0" y="0"/>
            <a:ext cx="9144000" cy="742950"/>
          </a:xfrm>
          <a:prstGeom prst="rect">
            <a:avLst/>
          </a:prstGeom>
        </p:spPr>
      </p:pic>
      <p:sp>
        <p:nvSpPr>
          <p:cNvPr id="4" name="Text 1"/>
          <p:cNvSpPr/>
          <p:nvPr/>
        </p:nvSpPr>
        <p:spPr>
          <a:xfrm>
            <a:off x="280517" y="161925"/>
            <a:ext cx="8001000" cy="400050"/>
          </a:xfrm>
          <a:prstGeom prst="rect">
            <a:avLst/>
          </a:prstGeom>
          <a:noFill/>
          <a:ln/>
        </p:spPr>
        <p:txBody>
          <a:bodyPr vert="horz" wrap="square" lIns="0" tIns="0" rIns="0" bIns="0" rtlCol="0" anchor="ctr"/>
          <a:lstStyle/>
          <a:p>
            <a:pPr marL="0" indent="0" algn="l">
              <a:lnSpc>
                <a:spcPts val="3150"/>
              </a:lnSpc>
              <a:buNone/>
            </a:pPr>
            <a:r>
              <a:rPr lang="en-US" sz="2250" b="1" dirty="0">
                <a:solidFill>
                  <a:srgbClr val="FFFFFF"/>
                </a:solidFill>
                <a:latin typeface="Microsoft YaHei" pitchFamily="34" charset="0"/>
                <a:ea typeface="Microsoft YaHei" pitchFamily="34" charset="-122"/>
                <a:cs typeface="Microsoft YaHei" pitchFamily="34" charset="-120"/>
              </a:rPr>
              <a:t>当代科技图景</a:t>
            </a:r>
            <a:endParaRPr lang="en-US" sz="2250" dirty="0"/>
          </a:p>
        </p:txBody>
      </p:sp>
      <p:sp>
        <p:nvSpPr>
          <p:cNvPr id="5" name="Text 2"/>
          <p:cNvSpPr/>
          <p:nvPr/>
        </p:nvSpPr>
        <p:spPr>
          <a:xfrm>
            <a:off x="571500" y="74295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4"/>
          <a:srcRect/>
          <a:stretch/>
        </p:blipFill>
        <p:spPr>
          <a:xfrm>
            <a:off x="280517" y="814963"/>
            <a:ext cx="8382000" cy="4248150"/>
          </a:xfrm>
          <a:prstGeom prst="rect">
            <a:avLst/>
          </a:prstGeom>
        </p:spPr>
      </p:pic>
      <p:sp>
        <p:nvSpPr>
          <p:cNvPr id="7" name="Text 3"/>
          <p:cNvSpPr/>
          <p:nvPr/>
        </p:nvSpPr>
        <p:spPr>
          <a:xfrm>
            <a:off x="494830" y="3858201"/>
            <a:ext cx="2362200" cy="252413"/>
          </a:xfrm>
          <a:prstGeom prst="rect">
            <a:avLst/>
          </a:prstGeom>
          <a:noFill/>
          <a:ln/>
        </p:spPr>
        <p:txBody>
          <a:bodyPr vert="horz" wrap="square" lIns="0" tIns="0" rIns="0" bIns="0" rtlCol="0" anchor="ctr"/>
          <a:lstStyle/>
          <a:p>
            <a:pPr marL="0" indent="0" algn="r">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产业规模突破</a:t>
            </a:r>
            <a:endParaRPr lang="en-US" sz="1200" dirty="0"/>
          </a:p>
        </p:txBody>
      </p:sp>
      <p:sp>
        <p:nvSpPr>
          <p:cNvPr id="8" name="Text 4"/>
          <p:cNvSpPr/>
          <p:nvPr/>
        </p:nvSpPr>
        <p:spPr>
          <a:xfrm>
            <a:off x="494830" y="4148713"/>
            <a:ext cx="2362200" cy="457200"/>
          </a:xfrm>
          <a:prstGeom prst="rect">
            <a:avLst/>
          </a:prstGeom>
          <a:noFill/>
          <a:ln/>
        </p:spPr>
        <p:txBody>
          <a:bodyPr vert="horz" wrap="square" lIns="0" tIns="0" rIns="0" bIns="0" rtlCol="0" anchor="ctr"/>
          <a:lstStyle/>
          <a:p>
            <a:pPr marL="0" indent="0" algn="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人工智能产业规模已突破5000亿美元，对全球经济产生深远影响。</a:t>
            </a:r>
            <a:endParaRPr lang="en-US" sz="1050" dirty="0"/>
          </a:p>
        </p:txBody>
      </p:sp>
      <p:sp>
        <p:nvSpPr>
          <p:cNvPr id="9" name="Text 5"/>
          <p:cNvSpPr/>
          <p:nvPr/>
        </p:nvSpPr>
        <p:spPr>
          <a:xfrm>
            <a:off x="494830" y="2996188"/>
            <a:ext cx="2362200" cy="252413"/>
          </a:xfrm>
          <a:prstGeom prst="rect">
            <a:avLst/>
          </a:prstGeom>
          <a:noFill/>
          <a:ln/>
        </p:spPr>
        <p:txBody>
          <a:bodyPr vert="horz" wrap="square" lIns="0" tIns="0" rIns="0" bIns="0" rtlCol="0" anchor="ctr"/>
          <a:lstStyle/>
          <a:p>
            <a:pPr marL="0" indent="0" algn="r">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全球经济重塑</a:t>
            </a:r>
            <a:endParaRPr lang="en-US" sz="1200" dirty="0"/>
          </a:p>
        </p:txBody>
      </p:sp>
      <p:sp>
        <p:nvSpPr>
          <p:cNvPr id="10" name="Text 6"/>
          <p:cNvSpPr/>
          <p:nvPr/>
        </p:nvSpPr>
        <p:spPr>
          <a:xfrm>
            <a:off x="494830" y="3286701"/>
            <a:ext cx="2362200" cy="457200"/>
          </a:xfrm>
          <a:prstGeom prst="rect">
            <a:avLst/>
          </a:prstGeom>
          <a:noFill/>
          <a:ln/>
        </p:spPr>
        <p:txBody>
          <a:bodyPr vert="horz" wrap="square" lIns="0" tIns="0" rIns="0" bIns="0" rtlCol="0" anchor="ctr"/>
          <a:lstStyle/>
          <a:p>
            <a:pPr marL="0" indent="0" algn="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随着AI技术的发展，全球经济格局正在被重新塑造，新兴市场不断涌现。</a:t>
            </a:r>
            <a:endParaRPr lang="en-US" sz="1050" dirty="0"/>
          </a:p>
        </p:txBody>
      </p:sp>
      <p:sp>
        <p:nvSpPr>
          <p:cNvPr id="11" name="Text 7"/>
          <p:cNvSpPr/>
          <p:nvPr/>
        </p:nvSpPr>
        <p:spPr>
          <a:xfrm>
            <a:off x="494830" y="2134175"/>
            <a:ext cx="2362200" cy="252413"/>
          </a:xfrm>
          <a:prstGeom prst="rect">
            <a:avLst/>
          </a:prstGeom>
          <a:noFill/>
          <a:ln/>
        </p:spPr>
        <p:txBody>
          <a:bodyPr vert="horz" wrap="square" lIns="0" tIns="0" rIns="0" bIns="0" rtlCol="0" anchor="ctr"/>
          <a:lstStyle/>
          <a:p>
            <a:pPr marL="0" indent="0" algn="r">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量子计算进展</a:t>
            </a:r>
            <a:endParaRPr lang="en-US" sz="1200" dirty="0"/>
          </a:p>
        </p:txBody>
      </p:sp>
      <p:sp>
        <p:nvSpPr>
          <p:cNvPr id="12" name="Text 8"/>
          <p:cNvSpPr/>
          <p:nvPr/>
        </p:nvSpPr>
        <p:spPr>
          <a:xfrm>
            <a:off x="494830" y="2424688"/>
            <a:ext cx="2362200" cy="457200"/>
          </a:xfrm>
          <a:prstGeom prst="rect">
            <a:avLst/>
          </a:prstGeom>
          <a:noFill/>
          <a:ln/>
        </p:spPr>
        <p:txBody>
          <a:bodyPr vert="horz" wrap="square" lIns="0" tIns="0" rIns="0" bIns="0" rtlCol="0" anchor="ctr"/>
          <a:lstStyle/>
          <a:p>
            <a:pPr marL="0" indent="0" algn="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IBM推出的1121量子位处理器标志着量子计算领域取得了重大突破。</a:t>
            </a:r>
            <a:endParaRPr lang="en-US" sz="1050" dirty="0"/>
          </a:p>
        </p:txBody>
      </p:sp>
      <p:sp>
        <p:nvSpPr>
          <p:cNvPr id="13" name="Text 9"/>
          <p:cNvSpPr/>
          <p:nvPr/>
        </p:nvSpPr>
        <p:spPr>
          <a:xfrm>
            <a:off x="494830" y="1272163"/>
            <a:ext cx="2362200" cy="252413"/>
          </a:xfrm>
          <a:prstGeom prst="rect">
            <a:avLst/>
          </a:prstGeom>
          <a:noFill/>
          <a:ln/>
        </p:spPr>
        <p:txBody>
          <a:bodyPr vert="horz" wrap="square" lIns="0" tIns="0" rIns="0" bIns="0" rtlCol="0" anchor="ctr"/>
          <a:lstStyle/>
          <a:p>
            <a:pPr marL="0" indent="0" algn="r">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计算新时代开启</a:t>
            </a:r>
            <a:endParaRPr lang="en-US" sz="1200" dirty="0"/>
          </a:p>
        </p:txBody>
      </p:sp>
      <p:sp>
        <p:nvSpPr>
          <p:cNvPr id="14" name="Text 10"/>
          <p:cNvSpPr/>
          <p:nvPr/>
        </p:nvSpPr>
        <p:spPr>
          <a:xfrm>
            <a:off x="494830" y="1562676"/>
            <a:ext cx="2362200" cy="457200"/>
          </a:xfrm>
          <a:prstGeom prst="rect">
            <a:avLst/>
          </a:prstGeom>
          <a:noFill/>
          <a:ln/>
        </p:spPr>
        <p:txBody>
          <a:bodyPr vert="horz" wrap="square" lIns="0" tIns="0" rIns="0" bIns="0" rtlCol="0" anchor="ctr"/>
          <a:lstStyle/>
          <a:p>
            <a:pPr marL="0" indent="0" algn="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该处理器的问世将引领计算技术进入一个全新的时代，加速科研与工业应用。</a:t>
            </a:r>
            <a:endParaRPr lang="en-US" sz="1050" dirty="0"/>
          </a:p>
        </p:txBody>
      </p:sp>
      <p:sp>
        <p:nvSpPr>
          <p:cNvPr id="15" name="Text 11"/>
          <p:cNvSpPr/>
          <p:nvPr/>
        </p:nvSpPr>
        <p:spPr>
          <a:xfrm>
            <a:off x="6086005" y="853063"/>
            <a:ext cx="2362200"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基因编辑成本降低</a:t>
            </a:r>
            <a:endParaRPr lang="en-US" sz="1200" dirty="0"/>
          </a:p>
        </p:txBody>
      </p:sp>
      <p:sp>
        <p:nvSpPr>
          <p:cNvPr id="16" name="Text 12"/>
          <p:cNvSpPr/>
          <p:nvPr/>
        </p:nvSpPr>
        <p:spPr>
          <a:xfrm>
            <a:off x="6086005" y="1143575"/>
            <a:ext cx="2362200" cy="6667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基因编辑技术的成本显著下降了90%，这极大地促进了生物技术领域的创新与发展。</a:t>
            </a:r>
            <a:endParaRPr lang="en-US" sz="1050" dirty="0"/>
          </a:p>
        </p:txBody>
      </p:sp>
      <p:sp>
        <p:nvSpPr>
          <p:cNvPr id="17" name="Text 13"/>
          <p:cNvSpPr/>
          <p:nvPr/>
        </p:nvSpPr>
        <p:spPr>
          <a:xfrm>
            <a:off x="6086005" y="1924626"/>
            <a:ext cx="2362200"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生物科技加速发展</a:t>
            </a:r>
            <a:endParaRPr lang="en-US" sz="1200" dirty="0"/>
          </a:p>
        </p:txBody>
      </p:sp>
      <p:sp>
        <p:nvSpPr>
          <p:cNvPr id="18" name="Text 14"/>
          <p:cNvSpPr/>
          <p:nvPr/>
        </p:nvSpPr>
        <p:spPr>
          <a:xfrm>
            <a:off x="6086005" y="2215138"/>
            <a:ext cx="2362200" cy="6667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低成本的基因编辑工具使得更多研究机构和个人能够参与其中，推动了整个行业的进步。</a:t>
            </a:r>
            <a:endParaRPr lang="en-US" sz="1050" dirty="0"/>
          </a:p>
        </p:txBody>
      </p:sp>
      <p:sp>
        <p:nvSpPr>
          <p:cNvPr id="19" name="Text 15"/>
          <p:cNvSpPr/>
          <p:nvPr/>
        </p:nvSpPr>
        <p:spPr>
          <a:xfrm>
            <a:off x="6086005" y="2996188"/>
            <a:ext cx="2362200"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社会议题浮现</a:t>
            </a:r>
            <a:endParaRPr lang="en-US" sz="1200" dirty="0"/>
          </a:p>
        </p:txBody>
      </p:sp>
      <p:sp>
        <p:nvSpPr>
          <p:cNvPr id="20" name="Text 16"/>
          <p:cNvSpPr/>
          <p:nvPr/>
        </p:nvSpPr>
        <p:spPr>
          <a:xfrm>
            <a:off x="6086005" y="3286701"/>
            <a:ext cx="2362200" cy="6667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在技术快速发展的背景下，数据所有权、零工经济中的劳动者权益以及AI作品的版权等问题日益受到关注。</a:t>
            </a:r>
            <a:endParaRPr lang="en-US" sz="1050" dirty="0"/>
          </a:p>
        </p:txBody>
      </p:sp>
      <p:sp>
        <p:nvSpPr>
          <p:cNvPr id="21" name="Text 17"/>
          <p:cNvSpPr/>
          <p:nvPr/>
        </p:nvSpPr>
        <p:spPr>
          <a:xfrm>
            <a:off x="6086005" y="4067751"/>
            <a:ext cx="2362200"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政策法规待完善</a:t>
            </a:r>
            <a:endParaRPr lang="en-US" sz="1200" dirty="0"/>
          </a:p>
        </p:txBody>
      </p:sp>
      <p:sp>
        <p:nvSpPr>
          <p:cNvPr id="22" name="Text 18"/>
          <p:cNvSpPr/>
          <p:nvPr/>
        </p:nvSpPr>
        <p:spPr>
          <a:xfrm>
            <a:off x="6086005" y="4358263"/>
            <a:ext cx="2362200" cy="6667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面对这些新出现的社会议题，需要政府、企业和公众共同努力，完善相关政策法规体系。</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1981200"/>
            <a:ext cx="4762500" cy="2000250"/>
          </a:xfrm>
          <a:prstGeom prst="rect">
            <a:avLst/>
          </a:prstGeom>
          <a:noFill/>
          <a:ln/>
        </p:spPr>
        <p:txBody>
          <a:bodyPr vert="horz" wrap="square" lIns="0" tIns="0" rIns="0" bIns="0" rtlCol="0" anchor="ctr"/>
          <a:lstStyle/>
          <a:p>
            <a:pPr marL="0" indent="0" algn="l">
              <a:lnSpc>
                <a:spcPts val="5250"/>
              </a:lnSpc>
              <a:buNone/>
            </a:pPr>
            <a:r>
              <a:rPr lang="en-US" sz="3750" b="1" dirty="0" err="1">
                <a:solidFill>
                  <a:srgbClr val="FFFFFF"/>
                </a:solidFill>
                <a:latin typeface="Microsoft YaHei" pitchFamily="34" charset="0"/>
                <a:ea typeface="Microsoft YaHei" pitchFamily="34" charset="-122"/>
                <a:cs typeface="Microsoft YaHei" pitchFamily="34" charset="-120"/>
              </a:rPr>
              <a:t>教材理论解析</a:t>
            </a:r>
            <a:r>
              <a:rPr lang="en-US" sz="3750" b="1" dirty="0">
                <a:solidFill>
                  <a:srgbClr val="FFFFFF"/>
                </a:solidFill>
                <a:latin typeface="Microsoft YaHei" pitchFamily="34" charset="0"/>
                <a:ea typeface="Microsoft YaHei" pitchFamily="34" charset="-122"/>
                <a:cs typeface="Microsoft YaHei" pitchFamily="34" charset="-120"/>
              </a:rPr>
              <a:t>：</a:t>
            </a:r>
            <a:r>
              <a:rPr lang="zh-CN" altLang="en-US" sz="3750" b="1" dirty="0">
                <a:solidFill>
                  <a:srgbClr val="FFFFFF"/>
                </a:solidFill>
                <a:latin typeface="Microsoft YaHei" pitchFamily="34" charset="0"/>
                <a:ea typeface="Microsoft YaHei" pitchFamily="34" charset="-122"/>
                <a:cs typeface="Microsoft YaHei" pitchFamily="34" charset="-120"/>
              </a:rPr>
              <a:t>生产力与生产关系矛盾运动规律原理</a:t>
            </a:r>
            <a:endParaRPr lang="en-US" sz="3750" dirty="0"/>
          </a:p>
        </p:txBody>
      </p:sp>
      <p:sp>
        <p:nvSpPr>
          <p:cNvPr id="4" name="Shape 1"/>
          <p:cNvSpPr/>
          <p:nvPr/>
        </p:nvSpPr>
        <p:spPr>
          <a:xfrm>
            <a:off x="571500" y="4157662"/>
            <a:ext cx="4762500" cy="14288"/>
          </a:xfrm>
          <a:prstGeom prst="rect">
            <a:avLst/>
          </a:prstGeom>
          <a:solidFill>
            <a:srgbClr val="FFFFFF">
              <a:alpha val="30000"/>
            </a:srgbClr>
          </a:solidFill>
          <a:ln/>
        </p:spPr>
        <p:txBody>
          <a:bodyPr/>
          <a:lstStyle/>
          <a:p>
            <a:endParaRPr lang="zh-CN" altLang="en-US"/>
          </a:p>
        </p:txBody>
      </p:sp>
      <p:sp>
        <p:nvSpPr>
          <p:cNvPr id="5" name="Text 2"/>
          <p:cNvSpPr/>
          <p:nvPr/>
        </p:nvSpPr>
        <p:spPr>
          <a:xfrm>
            <a:off x="571500" y="4362450"/>
            <a:ext cx="4762500"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a:ln/>
        </p:spPr>
        <p:txBody>
          <a:bodyPr vert="horz" wrap="square" lIns="0" tIns="0" rIns="0" bIns="0" rtlCol="0" anchor="ctr"/>
          <a:lstStyle/>
          <a:p>
            <a:pPr marL="0" indent="0" algn="ctr">
              <a:lnSpc>
                <a:spcPts val="22500"/>
              </a:lnSpc>
              <a:buNone/>
            </a:pPr>
            <a:r>
              <a:rPr lang="en-US" sz="22500" b="1" dirty="0">
                <a:solidFill>
                  <a:srgbClr val="FFF4AE"/>
                </a:solidFill>
                <a:latin typeface="Microsoft YaHei" pitchFamily="34" charset="0"/>
                <a:ea typeface="Microsoft YaHei" pitchFamily="34" charset="-122"/>
                <a:cs typeface="Microsoft YaHei" pitchFamily="34" charset="-120"/>
              </a:rPr>
              <a:t>02</a:t>
            </a:r>
            <a:endParaRPr lang="en-US" sz="22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18" name="Image 0" descr="preencoded.png">
            <a:extLst>
              <a:ext uri="{FF2B5EF4-FFF2-40B4-BE49-F238E27FC236}">
                <a16:creationId xmlns:a16="http://schemas.microsoft.com/office/drawing/2014/main" id="{1E0CC50B-5DD6-3616-91A8-103C31D77F44}"/>
              </a:ext>
            </a:extLst>
          </p:cNvPr>
          <p:cNvPicPr>
            <a:picLocks noChangeAspect="1"/>
          </p:cNvPicPr>
          <p:nvPr/>
        </p:nvPicPr>
        <p:blipFill>
          <a:blip r:embed="rId3"/>
          <a:srcRect t="3571" b="3571"/>
          <a:stretch/>
        </p:blipFill>
        <p:spPr>
          <a:xfrm>
            <a:off x="0" y="-25121"/>
            <a:ext cx="9144000" cy="742950"/>
          </a:xfrm>
          <a:prstGeom prst="rect">
            <a:avLst/>
          </a:prstGeom>
        </p:spPr>
      </p:pic>
      <p:sp>
        <p:nvSpPr>
          <p:cNvPr id="4" name="Text 1"/>
          <p:cNvSpPr/>
          <p:nvPr/>
        </p:nvSpPr>
        <p:spPr>
          <a:xfrm>
            <a:off x="285750" y="171450"/>
            <a:ext cx="8001000" cy="400050"/>
          </a:xfrm>
          <a:prstGeom prst="rect">
            <a:avLst/>
          </a:prstGeom>
          <a:noFill/>
          <a:ln/>
        </p:spPr>
        <p:txBody>
          <a:bodyPr vert="horz" wrap="square" lIns="0" tIns="0" rIns="0" bIns="0" rtlCol="0" anchor="ctr"/>
          <a:lstStyle/>
          <a:p>
            <a:pPr marL="0" indent="0" algn="l">
              <a:lnSpc>
                <a:spcPts val="3150"/>
              </a:lnSpc>
              <a:buNone/>
            </a:pPr>
            <a:r>
              <a:rPr lang="en-US" sz="2250" b="1" dirty="0" err="1">
                <a:solidFill>
                  <a:schemeClr val="bg1"/>
                </a:solidFill>
                <a:latin typeface="Microsoft YaHei" pitchFamily="34" charset="0"/>
                <a:ea typeface="Microsoft YaHei" pitchFamily="34" charset="-122"/>
                <a:cs typeface="Microsoft YaHei" pitchFamily="34" charset="-120"/>
              </a:rPr>
              <a:t>生产力</a:t>
            </a:r>
            <a:r>
              <a:rPr lang="zh-CN" altLang="en-US" sz="2250" b="1" dirty="0">
                <a:solidFill>
                  <a:schemeClr val="bg1"/>
                </a:solidFill>
                <a:latin typeface="Microsoft YaHei" pitchFamily="34" charset="0"/>
                <a:ea typeface="Microsoft YaHei" pitchFamily="34" charset="-122"/>
                <a:cs typeface="Microsoft YaHei" pitchFamily="34" charset="-120"/>
              </a:rPr>
              <a:t>与生产关系</a:t>
            </a:r>
            <a:endParaRPr lang="en-US" sz="2250" dirty="0">
              <a:solidFill>
                <a:schemeClr val="bg1"/>
              </a:solidFill>
            </a:endParaRPr>
          </a:p>
        </p:txBody>
      </p:sp>
      <p:sp>
        <p:nvSpPr>
          <p:cNvPr id="5" name="Text 2"/>
          <p:cNvSpPr/>
          <p:nvPr/>
        </p:nvSpPr>
        <p:spPr>
          <a:xfrm>
            <a:off x="571500" y="74295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19" name="文本框 18">
            <a:extLst>
              <a:ext uri="{FF2B5EF4-FFF2-40B4-BE49-F238E27FC236}">
                <a16:creationId xmlns:a16="http://schemas.microsoft.com/office/drawing/2014/main" id="{188543B6-1868-B7A6-6916-340DBF41B7BA}"/>
              </a:ext>
            </a:extLst>
          </p:cNvPr>
          <p:cNvSpPr txBox="1"/>
          <p:nvPr/>
        </p:nvSpPr>
        <p:spPr>
          <a:xfrm>
            <a:off x="122388" y="863590"/>
            <a:ext cx="3118205" cy="2585323"/>
          </a:xfrm>
          <a:prstGeom prst="rect">
            <a:avLst/>
          </a:prstGeom>
          <a:noFill/>
        </p:spPr>
        <p:txBody>
          <a:bodyPr wrap="square" rtlCol="0">
            <a:spAutoFit/>
          </a:bodyPr>
          <a:lstStyle/>
          <a:p>
            <a:r>
              <a:rPr lang="zh-CN" altLang="en-US" sz="1400" b="1" kern="100" dirty="0">
                <a:effectLst/>
                <a:latin typeface="+mn-ea"/>
                <a:cs typeface="Times New Roman" panose="02020603050405020304" pitchFamily="18" charset="0"/>
              </a:rPr>
              <a:t>生产力：</a:t>
            </a:r>
            <a:r>
              <a:rPr lang="zh-CN" altLang="en-US" sz="1400" kern="100" dirty="0">
                <a:effectLst/>
                <a:latin typeface="+mn-ea"/>
                <a:cs typeface="Times New Roman" panose="02020603050405020304" pitchFamily="18" charset="0"/>
              </a:rPr>
              <a:t>人类改造自然、获取物质资料的能力，包括</a:t>
            </a:r>
            <a:r>
              <a:rPr lang="zh-CN" altLang="en-US" sz="1400" kern="100" dirty="0">
                <a:effectLst/>
                <a:highlight>
                  <a:srgbClr val="FFFF00"/>
                </a:highlight>
                <a:latin typeface="+mn-ea"/>
                <a:cs typeface="Times New Roman" panose="02020603050405020304" pitchFamily="18" charset="0"/>
              </a:rPr>
              <a:t>劳动者、劳动工具、劳动对象</a:t>
            </a:r>
            <a:r>
              <a:rPr lang="zh-CN" altLang="en-US" sz="1400" kern="100" dirty="0">
                <a:effectLst/>
                <a:latin typeface="+mn-ea"/>
                <a:cs typeface="Times New Roman" panose="02020603050405020304" pitchFamily="18" charset="0"/>
              </a:rPr>
              <a:t>三要素，现代还包括科学技术、管理等要素。</a:t>
            </a:r>
            <a:endParaRPr lang="en-US" altLang="zh-CN" sz="1400" kern="100" dirty="0">
              <a:effectLst/>
              <a:latin typeface="+mn-ea"/>
              <a:cs typeface="Times New Roman" panose="02020603050405020304" pitchFamily="18" charset="0"/>
            </a:endParaRPr>
          </a:p>
          <a:p>
            <a:endParaRPr lang="en-US" altLang="zh-CN" sz="1400" b="1" kern="100" dirty="0">
              <a:effectLst/>
              <a:latin typeface="+mn-ea"/>
              <a:cs typeface="Times New Roman" panose="02020603050405020304" pitchFamily="18" charset="0"/>
            </a:endParaRPr>
          </a:p>
          <a:p>
            <a:r>
              <a:rPr lang="zh-CN" altLang="en-US" sz="1400" b="1" kern="100" dirty="0">
                <a:effectLst/>
                <a:latin typeface="+mn-ea"/>
                <a:cs typeface="Times New Roman" panose="02020603050405020304" pitchFamily="18" charset="0"/>
              </a:rPr>
              <a:t>生产关系：</a:t>
            </a:r>
            <a:r>
              <a:rPr lang="zh-CN" altLang="en-US" sz="1400" kern="100" dirty="0">
                <a:effectLst/>
                <a:latin typeface="+mn-ea"/>
                <a:cs typeface="Times New Roman" panose="02020603050405020304" pitchFamily="18" charset="0"/>
              </a:rPr>
              <a:t>人们在生产过程中结成的经济关系，包括</a:t>
            </a:r>
            <a:r>
              <a:rPr lang="zh-CN" altLang="en-US" sz="1400" kern="100" dirty="0">
                <a:effectLst/>
                <a:highlight>
                  <a:srgbClr val="FFFF00"/>
                </a:highlight>
                <a:latin typeface="+mn-ea"/>
                <a:cs typeface="Times New Roman" panose="02020603050405020304" pitchFamily="18" charset="0"/>
              </a:rPr>
              <a:t>生产资料所有制、生产中的地位和相互关系、产品分配方式</a:t>
            </a:r>
            <a:r>
              <a:rPr lang="zh-CN" altLang="en-US" sz="1400" kern="100" dirty="0">
                <a:effectLst/>
                <a:latin typeface="+mn-ea"/>
                <a:cs typeface="Times New Roman" panose="02020603050405020304" pitchFamily="18" charset="0"/>
              </a:rPr>
              <a:t>。</a:t>
            </a:r>
            <a:endParaRPr lang="en-US" altLang="zh-CN" sz="1400" kern="100" dirty="0">
              <a:latin typeface="+mn-ea"/>
              <a:cs typeface="Times New Roman" panose="02020603050405020304" pitchFamily="18" charset="0"/>
            </a:endParaRPr>
          </a:p>
          <a:p>
            <a:endParaRPr lang="zh-CN" altLang="en-US" sz="1800" b="1" kern="100" dirty="0">
              <a:effectLst/>
              <a:latin typeface="Microsoft YaHei Light" panose="020B0502040204020203" pitchFamily="34" charset="-122"/>
              <a:ea typeface="Microsoft YaHei Light" panose="020B0502040204020203" pitchFamily="34" charset="-122"/>
              <a:cs typeface="Times New Roman" panose="02020603050405020304" pitchFamily="18" charset="0"/>
            </a:endParaRPr>
          </a:p>
          <a:p>
            <a:endParaRPr lang="zh-CN" altLang="en-US" dirty="0"/>
          </a:p>
        </p:txBody>
      </p:sp>
      <p:pic>
        <p:nvPicPr>
          <p:cNvPr id="3" name="图片 2" descr="文本&#10;&#10;AI 生成的内容可能不正确。">
            <a:extLst>
              <a:ext uri="{FF2B5EF4-FFF2-40B4-BE49-F238E27FC236}">
                <a16:creationId xmlns:a16="http://schemas.microsoft.com/office/drawing/2014/main" id="{E8E6C061-1288-429D-6F2C-A44F86D720E7}"/>
              </a:ext>
            </a:extLst>
          </p:cNvPr>
          <p:cNvPicPr>
            <a:picLocks noChangeAspect="1"/>
          </p:cNvPicPr>
          <p:nvPr/>
        </p:nvPicPr>
        <p:blipFill>
          <a:blip r:embed="rId4"/>
          <a:stretch>
            <a:fillRect/>
          </a:stretch>
        </p:blipFill>
        <p:spPr>
          <a:xfrm>
            <a:off x="3072514" y="742950"/>
            <a:ext cx="5903867" cy="1749511"/>
          </a:xfrm>
          <a:prstGeom prst="rect">
            <a:avLst/>
          </a:prstGeom>
        </p:spPr>
      </p:pic>
      <p:sp>
        <p:nvSpPr>
          <p:cNvPr id="7" name="文本框 6">
            <a:extLst>
              <a:ext uri="{FF2B5EF4-FFF2-40B4-BE49-F238E27FC236}">
                <a16:creationId xmlns:a16="http://schemas.microsoft.com/office/drawing/2014/main" id="{E8156BE5-2E44-0D50-80E3-CD5938B2CB73}"/>
              </a:ext>
            </a:extLst>
          </p:cNvPr>
          <p:cNvSpPr txBox="1"/>
          <p:nvPr/>
        </p:nvSpPr>
        <p:spPr>
          <a:xfrm>
            <a:off x="4078969" y="3357732"/>
            <a:ext cx="4788950" cy="1846659"/>
          </a:xfrm>
          <a:prstGeom prst="rect">
            <a:avLst/>
          </a:prstGeom>
          <a:noFill/>
        </p:spPr>
        <p:txBody>
          <a:bodyPr wrap="square">
            <a:spAutoFit/>
          </a:bodyPr>
          <a:lstStyle/>
          <a:p>
            <a:pPr marR="0" lvl="0" algn="just"/>
            <a:r>
              <a:rPr lang="zh-CN" altLang="en-US" sz="1600" kern="100" dirty="0">
                <a:effectLst/>
                <a:latin typeface="Calibri" panose="020F0502020204030204" pitchFamily="34" charset="0"/>
                <a:ea typeface="宋体" panose="02010600030101010101" pitchFamily="2" charset="-122"/>
                <a:cs typeface="Times New Roman" panose="02020603050405020304" pitchFamily="18" charset="0"/>
              </a:rPr>
              <a:t>一、生产力对生产关系的决定作用</a:t>
            </a:r>
            <a:endPar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r>
              <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600" kern="100" dirty="0">
                <a:latin typeface="宋体" panose="02010600030101010101" pitchFamily="2" charset="-122"/>
                <a:ea typeface="宋体" panose="02010600030101010101" pitchFamily="2" charset="-122"/>
                <a:cs typeface="Times New Roman" panose="02020603050405020304" pitchFamily="18" charset="0"/>
              </a:rPr>
              <a:t>1</a:t>
            </a:r>
            <a:r>
              <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rPr>
              <a:t>) </a:t>
            </a:r>
            <a:r>
              <a:rPr lang="zh-CN" altLang="en-US" sz="1600" kern="100" dirty="0">
                <a:effectLst/>
                <a:latin typeface="宋体" panose="02010600030101010101" pitchFamily="2" charset="-122"/>
                <a:ea typeface="宋体" panose="02010600030101010101" pitchFamily="2" charset="-122"/>
                <a:cs typeface="Times New Roman" panose="02020603050405020304" pitchFamily="18" charset="0"/>
              </a:rPr>
              <a:t>生产力的性质与水平决定生产关系的性质与形式</a:t>
            </a:r>
            <a:endParaRPr lang="zh-CN" altLang="en-US" sz="16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r>
              <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600" kern="100" dirty="0">
                <a:latin typeface="宋体" panose="02010600030101010101" pitchFamily="2" charset="-122"/>
                <a:ea typeface="宋体" panose="02010600030101010101" pitchFamily="2" charset="-122"/>
                <a:cs typeface="Times New Roman" panose="02020603050405020304" pitchFamily="18" charset="0"/>
              </a:rPr>
              <a:t>2</a:t>
            </a:r>
            <a:r>
              <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rPr>
              <a:t>) </a:t>
            </a:r>
            <a:r>
              <a:rPr lang="zh-CN" altLang="en-US" sz="1600" kern="100" dirty="0">
                <a:effectLst/>
                <a:latin typeface="宋体" panose="02010600030101010101" pitchFamily="2" charset="-122"/>
                <a:ea typeface="宋体" panose="02010600030101010101" pitchFamily="2" charset="-122"/>
                <a:cs typeface="Times New Roman" panose="02020603050405020304" pitchFamily="18" charset="0"/>
              </a:rPr>
              <a:t>生产力的发展决定生产关系的发展和变革</a:t>
            </a:r>
            <a:endParaRPr lang="zh-CN" altLang="en-US" sz="1600" kern="100" dirty="0">
              <a:effectLst/>
              <a:latin typeface="Calibri" panose="020F0502020204030204" pitchFamily="34" charset="0"/>
              <a:ea typeface="宋体" panose="02010600030101010101" pitchFamily="2" charset="-122"/>
              <a:cs typeface="Times New Roman" panose="02020603050405020304" pitchFamily="18" charset="0"/>
            </a:endParaRPr>
          </a:p>
          <a:p>
            <a:pPr marR="0" lvl="0" algn="just"/>
            <a:r>
              <a:rPr lang="zh-CN" altLang="en-US" sz="1600" kern="100" dirty="0">
                <a:effectLst/>
                <a:latin typeface="Calibri" panose="020F0502020204030204" pitchFamily="34" charset="0"/>
                <a:ea typeface="宋体" panose="02010600030101010101" pitchFamily="2" charset="-122"/>
                <a:cs typeface="Times New Roman" panose="02020603050405020304" pitchFamily="18" charset="0"/>
              </a:rPr>
              <a:t>二、生产关系能反作用于生产力</a:t>
            </a:r>
            <a:endParaRPr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algn="just"/>
            <a:r>
              <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rPr>
              <a:t>(1) </a:t>
            </a:r>
            <a:r>
              <a:rPr lang="zh-CN" altLang="en-US" sz="1600" kern="100" dirty="0">
                <a:effectLst/>
                <a:latin typeface="宋体" panose="02010600030101010101" pitchFamily="2" charset="-122"/>
                <a:ea typeface="宋体" panose="02010600030101010101" pitchFamily="2" charset="-122"/>
                <a:cs typeface="Times New Roman" panose="02020603050405020304" pitchFamily="18" charset="0"/>
              </a:rPr>
              <a:t>生产关系须适应生产力，进而推动生产力发展</a:t>
            </a:r>
            <a:endParaRPr lang="zh-CN" altLang="en-US" sz="16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r>
              <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rPr>
              <a:t>(2) </a:t>
            </a:r>
            <a:r>
              <a:rPr lang="zh-CN" altLang="en-US" sz="1600" kern="100" dirty="0">
                <a:effectLst/>
                <a:latin typeface="宋体" panose="02010600030101010101" pitchFamily="2" charset="-122"/>
                <a:ea typeface="宋体" panose="02010600030101010101" pitchFamily="2" charset="-122"/>
                <a:cs typeface="Times New Roman" panose="02020603050405020304" pitchFamily="18" charset="0"/>
              </a:rPr>
              <a:t>生产关系不适应生产力，会阻碍生产力发展</a:t>
            </a:r>
            <a:endParaRPr lang="zh-CN" altLang="en-US" sz="1600" kern="100" dirty="0">
              <a:effectLst/>
              <a:latin typeface="Calibri" panose="020F0502020204030204" pitchFamily="34" charset="0"/>
              <a:ea typeface="宋体" panose="02010600030101010101" pitchFamily="2" charset="-122"/>
              <a:cs typeface="Times New Roman" panose="02020603050405020304" pitchFamily="18" charset="0"/>
            </a:endParaRPr>
          </a:p>
          <a:p>
            <a:pPr marR="0" lvl="0" algn="just"/>
            <a:endPar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p:pic>
        <p:nvPicPr>
          <p:cNvPr id="8" name="图片 7" descr="文本, 信件&#10;&#10;AI 生成的内容可能不正确。">
            <a:extLst>
              <a:ext uri="{FF2B5EF4-FFF2-40B4-BE49-F238E27FC236}">
                <a16:creationId xmlns:a16="http://schemas.microsoft.com/office/drawing/2014/main" id="{B93147C4-3EA8-D342-B720-46E0F73406A7}"/>
              </a:ext>
            </a:extLst>
          </p:cNvPr>
          <p:cNvPicPr>
            <a:picLocks noChangeAspect="1"/>
          </p:cNvPicPr>
          <p:nvPr/>
        </p:nvPicPr>
        <p:blipFill>
          <a:blip r:embed="rId5"/>
          <a:stretch>
            <a:fillRect/>
          </a:stretch>
        </p:blipFill>
        <p:spPr>
          <a:xfrm>
            <a:off x="89774" y="3357732"/>
            <a:ext cx="3989195" cy="14670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19" name="Image 0" descr="preencoded.png">
            <a:extLst>
              <a:ext uri="{FF2B5EF4-FFF2-40B4-BE49-F238E27FC236}">
                <a16:creationId xmlns:a16="http://schemas.microsoft.com/office/drawing/2014/main" id="{E445224A-CF53-FB77-81D2-97A797F0A119}"/>
              </a:ext>
            </a:extLst>
          </p:cNvPr>
          <p:cNvPicPr>
            <a:picLocks noChangeAspect="1"/>
          </p:cNvPicPr>
          <p:nvPr/>
        </p:nvPicPr>
        <p:blipFill>
          <a:blip r:embed="rId3"/>
          <a:srcRect t="3571" b="3571"/>
          <a:stretch/>
        </p:blipFill>
        <p:spPr>
          <a:xfrm>
            <a:off x="0" y="-23996"/>
            <a:ext cx="9144000" cy="742950"/>
          </a:xfrm>
          <a:prstGeom prst="rect">
            <a:avLst/>
          </a:prstGeom>
        </p:spPr>
      </p:pic>
      <p:sp>
        <p:nvSpPr>
          <p:cNvPr id="4" name="Text 1"/>
          <p:cNvSpPr/>
          <p:nvPr/>
        </p:nvSpPr>
        <p:spPr>
          <a:xfrm>
            <a:off x="261938" y="157163"/>
            <a:ext cx="8001000" cy="40005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chemeClr val="bg1"/>
                </a:solidFill>
                <a:latin typeface="Microsoft YaHei" pitchFamily="34" charset="0"/>
                <a:ea typeface="Microsoft YaHei" pitchFamily="34" charset="-122"/>
              </a:rPr>
              <a:t>几个重要阶段的生产力和生产关系</a:t>
            </a:r>
            <a:endParaRPr lang="en-US" sz="2250" dirty="0">
              <a:solidFill>
                <a:schemeClr val="bg1"/>
              </a:solidFill>
            </a:endParaRPr>
          </a:p>
        </p:txBody>
      </p:sp>
      <p:sp>
        <p:nvSpPr>
          <p:cNvPr id="5" name="Text 2"/>
          <p:cNvSpPr/>
          <p:nvPr/>
        </p:nvSpPr>
        <p:spPr>
          <a:xfrm>
            <a:off x="571500" y="74295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38" name="Image 1" descr="preencoded.png">
            <a:extLst>
              <a:ext uri="{FF2B5EF4-FFF2-40B4-BE49-F238E27FC236}">
                <a16:creationId xmlns:a16="http://schemas.microsoft.com/office/drawing/2014/main" id="{2A887C17-E852-7644-B22F-904C03F383A5}"/>
              </a:ext>
            </a:extLst>
          </p:cNvPr>
          <p:cNvPicPr>
            <a:picLocks noChangeAspect="1"/>
          </p:cNvPicPr>
          <p:nvPr/>
        </p:nvPicPr>
        <p:blipFill>
          <a:blip r:embed="rId4"/>
          <a:srcRect/>
          <a:stretch/>
        </p:blipFill>
        <p:spPr>
          <a:xfrm>
            <a:off x="0" y="782305"/>
            <a:ext cx="9228453" cy="4467959"/>
          </a:xfrm>
          <a:prstGeom prst="rect">
            <a:avLst/>
          </a:prstGeom>
        </p:spPr>
      </p:pic>
      <p:sp>
        <p:nvSpPr>
          <p:cNvPr id="39" name="Text 3">
            <a:extLst>
              <a:ext uri="{FF2B5EF4-FFF2-40B4-BE49-F238E27FC236}">
                <a16:creationId xmlns:a16="http://schemas.microsoft.com/office/drawing/2014/main" id="{EA122AFB-C72A-5D07-F4AD-BF35FA3B7415}"/>
              </a:ext>
            </a:extLst>
          </p:cNvPr>
          <p:cNvSpPr/>
          <p:nvPr/>
        </p:nvSpPr>
        <p:spPr>
          <a:xfrm>
            <a:off x="3777029" y="1887139"/>
            <a:ext cx="3935081" cy="987030"/>
          </a:xfrm>
          <a:prstGeom prst="rect">
            <a:avLst/>
          </a:prstGeom>
          <a:noFill/>
          <a:ln/>
        </p:spPr>
        <p:txBody>
          <a:bodyPr vert="horz" wrap="square" lIns="0" tIns="0" rIns="0" bIns="0" rtlCol="0" anchor="ctr"/>
          <a:lstStyle/>
          <a:p>
            <a:pPr marL="0" indent="0" algn="ctr">
              <a:lnSpc>
                <a:spcPts val="1688"/>
              </a:lnSpc>
              <a:buNone/>
            </a:pPr>
            <a:r>
              <a:rPr lang="zh-CN" altLang="en-US" sz="2000" b="1" dirty="0">
                <a:solidFill>
                  <a:srgbClr val="333333"/>
                </a:solidFill>
                <a:latin typeface="Microsoft YaHei" pitchFamily="34" charset="0"/>
                <a:ea typeface="Microsoft YaHei" pitchFamily="34" charset="-122"/>
              </a:rPr>
              <a:t>             农业革命</a:t>
            </a:r>
            <a:endParaRPr lang="en-US" sz="2000" dirty="0"/>
          </a:p>
        </p:txBody>
      </p:sp>
      <p:sp>
        <p:nvSpPr>
          <p:cNvPr id="40" name="Text 4">
            <a:extLst>
              <a:ext uri="{FF2B5EF4-FFF2-40B4-BE49-F238E27FC236}">
                <a16:creationId xmlns:a16="http://schemas.microsoft.com/office/drawing/2014/main" id="{6AEFE11C-A026-9B41-1347-67A0B1C2066E}"/>
              </a:ext>
            </a:extLst>
          </p:cNvPr>
          <p:cNvSpPr/>
          <p:nvPr/>
        </p:nvSpPr>
        <p:spPr>
          <a:xfrm>
            <a:off x="752475" y="2889711"/>
            <a:ext cx="8200606" cy="1848896"/>
          </a:xfrm>
          <a:prstGeom prst="rect">
            <a:avLst/>
          </a:prstGeom>
          <a:noFill/>
          <a:ln/>
        </p:spPr>
        <p:txBody>
          <a:bodyPr vert="horz" wrap="square" lIns="0" tIns="0" rIns="0" bIns="0" rtlCol="0" anchor="ctr"/>
          <a:lstStyle/>
          <a:p>
            <a:pPr marL="0" indent="0" algn="l">
              <a:lnSpc>
                <a:spcPts val="1650"/>
              </a:lnSpc>
              <a:buNone/>
            </a:pPr>
            <a:r>
              <a:rPr lang="zh-CN" altLang="en-US" sz="1050" b="1" dirty="0"/>
              <a:t>生产工具</a:t>
            </a:r>
            <a:r>
              <a:rPr lang="zh-CN" altLang="en-US" sz="1050" dirty="0"/>
              <a:t>：从石器、木器 → 青铜器、铁器。</a:t>
            </a:r>
            <a:endParaRPr lang="en-US" altLang="zh-CN" sz="1050" dirty="0"/>
          </a:p>
          <a:p>
            <a:pPr marL="0" indent="0" algn="l">
              <a:lnSpc>
                <a:spcPts val="1650"/>
              </a:lnSpc>
              <a:buNone/>
            </a:pPr>
            <a:r>
              <a:rPr lang="zh-CN" altLang="en-US" sz="1050" b="1" dirty="0"/>
              <a:t>农业技术</a:t>
            </a:r>
            <a:r>
              <a:rPr lang="zh-CN" altLang="en-US" sz="1050" dirty="0"/>
              <a:t>：</a:t>
            </a:r>
            <a:endParaRPr lang="en-US" altLang="zh-CN" sz="1050" dirty="0"/>
          </a:p>
          <a:p>
            <a:pPr marL="0" indent="0" algn="l">
              <a:lnSpc>
                <a:spcPts val="1650"/>
              </a:lnSpc>
              <a:buNone/>
            </a:pPr>
            <a:r>
              <a:rPr lang="zh-CN" altLang="en-US" sz="1050" dirty="0"/>
              <a:t>轮作制（如欧洲“三圃制”）减少土地休耕，提升产量。</a:t>
            </a:r>
            <a:endParaRPr lang="en-US" altLang="zh-CN" sz="1050" dirty="0"/>
          </a:p>
          <a:p>
            <a:pPr marL="0" indent="0" algn="l">
              <a:lnSpc>
                <a:spcPts val="1650"/>
              </a:lnSpc>
              <a:buNone/>
            </a:pPr>
            <a:r>
              <a:rPr lang="zh-CN" altLang="en-US" sz="1050" dirty="0"/>
              <a:t>水利工程（如灌溉系统）支持稳定农业生产。</a:t>
            </a:r>
            <a:endParaRPr lang="en-US" altLang="zh-CN" sz="1050" dirty="0"/>
          </a:p>
          <a:p>
            <a:pPr marL="0" indent="0" algn="l">
              <a:lnSpc>
                <a:spcPts val="1650"/>
              </a:lnSpc>
              <a:buNone/>
            </a:pPr>
            <a:r>
              <a:rPr lang="zh-CN" altLang="en-US" sz="1050" b="1" dirty="0"/>
              <a:t>劳动对象</a:t>
            </a:r>
            <a:r>
              <a:rPr lang="zh-CN" altLang="en-US" sz="1050" dirty="0"/>
              <a:t>：从采集野生植物 → 人工种植作物（小麦、水稻等），形成定居农业。</a:t>
            </a:r>
            <a:endParaRPr lang="en-US" altLang="zh-CN" sz="1050" dirty="0"/>
          </a:p>
          <a:p>
            <a:pPr marL="0" indent="0" algn="l">
              <a:lnSpc>
                <a:spcPts val="1650"/>
              </a:lnSpc>
              <a:buNone/>
            </a:pPr>
            <a:r>
              <a:rPr lang="zh-CN" altLang="en-US" sz="1050" b="1" dirty="0"/>
              <a:t>农业革命后（社会形态）</a:t>
            </a:r>
            <a:r>
              <a:rPr lang="zh-CN" altLang="en-US" sz="1050" dirty="0"/>
              <a:t>：</a:t>
            </a:r>
            <a:endParaRPr lang="en-US" altLang="zh-CN" sz="1050" dirty="0"/>
          </a:p>
          <a:p>
            <a:pPr marL="0" indent="0" algn="l">
              <a:lnSpc>
                <a:spcPts val="1650"/>
              </a:lnSpc>
              <a:buNone/>
            </a:pPr>
            <a:r>
              <a:rPr lang="zh-CN" altLang="en-US" sz="1050" dirty="0"/>
              <a:t>私有制确立：土地被家族</a:t>
            </a:r>
            <a:r>
              <a:rPr lang="en-US" altLang="zh-CN" sz="1050" dirty="0"/>
              <a:t>/</a:t>
            </a:r>
            <a:r>
              <a:rPr lang="zh-CN" altLang="en-US" sz="1050" dirty="0"/>
              <a:t>贵族占有，剩余产品催生阶级。</a:t>
            </a:r>
            <a:endParaRPr lang="en-US" altLang="zh-CN" sz="1050" dirty="0"/>
          </a:p>
          <a:p>
            <a:pPr marL="0" indent="0" algn="l">
              <a:lnSpc>
                <a:spcPts val="1650"/>
              </a:lnSpc>
              <a:buNone/>
            </a:pPr>
            <a:r>
              <a:rPr lang="zh-CN" altLang="en-US" sz="1050" dirty="0"/>
              <a:t>剥削关系：</a:t>
            </a:r>
            <a:endParaRPr lang="en-US" altLang="zh-CN" sz="1050" dirty="0"/>
          </a:p>
          <a:p>
            <a:pPr marL="0" indent="0" algn="l">
              <a:lnSpc>
                <a:spcPts val="1650"/>
              </a:lnSpc>
              <a:buNone/>
            </a:pPr>
            <a:r>
              <a:rPr lang="zh-CN" altLang="en-US" sz="1050" dirty="0"/>
              <a:t>奴隶制（早期）：战俘成为奴隶，强制劳动（如古埃及、罗马）。</a:t>
            </a:r>
            <a:endParaRPr lang="en-US" altLang="zh-CN" sz="1050" dirty="0"/>
          </a:p>
          <a:p>
            <a:pPr marL="0" indent="0" algn="l">
              <a:lnSpc>
                <a:spcPts val="1650"/>
              </a:lnSpc>
              <a:buNone/>
            </a:pPr>
            <a:r>
              <a:rPr lang="zh-CN" altLang="en-US" sz="1050" dirty="0"/>
              <a:t>封建制（成熟期）：地主占有土地，农民（农奴</a:t>
            </a:r>
            <a:r>
              <a:rPr lang="en-US" altLang="zh-CN" sz="1050" dirty="0"/>
              <a:t>/</a:t>
            </a:r>
            <a:r>
              <a:rPr lang="zh-CN" altLang="en-US" sz="1050" dirty="0"/>
              <a:t>佃农）缴纳地租（劳役、实物或货币）。</a:t>
            </a:r>
            <a:endParaRPr lang="en-US" altLang="zh-CN" sz="1050" dirty="0"/>
          </a:p>
          <a:p>
            <a:pPr marL="0" indent="0" algn="l">
              <a:lnSpc>
                <a:spcPts val="1650"/>
              </a:lnSpc>
              <a:buNone/>
            </a:pPr>
            <a:r>
              <a:rPr lang="zh-CN" altLang="en-US" sz="1050" b="1" dirty="0"/>
              <a:t>社会组织</a:t>
            </a:r>
            <a:r>
              <a:rPr lang="zh-CN" altLang="en-US" sz="1050" dirty="0"/>
              <a:t>：以庄园经济（欧洲）、小农经济（中国）为基本单位。形成君主</a:t>
            </a:r>
            <a:r>
              <a:rPr lang="en-US" altLang="zh-CN" sz="1050" dirty="0"/>
              <a:t>-</a:t>
            </a:r>
            <a:r>
              <a:rPr lang="zh-CN" altLang="en-US" sz="1050" dirty="0"/>
              <a:t>贵族</a:t>
            </a:r>
            <a:r>
              <a:rPr lang="en-US" altLang="zh-CN" sz="1050" dirty="0"/>
              <a:t>-</a:t>
            </a:r>
            <a:r>
              <a:rPr lang="zh-CN" altLang="en-US" sz="1050" dirty="0"/>
              <a:t>农民的等级制度。</a:t>
            </a:r>
            <a:endParaRPr lang="en-US" sz="1050" dirty="0"/>
          </a:p>
        </p:txBody>
      </p:sp>
      <p:pic>
        <p:nvPicPr>
          <p:cNvPr id="2050" name="Picture 2" descr="农业革命照片 的图像结果">
            <a:extLst>
              <a:ext uri="{FF2B5EF4-FFF2-40B4-BE49-F238E27FC236}">
                <a16:creationId xmlns:a16="http://schemas.microsoft.com/office/drawing/2014/main" id="{0DADC2B5-D519-3E59-103E-4498775F69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7302" y="1079203"/>
            <a:ext cx="2493195" cy="15192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13CC3-159F-BC22-391B-1569509905B0}"/>
            </a:ext>
          </a:extLst>
        </p:cNvPr>
        <p:cNvGrpSpPr/>
        <p:nvPr/>
      </p:nvGrpSpPr>
      <p:grpSpPr>
        <a:xfrm>
          <a:off x="0" y="0"/>
          <a:ext cx="0" cy="0"/>
          <a:chOff x="0" y="0"/>
          <a:chExt cx="0" cy="0"/>
        </a:xfrm>
      </p:grpSpPr>
      <p:pic>
        <p:nvPicPr>
          <p:cNvPr id="19" name="Image 0" descr="preencoded.png">
            <a:extLst>
              <a:ext uri="{FF2B5EF4-FFF2-40B4-BE49-F238E27FC236}">
                <a16:creationId xmlns:a16="http://schemas.microsoft.com/office/drawing/2014/main" id="{53A286B4-65FB-B434-736A-F14A30930616}"/>
              </a:ext>
            </a:extLst>
          </p:cNvPr>
          <p:cNvPicPr>
            <a:picLocks noChangeAspect="1"/>
          </p:cNvPicPr>
          <p:nvPr/>
        </p:nvPicPr>
        <p:blipFill>
          <a:blip r:embed="rId3"/>
          <a:srcRect t="3571" b="3571"/>
          <a:stretch/>
        </p:blipFill>
        <p:spPr>
          <a:xfrm>
            <a:off x="0" y="0"/>
            <a:ext cx="9144000" cy="742950"/>
          </a:xfrm>
          <a:prstGeom prst="rect">
            <a:avLst/>
          </a:prstGeom>
        </p:spPr>
      </p:pic>
      <p:sp>
        <p:nvSpPr>
          <p:cNvPr id="4" name="Text 1">
            <a:extLst>
              <a:ext uri="{FF2B5EF4-FFF2-40B4-BE49-F238E27FC236}">
                <a16:creationId xmlns:a16="http://schemas.microsoft.com/office/drawing/2014/main" id="{1D60FE45-7DA3-809F-D64C-21720D89DEEC}"/>
              </a:ext>
            </a:extLst>
          </p:cNvPr>
          <p:cNvSpPr/>
          <p:nvPr/>
        </p:nvSpPr>
        <p:spPr>
          <a:xfrm>
            <a:off x="261938" y="157163"/>
            <a:ext cx="8001000" cy="40005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chemeClr val="bg1"/>
                </a:solidFill>
                <a:latin typeface="Microsoft YaHei" pitchFamily="34" charset="0"/>
                <a:ea typeface="Microsoft YaHei" pitchFamily="34" charset="-122"/>
              </a:rPr>
              <a:t>几个重要阶段的生产力和生产关系</a:t>
            </a:r>
            <a:endParaRPr lang="en-US" altLang="zh-CN" sz="2250" dirty="0">
              <a:solidFill>
                <a:schemeClr val="bg1"/>
              </a:solidFill>
            </a:endParaRPr>
          </a:p>
        </p:txBody>
      </p:sp>
      <p:sp>
        <p:nvSpPr>
          <p:cNvPr id="5" name="Text 2">
            <a:extLst>
              <a:ext uri="{FF2B5EF4-FFF2-40B4-BE49-F238E27FC236}">
                <a16:creationId xmlns:a16="http://schemas.microsoft.com/office/drawing/2014/main" id="{722A9319-CEA1-04E9-929E-EADC099EB734}"/>
              </a:ext>
            </a:extLst>
          </p:cNvPr>
          <p:cNvSpPr/>
          <p:nvPr/>
        </p:nvSpPr>
        <p:spPr>
          <a:xfrm>
            <a:off x="571500" y="74295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38" name="Image 1" descr="preencoded.png">
            <a:extLst>
              <a:ext uri="{FF2B5EF4-FFF2-40B4-BE49-F238E27FC236}">
                <a16:creationId xmlns:a16="http://schemas.microsoft.com/office/drawing/2014/main" id="{2387BD66-311B-C2CC-3AA0-12987633C7F4}"/>
              </a:ext>
            </a:extLst>
          </p:cNvPr>
          <p:cNvPicPr>
            <a:picLocks noChangeAspect="1"/>
          </p:cNvPicPr>
          <p:nvPr/>
        </p:nvPicPr>
        <p:blipFill>
          <a:blip r:embed="rId4"/>
          <a:srcRect/>
          <a:stretch/>
        </p:blipFill>
        <p:spPr>
          <a:xfrm>
            <a:off x="0" y="782305"/>
            <a:ext cx="9228453" cy="4467959"/>
          </a:xfrm>
          <a:prstGeom prst="rect">
            <a:avLst/>
          </a:prstGeom>
        </p:spPr>
      </p:pic>
      <p:sp>
        <p:nvSpPr>
          <p:cNvPr id="39" name="Text 3">
            <a:extLst>
              <a:ext uri="{FF2B5EF4-FFF2-40B4-BE49-F238E27FC236}">
                <a16:creationId xmlns:a16="http://schemas.microsoft.com/office/drawing/2014/main" id="{1957F193-440E-F373-8E79-E4F51D6DC268}"/>
              </a:ext>
            </a:extLst>
          </p:cNvPr>
          <p:cNvSpPr/>
          <p:nvPr/>
        </p:nvSpPr>
        <p:spPr>
          <a:xfrm>
            <a:off x="806521" y="2923831"/>
            <a:ext cx="1953445" cy="557924"/>
          </a:xfrm>
          <a:prstGeom prst="rect">
            <a:avLst/>
          </a:prstGeom>
          <a:noFill/>
          <a:ln/>
        </p:spPr>
        <p:txBody>
          <a:bodyPr vert="horz" wrap="square" lIns="0" tIns="0" rIns="0" bIns="0" rtlCol="0" anchor="ctr"/>
          <a:lstStyle/>
          <a:p>
            <a:pPr marL="0" indent="0" algn="ctr">
              <a:lnSpc>
                <a:spcPts val="1688"/>
              </a:lnSpc>
              <a:buNone/>
            </a:pPr>
            <a:r>
              <a:rPr lang="zh-CN" altLang="en-US" sz="2000" b="1" dirty="0">
                <a:solidFill>
                  <a:srgbClr val="333333"/>
                </a:solidFill>
                <a:latin typeface="Microsoft YaHei" pitchFamily="34" charset="0"/>
                <a:ea typeface="Microsoft YaHei" pitchFamily="34" charset="-122"/>
              </a:rPr>
              <a:t>                      </a:t>
            </a:r>
            <a:endParaRPr lang="en-US" altLang="zh-CN" sz="2000" b="1" dirty="0">
              <a:solidFill>
                <a:srgbClr val="333333"/>
              </a:solidFill>
              <a:latin typeface="Microsoft YaHei" pitchFamily="34" charset="0"/>
              <a:ea typeface="Microsoft YaHei" pitchFamily="34" charset="-122"/>
            </a:endParaRPr>
          </a:p>
          <a:p>
            <a:pPr marL="0" indent="0" algn="ctr">
              <a:lnSpc>
                <a:spcPts val="1688"/>
              </a:lnSpc>
              <a:buNone/>
            </a:pPr>
            <a:endParaRPr lang="en-US" altLang="zh-CN" sz="2000" b="1" dirty="0">
              <a:solidFill>
                <a:srgbClr val="333333"/>
              </a:solidFill>
              <a:latin typeface="Microsoft YaHei" pitchFamily="34" charset="0"/>
              <a:ea typeface="Microsoft YaHei" pitchFamily="34" charset="-122"/>
            </a:endParaRPr>
          </a:p>
          <a:p>
            <a:pPr marL="0" indent="0" algn="ctr">
              <a:lnSpc>
                <a:spcPts val="1688"/>
              </a:lnSpc>
              <a:buNone/>
            </a:pPr>
            <a:endParaRPr lang="en-US" altLang="zh-CN" sz="2000" b="1" dirty="0">
              <a:solidFill>
                <a:srgbClr val="333333"/>
              </a:solidFill>
              <a:latin typeface="Microsoft YaHei" pitchFamily="34" charset="0"/>
              <a:ea typeface="Microsoft YaHei" pitchFamily="34" charset="-122"/>
            </a:endParaRPr>
          </a:p>
          <a:p>
            <a:pPr marL="0" indent="0" algn="ctr">
              <a:lnSpc>
                <a:spcPts val="1688"/>
              </a:lnSpc>
              <a:buNone/>
            </a:pPr>
            <a:endParaRPr lang="en-US" altLang="zh-CN" sz="2000" b="1" dirty="0">
              <a:solidFill>
                <a:srgbClr val="333333"/>
              </a:solidFill>
              <a:latin typeface="Microsoft YaHei" pitchFamily="34" charset="0"/>
              <a:ea typeface="Microsoft YaHei" pitchFamily="34" charset="-122"/>
            </a:endParaRPr>
          </a:p>
          <a:p>
            <a:pPr marL="0" indent="0" algn="ctr">
              <a:lnSpc>
                <a:spcPts val="1688"/>
              </a:lnSpc>
              <a:buNone/>
            </a:pPr>
            <a:endParaRPr lang="en-US" altLang="zh-CN" sz="2000" b="1" dirty="0">
              <a:solidFill>
                <a:srgbClr val="333333"/>
              </a:solidFill>
              <a:latin typeface="Microsoft YaHei" pitchFamily="34" charset="0"/>
              <a:ea typeface="Microsoft YaHei" pitchFamily="34" charset="-122"/>
            </a:endParaRPr>
          </a:p>
          <a:p>
            <a:pPr marL="0" indent="0" algn="ctr">
              <a:lnSpc>
                <a:spcPts val="1688"/>
              </a:lnSpc>
              <a:buNone/>
            </a:pPr>
            <a:r>
              <a:rPr lang="en-US" altLang="zh-CN" sz="2000" b="1" dirty="0">
                <a:solidFill>
                  <a:srgbClr val="333333"/>
                </a:solidFill>
                <a:latin typeface="Microsoft YaHei" pitchFamily="34" charset="0"/>
                <a:ea typeface="Microsoft YaHei" pitchFamily="34" charset="-122"/>
              </a:rPr>
              <a:t>                       </a:t>
            </a:r>
            <a:r>
              <a:rPr lang="zh-CN" altLang="en-US" sz="2000" b="1" dirty="0">
                <a:solidFill>
                  <a:srgbClr val="333333"/>
                </a:solidFill>
                <a:latin typeface="Microsoft YaHei" pitchFamily="34" charset="0"/>
                <a:ea typeface="Microsoft YaHei" pitchFamily="34" charset="-122"/>
              </a:rPr>
              <a:t>工业革命</a:t>
            </a:r>
            <a:endParaRPr lang="en-US" sz="2000" dirty="0"/>
          </a:p>
        </p:txBody>
      </p:sp>
      <p:sp>
        <p:nvSpPr>
          <p:cNvPr id="40" name="Text 4">
            <a:extLst>
              <a:ext uri="{FF2B5EF4-FFF2-40B4-BE49-F238E27FC236}">
                <a16:creationId xmlns:a16="http://schemas.microsoft.com/office/drawing/2014/main" id="{F4D2B27D-19E6-3A4E-ABEC-0D7226CDBC64}"/>
              </a:ext>
            </a:extLst>
          </p:cNvPr>
          <p:cNvSpPr/>
          <p:nvPr/>
        </p:nvSpPr>
        <p:spPr>
          <a:xfrm>
            <a:off x="2847217" y="991855"/>
            <a:ext cx="5490262" cy="3994482"/>
          </a:xfrm>
          <a:prstGeom prst="rect">
            <a:avLst/>
          </a:prstGeom>
          <a:noFill/>
          <a:ln/>
        </p:spPr>
        <p:txBody>
          <a:bodyPr vert="horz" wrap="square" lIns="0" tIns="0" rIns="0" bIns="0" rtlCol="0" anchor="ctr"/>
          <a:lstStyle/>
          <a:p>
            <a:pPr marL="0" indent="0" algn="l">
              <a:lnSpc>
                <a:spcPts val="1650"/>
              </a:lnSpc>
              <a:buNone/>
            </a:pPr>
            <a:r>
              <a:rPr lang="en-US" altLang="zh-CN" sz="1100" b="1" dirty="0">
                <a:latin typeface="+mn-ea"/>
              </a:rPr>
              <a:t>1.</a:t>
            </a:r>
            <a:r>
              <a:rPr lang="zh-CN" altLang="en-US" sz="1100" b="1" dirty="0">
                <a:latin typeface="+mn-ea"/>
              </a:rPr>
              <a:t>生产力飞跃</a:t>
            </a:r>
            <a:endParaRPr lang="en-US" altLang="zh-CN" sz="1100" b="1" dirty="0">
              <a:latin typeface="+mn-ea"/>
            </a:endParaRPr>
          </a:p>
          <a:p>
            <a:pPr marL="0" indent="0" algn="l">
              <a:lnSpc>
                <a:spcPts val="1650"/>
              </a:lnSpc>
              <a:buNone/>
            </a:pPr>
            <a:r>
              <a:rPr lang="zh-CN" altLang="en-US" sz="1100" b="1" dirty="0">
                <a:latin typeface="+mn-ea"/>
              </a:rPr>
              <a:t>核心发明：</a:t>
            </a:r>
            <a:r>
              <a:rPr lang="zh-CN" altLang="en-US" sz="1100" dirty="0">
                <a:latin typeface="+mn-ea"/>
              </a:rPr>
              <a:t>蒸汽机（瓦特改良，</a:t>
            </a:r>
            <a:r>
              <a:rPr lang="en-US" altLang="zh-CN" sz="1100" dirty="0">
                <a:latin typeface="+mn-ea"/>
              </a:rPr>
              <a:t>18</a:t>
            </a:r>
            <a:r>
              <a:rPr lang="zh-CN" altLang="en-US" sz="1100" dirty="0">
                <a:latin typeface="+mn-ea"/>
              </a:rPr>
              <a:t>世纪末）→ 取代人力、畜力，成为主要动力源。</a:t>
            </a:r>
            <a:endParaRPr lang="en-US" altLang="zh-CN" sz="1100" dirty="0">
              <a:latin typeface="+mn-ea"/>
            </a:endParaRPr>
          </a:p>
          <a:p>
            <a:pPr marL="0" indent="0" algn="l">
              <a:lnSpc>
                <a:spcPts val="1650"/>
              </a:lnSpc>
              <a:buNone/>
            </a:pPr>
            <a:r>
              <a:rPr lang="zh-CN" altLang="en-US" sz="1100" b="1" dirty="0">
                <a:latin typeface="+mn-ea"/>
              </a:rPr>
              <a:t>机械化生产：</a:t>
            </a:r>
            <a:r>
              <a:rPr lang="zh-CN" altLang="en-US" sz="1100" dirty="0">
                <a:latin typeface="+mn-ea"/>
              </a:rPr>
              <a:t>纺织机（如珍妮机）、蒸汽机车、炼钢技术（贝塞麦转炉）大幅提升效率。</a:t>
            </a:r>
            <a:endParaRPr lang="en-US" altLang="zh-CN" sz="1100" dirty="0">
              <a:latin typeface="+mn-ea"/>
            </a:endParaRPr>
          </a:p>
          <a:p>
            <a:pPr marL="0" indent="0" algn="l">
              <a:lnSpc>
                <a:spcPts val="1650"/>
              </a:lnSpc>
              <a:buNone/>
            </a:pPr>
            <a:r>
              <a:rPr lang="zh-CN" altLang="en-US" sz="1100" b="1" dirty="0">
                <a:latin typeface="+mn-ea"/>
              </a:rPr>
              <a:t>能源变革：</a:t>
            </a:r>
            <a:r>
              <a:rPr lang="zh-CN" altLang="en-US" sz="1100" dirty="0">
                <a:latin typeface="+mn-ea"/>
              </a:rPr>
              <a:t>从木材、水力 → 煤炭（驱动蒸汽机），后发展石油、电力。</a:t>
            </a:r>
            <a:endParaRPr lang="en-US" altLang="zh-CN" sz="1100" dirty="0">
              <a:latin typeface="+mn-ea"/>
            </a:endParaRPr>
          </a:p>
          <a:p>
            <a:pPr marL="0" indent="0" algn="l">
              <a:lnSpc>
                <a:spcPts val="1650"/>
              </a:lnSpc>
              <a:buNone/>
            </a:pPr>
            <a:r>
              <a:rPr lang="zh-CN" altLang="en-US" sz="1100" b="1" dirty="0">
                <a:latin typeface="+mn-ea"/>
              </a:rPr>
              <a:t>交通与通信：</a:t>
            </a:r>
            <a:r>
              <a:rPr lang="zh-CN" altLang="en-US" sz="1100" dirty="0">
                <a:latin typeface="+mn-ea"/>
              </a:rPr>
              <a:t>铁路（</a:t>
            </a:r>
            <a:r>
              <a:rPr lang="en-US" altLang="zh-CN" sz="1100" dirty="0">
                <a:latin typeface="+mn-ea"/>
              </a:rPr>
              <a:t>19</a:t>
            </a:r>
            <a:r>
              <a:rPr lang="zh-CN" altLang="en-US" sz="1100" dirty="0">
                <a:latin typeface="+mn-ea"/>
              </a:rPr>
              <a:t>世纪）、轮船（蒸汽动力）打破地域限制；电报（</a:t>
            </a:r>
            <a:r>
              <a:rPr lang="en-US" altLang="zh-CN" sz="1100" dirty="0">
                <a:latin typeface="+mn-ea"/>
              </a:rPr>
              <a:t>1830s</a:t>
            </a:r>
            <a:r>
              <a:rPr lang="zh-CN" altLang="en-US" sz="1100" dirty="0">
                <a:latin typeface="+mn-ea"/>
              </a:rPr>
              <a:t>）加速信息传递，促进全球贸易。</a:t>
            </a:r>
            <a:endParaRPr lang="en-US" altLang="zh-CN" sz="1100" dirty="0">
              <a:latin typeface="+mn-ea"/>
            </a:endParaRPr>
          </a:p>
          <a:p>
            <a:pPr marL="0" indent="0" algn="l">
              <a:lnSpc>
                <a:spcPts val="1650"/>
              </a:lnSpc>
              <a:buNone/>
            </a:pPr>
            <a:r>
              <a:rPr lang="en-US" altLang="zh-CN" sz="1100" b="1" dirty="0">
                <a:latin typeface="+mn-ea"/>
              </a:rPr>
              <a:t>2. </a:t>
            </a:r>
            <a:r>
              <a:rPr lang="zh-CN" altLang="en-US" sz="1100" b="1" dirty="0">
                <a:latin typeface="+mn-ea"/>
              </a:rPr>
              <a:t>生产关系转型（社会结构重塑）</a:t>
            </a:r>
            <a:endParaRPr lang="en-US" altLang="zh-CN" sz="1100" b="1" dirty="0">
              <a:latin typeface="+mn-ea"/>
            </a:endParaRPr>
          </a:p>
          <a:p>
            <a:pPr marL="0" indent="0" algn="l">
              <a:lnSpc>
                <a:spcPts val="1650"/>
              </a:lnSpc>
              <a:buNone/>
            </a:pPr>
            <a:r>
              <a:rPr lang="zh-CN" altLang="en-US" sz="1100" b="1" dirty="0">
                <a:latin typeface="+mn-ea"/>
              </a:rPr>
              <a:t>前工业社会：</a:t>
            </a:r>
            <a:endParaRPr lang="en-US" altLang="zh-CN" sz="1100" b="1" dirty="0">
              <a:latin typeface="+mn-ea"/>
            </a:endParaRPr>
          </a:p>
          <a:p>
            <a:pPr marL="0" indent="0" algn="l">
              <a:lnSpc>
                <a:spcPts val="1650"/>
              </a:lnSpc>
              <a:buNone/>
            </a:pPr>
            <a:r>
              <a:rPr lang="zh-CN" altLang="en-US" sz="1100" dirty="0">
                <a:latin typeface="+mn-ea"/>
              </a:rPr>
              <a:t>封建制：贵族垄断土地，农民依附庄园，手工业受行会限制。</a:t>
            </a:r>
            <a:endParaRPr lang="en-US" altLang="zh-CN" sz="1100" dirty="0">
              <a:latin typeface="+mn-ea"/>
            </a:endParaRPr>
          </a:p>
          <a:p>
            <a:pPr marL="0" indent="0" algn="l">
              <a:lnSpc>
                <a:spcPts val="1650"/>
              </a:lnSpc>
              <a:buNone/>
            </a:pPr>
            <a:r>
              <a:rPr lang="zh-CN" altLang="en-US" sz="1100" b="1" dirty="0">
                <a:latin typeface="+mn-ea"/>
              </a:rPr>
              <a:t>工业革命后：</a:t>
            </a:r>
            <a:endParaRPr lang="en-US" altLang="zh-CN" sz="1100" b="1" dirty="0">
              <a:latin typeface="+mn-ea"/>
            </a:endParaRPr>
          </a:p>
          <a:p>
            <a:pPr marL="0" indent="0" algn="l">
              <a:lnSpc>
                <a:spcPts val="1650"/>
              </a:lnSpc>
              <a:buNone/>
            </a:pPr>
            <a:r>
              <a:rPr lang="zh-CN" altLang="en-US" sz="1100" dirty="0">
                <a:latin typeface="+mn-ea"/>
              </a:rPr>
              <a:t>资本主义雇佣制：资本家（工厂主）掌握机器、原料，工人（无产者）出卖劳动力。</a:t>
            </a:r>
            <a:endParaRPr lang="en-US" altLang="zh-CN" sz="1100" dirty="0">
              <a:latin typeface="+mn-ea"/>
            </a:endParaRPr>
          </a:p>
          <a:p>
            <a:pPr marL="0" indent="0" algn="l">
              <a:lnSpc>
                <a:spcPts val="1650"/>
              </a:lnSpc>
              <a:buNone/>
            </a:pPr>
            <a:r>
              <a:rPr lang="zh-CN" altLang="en-US" sz="1100" b="1" dirty="0">
                <a:latin typeface="+mn-ea"/>
              </a:rPr>
              <a:t>剥削形式：</a:t>
            </a:r>
            <a:r>
              <a:rPr lang="zh-CN" altLang="en-US" sz="1100" dirty="0">
                <a:latin typeface="+mn-ea"/>
              </a:rPr>
              <a:t>剩余价值（工人创造的价值＞工资）。</a:t>
            </a:r>
            <a:endParaRPr lang="en-US" altLang="zh-CN" sz="1100" dirty="0">
              <a:latin typeface="+mn-ea"/>
            </a:endParaRPr>
          </a:p>
          <a:p>
            <a:pPr marL="0" indent="0" algn="l">
              <a:lnSpc>
                <a:spcPts val="1650"/>
              </a:lnSpc>
              <a:buNone/>
            </a:pPr>
            <a:r>
              <a:rPr lang="zh-CN" altLang="en-US" sz="1100" b="1" dirty="0">
                <a:latin typeface="+mn-ea"/>
              </a:rPr>
              <a:t>阶级结构：</a:t>
            </a:r>
            <a:r>
              <a:rPr lang="zh-CN" altLang="en-US" sz="1100" dirty="0">
                <a:latin typeface="+mn-ea"/>
              </a:rPr>
              <a:t>资产阶级（工厂主、商人） </a:t>
            </a:r>
            <a:r>
              <a:rPr lang="en-US" altLang="zh-CN" sz="1100" dirty="0">
                <a:latin typeface="+mn-ea"/>
              </a:rPr>
              <a:t>vs. </a:t>
            </a:r>
            <a:r>
              <a:rPr lang="zh-CN" altLang="en-US" sz="1100" dirty="0">
                <a:latin typeface="+mn-ea"/>
              </a:rPr>
              <a:t>无产阶级（工人）。</a:t>
            </a:r>
            <a:endParaRPr lang="en-US" altLang="zh-CN" sz="1100" dirty="0">
              <a:latin typeface="+mn-ea"/>
            </a:endParaRPr>
          </a:p>
          <a:p>
            <a:pPr marL="0" indent="0" algn="l">
              <a:lnSpc>
                <a:spcPts val="1650"/>
              </a:lnSpc>
              <a:buNone/>
            </a:pPr>
            <a:r>
              <a:rPr lang="zh-CN" altLang="en-US" sz="1100" b="1" dirty="0">
                <a:latin typeface="+mn-ea"/>
              </a:rPr>
              <a:t>经济组织：</a:t>
            </a:r>
            <a:endParaRPr lang="en-US" altLang="zh-CN" sz="1100" b="1" dirty="0">
              <a:latin typeface="+mn-ea"/>
            </a:endParaRPr>
          </a:p>
          <a:p>
            <a:pPr marL="0" indent="0" algn="l">
              <a:lnSpc>
                <a:spcPts val="1650"/>
              </a:lnSpc>
              <a:buNone/>
            </a:pPr>
            <a:r>
              <a:rPr lang="zh-CN" altLang="en-US" sz="1100" dirty="0">
                <a:latin typeface="+mn-ea"/>
              </a:rPr>
              <a:t>家庭作坊 → 工厂制度（集中生产，标准化分工）。</a:t>
            </a:r>
            <a:endParaRPr lang="en-US" altLang="zh-CN" sz="1100" dirty="0">
              <a:latin typeface="+mn-ea"/>
            </a:endParaRPr>
          </a:p>
          <a:p>
            <a:pPr marL="0" indent="0" algn="l">
              <a:lnSpc>
                <a:spcPts val="1650"/>
              </a:lnSpc>
              <a:buNone/>
            </a:pPr>
            <a:r>
              <a:rPr lang="zh-CN" altLang="en-US" sz="1100" dirty="0">
                <a:latin typeface="+mn-ea"/>
              </a:rPr>
              <a:t>自由竞争 → 垄断资本（</a:t>
            </a:r>
            <a:r>
              <a:rPr lang="en-US" altLang="zh-CN" sz="1100" dirty="0">
                <a:latin typeface="+mn-ea"/>
              </a:rPr>
              <a:t>19</a:t>
            </a:r>
            <a:r>
              <a:rPr lang="zh-CN" altLang="en-US" sz="1100" dirty="0">
                <a:latin typeface="+mn-ea"/>
              </a:rPr>
              <a:t>世纪末出现托拉斯、卡特尔）。</a:t>
            </a:r>
            <a:endParaRPr lang="en-US" sz="1100" dirty="0">
              <a:latin typeface="+mn-ea"/>
            </a:endParaRPr>
          </a:p>
        </p:txBody>
      </p:sp>
      <p:pic>
        <p:nvPicPr>
          <p:cNvPr id="3074" name="Picture 2" descr="7.1 工业革命（共20张PPT）_21世纪教育网">
            <a:extLst>
              <a:ext uri="{FF2B5EF4-FFF2-40B4-BE49-F238E27FC236}">
                <a16:creationId xmlns:a16="http://schemas.microsoft.com/office/drawing/2014/main" id="{79B83A86-4D29-643E-0CAF-7B12923825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6823" y="1138237"/>
            <a:ext cx="2133143" cy="1599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3475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D5B28-74F5-9162-C04C-E6F566B3D864}"/>
            </a:ext>
          </a:extLst>
        </p:cNvPr>
        <p:cNvGrpSpPr/>
        <p:nvPr/>
      </p:nvGrpSpPr>
      <p:grpSpPr>
        <a:xfrm>
          <a:off x="0" y="0"/>
          <a:ext cx="0" cy="0"/>
          <a:chOff x="0" y="0"/>
          <a:chExt cx="0" cy="0"/>
        </a:xfrm>
      </p:grpSpPr>
      <p:pic>
        <p:nvPicPr>
          <p:cNvPr id="19" name="Image 0" descr="preencoded.png">
            <a:extLst>
              <a:ext uri="{FF2B5EF4-FFF2-40B4-BE49-F238E27FC236}">
                <a16:creationId xmlns:a16="http://schemas.microsoft.com/office/drawing/2014/main" id="{268D415B-1A51-3405-BA1A-F0147E1D5B26}"/>
              </a:ext>
            </a:extLst>
          </p:cNvPr>
          <p:cNvPicPr>
            <a:picLocks noChangeAspect="1"/>
          </p:cNvPicPr>
          <p:nvPr/>
        </p:nvPicPr>
        <p:blipFill>
          <a:blip r:embed="rId3"/>
          <a:srcRect t="3571" b="3571"/>
          <a:stretch/>
        </p:blipFill>
        <p:spPr>
          <a:xfrm>
            <a:off x="0" y="0"/>
            <a:ext cx="9144000" cy="742950"/>
          </a:xfrm>
          <a:prstGeom prst="rect">
            <a:avLst/>
          </a:prstGeom>
        </p:spPr>
      </p:pic>
      <p:sp>
        <p:nvSpPr>
          <p:cNvPr id="4" name="Text 1">
            <a:extLst>
              <a:ext uri="{FF2B5EF4-FFF2-40B4-BE49-F238E27FC236}">
                <a16:creationId xmlns:a16="http://schemas.microsoft.com/office/drawing/2014/main" id="{9139F163-1D1A-18D5-D6F4-C4E9074A15F2}"/>
              </a:ext>
            </a:extLst>
          </p:cNvPr>
          <p:cNvSpPr/>
          <p:nvPr/>
        </p:nvSpPr>
        <p:spPr>
          <a:xfrm>
            <a:off x="261938" y="157163"/>
            <a:ext cx="8001000" cy="40005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chemeClr val="bg1"/>
                </a:solidFill>
                <a:latin typeface="Microsoft YaHei" pitchFamily="34" charset="0"/>
                <a:ea typeface="Microsoft YaHei" pitchFamily="34" charset="-122"/>
              </a:rPr>
              <a:t>几个重要阶段的生产力和生产关系</a:t>
            </a:r>
            <a:endParaRPr lang="en-US" altLang="zh-CN" sz="2250" dirty="0">
              <a:solidFill>
                <a:schemeClr val="bg1"/>
              </a:solidFill>
            </a:endParaRPr>
          </a:p>
        </p:txBody>
      </p:sp>
      <p:sp>
        <p:nvSpPr>
          <p:cNvPr id="5" name="Text 2">
            <a:extLst>
              <a:ext uri="{FF2B5EF4-FFF2-40B4-BE49-F238E27FC236}">
                <a16:creationId xmlns:a16="http://schemas.microsoft.com/office/drawing/2014/main" id="{880621DD-4CD6-042E-2BB4-BEBB884C9A68}"/>
              </a:ext>
            </a:extLst>
          </p:cNvPr>
          <p:cNvSpPr/>
          <p:nvPr/>
        </p:nvSpPr>
        <p:spPr>
          <a:xfrm>
            <a:off x="571500" y="74295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38" name="Image 1" descr="preencoded.png">
            <a:extLst>
              <a:ext uri="{FF2B5EF4-FFF2-40B4-BE49-F238E27FC236}">
                <a16:creationId xmlns:a16="http://schemas.microsoft.com/office/drawing/2014/main" id="{EAEF20EB-3846-32A1-0660-2A3B676CFD7B}"/>
              </a:ext>
            </a:extLst>
          </p:cNvPr>
          <p:cNvPicPr>
            <a:picLocks noChangeAspect="1"/>
          </p:cNvPicPr>
          <p:nvPr/>
        </p:nvPicPr>
        <p:blipFill>
          <a:blip r:embed="rId4"/>
          <a:srcRect/>
          <a:stretch/>
        </p:blipFill>
        <p:spPr>
          <a:xfrm>
            <a:off x="0" y="742950"/>
            <a:ext cx="9228453" cy="4467959"/>
          </a:xfrm>
          <a:prstGeom prst="rect">
            <a:avLst/>
          </a:prstGeom>
        </p:spPr>
      </p:pic>
      <p:sp>
        <p:nvSpPr>
          <p:cNvPr id="39" name="Text 3">
            <a:extLst>
              <a:ext uri="{FF2B5EF4-FFF2-40B4-BE49-F238E27FC236}">
                <a16:creationId xmlns:a16="http://schemas.microsoft.com/office/drawing/2014/main" id="{9698E424-E0DE-6030-F465-A5192BAE86F4}"/>
              </a:ext>
            </a:extLst>
          </p:cNvPr>
          <p:cNvSpPr/>
          <p:nvPr/>
        </p:nvSpPr>
        <p:spPr>
          <a:xfrm>
            <a:off x="806521" y="2923831"/>
            <a:ext cx="1953445" cy="557924"/>
          </a:xfrm>
          <a:prstGeom prst="rect">
            <a:avLst/>
          </a:prstGeom>
          <a:noFill/>
          <a:ln/>
        </p:spPr>
        <p:txBody>
          <a:bodyPr vert="horz" wrap="square" lIns="0" tIns="0" rIns="0" bIns="0" rtlCol="0" anchor="ctr"/>
          <a:lstStyle/>
          <a:p>
            <a:pPr marL="0" indent="0" algn="ctr">
              <a:lnSpc>
                <a:spcPts val="1688"/>
              </a:lnSpc>
              <a:buNone/>
            </a:pPr>
            <a:r>
              <a:rPr lang="zh-CN" altLang="en-US" sz="2000" b="1" dirty="0">
                <a:solidFill>
                  <a:srgbClr val="333333"/>
                </a:solidFill>
                <a:latin typeface="Microsoft YaHei" pitchFamily="34" charset="0"/>
                <a:ea typeface="Microsoft YaHei" pitchFamily="34" charset="-122"/>
              </a:rPr>
              <a:t>                      </a:t>
            </a:r>
            <a:endParaRPr lang="en-US" altLang="zh-CN" sz="2000" b="1" dirty="0">
              <a:solidFill>
                <a:srgbClr val="333333"/>
              </a:solidFill>
              <a:latin typeface="Microsoft YaHei" pitchFamily="34" charset="0"/>
              <a:ea typeface="Microsoft YaHei" pitchFamily="34" charset="-122"/>
            </a:endParaRPr>
          </a:p>
          <a:p>
            <a:pPr marL="0" indent="0" algn="ctr">
              <a:lnSpc>
                <a:spcPts val="1688"/>
              </a:lnSpc>
              <a:buNone/>
            </a:pPr>
            <a:endParaRPr lang="en-US" altLang="zh-CN" sz="2000" b="1" dirty="0">
              <a:solidFill>
                <a:srgbClr val="333333"/>
              </a:solidFill>
              <a:latin typeface="Microsoft YaHei" pitchFamily="34" charset="0"/>
              <a:ea typeface="Microsoft YaHei" pitchFamily="34" charset="-122"/>
            </a:endParaRPr>
          </a:p>
          <a:p>
            <a:pPr marL="0" indent="0" algn="ctr">
              <a:lnSpc>
                <a:spcPts val="1688"/>
              </a:lnSpc>
              <a:buNone/>
            </a:pPr>
            <a:endParaRPr lang="en-US" altLang="zh-CN" sz="2000" b="1" dirty="0">
              <a:solidFill>
                <a:srgbClr val="333333"/>
              </a:solidFill>
              <a:latin typeface="Microsoft YaHei" pitchFamily="34" charset="0"/>
              <a:ea typeface="Microsoft YaHei" pitchFamily="34" charset="-122"/>
            </a:endParaRPr>
          </a:p>
          <a:p>
            <a:pPr marL="0" indent="0" algn="ctr">
              <a:lnSpc>
                <a:spcPts val="1688"/>
              </a:lnSpc>
              <a:buNone/>
            </a:pPr>
            <a:endParaRPr lang="en-US" altLang="zh-CN" sz="2000" b="1" dirty="0">
              <a:solidFill>
                <a:srgbClr val="333333"/>
              </a:solidFill>
              <a:latin typeface="Microsoft YaHei" pitchFamily="34" charset="0"/>
              <a:ea typeface="Microsoft YaHei" pitchFamily="34" charset="-122"/>
            </a:endParaRPr>
          </a:p>
          <a:p>
            <a:pPr marL="0" indent="0" algn="ctr">
              <a:lnSpc>
                <a:spcPts val="1688"/>
              </a:lnSpc>
              <a:buNone/>
            </a:pPr>
            <a:endParaRPr lang="en-US" altLang="zh-CN" sz="2000" b="1" dirty="0">
              <a:solidFill>
                <a:srgbClr val="333333"/>
              </a:solidFill>
              <a:latin typeface="Microsoft YaHei" pitchFamily="34" charset="0"/>
              <a:ea typeface="Microsoft YaHei" pitchFamily="34" charset="-122"/>
            </a:endParaRPr>
          </a:p>
          <a:p>
            <a:pPr marL="0" indent="0" algn="ctr">
              <a:lnSpc>
                <a:spcPts val="1688"/>
              </a:lnSpc>
              <a:buNone/>
            </a:pPr>
            <a:r>
              <a:rPr lang="en-US" altLang="zh-CN" sz="2000" b="1" dirty="0">
                <a:solidFill>
                  <a:srgbClr val="333333"/>
                </a:solidFill>
                <a:latin typeface="Microsoft YaHei" pitchFamily="34" charset="0"/>
                <a:ea typeface="Microsoft YaHei" pitchFamily="34" charset="-122"/>
              </a:rPr>
              <a:t>                       </a:t>
            </a:r>
            <a:r>
              <a:rPr lang="zh-CN" altLang="en-US" sz="2000" b="1" dirty="0">
                <a:solidFill>
                  <a:srgbClr val="333333"/>
                </a:solidFill>
                <a:latin typeface="Microsoft YaHei" pitchFamily="34" charset="0"/>
                <a:ea typeface="Microsoft YaHei" pitchFamily="34" charset="-122"/>
              </a:rPr>
              <a:t>信息革命</a:t>
            </a:r>
            <a:endParaRPr lang="en-US" sz="2000" dirty="0"/>
          </a:p>
        </p:txBody>
      </p:sp>
      <p:sp>
        <p:nvSpPr>
          <p:cNvPr id="40" name="Text 4">
            <a:extLst>
              <a:ext uri="{FF2B5EF4-FFF2-40B4-BE49-F238E27FC236}">
                <a16:creationId xmlns:a16="http://schemas.microsoft.com/office/drawing/2014/main" id="{820D1580-E2B1-70D5-ACD6-BA625B513BEA}"/>
              </a:ext>
            </a:extLst>
          </p:cNvPr>
          <p:cNvSpPr/>
          <p:nvPr/>
        </p:nvSpPr>
        <p:spPr>
          <a:xfrm>
            <a:off x="2847217" y="991855"/>
            <a:ext cx="5490262" cy="3994482"/>
          </a:xfrm>
          <a:prstGeom prst="rect">
            <a:avLst/>
          </a:prstGeom>
          <a:noFill/>
          <a:ln/>
        </p:spPr>
        <p:txBody>
          <a:bodyPr vert="horz" wrap="square" lIns="0" tIns="0" rIns="0" bIns="0" rtlCol="0" anchor="ctr"/>
          <a:lstStyle/>
          <a:p>
            <a:pPr algn="l">
              <a:lnSpc>
                <a:spcPts val="1650"/>
              </a:lnSpc>
            </a:pPr>
            <a:r>
              <a:rPr lang="en-US" altLang="zh-CN" sz="1200" b="1" dirty="0">
                <a:latin typeface="+mn-ea"/>
              </a:rPr>
              <a:t>1.</a:t>
            </a:r>
            <a:r>
              <a:rPr lang="zh-CN" altLang="en-US" sz="1200" b="1" dirty="0">
                <a:latin typeface="+mn-ea"/>
              </a:rPr>
              <a:t>生产力变革（技术飞跃）</a:t>
            </a:r>
            <a:endParaRPr lang="en-US" altLang="zh-CN" sz="1200" b="1" dirty="0">
              <a:latin typeface="+mn-ea"/>
            </a:endParaRPr>
          </a:p>
          <a:p>
            <a:pPr algn="l">
              <a:lnSpc>
                <a:spcPts val="1650"/>
              </a:lnSpc>
            </a:pPr>
            <a:r>
              <a:rPr lang="zh-CN" altLang="en-US" sz="1200" b="1" dirty="0">
                <a:latin typeface="+mn-ea"/>
              </a:rPr>
              <a:t>核心技术突破：</a:t>
            </a:r>
            <a:endParaRPr lang="en-US" altLang="zh-CN" sz="1200" b="1" dirty="0">
              <a:latin typeface="+mn-ea"/>
            </a:endParaRPr>
          </a:p>
          <a:p>
            <a:pPr algn="l">
              <a:lnSpc>
                <a:spcPts val="1650"/>
              </a:lnSpc>
            </a:pPr>
            <a:r>
              <a:rPr lang="zh-CN" altLang="en-US" sz="1200" dirty="0">
                <a:latin typeface="+mn-ea"/>
              </a:rPr>
              <a:t>计算机（</a:t>
            </a:r>
            <a:r>
              <a:rPr lang="en-US" altLang="zh-CN" sz="1200" dirty="0">
                <a:latin typeface="+mn-ea"/>
              </a:rPr>
              <a:t>1940s</a:t>
            </a:r>
            <a:r>
              <a:rPr lang="zh-CN" altLang="en-US" sz="1200" dirty="0">
                <a:latin typeface="+mn-ea"/>
              </a:rPr>
              <a:t>） → 实现数据自动化处理</a:t>
            </a:r>
            <a:endParaRPr lang="en-US" altLang="zh-CN" sz="1200" dirty="0">
              <a:latin typeface="+mn-ea"/>
            </a:endParaRPr>
          </a:p>
          <a:p>
            <a:pPr algn="l">
              <a:lnSpc>
                <a:spcPts val="1650"/>
              </a:lnSpc>
            </a:pPr>
            <a:r>
              <a:rPr lang="zh-CN" altLang="en-US" sz="1200" dirty="0">
                <a:latin typeface="+mn-ea"/>
              </a:rPr>
              <a:t>互联网（</a:t>
            </a:r>
            <a:r>
              <a:rPr lang="en-US" altLang="zh-CN" sz="1200" dirty="0">
                <a:latin typeface="+mn-ea"/>
              </a:rPr>
              <a:t>1990s</a:t>
            </a:r>
            <a:r>
              <a:rPr lang="zh-CN" altLang="en-US" sz="1200" dirty="0">
                <a:latin typeface="+mn-ea"/>
              </a:rPr>
              <a:t>） → 全球实时信息连接</a:t>
            </a:r>
            <a:endParaRPr lang="en-US" altLang="zh-CN" sz="1200" dirty="0">
              <a:latin typeface="+mn-ea"/>
            </a:endParaRPr>
          </a:p>
          <a:p>
            <a:pPr algn="l">
              <a:lnSpc>
                <a:spcPts val="1650"/>
              </a:lnSpc>
            </a:pPr>
            <a:r>
              <a:rPr lang="zh-CN" altLang="en-US" sz="1200" dirty="0">
                <a:latin typeface="+mn-ea"/>
              </a:rPr>
              <a:t>人工智能</a:t>
            </a:r>
            <a:r>
              <a:rPr lang="en-US" altLang="zh-CN" sz="1200" dirty="0">
                <a:latin typeface="+mn-ea"/>
              </a:rPr>
              <a:t>/</a:t>
            </a:r>
            <a:r>
              <a:rPr lang="zh-CN" altLang="en-US" sz="1200" dirty="0">
                <a:latin typeface="+mn-ea"/>
              </a:rPr>
              <a:t>大数据（</a:t>
            </a:r>
            <a:r>
              <a:rPr lang="en-US" altLang="zh-CN" sz="1200" dirty="0">
                <a:latin typeface="+mn-ea"/>
              </a:rPr>
              <a:t>21</a:t>
            </a:r>
            <a:r>
              <a:rPr lang="zh-CN" altLang="en-US" sz="1200" dirty="0">
                <a:latin typeface="+mn-ea"/>
              </a:rPr>
              <a:t>世纪） → 机器自主决策与预测</a:t>
            </a:r>
            <a:endParaRPr lang="en-US" altLang="zh-CN" sz="1200" dirty="0">
              <a:latin typeface="+mn-ea"/>
            </a:endParaRPr>
          </a:p>
          <a:p>
            <a:pPr algn="l">
              <a:lnSpc>
                <a:spcPts val="1650"/>
              </a:lnSpc>
            </a:pPr>
            <a:r>
              <a:rPr lang="zh-CN" altLang="en-US" sz="1200" dirty="0">
                <a:latin typeface="+mn-ea"/>
              </a:rPr>
              <a:t>移动通信（</a:t>
            </a:r>
            <a:r>
              <a:rPr lang="en-US" altLang="zh-CN" sz="1200" dirty="0">
                <a:latin typeface="+mn-ea"/>
              </a:rPr>
              <a:t>4G/5G</a:t>
            </a:r>
            <a:r>
              <a:rPr lang="zh-CN" altLang="en-US" sz="1200" dirty="0">
                <a:latin typeface="+mn-ea"/>
              </a:rPr>
              <a:t>） → 打破时空限制</a:t>
            </a:r>
            <a:endParaRPr lang="en-US" altLang="zh-CN" sz="1200" dirty="0">
              <a:latin typeface="+mn-ea"/>
            </a:endParaRPr>
          </a:p>
          <a:p>
            <a:pPr algn="l">
              <a:lnSpc>
                <a:spcPts val="1650"/>
              </a:lnSpc>
            </a:pPr>
            <a:r>
              <a:rPr lang="zh-CN" altLang="en-US" sz="1200" b="1" dirty="0">
                <a:latin typeface="+mn-ea"/>
              </a:rPr>
              <a:t>生产要素升级：</a:t>
            </a:r>
            <a:endParaRPr lang="en-US" altLang="zh-CN" sz="1200" b="1" dirty="0">
              <a:latin typeface="+mn-ea"/>
            </a:endParaRPr>
          </a:p>
          <a:p>
            <a:pPr algn="l">
              <a:lnSpc>
                <a:spcPts val="1650"/>
              </a:lnSpc>
            </a:pPr>
            <a:r>
              <a:rPr lang="zh-CN" altLang="en-US" sz="1200" dirty="0">
                <a:latin typeface="+mn-ea"/>
              </a:rPr>
              <a:t>数据成为核心资源（替代石油），算法成为新</a:t>
            </a:r>
            <a:r>
              <a:rPr lang="en-US" altLang="zh-CN" sz="1200" dirty="0">
                <a:latin typeface="+mn-ea"/>
              </a:rPr>
              <a:t>“</a:t>
            </a:r>
            <a:r>
              <a:rPr lang="zh-CN" altLang="en-US" sz="1200" dirty="0">
                <a:latin typeface="+mn-ea"/>
              </a:rPr>
              <a:t>生产工具”，算力成为新</a:t>
            </a:r>
            <a:r>
              <a:rPr lang="en-US" altLang="zh-CN" sz="1200" dirty="0">
                <a:latin typeface="+mn-ea"/>
              </a:rPr>
              <a:t>“</a:t>
            </a:r>
            <a:r>
              <a:rPr lang="zh-CN" altLang="en-US" sz="1200" dirty="0">
                <a:latin typeface="+mn-ea"/>
              </a:rPr>
              <a:t>动力源”</a:t>
            </a:r>
            <a:endParaRPr lang="en-US" altLang="zh-CN" sz="1200" dirty="0">
              <a:latin typeface="+mn-ea"/>
            </a:endParaRPr>
          </a:p>
          <a:p>
            <a:pPr algn="l">
              <a:lnSpc>
                <a:spcPts val="1650"/>
              </a:lnSpc>
            </a:pPr>
            <a:r>
              <a:rPr lang="zh-CN" altLang="en-US" sz="1200" b="1" dirty="0">
                <a:latin typeface="+mn-ea"/>
              </a:rPr>
              <a:t>生产组织方式：</a:t>
            </a:r>
            <a:endParaRPr lang="en-US" altLang="zh-CN" sz="1200" b="1" dirty="0">
              <a:latin typeface="+mn-ea"/>
            </a:endParaRPr>
          </a:p>
          <a:p>
            <a:pPr algn="l">
              <a:lnSpc>
                <a:spcPts val="1650"/>
              </a:lnSpc>
            </a:pPr>
            <a:r>
              <a:rPr lang="zh-CN" altLang="en-US" sz="1200" dirty="0">
                <a:latin typeface="+mn-ea"/>
              </a:rPr>
              <a:t>平台经济（如</a:t>
            </a:r>
            <a:r>
              <a:rPr lang="en-US" altLang="zh-CN" sz="1200" dirty="0">
                <a:latin typeface="+mn-ea"/>
              </a:rPr>
              <a:t>Uber</a:t>
            </a:r>
            <a:r>
              <a:rPr lang="zh-CN" altLang="en-US" sz="1200" dirty="0">
                <a:latin typeface="+mn-ea"/>
              </a:rPr>
              <a:t>、淘宝），远程协同（</a:t>
            </a:r>
            <a:r>
              <a:rPr lang="en-US" altLang="zh-CN" sz="1200" dirty="0">
                <a:latin typeface="+mn-ea"/>
              </a:rPr>
              <a:t>Zoom</a:t>
            </a:r>
            <a:r>
              <a:rPr lang="zh-CN" altLang="en-US" sz="1200" dirty="0">
                <a:latin typeface="+mn-ea"/>
              </a:rPr>
              <a:t>、钉钉），智能制造（工业</a:t>
            </a:r>
            <a:r>
              <a:rPr lang="en-US" altLang="zh-CN" sz="1200" dirty="0">
                <a:latin typeface="+mn-ea"/>
              </a:rPr>
              <a:t>4.0</a:t>
            </a:r>
            <a:r>
              <a:rPr lang="zh-CN" altLang="en-US" sz="1200" dirty="0">
                <a:latin typeface="+mn-ea"/>
              </a:rPr>
              <a:t>）</a:t>
            </a:r>
            <a:endParaRPr lang="en-US" altLang="zh-CN" sz="1200" dirty="0">
              <a:latin typeface="+mn-ea"/>
            </a:endParaRPr>
          </a:p>
          <a:p>
            <a:pPr algn="l">
              <a:lnSpc>
                <a:spcPts val="1650"/>
              </a:lnSpc>
            </a:pPr>
            <a:r>
              <a:rPr lang="en-US" altLang="zh-CN" sz="1200" b="1" dirty="0">
                <a:latin typeface="+mn-ea"/>
              </a:rPr>
              <a:t>2. </a:t>
            </a:r>
            <a:r>
              <a:rPr lang="zh-CN" altLang="en-US" sz="1200" b="1" dirty="0">
                <a:latin typeface="+mn-ea"/>
              </a:rPr>
              <a:t>生产关系转型（社会重构）</a:t>
            </a:r>
            <a:endParaRPr lang="en-US" altLang="zh-CN" sz="1200" b="1" dirty="0">
              <a:latin typeface="+mn-ea"/>
            </a:endParaRPr>
          </a:p>
          <a:p>
            <a:pPr algn="l">
              <a:lnSpc>
                <a:spcPts val="1650"/>
              </a:lnSpc>
            </a:pPr>
            <a:r>
              <a:rPr lang="zh-CN" altLang="en-US" sz="1200" b="1" dirty="0">
                <a:latin typeface="+mn-ea"/>
              </a:rPr>
              <a:t>传统经济：</a:t>
            </a:r>
            <a:r>
              <a:rPr lang="zh-CN" altLang="en-US" sz="1200" dirty="0">
                <a:latin typeface="+mn-ea"/>
              </a:rPr>
              <a:t>资本</a:t>
            </a:r>
            <a:r>
              <a:rPr lang="en-US" altLang="zh-CN" sz="1200" dirty="0">
                <a:latin typeface="+mn-ea"/>
              </a:rPr>
              <a:t>-</a:t>
            </a:r>
            <a:r>
              <a:rPr lang="zh-CN" altLang="en-US" sz="1200" dirty="0">
                <a:latin typeface="+mn-ea"/>
              </a:rPr>
              <a:t>雇佣劳动制，明确的企业边界</a:t>
            </a:r>
            <a:endParaRPr lang="en-US" altLang="zh-CN" sz="1200" dirty="0">
              <a:latin typeface="+mn-ea"/>
            </a:endParaRPr>
          </a:p>
          <a:p>
            <a:pPr algn="l">
              <a:lnSpc>
                <a:spcPts val="1650"/>
              </a:lnSpc>
            </a:pPr>
            <a:r>
              <a:rPr lang="zh-CN" altLang="en-US" sz="1200" b="1" dirty="0">
                <a:latin typeface="+mn-ea"/>
              </a:rPr>
              <a:t>信息经济新特征：</a:t>
            </a:r>
            <a:endParaRPr lang="en-US" altLang="zh-CN" sz="1200" b="1" dirty="0">
              <a:latin typeface="+mn-ea"/>
            </a:endParaRPr>
          </a:p>
          <a:p>
            <a:pPr algn="l">
              <a:lnSpc>
                <a:spcPts val="1650"/>
              </a:lnSpc>
            </a:pPr>
            <a:r>
              <a:rPr lang="zh-CN" altLang="en-US" sz="1200" dirty="0">
                <a:latin typeface="+mn-ea"/>
              </a:rPr>
              <a:t>数据垄断：科技巨头控制关键生产资料</a:t>
            </a:r>
            <a:endParaRPr lang="en-US" altLang="zh-CN" sz="1200" dirty="0">
              <a:latin typeface="+mn-ea"/>
            </a:endParaRPr>
          </a:p>
          <a:p>
            <a:pPr algn="l">
              <a:lnSpc>
                <a:spcPts val="1650"/>
              </a:lnSpc>
            </a:pPr>
            <a:r>
              <a:rPr lang="zh-CN" altLang="en-US" sz="1200" dirty="0">
                <a:latin typeface="+mn-ea"/>
              </a:rPr>
              <a:t>零工经济：模糊的劳动关系（外卖骑手等）</a:t>
            </a:r>
            <a:endParaRPr lang="en-US" altLang="zh-CN" sz="1200" dirty="0">
              <a:latin typeface="+mn-ea"/>
            </a:endParaRPr>
          </a:p>
          <a:p>
            <a:pPr algn="l">
              <a:lnSpc>
                <a:spcPts val="1650"/>
              </a:lnSpc>
            </a:pPr>
            <a:r>
              <a:rPr lang="zh-CN" altLang="en-US" sz="1200" dirty="0">
                <a:latin typeface="+mn-ea"/>
              </a:rPr>
              <a:t>价值创造方式：用户生成内容（</a:t>
            </a:r>
            <a:r>
              <a:rPr lang="en-US" altLang="zh-CN" sz="1200" dirty="0">
                <a:latin typeface="+mn-ea"/>
              </a:rPr>
              <a:t>UGC</a:t>
            </a:r>
            <a:r>
              <a:rPr lang="zh-CN" altLang="en-US" sz="1200" dirty="0">
                <a:latin typeface="+mn-ea"/>
              </a:rPr>
              <a:t>）成为价值来源</a:t>
            </a:r>
            <a:endParaRPr lang="en-US" sz="1200" dirty="0">
              <a:latin typeface="+mn-ea"/>
            </a:endParaRPr>
          </a:p>
        </p:txBody>
      </p:sp>
      <p:pic>
        <p:nvPicPr>
          <p:cNvPr id="4098" name="Picture 2" descr="数据治理实施方案 | 南京迪塔维数据技术有限公司">
            <a:extLst>
              <a:ext uri="{FF2B5EF4-FFF2-40B4-BE49-F238E27FC236}">
                <a16:creationId xmlns:a16="http://schemas.microsoft.com/office/drawing/2014/main" id="{136D4CCA-CEFD-6B7C-C677-D9C76B6EE3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6625" y="1187719"/>
            <a:ext cx="2163341" cy="1633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5947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63BD9-7A46-84F6-F110-42D82E3CFE03}"/>
            </a:ext>
          </a:extLst>
        </p:cNvPr>
        <p:cNvGrpSpPr/>
        <p:nvPr/>
      </p:nvGrpSpPr>
      <p:grpSpPr>
        <a:xfrm>
          <a:off x="0" y="0"/>
          <a:ext cx="0" cy="0"/>
          <a:chOff x="0" y="0"/>
          <a:chExt cx="0" cy="0"/>
        </a:xfrm>
      </p:grpSpPr>
      <p:pic>
        <p:nvPicPr>
          <p:cNvPr id="19" name="Image 0" descr="preencoded.png">
            <a:extLst>
              <a:ext uri="{FF2B5EF4-FFF2-40B4-BE49-F238E27FC236}">
                <a16:creationId xmlns:a16="http://schemas.microsoft.com/office/drawing/2014/main" id="{36639CF2-DCF8-9643-FEEF-54E33B05F118}"/>
              </a:ext>
            </a:extLst>
          </p:cNvPr>
          <p:cNvPicPr>
            <a:picLocks noChangeAspect="1"/>
          </p:cNvPicPr>
          <p:nvPr/>
        </p:nvPicPr>
        <p:blipFill>
          <a:blip r:embed="rId3"/>
          <a:srcRect t="3571" b="3571"/>
          <a:stretch/>
        </p:blipFill>
        <p:spPr>
          <a:xfrm>
            <a:off x="0" y="0"/>
            <a:ext cx="9144000" cy="742950"/>
          </a:xfrm>
          <a:prstGeom prst="rect">
            <a:avLst/>
          </a:prstGeom>
        </p:spPr>
      </p:pic>
      <p:sp>
        <p:nvSpPr>
          <p:cNvPr id="4" name="Text 1">
            <a:extLst>
              <a:ext uri="{FF2B5EF4-FFF2-40B4-BE49-F238E27FC236}">
                <a16:creationId xmlns:a16="http://schemas.microsoft.com/office/drawing/2014/main" id="{F9F48B14-4414-AA7D-BF0C-4CAEB68D0672}"/>
              </a:ext>
            </a:extLst>
          </p:cNvPr>
          <p:cNvSpPr/>
          <p:nvPr/>
        </p:nvSpPr>
        <p:spPr>
          <a:xfrm>
            <a:off x="261938" y="157163"/>
            <a:ext cx="8001000" cy="40005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chemeClr val="bg1"/>
                </a:solidFill>
                <a:latin typeface="Microsoft YaHei" pitchFamily="34" charset="0"/>
                <a:ea typeface="Microsoft YaHei" pitchFamily="34" charset="-122"/>
              </a:rPr>
              <a:t>生产力与生产关系矛盾辩证关系</a:t>
            </a:r>
            <a:endParaRPr lang="en-US" sz="2250" dirty="0">
              <a:solidFill>
                <a:schemeClr val="bg1"/>
              </a:solidFill>
            </a:endParaRPr>
          </a:p>
        </p:txBody>
      </p:sp>
      <p:sp>
        <p:nvSpPr>
          <p:cNvPr id="5" name="Text 2">
            <a:extLst>
              <a:ext uri="{FF2B5EF4-FFF2-40B4-BE49-F238E27FC236}">
                <a16:creationId xmlns:a16="http://schemas.microsoft.com/office/drawing/2014/main" id="{2BAACAD2-0661-4B5B-A625-DFB214406510}"/>
              </a:ext>
            </a:extLst>
          </p:cNvPr>
          <p:cNvSpPr/>
          <p:nvPr/>
        </p:nvSpPr>
        <p:spPr>
          <a:xfrm>
            <a:off x="571500" y="74295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3" name="文本框 2">
            <a:extLst>
              <a:ext uri="{FF2B5EF4-FFF2-40B4-BE49-F238E27FC236}">
                <a16:creationId xmlns:a16="http://schemas.microsoft.com/office/drawing/2014/main" id="{21EFC9F9-C97B-C850-0449-A37A9622AAE1}"/>
              </a:ext>
            </a:extLst>
          </p:cNvPr>
          <p:cNvSpPr txBox="1"/>
          <p:nvPr/>
        </p:nvSpPr>
        <p:spPr>
          <a:xfrm>
            <a:off x="108962" y="2485653"/>
            <a:ext cx="8926076" cy="2308324"/>
          </a:xfrm>
          <a:prstGeom prst="rect">
            <a:avLst/>
          </a:prstGeom>
          <a:noFill/>
        </p:spPr>
        <p:txBody>
          <a:bodyPr wrap="square">
            <a:spAutoFit/>
          </a:bodyPr>
          <a:lstStyle/>
          <a:p>
            <a:pPr marL="0" marR="0"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人类社会发展进程中，要变革旧的生产关系既能通过阶级斗争，也能吸取先进因素革新落后生产关系来适应先进生产力发展。从原始社会到社会主义社会的发展来看，革新生产关系的阶级力量源于生产力的发展趋势，决定生产关系的产生、变革的方向与形式。不同时期，生产力每前进一步，就会形成前一阶级与后一阶级的连接点，构成人类发展的连续性。但特定质的生产力与之相适应特定质的生产关系，有相对稳定性，构成特定质的生产方式，各种质的生产方式使社会发展具有间断性、阶级性。先进生产与相对稳定生产关系间必然存在矛盾。</a:t>
            </a:r>
            <a:r>
              <a:rPr lang="zh-CN" altLang="en-US"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矛盾是生产关系与生产力从适应到不适应，通过斗争产生新适应，不断的循环、革新生产方式，推动社会从低级向高级发展。</a:t>
            </a:r>
          </a:p>
        </p:txBody>
      </p:sp>
      <p:pic>
        <p:nvPicPr>
          <p:cNvPr id="11" name="图片 10" descr="文本, 信件&#10;&#10;AI 生成的内容可能不正确。">
            <a:extLst>
              <a:ext uri="{FF2B5EF4-FFF2-40B4-BE49-F238E27FC236}">
                <a16:creationId xmlns:a16="http://schemas.microsoft.com/office/drawing/2014/main" id="{B07EA098-6A90-3D4F-F667-87403AE1A8BA}"/>
              </a:ext>
            </a:extLst>
          </p:cNvPr>
          <p:cNvPicPr>
            <a:picLocks noChangeAspect="1"/>
          </p:cNvPicPr>
          <p:nvPr/>
        </p:nvPicPr>
        <p:blipFill>
          <a:blip r:embed="rId4"/>
          <a:stretch>
            <a:fillRect/>
          </a:stretch>
        </p:blipFill>
        <p:spPr>
          <a:xfrm>
            <a:off x="1220873" y="963813"/>
            <a:ext cx="6601767" cy="1300977"/>
          </a:xfrm>
          <a:prstGeom prst="rect">
            <a:avLst/>
          </a:prstGeom>
        </p:spPr>
      </p:pic>
    </p:spTree>
    <p:extLst>
      <p:ext uri="{BB962C8B-B14F-4D97-AF65-F5344CB8AC3E}">
        <p14:creationId xmlns:p14="http://schemas.microsoft.com/office/powerpoint/2010/main" val="3553962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EC498-C9CA-2667-90E9-023960665D71}"/>
            </a:ext>
          </a:extLst>
        </p:cNvPr>
        <p:cNvGrpSpPr/>
        <p:nvPr/>
      </p:nvGrpSpPr>
      <p:grpSpPr>
        <a:xfrm>
          <a:off x="0" y="0"/>
          <a:ext cx="0" cy="0"/>
          <a:chOff x="0" y="0"/>
          <a:chExt cx="0" cy="0"/>
        </a:xfrm>
      </p:grpSpPr>
      <p:pic>
        <p:nvPicPr>
          <p:cNvPr id="19" name="Image 0" descr="preencoded.png">
            <a:extLst>
              <a:ext uri="{FF2B5EF4-FFF2-40B4-BE49-F238E27FC236}">
                <a16:creationId xmlns:a16="http://schemas.microsoft.com/office/drawing/2014/main" id="{134CEB2A-82C4-8C1C-78F4-E409C1AF0232}"/>
              </a:ext>
            </a:extLst>
          </p:cNvPr>
          <p:cNvPicPr>
            <a:picLocks noChangeAspect="1"/>
          </p:cNvPicPr>
          <p:nvPr/>
        </p:nvPicPr>
        <p:blipFill>
          <a:blip r:embed="rId3"/>
          <a:srcRect t="3571" b="3571"/>
          <a:stretch/>
        </p:blipFill>
        <p:spPr>
          <a:xfrm>
            <a:off x="0" y="0"/>
            <a:ext cx="9144000" cy="742950"/>
          </a:xfrm>
          <a:prstGeom prst="rect">
            <a:avLst/>
          </a:prstGeom>
        </p:spPr>
      </p:pic>
      <p:sp>
        <p:nvSpPr>
          <p:cNvPr id="4" name="Text 1">
            <a:extLst>
              <a:ext uri="{FF2B5EF4-FFF2-40B4-BE49-F238E27FC236}">
                <a16:creationId xmlns:a16="http://schemas.microsoft.com/office/drawing/2014/main" id="{1E706495-0122-1C06-785C-A82EF753007E}"/>
              </a:ext>
            </a:extLst>
          </p:cNvPr>
          <p:cNvSpPr/>
          <p:nvPr/>
        </p:nvSpPr>
        <p:spPr>
          <a:xfrm>
            <a:off x="261938" y="157163"/>
            <a:ext cx="8001000" cy="40005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chemeClr val="bg1"/>
                </a:solidFill>
                <a:latin typeface="Microsoft YaHei" pitchFamily="34" charset="0"/>
                <a:ea typeface="Microsoft YaHei" pitchFamily="34" charset="-122"/>
              </a:rPr>
              <a:t>生产力与生产关系矛盾辩证关系</a:t>
            </a:r>
            <a:endParaRPr lang="en-US" sz="2250" dirty="0">
              <a:solidFill>
                <a:schemeClr val="bg1"/>
              </a:solidFill>
            </a:endParaRPr>
          </a:p>
        </p:txBody>
      </p:sp>
      <p:sp>
        <p:nvSpPr>
          <p:cNvPr id="5" name="Text 2">
            <a:extLst>
              <a:ext uri="{FF2B5EF4-FFF2-40B4-BE49-F238E27FC236}">
                <a16:creationId xmlns:a16="http://schemas.microsoft.com/office/drawing/2014/main" id="{917E39E8-6D9D-FEBF-9CD5-869CBDC491F7}"/>
              </a:ext>
            </a:extLst>
          </p:cNvPr>
          <p:cNvSpPr/>
          <p:nvPr/>
        </p:nvSpPr>
        <p:spPr>
          <a:xfrm>
            <a:off x="571500" y="74295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3" name="文本框 2">
            <a:extLst>
              <a:ext uri="{FF2B5EF4-FFF2-40B4-BE49-F238E27FC236}">
                <a16:creationId xmlns:a16="http://schemas.microsoft.com/office/drawing/2014/main" id="{C4316C17-65EF-1EF5-AE23-107AADF8170B}"/>
              </a:ext>
            </a:extLst>
          </p:cNvPr>
          <p:cNvSpPr txBox="1"/>
          <p:nvPr/>
        </p:nvSpPr>
        <p:spPr>
          <a:xfrm>
            <a:off x="108962" y="2314831"/>
            <a:ext cx="8926076" cy="2862322"/>
          </a:xfrm>
          <a:prstGeom prst="rect">
            <a:avLst/>
          </a:prstGeom>
          <a:noFill/>
        </p:spPr>
        <p:txBody>
          <a:bodyPr wrap="square">
            <a:spAutoFit/>
          </a:bodyPr>
          <a:lstStyle/>
          <a:p>
            <a:pPr algn="l"/>
            <a:r>
              <a:rPr lang="zh-CN" altLang="en-US" b="0" i="0" dirty="0">
                <a:effectLst/>
                <a:latin typeface="DeepSeek-CJK-patch"/>
              </a:rPr>
              <a:t>这一规律揭示了社会发展的根本动力机制。历史唯物主义认为，生产力（如生产工具、技术水平）的进步会与现存的生产关系（如所有制形式、分配方式）产生矛盾，当矛盾积累到一定程度时，就会引发社会变革。这一过程不是线性的，而是通过矛盾</a:t>
            </a:r>
            <a:r>
              <a:rPr lang="en-US" altLang="zh-CN" b="0" i="0" dirty="0">
                <a:effectLst/>
                <a:latin typeface="DeepSeek-CJK-patch"/>
              </a:rPr>
              <a:t>-</a:t>
            </a:r>
            <a:r>
              <a:rPr lang="zh-CN" altLang="en-US" b="0" i="0" dirty="0">
                <a:effectLst/>
                <a:latin typeface="DeepSeek-CJK-patch"/>
              </a:rPr>
              <a:t>调整</a:t>
            </a:r>
            <a:r>
              <a:rPr lang="en-US" altLang="zh-CN" b="0" i="0" dirty="0">
                <a:effectLst/>
                <a:latin typeface="DeepSeek-CJK-patch"/>
              </a:rPr>
              <a:t>-</a:t>
            </a:r>
            <a:r>
              <a:rPr lang="zh-CN" altLang="en-US" b="0" i="0" dirty="0">
                <a:effectLst/>
                <a:latin typeface="DeepSeek-CJK-patch"/>
              </a:rPr>
              <a:t>新矛盾的形式不断推动社会向前发展。</a:t>
            </a:r>
            <a:br>
              <a:rPr lang="zh-CN" altLang="en-US" b="0" i="0" dirty="0">
                <a:effectLst/>
                <a:latin typeface="DeepSeek-CJK-patch"/>
              </a:rPr>
            </a:br>
            <a:r>
              <a:rPr lang="zh-CN" altLang="en-US" b="0" i="0" dirty="0">
                <a:effectLst/>
                <a:latin typeface="DeepSeek-CJK-patch"/>
              </a:rPr>
              <a:t>对马克思主义政党而言，把握这一规律具有重要的现实意义。在</a:t>
            </a:r>
            <a:r>
              <a:rPr lang="zh-CN" altLang="en-US" b="0" i="0" dirty="0">
                <a:effectLst/>
                <a:highlight>
                  <a:srgbClr val="FFFF00"/>
                </a:highlight>
                <a:latin typeface="DeepSeek-CJK-patch"/>
              </a:rPr>
              <a:t>政策制定时，需要敏锐洞察生产力发展的新趋势</a:t>
            </a:r>
            <a:r>
              <a:rPr lang="zh-CN" altLang="en-US" b="0" i="0" dirty="0">
                <a:effectLst/>
                <a:latin typeface="DeepSeek-CJK-patch"/>
              </a:rPr>
              <a:t>（如当前数字化转型），及时调整生产关系中的不适应部分。这要求</a:t>
            </a:r>
            <a:r>
              <a:rPr lang="zh-CN" altLang="en-US" b="0" i="0" dirty="0">
                <a:effectLst/>
                <a:highlight>
                  <a:srgbClr val="FFFF00"/>
                </a:highlight>
                <a:latin typeface="DeepSeek-CJK-patch"/>
              </a:rPr>
              <a:t>既不能阻碍生产力发展，又要防止生产关系滞后引发社会矛盾激化</a:t>
            </a:r>
            <a:r>
              <a:rPr lang="zh-CN" altLang="en-US" b="0" i="0" dirty="0">
                <a:effectLst/>
                <a:latin typeface="DeepSeek-CJK-patch"/>
              </a:rPr>
              <a:t>。这一规律提供了分析社会问题的科学方法。在考察任何社会现象时，都要考察其背后的生产力和生产关系状况。特别是在技术快速变革时期，更要关注新技术带来的生产力变化，以及由此产生的制度调整需求。</a:t>
            </a:r>
          </a:p>
        </p:txBody>
      </p:sp>
      <p:pic>
        <p:nvPicPr>
          <p:cNvPr id="6" name="图片 5" descr="文本&#10;&#10;AI 生成的内容可能不正确。">
            <a:extLst>
              <a:ext uri="{FF2B5EF4-FFF2-40B4-BE49-F238E27FC236}">
                <a16:creationId xmlns:a16="http://schemas.microsoft.com/office/drawing/2014/main" id="{E9243B87-39A2-F8F3-810F-F5DF2A4433DE}"/>
              </a:ext>
            </a:extLst>
          </p:cNvPr>
          <p:cNvPicPr>
            <a:picLocks noChangeAspect="1"/>
          </p:cNvPicPr>
          <p:nvPr/>
        </p:nvPicPr>
        <p:blipFill>
          <a:blip r:embed="rId4"/>
          <a:stretch>
            <a:fillRect/>
          </a:stretch>
        </p:blipFill>
        <p:spPr>
          <a:xfrm>
            <a:off x="45218" y="802327"/>
            <a:ext cx="6611815" cy="1171557"/>
          </a:xfrm>
          <a:prstGeom prst="rect">
            <a:avLst/>
          </a:prstGeom>
        </p:spPr>
      </p:pic>
    </p:spTree>
    <p:extLst>
      <p:ext uri="{BB962C8B-B14F-4D97-AF65-F5344CB8AC3E}">
        <p14:creationId xmlns:p14="http://schemas.microsoft.com/office/powerpoint/2010/main" val="1557987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2647950"/>
            <a:ext cx="4762500" cy="1333500"/>
          </a:xfrm>
          <a:prstGeom prst="rect">
            <a:avLst/>
          </a:prstGeom>
          <a:noFill/>
          <a:ln/>
        </p:spPr>
        <p:txBody>
          <a:bodyPr vert="horz" wrap="square" lIns="0" tIns="0" rIns="0" bIns="0" rtlCol="0" anchor="ctr"/>
          <a:lstStyle/>
          <a:p>
            <a:pPr marL="0" indent="0" algn="l">
              <a:lnSpc>
                <a:spcPts val="5250"/>
              </a:lnSpc>
              <a:buNone/>
            </a:pPr>
            <a:r>
              <a:rPr lang="en-US" sz="3750" b="1" dirty="0">
                <a:solidFill>
                  <a:srgbClr val="FFFFFF"/>
                </a:solidFill>
                <a:latin typeface="Microsoft YaHei" pitchFamily="34" charset="0"/>
                <a:ea typeface="Microsoft YaHei" pitchFamily="34" charset="-122"/>
                <a:cs typeface="Microsoft YaHei" pitchFamily="34" charset="-120"/>
              </a:rPr>
              <a:t>典型案例分析：自动驾驶引发的社会变革</a:t>
            </a:r>
            <a:endParaRPr lang="en-US" sz="3750" dirty="0"/>
          </a:p>
        </p:txBody>
      </p:sp>
      <p:sp>
        <p:nvSpPr>
          <p:cNvPr id="4" name="Shape 1"/>
          <p:cNvSpPr/>
          <p:nvPr/>
        </p:nvSpPr>
        <p:spPr>
          <a:xfrm>
            <a:off x="571500" y="4157662"/>
            <a:ext cx="4762500" cy="14288"/>
          </a:xfrm>
          <a:prstGeom prst="rect">
            <a:avLst/>
          </a:prstGeom>
          <a:solidFill>
            <a:srgbClr val="FFFFFF">
              <a:alpha val="30000"/>
            </a:srgbClr>
          </a:solidFill>
          <a:ln/>
        </p:spPr>
        <p:txBody>
          <a:bodyPr/>
          <a:lstStyle/>
          <a:p>
            <a:endParaRPr lang="zh-CN" altLang="en-US"/>
          </a:p>
        </p:txBody>
      </p:sp>
      <p:sp>
        <p:nvSpPr>
          <p:cNvPr id="5" name="Text 2"/>
          <p:cNvSpPr/>
          <p:nvPr/>
        </p:nvSpPr>
        <p:spPr>
          <a:xfrm>
            <a:off x="571500" y="4362450"/>
            <a:ext cx="4762500"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a:ln/>
        </p:spPr>
        <p:txBody>
          <a:bodyPr vert="horz" wrap="square" lIns="0" tIns="0" rIns="0" bIns="0" rtlCol="0" anchor="ctr"/>
          <a:lstStyle/>
          <a:p>
            <a:pPr marL="0" indent="0" algn="ctr">
              <a:lnSpc>
                <a:spcPts val="22500"/>
              </a:lnSpc>
              <a:buNone/>
            </a:pPr>
            <a:r>
              <a:rPr lang="en-US" sz="22500" b="1" dirty="0">
                <a:solidFill>
                  <a:srgbClr val="FFF4AE"/>
                </a:solidFill>
                <a:latin typeface="Microsoft YaHei" pitchFamily="34" charset="0"/>
                <a:ea typeface="Microsoft YaHei" pitchFamily="34" charset="-122"/>
                <a:cs typeface="Microsoft YaHei" pitchFamily="34" charset="-120"/>
              </a:rPr>
              <a:t>03</a:t>
            </a:r>
            <a:endParaRPr lang="en-US" sz="22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12" name="Image 0" descr="preencoded.png">
            <a:extLst>
              <a:ext uri="{FF2B5EF4-FFF2-40B4-BE49-F238E27FC236}">
                <a16:creationId xmlns:a16="http://schemas.microsoft.com/office/drawing/2014/main" id="{6F409436-8CCA-316B-D046-D6D06F01458B}"/>
              </a:ext>
            </a:extLst>
          </p:cNvPr>
          <p:cNvPicPr>
            <a:picLocks noChangeAspect="1"/>
          </p:cNvPicPr>
          <p:nvPr/>
        </p:nvPicPr>
        <p:blipFill>
          <a:blip r:embed="rId3"/>
          <a:srcRect t="3571" b="3571"/>
          <a:stretch/>
        </p:blipFill>
        <p:spPr>
          <a:xfrm>
            <a:off x="0" y="0"/>
            <a:ext cx="9144000" cy="742950"/>
          </a:xfrm>
          <a:prstGeom prst="rect">
            <a:avLst/>
          </a:prstGeom>
        </p:spPr>
      </p:pic>
      <p:sp>
        <p:nvSpPr>
          <p:cNvPr id="4" name="Text 1"/>
          <p:cNvSpPr/>
          <p:nvPr/>
        </p:nvSpPr>
        <p:spPr>
          <a:xfrm>
            <a:off x="310243" y="156273"/>
            <a:ext cx="8001000" cy="400050"/>
          </a:xfrm>
          <a:prstGeom prst="rect">
            <a:avLst/>
          </a:prstGeom>
          <a:noFill/>
          <a:ln/>
        </p:spPr>
        <p:txBody>
          <a:bodyPr vert="horz" wrap="square" lIns="0" tIns="0" rIns="0" bIns="0" rtlCol="0" anchor="ctr"/>
          <a:lstStyle/>
          <a:p>
            <a:pPr marL="0" indent="0" algn="l">
              <a:lnSpc>
                <a:spcPts val="3150"/>
              </a:lnSpc>
              <a:buNone/>
            </a:pPr>
            <a:r>
              <a:rPr lang="en-US" sz="2250" b="1" dirty="0">
                <a:solidFill>
                  <a:srgbClr val="FFFFFF"/>
                </a:solidFill>
                <a:latin typeface="Microsoft YaHei" pitchFamily="34" charset="0"/>
                <a:ea typeface="Microsoft YaHei" pitchFamily="34" charset="-122"/>
                <a:cs typeface="Microsoft YaHei" pitchFamily="34" charset="-120"/>
              </a:rPr>
              <a:t>技术突破</a:t>
            </a:r>
            <a:endParaRPr lang="en-US" sz="2250" dirty="0"/>
          </a:p>
        </p:txBody>
      </p:sp>
      <p:sp>
        <p:nvSpPr>
          <p:cNvPr id="5" name="Text 2"/>
          <p:cNvSpPr/>
          <p:nvPr/>
        </p:nvSpPr>
        <p:spPr>
          <a:xfrm>
            <a:off x="571500" y="74295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6" name="Text 3"/>
          <p:cNvSpPr/>
          <p:nvPr/>
        </p:nvSpPr>
        <p:spPr>
          <a:xfrm>
            <a:off x="481065" y="1083024"/>
            <a:ext cx="2413000" cy="209550"/>
          </a:xfrm>
          <a:prstGeom prst="rect">
            <a:avLst/>
          </a:prstGeom>
          <a:noFill/>
          <a:ln/>
        </p:spPr>
        <p:txBody>
          <a:bodyPr vert="horz" wrap="square" lIns="0" tIns="0" rIns="0" bIns="0" rtlCol="0" anchor="ctr"/>
          <a:lstStyle/>
          <a:p>
            <a:pPr marL="0" indent="0" algn="l">
              <a:lnSpc>
                <a:spcPts val="1650"/>
              </a:lnSpc>
              <a:buNone/>
            </a:pPr>
            <a:r>
              <a:rPr lang="en-US" b="1" dirty="0">
                <a:solidFill>
                  <a:srgbClr val="333333"/>
                </a:solidFill>
                <a:latin typeface="Microsoft YaHei" pitchFamily="34" charset="0"/>
                <a:ea typeface="Microsoft YaHei" pitchFamily="34" charset="-122"/>
                <a:cs typeface="Microsoft YaHei" pitchFamily="34" charset="-120"/>
              </a:rPr>
              <a:t>Waymo里程新高</a:t>
            </a:r>
            <a:endParaRPr lang="en-US" dirty="0"/>
          </a:p>
        </p:txBody>
      </p:sp>
      <p:sp>
        <p:nvSpPr>
          <p:cNvPr id="7" name="Text 4"/>
          <p:cNvSpPr/>
          <p:nvPr/>
        </p:nvSpPr>
        <p:spPr>
          <a:xfrm>
            <a:off x="481065" y="1381125"/>
            <a:ext cx="2413000" cy="628650"/>
          </a:xfrm>
          <a:prstGeom prst="rect">
            <a:avLst/>
          </a:prstGeom>
          <a:noFill/>
          <a:ln/>
        </p:spPr>
        <p:txBody>
          <a:bodyPr vert="horz" wrap="square" lIns="0" tIns="0" rIns="0" bIns="0" rtlCol="0" anchor="ctr"/>
          <a:lstStyle/>
          <a:p>
            <a:pPr marL="0" indent="0" algn="l">
              <a:lnSpc>
                <a:spcPts val="1650"/>
              </a:lnSpc>
              <a:buNone/>
            </a:pPr>
            <a:r>
              <a:rPr lang="en-US" sz="1400" dirty="0">
                <a:solidFill>
                  <a:srgbClr val="666666"/>
                </a:solidFill>
                <a:latin typeface="Microsoft YaHei" pitchFamily="34" charset="0"/>
                <a:ea typeface="Microsoft YaHei" pitchFamily="34" charset="-122"/>
                <a:cs typeface="Microsoft YaHei" pitchFamily="34" charset="-120"/>
              </a:rPr>
              <a:t>截至2023年，Waymo自动驾驶测试里程已突破2000万英里，彰显技术成熟度提升。</a:t>
            </a:r>
            <a:endParaRPr lang="en-US" sz="1400" dirty="0"/>
          </a:p>
        </p:txBody>
      </p:sp>
      <p:sp>
        <p:nvSpPr>
          <p:cNvPr id="8" name="Text 5"/>
          <p:cNvSpPr/>
          <p:nvPr/>
        </p:nvSpPr>
        <p:spPr>
          <a:xfrm>
            <a:off x="481065" y="2362200"/>
            <a:ext cx="2413000" cy="209550"/>
          </a:xfrm>
          <a:prstGeom prst="rect">
            <a:avLst/>
          </a:prstGeom>
          <a:noFill/>
          <a:ln/>
        </p:spPr>
        <p:txBody>
          <a:bodyPr vert="horz" wrap="square" lIns="0" tIns="0" rIns="0" bIns="0" rtlCol="0" anchor="ctr"/>
          <a:lstStyle/>
          <a:p>
            <a:pPr marL="0" indent="0" algn="l">
              <a:lnSpc>
                <a:spcPts val="1650"/>
              </a:lnSpc>
              <a:buNone/>
            </a:pPr>
            <a:r>
              <a:rPr lang="en-US" b="1" dirty="0">
                <a:solidFill>
                  <a:srgbClr val="333333"/>
                </a:solidFill>
                <a:latin typeface="Microsoft YaHei" pitchFamily="34" charset="0"/>
                <a:ea typeface="Microsoft YaHei" pitchFamily="34" charset="-122"/>
                <a:cs typeface="Microsoft YaHei" pitchFamily="34" charset="-120"/>
              </a:rPr>
              <a:t>L4级商用扩展</a:t>
            </a:r>
            <a:endParaRPr lang="en-US" dirty="0"/>
          </a:p>
        </p:txBody>
      </p:sp>
      <p:sp>
        <p:nvSpPr>
          <p:cNvPr id="9" name="Text 6"/>
          <p:cNvSpPr/>
          <p:nvPr/>
        </p:nvSpPr>
        <p:spPr>
          <a:xfrm>
            <a:off x="481065" y="2774810"/>
            <a:ext cx="2413000" cy="419100"/>
          </a:xfrm>
          <a:prstGeom prst="rect">
            <a:avLst/>
          </a:prstGeom>
          <a:noFill/>
          <a:ln/>
        </p:spPr>
        <p:txBody>
          <a:bodyPr vert="horz" wrap="square" lIns="0" tIns="0" rIns="0" bIns="0" rtlCol="0" anchor="ctr"/>
          <a:lstStyle/>
          <a:p>
            <a:pPr marL="0" indent="0" algn="l">
              <a:lnSpc>
                <a:spcPts val="1650"/>
              </a:lnSpc>
              <a:buNone/>
            </a:pPr>
            <a:r>
              <a:rPr lang="en-US" sz="1400" dirty="0">
                <a:solidFill>
                  <a:srgbClr val="666666"/>
                </a:solidFill>
                <a:latin typeface="Microsoft YaHei" pitchFamily="34" charset="0"/>
                <a:ea typeface="Microsoft YaHei" pitchFamily="34" charset="-122"/>
                <a:cs typeface="Microsoft YaHei" pitchFamily="34" charset="-120"/>
              </a:rPr>
              <a:t>L4级自动驾驶技术在20个城市实现商用落地，标志着自动驾驶进入实用阶段。</a:t>
            </a:r>
            <a:endParaRPr lang="en-US" sz="1400" dirty="0"/>
          </a:p>
        </p:txBody>
      </p:sp>
      <p:sp>
        <p:nvSpPr>
          <p:cNvPr id="10" name="Text 7"/>
          <p:cNvSpPr/>
          <p:nvPr/>
        </p:nvSpPr>
        <p:spPr>
          <a:xfrm>
            <a:off x="481065" y="3662102"/>
            <a:ext cx="2413000" cy="209550"/>
          </a:xfrm>
          <a:prstGeom prst="rect">
            <a:avLst/>
          </a:prstGeom>
          <a:noFill/>
          <a:ln/>
        </p:spPr>
        <p:txBody>
          <a:bodyPr vert="horz" wrap="square" lIns="0" tIns="0" rIns="0" bIns="0" rtlCol="0" anchor="ctr"/>
          <a:lstStyle/>
          <a:p>
            <a:pPr marL="0" indent="0" algn="l">
              <a:lnSpc>
                <a:spcPts val="1650"/>
              </a:lnSpc>
              <a:buNone/>
            </a:pPr>
            <a:r>
              <a:rPr lang="en-US" b="1" dirty="0">
                <a:solidFill>
                  <a:srgbClr val="333333"/>
                </a:solidFill>
                <a:latin typeface="Microsoft YaHei" pitchFamily="34" charset="0"/>
                <a:ea typeface="Microsoft YaHei" pitchFamily="34" charset="-122"/>
                <a:cs typeface="Microsoft YaHei" pitchFamily="34" charset="-120"/>
              </a:rPr>
              <a:t>技术创新趋势</a:t>
            </a:r>
            <a:endParaRPr lang="en-US" dirty="0"/>
          </a:p>
        </p:txBody>
      </p:sp>
      <p:sp>
        <p:nvSpPr>
          <p:cNvPr id="11" name="Text 8"/>
          <p:cNvSpPr/>
          <p:nvPr/>
        </p:nvSpPr>
        <p:spPr>
          <a:xfrm>
            <a:off x="481065" y="4060476"/>
            <a:ext cx="2413000" cy="628650"/>
          </a:xfrm>
          <a:prstGeom prst="rect">
            <a:avLst/>
          </a:prstGeom>
          <a:noFill/>
          <a:ln/>
        </p:spPr>
        <p:txBody>
          <a:bodyPr vert="horz" wrap="square" lIns="0" tIns="0" rIns="0" bIns="0" rtlCol="0" anchor="ctr"/>
          <a:lstStyle/>
          <a:p>
            <a:pPr marL="0" indent="0" algn="l">
              <a:lnSpc>
                <a:spcPts val="1650"/>
              </a:lnSpc>
              <a:buNone/>
            </a:pPr>
            <a:r>
              <a:rPr lang="en-US" sz="1400" dirty="0">
                <a:solidFill>
                  <a:srgbClr val="666666"/>
                </a:solidFill>
                <a:latin typeface="Microsoft YaHei" pitchFamily="34" charset="0"/>
                <a:ea typeface="Microsoft YaHei" pitchFamily="34" charset="-122"/>
                <a:cs typeface="Microsoft YaHei" pitchFamily="34" charset="-120"/>
              </a:rPr>
              <a:t>自动驾驶技术持续迭代，推动智能交通系统革新，预示着未来出行方式的根本性转变。</a:t>
            </a:r>
            <a:endParaRPr lang="en-US" sz="1400" dirty="0"/>
          </a:p>
        </p:txBody>
      </p:sp>
      <p:pic>
        <p:nvPicPr>
          <p:cNvPr id="6148" name="Picture 4" descr="自动驾驶落地时代到来，「环宇智行」自动驾驶系统量产能力获得突破|李明|控制器|自动驾驶_新浪科技_新浪网">
            <a:extLst>
              <a:ext uri="{FF2B5EF4-FFF2-40B4-BE49-F238E27FC236}">
                <a16:creationId xmlns:a16="http://schemas.microsoft.com/office/drawing/2014/main" id="{A4C0E9C1-6E53-7963-F13F-12C71023E3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6809" y="1028596"/>
            <a:ext cx="5195691" cy="37493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0" name="Image 0" descr="preencoded.png">
            <a:extLst>
              <a:ext uri="{FF2B5EF4-FFF2-40B4-BE49-F238E27FC236}">
                <a16:creationId xmlns:a16="http://schemas.microsoft.com/office/drawing/2014/main" id="{056D2520-FD73-7ED4-2703-7D467CF65A3F}"/>
              </a:ext>
            </a:extLst>
          </p:cNvPr>
          <p:cNvPicPr>
            <a:picLocks noChangeAspect="1"/>
          </p:cNvPicPr>
          <p:nvPr/>
        </p:nvPicPr>
        <p:blipFill>
          <a:blip r:embed="rId3"/>
          <a:srcRect t="3571" b="3571"/>
          <a:stretch/>
        </p:blipFill>
        <p:spPr>
          <a:xfrm>
            <a:off x="-4762" y="-38100"/>
            <a:ext cx="9144000" cy="742950"/>
          </a:xfrm>
          <a:prstGeom prst="rect">
            <a:avLst/>
          </a:prstGeom>
        </p:spPr>
      </p:pic>
      <p:sp>
        <p:nvSpPr>
          <p:cNvPr id="4" name="Text 1"/>
          <p:cNvSpPr/>
          <p:nvPr/>
        </p:nvSpPr>
        <p:spPr>
          <a:xfrm>
            <a:off x="244928" y="170299"/>
            <a:ext cx="8001000" cy="400050"/>
          </a:xfrm>
          <a:prstGeom prst="rect">
            <a:avLst/>
          </a:prstGeom>
          <a:noFill/>
          <a:ln/>
        </p:spPr>
        <p:txBody>
          <a:bodyPr vert="horz" wrap="square" lIns="0" tIns="0" rIns="0" bIns="0" rtlCol="0" anchor="ctr"/>
          <a:lstStyle/>
          <a:p>
            <a:pPr marL="0" indent="0" algn="l">
              <a:lnSpc>
                <a:spcPts val="3150"/>
              </a:lnSpc>
              <a:buNone/>
            </a:pPr>
            <a:r>
              <a:rPr lang="en-US" sz="2250" b="1" dirty="0">
                <a:solidFill>
                  <a:schemeClr val="bg1"/>
                </a:solidFill>
                <a:latin typeface="Microsoft YaHei" pitchFamily="34" charset="0"/>
                <a:ea typeface="Microsoft YaHei" pitchFamily="34" charset="-122"/>
                <a:cs typeface="Microsoft YaHei" pitchFamily="34" charset="-120"/>
              </a:rPr>
              <a:t>生产关系重构</a:t>
            </a:r>
            <a:endParaRPr lang="en-US" sz="2250" dirty="0">
              <a:solidFill>
                <a:schemeClr val="bg1"/>
              </a:solidFill>
            </a:endParaRPr>
          </a:p>
        </p:txBody>
      </p:sp>
      <p:sp>
        <p:nvSpPr>
          <p:cNvPr id="5" name="Text 2"/>
          <p:cNvSpPr/>
          <p:nvPr/>
        </p:nvSpPr>
        <p:spPr>
          <a:xfrm>
            <a:off x="526282" y="752475"/>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4"/>
          <a:srcRect/>
          <a:stretch/>
        </p:blipFill>
        <p:spPr>
          <a:xfrm>
            <a:off x="381000" y="1428750"/>
            <a:ext cx="8382000" cy="2857500"/>
          </a:xfrm>
          <a:prstGeom prst="rect">
            <a:avLst/>
          </a:prstGeom>
        </p:spPr>
      </p:pic>
      <p:sp>
        <p:nvSpPr>
          <p:cNvPr id="7" name="Text 3"/>
          <p:cNvSpPr/>
          <p:nvPr/>
        </p:nvSpPr>
        <p:spPr>
          <a:xfrm>
            <a:off x="1252538" y="2667000"/>
            <a:ext cx="1714500" cy="381000"/>
          </a:xfrm>
          <a:prstGeom prst="rect">
            <a:avLst/>
          </a:prstGeom>
          <a:noFill/>
          <a:ln/>
        </p:spPr>
        <p:txBody>
          <a:bodyPr vert="horz" wrap="square" lIns="0" tIns="0" rIns="0" bIns="0" rtlCol="0" anchor="ctr"/>
          <a:lstStyle/>
          <a:p>
            <a:pPr marL="0" indent="0">
              <a:lnSpc>
                <a:spcPts val="2700"/>
              </a:lnSpc>
              <a:buNone/>
            </a:pPr>
            <a:r>
              <a:rPr lang="en-US" sz="1650" b="1" dirty="0">
                <a:solidFill>
                  <a:srgbClr val="AC2519"/>
                </a:solidFill>
                <a:latin typeface="Microsoft YaHei" pitchFamily="34" charset="0"/>
                <a:ea typeface="Microsoft YaHei" pitchFamily="34" charset="-122"/>
                <a:cs typeface="Microsoft YaHei" pitchFamily="34" charset="-120"/>
              </a:rPr>
              <a:t>自动驾驶技术影响</a:t>
            </a:r>
            <a:endParaRPr lang="en-US" sz="1650" dirty="0"/>
          </a:p>
        </p:txBody>
      </p:sp>
      <p:sp>
        <p:nvSpPr>
          <p:cNvPr id="8" name="Text 4"/>
          <p:cNvSpPr/>
          <p:nvPr/>
        </p:nvSpPr>
        <p:spPr>
          <a:xfrm>
            <a:off x="4071938" y="1609725"/>
            <a:ext cx="1181100" cy="323850"/>
          </a:xfrm>
          <a:prstGeom prst="rect">
            <a:avLst/>
          </a:prstGeom>
          <a:noFill/>
          <a:ln/>
        </p:spPr>
        <p:txBody>
          <a:bodyPr vert="horz" wrap="square" lIns="0" tIns="0" rIns="0" bIns="0" rtlCol="0" anchor="ctr"/>
          <a:lstStyle/>
          <a:p>
            <a:pPr marL="0" indent="0">
              <a:lnSpc>
                <a:spcPts val="2250"/>
              </a:lnSpc>
              <a:buNone/>
            </a:pPr>
            <a:r>
              <a:rPr lang="en-US" sz="1500" b="1" dirty="0">
                <a:solidFill>
                  <a:srgbClr val="C4A170"/>
                </a:solidFill>
                <a:latin typeface="Microsoft YaHei" pitchFamily="34" charset="0"/>
                <a:ea typeface="Microsoft YaHei" pitchFamily="34" charset="-122"/>
                <a:cs typeface="Microsoft YaHei" pitchFamily="34" charset="-120"/>
              </a:rPr>
              <a:t>职业结构调整</a:t>
            </a:r>
            <a:endParaRPr lang="en-US" sz="1500" dirty="0"/>
          </a:p>
        </p:txBody>
      </p:sp>
      <p:sp>
        <p:nvSpPr>
          <p:cNvPr id="9" name="Text 5"/>
          <p:cNvSpPr/>
          <p:nvPr/>
        </p:nvSpPr>
        <p:spPr>
          <a:xfrm>
            <a:off x="5710238" y="1466850"/>
            <a:ext cx="2171700" cy="2476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预计2030年全球司机岗位减少500万</a:t>
            </a:r>
            <a:endParaRPr lang="en-US" sz="1050" dirty="0"/>
          </a:p>
        </p:txBody>
      </p:sp>
      <p:sp>
        <p:nvSpPr>
          <p:cNvPr id="10" name="Text 6"/>
          <p:cNvSpPr/>
          <p:nvPr/>
        </p:nvSpPr>
        <p:spPr>
          <a:xfrm>
            <a:off x="5710238" y="1828800"/>
            <a:ext cx="2171700" cy="2476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就业市场面临重大转型</a:t>
            </a:r>
            <a:endParaRPr lang="en-US" sz="1050" dirty="0"/>
          </a:p>
        </p:txBody>
      </p:sp>
      <p:sp>
        <p:nvSpPr>
          <p:cNvPr id="11" name="Text 7"/>
          <p:cNvSpPr/>
          <p:nvPr/>
        </p:nvSpPr>
        <p:spPr>
          <a:xfrm>
            <a:off x="4071938" y="2333625"/>
            <a:ext cx="990600" cy="323850"/>
          </a:xfrm>
          <a:prstGeom prst="rect">
            <a:avLst/>
          </a:prstGeom>
          <a:noFill/>
          <a:ln/>
        </p:spPr>
        <p:txBody>
          <a:bodyPr vert="horz" wrap="square" lIns="0" tIns="0" rIns="0" bIns="0" rtlCol="0" anchor="ctr"/>
          <a:lstStyle/>
          <a:p>
            <a:pPr marL="0" indent="0">
              <a:lnSpc>
                <a:spcPts val="2250"/>
              </a:lnSpc>
              <a:buNone/>
            </a:pPr>
            <a:r>
              <a:rPr lang="en-US" sz="1500" b="1" dirty="0">
                <a:solidFill>
                  <a:srgbClr val="AC2519"/>
                </a:solidFill>
                <a:latin typeface="Microsoft YaHei" pitchFamily="34" charset="0"/>
                <a:ea typeface="Microsoft YaHei" pitchFamily="34" charset="-122"/>
                <a:cs typeface="Microsoft YaHei" pitchFamily="34" charset="-120"/>
              </a:rPr>
              <a:t>法律与责任</a:t>
            </a:r>
            <a:endParaRPr lang="en-US" sz="1500" dirty="0"/>
          </a:p>
        </p:txBody>
      </p:sp>
      <p:sp>
        <p:nvSpPr>
          <p:cNvPr id="12" name="Text 8"/>
          <p:cNvSpPr/>
          <p:nvPr/>
        </p:nvSpPr>
        <p:spPr>
          <a:xfrm>
            <a:off x="5519738" y="2190750"/>
            <a:ext cx="2971800" cy="2476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特斯拉事故凸显算法责任问题</a:t>
            </a:r>
            <a:endParaRPr lang="en-US" sz="1050" dirty="0"/>
          </a:p>
        </p:txBody>
      </p:sp>
      <p:sp>
        <p:nvSpPr>
          <p:cNvPr id="13" name="Text 9"/>
          <p:cNvSpPr/>
          <p:nvPr/>
        </p:nvSpPr>
        <p:spPr>
          <a:xfrm>
            <a:off x="5519738" y="2552700"/>
            <a:ext cx="2971800" cy="2476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法律需明确自动驾驶系统与人类驾驶员的责任边界</a:t>
            </a:r>
            <a:endParaRPr lang="en-US" sz="1050" dirty="0"/>
          </a:p>
        </p:txBody>
      </p:sp>
      <p:sp>
        <p:nvSpPr>
          <p:cNvPr id="14" name="Text 10"/>
          <p:cNvSpPr/>
          <p:nvPr/>
        </p:nvSpPr>
        <p:spPr>
          <a:xfrm>
            <a:off x="4071938" y="3057525"/>
            <a:ext cx="923925" cy="323850"/>
          </a:xfrm>
          <a:prstGeom prst="rect">
            <a:avLst/>
          </a:prstGeom>
          <a:noFill/>
          <a:ln/>
        </p:spPr>
        <p:txBody>
          <a:bodyPr vert="horz" wrap="square" lIns="0" tIns="0" rIns="0" bIns="0" rtlCol="0" anchor="ctr"/>
          <a:lstStyle/>
          <a:p>
            <a:pPr marL="0" indent="0">
              <a:lnSpc>
                <a:spcPts val="2250"/>
              </a:lnSpc>
              <a:buNone/>
            </a:pPr>
            <a:r>
              <a:rPr lang="en-US" sz="1500" b="1" dirty="0">
                <a:solidFill>
                  <a:srgbClr val="C4A170"/>
                </a:solidFill>
                <a:latin typeface="Microsoft YaHei" pitchFamily="34" charset="0"/>
                <a:ea typeface="Microsoft YaHei" pitchFamily="34" charset="-122"/>
                <a:cs typeface="Microsoft YaHei" pitchFamily="34" charset="-120"/>
              </a:rPr>
              <a:t>政策法规</a:t>
            </a:r>
            <a:endParaRPr lang="en-US" sz="1500" dirty="0"/>
          </a:p>
        </p:txBody>
      </p:sp>
      <p:sp>
        <p:nvSpPr>
          <p:cNvPr id="15" name="Text 11"/>
          <p:cNvSpPr/>
          <p:nvPr/>
        </p:nvSpPr>
        <p:spPr>
          <a:xfrm>
            <a:off x="5453063" y="2914650"/>
            <a:ext cx="2705100" cy="2476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中国出台《自动驾驶汽车运输安全服务指南》</a:t>
            </a:r>
            <a:endParaRPr lang="en-US" sz="1050" dirty="0"/>
          </a:p>
        </p:txBody>
      </p:sp>
      <p:sp>
        <p:nvSpPr>
          <p:cNvPr id="16" name="Text 12"/>
          <p:cNvSpPr/>
          <p:nvPr/>
        </p:nvSpPr>
        <p:spPr>
          <a:xfrm>
            <a:off x="5453063" y="3276600"/>
            <a:ext cx="2705100" cy="2476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引领全球自动驾驶法规建设</a:t>
            </a:r>
            <a:endParaRPr lang="en-US" sz="1050" dirty="0"/>
          </a:p>
        </p:txBody>
      </p:sp>
      <p:sp>
        <p:nvSpPr>
          <p:cNvPr id="17" name="Text 13"/>
          <p:cNvSpPr/>
          <p:nvPr/>
        </p:nvSpPr>
        <p:spPr>
          <a:xfrm>
            <a:off x="4071938" y="3781425"/>
            <a:ext cx="923925" cy="323850"/>
          </a:xfrm>
          <a:prstGeom prst="rect">
            <a:avLst/>
          </a:prstGeom>
          <a:noFill/>
          <a:ln/>
        </p:spPr>
        <p:txBody>
          <a:bodyPr vert="horz" wrap="square" lIns="0" tIns="0" rIns="0" bIns="0" rtlCol="0" anchor="ctr"/>
          <a:lstStyle/>
          <a:p>
            <a:pPr marL="0" indent="0">
              <a:lnSpc>
                <a:spcPts val="2250"/>
              </a:lnSpc>
              <a:buNone/>
            </a:pPr>
            <a:r>
              <a:rPr lang="en-US" sz="1500" b="1" dirty="0">
                <a:solidFill>
                  <a:srgbClr val="AC2519"/>
                </a:solidFill>
                <a:latin typeface="Microsoft YaHei" pitchFamily="34" charset="0"/>
                <a:ea typeface="Microsoft YaHei" pitchFamily="34" charset="-122"/>
                <a:cs typeface="Microsoft YaHei" pitchFamily="34" charset="-120"/>
              </a:rPr>
              <a:t>技术伦理</a:t>
            </a:r>
            <a:endParaRPr lang="en-US" sz="1500" dirty="0"/>
          </a:p>
        </p:txBody>
      </p:sp>
      <p:sp>
        <p:nvSpPr>
          <p:cNvPr id="18" name="Text 14"/>
          <p:cNvSpPr/>
          <p:nvPr/>
        </p:nvSpPr>
        <p:spPr>
          <a:xfrm>
            <a:off x="5453063" y="3638550"/>
            <a:ext cx="2257425" cy="2476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技术伦理与文化适应性成为焦点</a:t>
            </a:r>
            <a:endParaRPr lang="en-US" sz="1050" dirty="0"/>
          </a:p>
        </p:txBody>
      </p:sp>
      <p:sp>
        <p:nvSpPr>
          <p:cNvPr id="19" name="Text 15"/>
          <p:cNvSpPr/>
          <p:nvPr/>
        </p:nvSpPr>
        <p:spPr>
          <a:xfrm>
            <a:off x="5453063" y="4000500"/>
            <a:ext cx="2257425" cy="2476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MIT道德机器实验揭示全球价值观差异</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929F8-8923-2685-1B3B-3B88450A425B}"/>
            </a:ext>
          </a:extLst>
        </p:cNvPr>
        <p:cNvGrpSpPr/>
        <p:nvPr/>
      </p:nvGrpSpPr>
      <p:grpSpPr>
        <a:xfrm>
          <a:off x="0" y="0"/>
          <a:ext cx="0" cy="0"/>
          <a:chOff x="0" y="0"/>
          <a:chExt cx="0" cy="0"/>
        </a:xfrm>
      </p:grpSpPr>
      <p:pic>
        <p:nvPicPr>
          <p:cNvPr id="20" name="Image 0" descr="preencoded.png">
            <a:extLst>
              <a:ext uri="{FF2B5EF4-FFF2-40B4-BE49-F238E27FC236}">
                <a16:creationId xmlns:a16="http://schemas.microsoft.com/office/drawing/2014/main" id="{0217E3E1-1727-B3F3-70E1-E34EACABDAD9}"/>
              </a:ext>
            </a:extLst>
          </p:cNvPr>
          <p:cNvPicPr>
            <a:picLocks noChangeAspect="1"/>
          </p:cNvPicPr>
          <p:nvPr/>
        </p:nvPicPr>
        <p:blipFill>
          <a:blip r:embed="rId3"/>
          <a:srcRect t="3571" b="3571"/>
          <a:stretch/>
        </p:blipFill>
        <p:spPr>
          <a:xfrm>
            <a:off x="0" y="-43804"/>
            <a:ext cx="9144000" cy="742950"/>
          </a:xfrm>
          <a:prstGeom prst="rect">
            <a:avLst/>
          </a:prstGeom>
        </p:spPr>
      </p:pic>
      <p:sp>
        <p:nvSpPr>
          <p:cNvPr id="4" name="Text 1">
            <a:extLst>
              <a:ext uri="{FF2B5EF4-FFF2-40B4-BE49-F238E27FC236}">
                <a16:creationId xmlns:a16="http://schemas.microsoft.com/office/drawing/2014/main" id="{AB09DB6A-5FBB-6F55-6A68-46D902B6F6E0}"/>
              </a:ext>
            </a:extLst>
          </p:cNvPr>
          <p:cNvSpPr/>
          <p:nvPr/>
        </p:nvSpPr>
        <p:spPr>
          <a:xfrm>
            <a:off x="244928" y="170299"/>
            <a:ext cx="8001000" cy="400050"/>
          </a:xfrm>
          <a:prstGeom prst="rect">
            <a:avLst/>
          </a:prstGeom>
          <a:noFill/>
          <a:ln/>
        </p:spPr>
        <p:txBody>
          <a:bodyPr vert="horz" wrap="square" lIns="0" tIns="0" rIns="0" bIns="0" rtlCol="0" anchor="ctr"/>
          <a:lstStyle/>
          <a:p>
            <a:pPr marL="0" indent="0" algn="l">
              <a:lnSpc>
                <a:spcPts val="3150"/>
              </a:lnSpc>
              <a:buNone/>
            </a:pPr>
            <a:r>
              <a:rPr lang="en-US" sz="2250" b="1" dirty="0">
                <a:solidFill>
                  <a:schemeClr val="bg1"/>
                </a:solidFill>
                <a:latin typeface="Microsoft YaHei" pitchFamily="34" charset="0"/>
                <a:ea typeface="Microsoft YaHei" pitchFamily="34" charset="-122"/>
                <a:cs typeface="Microsoft YaHei" pitchFamily="34" charset="-120"/>
              </a:rPr>
              <a:t>生产关系重构</a:t>
            </a:r>
            <a:endParaRPr lang="en-US" sz="2250" dirty="0">
              <a:solidFill>
                <a:schemeClr val="bg1"/>
              </a:solidFill>
            </a:endParaRPr>
          </a:p>
        </p:txBody>
      </p:sp>
      <p:sp>
        <p:nvSpPr>
          <p:cNvPr id="5" name="Text 2">
            <a:extLst>
              <a:ext uri="{FF2B5EF4-FFF2-40B4-BE49-F238E27FC236}">
                <a16:creationId xmlns:a16="http://schemas.microsoft.com/office/drawing/2014/main" id="{2556D2FE-421C-72D9-7095-D3FBAC8DDC58}"/>
              </a:ext>
            </a:extLst>
          </p:cNvPr>
          <p:cNvSpPr/>
          <p:nvPr/>
        </p:nvSpPr>
        <p:spPr>
          <a:xfrm>
            <a:off x="526282" y="752475"/>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3" name="文本框 2">
            <a:extLst>
              <a:ext uri="{FF2B5EF4-FFF2-40B4-BE49-F238E27FC236}">
                <a16:creationId xmlns:a16="http://schemas.microsoft.com/office/drawing/2014/main" id="{5CF4CF77-31A3-3763-4B39-93BF7B8876A4}"/>
              </a:ext>
            </a:extLst>
          </p:cNvPr>
          <p:cNvSpPr txBox="1"/>
          <p:nvPr/>
        </p:nvSpPr>
        <p:spPr>
          <a:xfrm>
            <a:off x="155749" y="859134"/>
            <a:ext cx="8872695" cy="4185761"/>
          </a:xfrm>
          <a:prstGeom prst="rect">
            <a:avLst/>
          </a:prstGeom>
          <a:noFill/>
        </p:spPr>
        <p:txBody>
          <a:bodyPr wrap="square">
            <a:spAutoFit/>
          </a:bodyPr>
          <a:lstStyle/>
          <a:p>
            <a:r>
              <a:rPr lang="en-US" altLang="zh-CN" sz="1400" b="1" dirty="0"/>
              <a:t>1.</a:t>
            </a:r>
            <a:r>
              <a:rPr lang="zh-CN" altLang="en-US" sz="1400" b="1" dirty="0"/>
              <a:t>技术飞跃：新生产力对旧秩序的冲击</a:t>
            </a:r>
            <a:endParaRPr lang="en-US" altLang="zh-CN" sz="1400" b="1" dirty="0"/>
          </a:p>
          <a:p>
            <a:r>
              <a:rPr lang="zh-CN" altLang="en-US" sz="1400" b="1" dirty="0"/>
              <a:t>生产力维度：</a:t>
            </a:r>
            <a:endParaRPr lang="en-US" altLang="zh-CN" sz="1400" b="1" dirty="0"/>
          </a:p>
          <a:p>
            <a:r>
              <a:rPr lang="zh-CN" altLang="en-US" sz="1400" dirty="0"/>
              <a:t>传感器/算法替代人类驾驶（L5级自动驾驶效率提升300%）</a:t>
            </a:r>
            <a:endParaRPr lang="en-US" altLang="zh-CN" sz="1400" dirty="0"/>
          </a:p>
          <a:p>
            <a:r>
              <a:rPr lang="zh-CN" altLang="en-US" sz="1400" dirty="0"/>
              <a:t>车联网实现万亿级数据交换（每秒处理8TB道路信息）</a:t>
            </a:r>
            <a:endParaRPr lang="en-US" altLang="zh-CN" sz="1400" dirty="0"/>
          </a:p>
          <a:p>
            <a:r>
              <a:rPr lang="zh-CN" altLang="en-US" sz="1400" b="1" dirty="0"/>
              <a:t>矛盾显现：</a:t>
            </a:r>
            <a:endParaRPr lang="en-US" altLang="zh-CN" sz="1400" b="1" dirty="0"/>
          </a:p>
          <a:p>
            <a:r>
              <a:rPr lang="zh-CN" altLang="en-US" sz="1400" dirty="0"/>
              <a:t>现有交通法规基于人类驾驶逻辑（如“方向盘后必须有人”），保险体系仍要求“驾驶员责任认定”。</a:t>
            </a:r>
            <a:endParaRPr lang="en-US" altLang="zh-CN" sz="1400" dirty="0"/>
          </a:p>
          <a:p>
            <a:r>
              <a:rPr lang="zh-CN" altLang="en-US" sz="1400" dirty="0"/>
              <a:t>案例：2023年加州自动驾驶测试车因法律滞后被迫安装无用方向盘</a:t>
            </a:r>
            <a:endParaRPr lang="en-US" altLang="zh-CN" sz="1400" dirty="0"/>
          </a:p>
          <a:p>
            <a:r>
              <a:rPr lang="zh-CN" altLang="en-US" sz="1400" b="1" dirty="0"/>
              <a:t>2. 生产关系的滞后与挣扎</a:t>
            </a:r>
            <a:endParaRPr lang="en-US" altLang="zh-CN" sz="1400" b="1" dirty="0"/>
          </a:p>
          <a:p>
            <a:r>
              <a:rPr lang="zh-CN" altLang="en-US" sz="1400" b="1" dirty="0"/>
              <a:t>制度性矛盾：</a:t>
            </a:r>
            <a:endParaRPr lang="en-US" altLang="zh-CN" sz="1400" b="1" dirty="0"/>
          </a:p>
          <a:p>
            <a:r>
              <a:rPr lang="zh-CN" altLang="en-US" sz="1400" dirty="0"/>
              <a:t>劳动市场：300万卡车司机工会抗议自动驾驶货车（美加边境封锁事件）</a:t>
            </a:r>
            <a:endParaRPr lang="en-US" altLang="zh-CN" sz="1400" dirty="0"/>
          </a:p>
          <a:p>
            <a:r>
              <a:rPr lang="zh-CN" altLang="en-US" sz="1400" dirty="0"/>
              <a:t>产权困境：个人车辆所有权vs未来"出行即服务"（特斯拉已试行订阅制）</a:t>
            </a:r>
            <a:endParaRPr lang="en-US" altLang="zh-CN" sz="1400" dirty="0"/>
          </a:p>
          <a:p>
            <a:r>
              <a:rPr lang="zh-CN" altLang="en-US" sz="1400" dirty="0"/>
              <a:t>数据归属：谁拥有自动驾驶采集的街道数据？（旧金山起诉Waymo案）</a:t>
            </a:r>
            <a:endParaRPr lang="en-US" altLang="zh-CN" sz="1400" dirty="0"/>
          </a:p>
          <a:p>
            <a:r>
              <a:rPr lang="zh-CN" altLang="en-US" sz="1400" b="1" dirty="0"/>
              <a:t>3. 社会矛盾推动制度创新</a:t>
            </a:r>
            <a:endParaRPr lang="en-US" altLang="zh-CN" sz="1400" b="1" dirty="0"/>
          </a:p>
          <a:p>
            <a:r>
              <a:rPr lang="zh-CN" altLang="en-US" sz="1400" b="1" dirty="0"/>
              <a:t>适应性变革：</a:t>
            </a:r>
            <a:endParaRPr lang="en-US" altLang="zh-CN" sz="1400" b="1" dirty="0"/>
          </a:p>
          <a:p>
            <a:r>
              <a:rPr lang="zh-CN" altLang="en-US" sz="1400" dirty="0"/>
              <a:t>德国《自动驾驶法》首创“数字驾驶员”法律身份，中国设立"智能交通先行区"进行法规沙盒测试</a:t>
            </a:r>
            <a:endParaRPr lang="en-US" altLang="zh-CN" sz="1400" dirty="0"/>
          </a:p>
          <a:p>
            <a:r>
              <a:rPr lang="zh-CN" altLang="en-US" sz="1400" dirty="0"/>
              <a:t>新型保险产品："算法责任险"保费与OTA更新挂钩</a:t>
            </a:r>
            <a:endParaRPr lang="en-US" altLang="zh-CN" sz="1400" dirty="0"/>
          </a:p>
          <a:p>
            <a:r>
              <a:rPr lang="zh-CN" altLang="en-US" sz="1400" b="1" dirty="0"/>
              <a:t>深层变革信号：</a:t>
            </a:r>
            <a:endParaRPr lang="en-US" altLang="zh-CN" sz="1400" b="1" dirty="0"/>
          </a:p>
          <a:p>
            <a:r>
              <a:rPr lang="zh-CN" altLang="en-US" sz="1400" dirty="0"/>
              <a:t>城市规划从"以车为本"转向"以流为本"（取消红灯/停车位）</a:t>
            </a:r>
            <a:endParaRPr lang="en-US" altLang="zh-CN" sz="1400" dirty="0"/>
          </a:p>
          <a:p>
            <a:r>
              <a:rPr lang="zh-CN" altLang="en-US" sz="1400" dirty="0"/>
              <a:t>劳动力市场出现"人机协作认证"（如自动驾驶系统监管员）</a:t>
            </a:r>
          </a:p>
        </p:txBody>
      </p:sp>
    </p:spTree>
    <p:extLst>
      <p:ext uri="{BB962C8B-B14F-4D97-AF65-F5344CB8AC3E}">
        <p14:creationId xmlns:p14="http://schemas.microsoft.com/office/powerpoint/2010/main" val="2728352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19" name="Image 0" descr="preencoded.png">
            <a:extLst>
              <a:ext uri="{FF2B5EF4-FFF2-40B4-BE49-F238E27FC236}">
                <a16:creationId xmlns:a16="http://schemas.microsoft.com/office/drawing/2014/main" id="{43103173-AE53-380E-7B6E-5D070BBE516F}"/>
              </a:ext>
            </a:extLst>
          </p:cNvPr>
          <p:cNvPicPr>
            <a:picLocks noChangeAspect="1"/>
          </p:cNvPicPr>
          <p:nvPr/>
        </p:nvPicPr>
        <p:blipFill>
          <a:blip r:embed="rId3"/>
          <a:srcRect t="3571" b="3571"/>
          <a:stretch/>
        </p:blipFill>
        <p:spPr>
          <a:xfrm>
            <a:off x="-2513" y="-23812"/>
            <a:ext cx="9144000" cy="742950"/>
          </a:xfrm>
          <a:prstGeom prst="rect">
            <a:avLst/>
          </a:prstGeom>
        </p:spPr>
      </p:pic>
      <p:sp>
        <p:nvSpPr>
          <p:cNvPr id="5" name="Text 1"/>
          <p:cNvSpPr/>
          <p:nvPr/>
        </p:nvSpPr>
        <p:spPr>
          <a:xfrm>
            <a:off x="320292" y="147638"/>
            <a:ext cx="4038600" cy="40005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chemeClr val="bg1"/>
                </a:solidFill>
                <a:latin typeface="Microsoft YaHei" pitchFamily="34" charset="0"/>
                <a:ea typeface="Microsoft YaHei" pitchFamily="34" charset="-122"/>
              </a:rPr>
              <a:t>启示</a:t>
            </a:r>
            <a:endParaRPr lang="en-US" sz="2250" dirty="0">
              <a:solidFill>
                <a:schemeClr val="bg1"/>
              </a:solidFill>
            </a:endParaRPr>
          </a:p>
        </p:txBody>
      </p:sp>
      <p:sp>
        <p:nvSpPr>
          <p:cNvPr id="6" name="Text 2"/>
          <p:cNvSpPr/>
          <p:nvPr/>
        </p:nvSpPr>
        <p:spPr>
          <a:xfrm>
            <a:off x="571500" y="742950"/>
            <a:ext cx="40386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8" name="Text 3"/>
          <p:cNvSpPr/>
          <p:nvPr/>
        </p:nvSpPr>
        <p:spPr>
          <a:xfrm>
            <a:off x="752475" y="1943100"/>
            <a:ext cx="1347788" cy="252413"/>
          </a:xfrm>
          <a:prstGeom prst="rect">
            <a:avLst/>
          </a:prstGeom>
          <a:noFill/>
          <a:ln/>
        </p:spPr>
        <p:txBody>
          <a:bodyPr vert="horz" wrap="square" lIns="0" tIns="0" rIns="0" bIns="0" rtlCol="0" anchor="ctr"/>
          <a:lstStyle/>
          <a:p>
            <a:pPr marL="0" indent="0" algn="l">
              <a:lnSpc>
                <a:spcPts val="1688"/>
              </a:lnSpc>
              <a:buNone/>
            </a:pPr>
            <a:endParaRPr lang="en-US" sz="1200" dirty="0"/>
          </a:p>
        </p:txBody>
      </p:sp>
      <p:sp>
        <p:nvSpPr>
          <p:cNvPr id="20" name="文本框 19">
            <a:extLst>
              <a:ext uri="{FF2B5EF4-FFF2-40B4-BE49-F238E27FC236}">
                <a16:creationId xmlns:a16="http://schemas.microsoft.com/office/drawing/2014/main" id="{2B33D2A3-307D-1F89-1F9C-6C3F19726C0E}"/>
              </a:ext>
            </a:extLst>
          </p:cNvPr>
          <p:cNvSpPr txBox="1"/>
          <p:nvPr/>
        </p:nvSpPr>
        <p:spPr>
          <a:xfrm>
            <a:off x="120580" y="952496"/>
            <a:ext cx="8897815" cy="3416320"/>
          </a:xfrm>
          <a:prstGeom prst="rect">
            <a:avLst/>
          </a:prstGeom>
          <a:noFill/>
        </p:spPr>
        <p:txBody>
          <a:bodyPr wrap="square" rtlCol="0">
            <a:spAutoFit/>
          </a:bodyPr>
          <a:lstStyle/>
          <a:p>
            <a:r>
              <a:rPr lang="zh-CN" altLang="en-US" b="0" i="0" dirty="0">
                <a:effectLst/>
                <a:latin typeface="DeepSeek-CJK-patch"/>
              </a:rPr>
              <a:t>自动驾驶的普及像一面镜子，照出了技术进步与社会规则之间的深刻裂痕。当汽车不再需要人类驾驶时，我们突然发现：工厂能三个月造出自动驾驶卡车，但社会需要三十年才能消化被淘汰的三百万司机；算法每秒处理百万条道路数据，但法律还在争论事故责任该由车主还是程序员承担；科技公司掌握着每辆车的行驶轨迹，但普通人对自己产生的数据毫无话语权。这不仅是机器替代人的问题，更暴露了工业时代建立的产权制度、职业体系、法律框架在数字浪潮前的全面过时。就像两百年前蒸汽机冲垮了马车时代，今天的数据洪流正在重塑</a:t>
            </a:r>
            <a:r>
              <a:rPr lang="en-US" altLang="zh-CN" b="0" i="0" dirty="0">
                <a:effectLst/>
                <a:latin typeface="DeepSeek-CJK-patch"/>
              </a:rPr>
              <a:t>"</a:t>
            </a:r>
            <a:r>
              <a:rPr lang="zh-CN" altLang="en-US" b="0" i="0" dirty="0">
                <a:effectLst/>
                <a:latin typeface="DeepSeek-CJK-patch"/>
              </a:rPr>
              <a:t>谁拥有资源、如何分配价值</a:t>
            </a:r>
            <a:r>
              <a:rPr lang="en-US" altLang="zh-CN" b="0" i="0" dirty="0">
                <a:effectLst/>
                <a:latin typeface="DeepSeek-CJK-patch"/>
              </a:rPr>
              <a:t>"</a:t>
            </a:r>
            <a:r>
              <a:rPr lang="zh-CN" altLang="en-US" b="0" i="0" dirty="0">
                <a:effectLst/>
                <a:latin typeface="DeepSeek-CJK-patch"/>
              </a:rPr>
              <a:t>的根本规则</a:t>
            </a:r>
            <a:r>
              <a:rPr lang="en-US" altLang="zh-CN" b="0" i="0" dirty="0">
                <a:effectLst/>
                <a:latin typeface="DeepSeek-CJK-patch"/>
              </a:rPr>
              <a:t>——</a:t>
            </a:r>
            <a:r>
              <a:rPr lang="zh-CN" altLang="en-US" b="0" i="0" dirty="0">
                <a:effectLst/>
                <a:latin typeface="DeepSeek-CJK-patch"/>
              </a:rPr>
              <a:t>只不过这次变革的赌注更大：如果我们不能及时建立数据时代的</a:t>
            </a:r>
            <a:r>
              <a:rPr lang="en-US" altLang="zh-CN" b="0" i="0" dirty="0">
                <a:effectLst/>
                <a:latin typeface="DeepSeek-CJK-patch"/>
              </a:rPr>
              <a:t>"</a:t>
            </a:r>
            <a:r>
              <a:rPr lang="zh-CN" altLang="en-US" b="0" i="0" dirty="0">
                <a:effectLst/>
                <a:latin typeface="DeepSeek-CJK-patch"/>
              </a:rPr>
              <a:t>交通规则</a:t>
            </a:r>
            <a:r>
              <a:rPr lang="en-US" altLang="zh-CN" b="0" i="0" dirty="0">
                <a:effectLst/>
                <a:latin typeface="DeepSeek-CJK-patch"/>
              </a:rPr>
              <a:t>"</a:t>
            </a:r>
            <a:r>
              <a:rPr lang="zh-CN" altLang="en-US" b="0" i="0" dirty="0">
                <a:effectLst/>
                <a:latin typeface="DeepSeek-CJK-patch"/>
              </a:rPr>
              <a:t>，那么掌握算法的巨头可能成为新时代的</a:t>
            </a:r>
            <a:r>
              <a:rPr lang="en-US" altLang="zh-CN" b="0" i="0" dirty="0">
                <a:effectLst/>
                <a:latin typeface="DeepSeek-CJK-patch"/>
              </a:rPr>
              <a:t>"</a:t>
            </a:r>
            <a:r>
              <a:rPr lang="zh-CN" altLang="en-US" b="0" i="0" dirty="0">
                <a:effectLst/>
                <a:latin typeface="DeepSeek-CJK-patch"/>
              </a:rPr>
              <a:t>道路领主</a:t>
            </a:r>
            <a:r>
              <a:rPr lang="en-US" altLang="zh-CN" b="0" i="0" dirty="0">
                <a:effectLst/>
                <a:latin typeface="DeepSeek-CJK-patch"/>
              </a:rPr>
              <a:t>"</a:t>
            </a:r>
            <a:r>
              <a:rPr lang="zh-CN" altLang="en-US" b="0" i="0" dirty="0">
                <a:effectLst/>
                <a:latin typeface="DeepSeek-CJK-patch"/>
              </a:rPr>
              <a:t>，而普通人将在自己创造的数据高速公路上失去方向。</a:t>
            </a:r>
            <a:r>
              <a:rPr lang="zh-CN" altLang="en-US" b="0" i="0" dirty="0">
                <a:effectLst/>
                <a:highlight>
                  <a:srgbClr val="FFFF00"/>
                </a:highlight>
                <a:latin typeface="DeepSeek-CJK-patch"/>
              </a:rPr>
              <a:t>正是这些不断堆积的矛盾，逼迫着人类拆解旧制度的齿轮，锻造新社会的轴承，在阵痛中完成文明升级。历史从来不是直线前进，而是在生产力与生产关系的碰撞中，迸发出改变世界的火花。</a:t>
            </a:r>
            <a:endParaRPr lang="zh-CN" altLang="en-US" dirty="0">
              <a:highlight>
                <a:srgbClr val="FFFF00"/>
              </a:high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3314700"/>
            <a:ext cx="4762500" cy="666750"/>
          </a:xfrm>
          <a:prstGeom prst="rect">
            <a:avLst/>
          </a:prstGeom>
          <a:noFill/>
          <a:ln/>
        </p:spPr>
        <p:txBody>
          <a:bodyPr vert="horz" wrap="square" lIns="0" tIns="0" rIns="0" bIns="0" rtlCol="0" anchor="ctr"/>
          <a:lstStyle/>
          <a:p>
            <a:pPr marL="0" indent="0" algn="l">
              <a:lnSpc>
                <a:spcPts val="5250"/>
              </a:lnSpc>
              <a:buNone/>
            </a:pPr>
            <a:r>
              <a:rPr lang="en-US" sz="3750" b="1" dirty="0" err="1">
                <a:solidFill>
                  <a:srgbClr val="FFFFFF"/>
                </a:solidFill>
                <a:latin typeface="Microsoft YaHei" pitchFamily="34" charset="0"/>
                <a:ea typeface="Microsoft YaHei" pitchFamily="34" charset="-122"/>
                <a:cs typeface="Microsoft YaHei" pitchFamily="34" charset="-120"/>
              </a:rPr>
              <a:t>总结</a:t>
            </a:r>
            <a:r>
              <a:rPr lang="zh-CN" altLang="en-US" sz="3750" b="1" dirty="0">
                <a:solidFill>
                  <a:srgbClr val="FFFFFF"/>
                </a:solidFill>
                <a:latin typeface="Microsoft YaHei" pitchFamily="34" charset="0"/>
                <a:ea typeface="Microsoft YaHei" pitchFamily="34" charset="-122"/>
                <a:cs typeface="Microsoft YaHei" pitchFamily="34" charset="-120"/>
              </a:rPr>
              <a:t>与展望</a:t>
            </a:r>
            <a:endParaRPr lang="en-US" sz="3750" dirty="0"/>
          </a:p>
        </p:txBody>
      </p:sp>
      <p:sp>
        <p:nvSpPr>
          <p:cNvPr id="4" name="Shape 1"/>
          <p:cNvSpPr/>
          <p:nvPr/>
        </p:nvSpPr>
        <p:spPr>
          <a:xfrm>
            <a:off x="571500" y="4157662"/>
            <a:ext cx="4762500" cy="14288"/>
          </a:xfrm>
          <a:prstGeom prst="rect">
            <a:avLst/>
          </a:prstGeom>
          <a:solidFill>
            <a:srgbClr val="FFFFFF">
              <a:alpha val="30000"/>
            </a:srgbClr>
          </a:solidFill>
          <a:ln/>
        </p:spPr>
        <p:txBody>
          <a:bodyPr/>
          <a:lstStyle/>
          <a:p>
            <a:endParaRPr lang="zh-CN" altLang="en-US"/>
          </a:p>
        </p:txBody>
      </p:sp>
      <p:sp>
        <p:nvSpPr>
          <p:cNvPr id="5" name="Text 2"/>
          <p:cNvSpPr/>
          <p:nvPr/>
        </p:nvSpPr>
        <p:spPr>
          <a:xfrm>
            <a:off x="571500" y="4362450"/>
            <a:ext cx="4762500"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a:ln/>
        </p:spPr>
        <p:txBody>
          <a:bodyPr vert="horz" wrap="square" lIns="0" tIns="0" rIns="0" bIns="0" rtlCol="0" anchor="ctr"/>
          <a:lstStyle/>
          <a:p>
            <a:pPr marL="0" indent="0" algn="ctr">
              <a:lnSpc>
                <a:spcPts val="22500"/>
              </a:lnSpc>
              <a:buNone/>
            </a:pPr>
            <a:r>
              <a:rPr lang="en-US" sz="22500" b="1" dirty="0">
                <a:solidFill>
                  <a:srgbClr val="FFF4AE"/>
                </a:solidFill>
                <a:latin typeface="Microsoft YaHei" pitchFamily="34" charset="0"/>
                <a:ea typeface="Microsoft YaHei" pitchFamily="34" charset="-122"/>
                <a:cs typeface="Microsoft YaHei" pitchFamily="34" charset="-120"/>
              </a:rPr>
              <a:t>04</a:t>
            </a:r>
            <a:endParaRPr lang="en-US" sz="22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8" name="Image 0" descr="preencoded.png">
            <a:extLst>
              <a:ext uri="{FF2B5EF4-FFF2-40B4-BE49-F238E27FC236}">
                <a16:creationId xmlns:a16="http://schemas.microsoft.com/office/drawing/2014/main" id="{BF3E507A-5865-EBCA-B172-17E374DC1006}"/>
              </a:ext>
            </a:extLst>
          </p:cNvPr>
          <p:cNvPicPr>
            <a:picLocks noChangeAspect="1"/>
          </p:cNvPicPr>
          <p:nvPr/>
        </p:nvPicPr>
        <p:blipFill>
          <a:blip r:embed="rId3"/>
          <a:srcRect t="3571" b="3571"/>
          <a:stretch/>
        </p:blipFill>
        <p:spPr>
          <a:xfrm>
            <a:off x="10048" y="-33076"/>
            <a:ext cx="9144000" cy="742950"/>
          </a:xfrm>
          <a:prstGeom prst="rect">
            <a:avLst/>
          </a:prstGeom>
        </p:spPr>
      </p:pic>
      <p:sp>
        <p:nvSpPr>
          <p:cNvPr id="4" name="Text 1"/>
          <p:cNvSpPr/>
          <p:nvPr/>
        </p:nvSpPr>
        <p:spPr>
          <a:xfrm>
            <a:off x="254977" y="200025"/>
            <a:ext cx="8001000" cy="40005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FFFFFF"/>
                </a:solidFill>
                <a:latin typeface="Microsoft YaHei" pitchFamily="34" charset="0"/>
                <a:ea typeface="Microsoft YaHei" pitchFamily="34" charset="-122"/>
              </a:rPr>
              <a:t>总结</a:t>
            </a:r>
            <a:endParaRPr lang="en-US" sz="2250" dirty="0"/>
          </a:p>
        </p:txBody>
      </p:sp>
      <p:sp>
        <p:nvSpPr>
          <p:cNvPr id="5" name="Text 2"/>
          <p:cNvSpPr/>
          <p:nvPr/>
        </p:nvSpPr>
        <p:spPr>
          <a:xfrm>
            <a:off x="571500" y="74295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29" name="文本框 28">
            <a:extLst>
              <a:ext uri="{FF2B5EF4-FFF2-40B4-BE49-F238E27FC236}">
                <a16:creationId xmlns:a16="http://schemas.microsoft.com/office/drawing/2014/main" id="{83D576A3-D0D3-1F3C-A6F4-F3EDDCAC3ECA}"/>
              </a:ext>
            </a:extLst>
          </p:cNvPr>
          <p:cNvSpPr txBox="1"/>
          <p:nvPr/>
        </p:nvSpPr>
        <p:spPr>
          <a:xfrm>
            <a:off x="140679" y="885825"/>
            <a:ext cx="3974122" cy="3693319"/>
          </a:xfrm>
          <a:prstGeom prst="rect">
            <a:avLst/>
          </a:prstGeom>
          <a:noFill/>
        </p:spPr>
        <p:txBody>
          <a:bodyPr wrap="square" rtlCol="0">
            <a:spAutoFit/>
          </a:bodyPr>
          <a:lstStyle/>
          <a:p>
            <a:r>
              <a:rPr lang="zh-CN" altLang="en-US" sz="1800" kern="100" dirty="0">
                <a:effectLst/>
                <a:latin typeface="+mn-ea"/>
                <a:cs typeface="Times New Roman" panose="02020603050405020304" pitchFamily="18" charset="0"/>
              </a:rPr>
              <a:t>从马克思主义哲学的“生产力与生产关系矛盾运动规律”来看，科学技术作为生产力的核心要素，是推动生产力发展的关键力量。它通过变革生产力要素，推动生产力的发展，进而引发生产关系的变革。同时，生产关系的性质和形式也会影响科学技术的发展方向和速度。科学技术的进步不仅推动了生产力的发展，还引发了社会形态的变革。从农业社会到工业社会，再到信息社会，每一次变革都深刻地改变了人类社会的面貌。</a:t>
            </a:r>
          </a:p>
          <a:p>
            <a:endParaRPr lang="zh-CN" altLang="en-US" dirty="0"/>
          </a:p>
        </p:txBody>
      </p:sp>
      <p:pic>
        <p:nvPicPr>
          <p:cNvPr id="7170" name="Picture 2" descr="《资本论纪念版（32开普及版精装）（套装全3册）马克思恩格斯全集著作 马克思主义哲学 人民出版社》-卖贝商城">
            <a:extLst>
              <a:ext uri="{FF2B5EF4-FFF2-40B4-BE49-F238E27FC236}">
                <a16:creationId xmlns:a16="http://schemas.microsoft.com/office/drawing/2014/main" id="{2D3AED14-0AF1-94A4-802F-AB7438920E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2950" y="847725"/>
            <a:ext cx="4499237" cy="42711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19" name="Image 0" descr="preencoded.png">
            <a:extLst>
              <a:ext uri="{FF2B5EF4-FFF2-40B4-BE49-F238E27FC236}">
                <a16:creationId xmlns:a16="http://schemas.microsoft.com/office/drawing/2014/main" id="{C950278D-B048-FACB-708B-FAB27FA9EDBA}"/>
              </a:ext>
            </a:extLst>
          </p:cNvPr>
          <p:cNvPicPr>
            <a:picLocks noChangeAspect="1"/>
          </p:cNvPicPr>
          <p:nvPr/>
        </p:nvPicPr>
        <p:blipFill>
          <a:blip r:embed="rId3"/>
          <a:srcRect t="3571" b="3571"/>
          <a:stretch/>
        </p:blipFill>
        <p:spPr>
          <a:xfrm>
            <a:off x="-5024" y="0"/>
            <a:ext cx="9144000" cy="742950"/>
          </a:xfrm>
          <a:prstGeom prst="rect">
            <a:avLst/>
          </a:prstGeom>
        </p:spPr>
      </p:pic>
      <p:sp>
        <p:nvSpPr>
          <p:cNvPr id="4" name="Text 1"/>
          <p:cNvSpPr/>
          <p:nvPr/>
        </p:nvSpPr>
        <p:spPr>
          <a:xfrm>
            <a:off x="266701" y="230179"/>
            <a:ext cx="8001000" cy="40005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FFFFFF"/>
                </a:solidFill>
                <a:latin typeface="Microsoft YaHei" pitchFamily="34" charset="0"/>
                <a:ea typeface="Microsoft YaHei" pitchFamily="34" charset="-122"/>
              </a:rPr>
              <a:t>展望</a:t>
            </a:r>
            <a:endParaRPr lang="en-US" sz="2250" dirty="0"/>
          </a:p>
        </p:txBody>
      </p:sp>
      <p:sp>
        <p:nvSpPr>
          <p:cNvPr id="5" name="Text 2"/>
          <p:cNvSpPr/>
          <p:nvPr/>
        </p:nvSpPr>
        <p:spPr>
          <a:xfrm>
            <a:off x="641839" y="757237"/>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21" name="文本框 20">
            <a:extLst>
              <a:ext uri="{FF2B5EF4-FFF2-40B4-BE49-F238E27FC236}">
                <a16:creationId xmlns:a16="http://schemas.microsoft.com/office/drawing/2014/main" id="{CADB8082-8954-AC03-DC42-6E4BA51047C1}"/>
              </a:ext>
            </a:extLst>
          </p:cNvPr>
          <p:cNvSpPr txBox="1"/>
          <p:nvPr/>
        </p:nvSpPr>
        <p:spPr>
          <a:xfrm>
            <a:off x="4331466" y="834155"/>
            <a:ext cx="4561953" cy="3693319"/>
          </a:xfrm>
          <a:prstGeom prst="rect">
            <a:avLst/>
          </a:prstGeom>
          <a:noFill/>
        </p:spPr>
        <p:txBody>
          <a:bodyPr wrap="square">
            <a:spAutoFit/>
          </a:bodyPr>
          <a:lstStyle/>
          <a:p>
            <a:pPr algn="just"/>
            <a:r>
              <a:rPr lang="zh-CN" altLang="en-US" sz="1800" kern="100" dirty="0">
                <a:effectLst/>
                <a:latin typeface="+mn-ea"/>
                <a:cs typeface="Times New Roman" panose="02020603050405020304" pitchFamily="18" charset="0"/>
              </a:rPr>
              <a:t>社会制度的变革始终滞后于生产力的发展。这一点在所有历史阶段中都得到了验证。然而，这并不意味着生产关系永远被动适应生产力。</a:t>
            </a:r>
            <a:r>
              <a:rPr lang="zh-CN" altLang="en-US" sz="1800" kern="100" dirty="0">
                <a:effectLst/>
                <a:highlight>
                  <a:srgbClr val="FFFF00"/>
                </a:highlight>
                <a:latin typeface="+mn-ea"/>
                <a:cs typeface="Times New Roman" panose="02020603050405020304" pitchFamily="18" charset="0"/>
              </a:rPr>
              <a:t>社会制度的调整也在一定程度上反作用于科技的发展，使其以更加可持续的方式推动人类进步。</a:t>
            </a:r>
            <a:r>
              <a:rPr lang="zh-CN" altLang="en-US" sz="1800" kern="100" dirty="0">
                <a:effectLst/>
                <a:latin typeface="+mn-ea"/>
                <a:cs typeface="Times New Roman" panose="02020603050405020304" pitchFamily="18" charset="0"/>
              </a:rPr>
              <a:t>例如，当资本主义在早期工业化阶段过度剥削工人时，社会保障体系的建立不仅稳定了社会秩序，也为后续的科技创新提供了更稳固的社会基础。如今，在人工智能迅猛发展的时代，如何建立合理的数据治理体系，如何防止财富过度集中，如何保证就业市场的平稳过渡，正成为全球范围内关注的焦点。</a:t>
            </a:r>
          </a:p>
        </p:txBody>
      </p:sp>
      <p:pic>
        <p:nvPicPr>
          <p:cNvPr id="8196" name="Picture 4" descr="《马克思恩格斯选集（1—4卷）精装全4卷马恩全集马克思主义哲学理论资本论共产党宣言哲学书籍 人民出版社》马克思恩格斯列宁斯大林著作编译局-卖贝商城">
            <a:extLst>
              <a:ext uri="{FF2B5EF4-FFF2-40B4-BE49-F238E27FC236}">
                <a16:creationId xmlns:a16="http://schemas.microsoft.com/office/drawing/2014/main" id="{EDA207FC-F966-DAE0-4347-197EEC9599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69" y="836596"/>
            <a:ext cx="4102032" cy="41020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15" name="Image 0" descr="preencoded.png">
            <a:extLst>
              <a:ext uri="{FF2B5EF4-FFF2-40B4-BE49-F238E27FC236}">
                <a16:creationId xmlns:a16="http://schemas.microsoft.com/office/drawing/2014/main" id="{25BAA822-F28B-1BD3-B692-5FDD83B46D78}"/>
              </a:ext>
            </a:extLst>
          </p:cNvPr>
          <p:cNvPicPr>
            <a:picLocks noChangeAspect="1"/>
          </p:cNvPicPr>
          <p:nvPr/>
        </p:nvPicPr>
        <p:blipFill>
          <a:blip r:embed="rId3"/>
          <a:srcRect t="3571" b="3571"/>
          <a:stretch/>
        </p:blipFill>
        <p:spPr>
          <a:xfrm>
            <a:off x="0" y="0"/>
            <a:ext cx="9144000" cy="742950"/>
          </a:xfrm>
          <a:prstGeom prst="rect">
            <a:avLst/>
          </a:prstGeom>
        </p:spPr>
      </p:pic>
      <p:sp>
        <p:nvSpPr>
          <p:cNvPr id="4" name="Text 1"/>
          <p:cNvSpPr/>
          <p:nvPr/>
        </p:nvSpPr>
        <p:spPr>
          <a:xfrm>
            <a:off x="300194" y="161925"/>
            <a:ext cx="8001000" cy="40005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chemeClr val="bg1"/>
                </a:solidFill>
                <a:latin typeface="Microsoft YaHei" pitchFamily="34" charset="0"/>
                <a:ea typeface="Microsoft YaHei" pitchFamily="34" charset="-122"/>
              </a:rPr>
              <a:t>展望</a:t>
            </a:r>
            <a:endParaRPr lang="en-US" sz="2250" dirty="0">
              <a:solidFill>
                <a:schemeClr val="bg1"/>
              </a:solidFill>
            </a:endParaRPr>
          </a:p>
        </p:txBody>
      </p:sp>
      <p:sp>
        <p:nvSpPr>
          <p:cNvPr id="5" name="Text 2"/>
          <p:cNvSpPr/>
          <p:nvPr/>
        </p:nvSpPr>
        <p:spPr>
          <a:xfrm>
            <a:off x="571500" y="74295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17" name="文本框 16">
            <a:extLst>
              <a:ext uri="{FF2B5EF4-FFF2-40B4-BE49-F238E27FC236}">
                <a16:creationId xmlns:a16="http://schemas.microsoft.com/office/drawing/2014/main" id="{DC278B23-1435-720B-07A6-1CF752DD91E4}"/>
              </a:ext>
            </a:extLst>
          </p:cNvPr>
          <p:cNvSpPr txBox="1"/>
          <p:nvPr/>
        </p:nvSpPr>
        <p:spPr>
          <a:xfrm>
            <a:off x="0" y="897719"/>
            <a:ext cx="5194998" cy="4278094"/>
          </a:xfrm>
          <a:prstGeom prst="rect">
            <a:avLst/>
          </a:prstGeom>
          <a:noFill/>
        </p:spPr>
        <p:txBody>
          <a:bodyPr wrap="square">
            <a:spAutoFit/>
          </a:bodyPr>
          <a:lstStyle/>
          <a:p>
            <a:pPr marL="0" marR="0" algn="just">
              <a:buNone/>
            </a:pPr>
            <a:r>
              <a:rPr lang="zh-CN" altLang="en-US" sz="1600" kern="100" dirty="0">
                <a:effectLst/>
                <a:latin typeface="+mn-ea"/>
                <a:cs typeface="Times New Roman" panose="02020603050405020304" pitchFamily="18" charset="0"/>
              </a:rPr>
              <a:t>科技的发展并不天然带来社会进步，关键在于如何调整生产关系以匹配生产力的变革。这一点在</a:t>
            </a:r>
            <a:r>
              <a:rPr lang="en-US" altLang="zh-CN" sz="1600" kern="100" dirty="0">
                <a:effectLst/>
                <a:latin typeface="+mn-ea"/>
                <a:cs typeface="Times New Roman" panose="02020603050405020304" pitchFamily="18" charset="0"/>
              </a:rPr>
              <a:t>AI</a:t>
            </a:r>
            <a:r>
              <a:rPr lang="zh-CN" altLang="en-US" sz="1600" kern="100" dirty="0">
                <a:effectLst/>
                <a:latin typeface="+mn-ea"/>
                <a:cs typeface="Times New Roman" panose="02020603050405020304" pitchFamily="18" charset="0"/>
              </a:rPr>
              <a:t>时代尤为重要。人工智能的快速发展已经改变了人类与劳动的关系，越来越多的传统岗位被</a:t>
            </a:r>
            <a:r>
              <a:rPr lang="en-US" altLang="zh-CN" sz="1600" kern="100" dirty="0">
                <a:effectLst/>
                <a:latin typeface="+mn-ea"/>
                <a:cs typeface="Times New Roman" panose="02020603050405020304" pitchFamily="18" charset="0"/>
              </a:rPr>
              <a:t>AI</a:t>
            </a:r>
            <a:r>
              <a:rPr lang="zh-CN" altLang="en-US" sz="1600" kern="100" dirty="0">
                <a:effectLst/>
                <a:latin typeface="+mn-ea"/>
                <a:cs typeface="Times New Roman" panose="02020603050405020304" pitchFamily="18" charset="0"/>
              </a:rPr>
              <a:t>取代，如何重新分配财富、如何确保人类不被边缘化，将决定科技是否能真正为全人类服务。如果生产关系的调整无法跟上生产力的发展，科技的红利将主要被少数资本掌控，社会贫富分化加剧，甚至可能引发更严重的政治和经济危机。</a:t>
            </a:r>
          </a:p>
          <a:p>
            <a:pPr marL="0" marR="0" algn="just"/>
            <a:r>
              <a:rPr lang="zh-CN" altLang="en-US" sz="1600" kern="100" dirty="0">
                <a:effectLst/>
                <a:latin typeface="+mn-ea"/>
                <a:cs typeface="Times New Roman" panose="02020603050405020304" pitchFamily="18" charset="0"/>
              </a:rPr>
              <a:t>历史的经验告诉我们，</a:t>
            </a:r>
            <a:r>
              <a:rPr lang="zh-CN" altLang="en-US" sz="1600" kern="100" dirty="0">
                <a:effectLst/>
                <a:highlight>
                  <a:srgbClr val="FFFF00"/>
                </a:highlight>
                <a:latin typeface="+mn-ea"/>
                <a:cs typeface="Times New Roman" panose="02020603050405020304" pitchFamily="18" charset="0"/>
              </a:rPr>
              <a:t>每一次科技突破带来的社会变革都不会是线性、平稳的，而是伴随着阵痛与冲突。</a:t>
            </a:r>
            <a:r>
              <a:rPr lang="zh-CN" altLang="en-US" sz="1600" kern="100" dirty="0">
                <a:effectLst/>
                <a:latin typeface="+mn-ea"/>
                <a:cs typeface="Times New Roman" panose="02020603050405020304" pitchFamily="18" charset="0"/>
              </a:rPr>
              <a:t>社会在适应科技变革的过程中，需要不断探索新的制度安排，使得生产力的提升能够真正转化为全社会的福祉，而非被少数资本所垄断。从工业革命到信息革命，再到即将全面到来的人工智能革命，这一生产力与生产关系的矛盾运动规律始终主导着人类社会的前进方向。未来，只有在制度创新的推动下，科技的力量才能真正成为推动社会进步的动力</a:t>
            </a:r>
            <a:r>
              <a:rPr lang="zh-CN" altLang="en-US" sz="1600" kern="100" dirty="0">
                <a:latin typeface="+mn-ea"/>
                <a:cs typeface="Times New Roman" panose="02020603050405020304" pitchFamily="18" charset="0"/>
              </a:rPr>
              <a:t>。</a:t>
            </a:r>
            <a:endParaRPr lang="zh-CN" altLang="en-US" sz="1600" kern="100" dirty="0">
              <a:effectLst/>
              <a:latin typeface="+mn-ea"/>
              <a:cs typeface="Times New Roman" panose="02020603050405020304" pitchFamily="18" charset="0"/>
            </a:endParaRPr>
          </a:p>
        </p:txBody>
      </p:sp>
      <p:pic>
        <p:nvPicPr>
          <p:cNvPr id="9218" name="Picture 2" descr="干旱后的生机图片素材-正版创意图片500351436-摄图网">
            <a:extLst>
              <a:ext uri="{FF2B5EF4-FFF2-40B4-BE49-F238E27FC236}">
                <a16:creationId xmlns:a16="http://schemas.microsoft.com/office/drawing/2014/main" id="{D5A3291B-843C-C54B-B6FD-572175A42C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4997" y="797731"/>
            <a:ext cx="3864237" cy="427809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2014538"/>
            <a:ext cx="8001000" cy="666750"/>
          </a:xfrm>
          <a:prstGeom prst="rect">
            <a:avLst/>
          </a:prstGeom>
          <a:noFill/>
          <a:ln/>
        </p:spPr>
        <p:txBody>
          <a:bodyPr vert="horz" wrap="square" lIns="0" tIns="0" rIns="0" bIns="0" rtlCol="0" anchor="ctr"/>
          <a:lstStyle/>
          <a:p>
            <a:pPr marL="0" indent="0" algn="ctr">
              <a:lnSpc>
                <a:spcPts val="5250"/>
              </a:lnSpc>
              <a:buNone/>
            </a:pPr>
            <a:r>
              <a:rPr lang="en-US" sz="3750" b="1" dirty="0">
                <a:solidFill>
                  <a:srgbClr val="FFFFFF"/>
                </a:solidFill>
                <a:latin typeface="Microsoft YaHei" pitchFamily="34" charset="0"/>
                <a:ea typeface="Microsoft YaHei" pitchFamily="34" charset="-122"/>
                <a:cs typeface="Microsoft YaHei" pitchFamily="34" charset="-120"/>
              </a:rPr>
              <a:t>THANKS</a:t>
            </a:r>
            <a:endParaRPr lang="en-US" sz="3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242</TotalTime>
  <Words>2516</Words>
  <Application>Microsoft Office PowerPoint</Application>
  <PresentationFormat>全屏显示(16:9)</PresentationFormat>
  <Paragraphs>193</Paragraphs>
  <Slides>22</Slides>
  <Notes>22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22</vt:i4>
      </vt:variant>
    </vt:vector>
  </HeadingPairs>
  <TitlesOfParts>
    <vt:vector size="30" baseType="lpstr">
      <vt:lpstr>DeepSeek-CJK-patch</vt:lpstr>
      <vt:lpstr>Microsoft YaHei Light</vt:lpstr>
      <vt:lpstr>等线</vt:lpstr>
      <vt:lpstr>宋体</vt:lpstr>
      <vt:lpstr>Microsoft YaHei</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HA6988</cp:lastModifiedBy>
  <cp:revision>3</cp:revision>
  <dcterms:created xsi:type="dcterms:W3CDTF">2025-04-01T09:59:17Z</dcterms:created>
  <dcterms:modified xsi:type="dcterms:W3CDTF">2025-04-01T14:52:12Z</dcterms:modified>
</cp:coreProperties>
</file>